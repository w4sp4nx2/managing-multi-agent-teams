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2a19ba85034850" /><Relationship Type="http://schemas.openxmlformats.org/officeDocument/2006/relationships/extended-properties" Target="/docProps/app.xml" Id="R4e78b7742a3d43d1" /><Relationship Type="http://schemas.openxmlformats.org/officeDocument/2006/relationships/officeDocument" Target="/ppt/presentation.xml" Id="Rdafab600070c4e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22756150064375"/>
  </p:sldMasterIdLst>
  <p:notesMasterIdLst>
    <p:notesMasterId xmlns:r="http://schemas.openxmlformats.org/officeDocument/2006/relationships" r:id="R50aef6fc0cb44b01"/>
  </p:notesMasterIdLst>
  <p:sldIdLst>
    <p:sldId xmlns:r="http://schemas.openxmlformats.org/officeDocument/2006/relationships" id="256" r:id="R37f3d19a27384d72"/>
    <p:sldId xmlns:r="http://schemas.openxmlformats.org/officeDocument/2006/relationships" id="257" r:id="Rac24a3302d744ed9"/>
    <p:sldId xmlns:r="http://schemas.openxmlformats.org/officeDocument/2006/relationships" id="258" r:id="R4af44c974df84f95"/>
    <p:sldId xmlns:r="http://schemas.openxmlformats.org/officeDocument/2006/relationships" id="259" r:id="R5b41b7bc128641ab"/>
    <p:sldId xmlns:r="http://schemas.openxmlformats.org/officeDocument/2006/relationships" id="260" r:id="R6668d5e66d114f78"/>
    <p:sldId xmlns:r="http://schemas.openxmlformats.org/officeDocument/2006/relationships" id="261" r:id="Rbbaaf1c1eede4f76"/>
    <p:sldId xmlns:r="http://schemas.openxmlformats.org/officeDocument/2006/relationships" id="262" r:id="R3958452d1e7b4383"/>
    <p:sldId xmlns:r="http://schemas.openxmlformats.org/officeDocument/2006/relationships" id="263" r:id="R08688c314a694b51"/>
    <p:sldId xmlns:r="http://schemas.openxmlformats.org/officeDocument/2006/relationships" id="264" r:id="Re58d42fc2ba44cd5"/>
    <p:sldId xmlns:r="http://schemas.openxmlformats.org/officeDocument/2006/relationships" id="265" r:id="R6c6c10690d3c4060"/>
    <p:sldId xmlns:r="http://schemas.openxmlformats.org/officeDocument/2006/relationships" id="266" r:id="R53cdbc3f72bb4cff"/>
    <p:sldId xmlns:r="http://schemas.openxmlformats.org/officeDocument/2006/relationships" id="267" r:id="R38d5c3654db74d55"/>
    <p:sldId xmlns:r="http://schemas.openxmlformats.org/officeDocument/2006/relationships" id="268" r:id="Rfafb8f9628d749ad"/>
    <p:sldId xmlns:r="http://schemas.openxmlformats.org/officeDocument/2006/relationships" id="269" r:id="Re9610045c39940ae"/>
    <p:sldId xmlns:r="http://schemas.openxmlformats.org/officeDocument/2006/relationships" id="270" r:id="R2ca6cd1f4ad54586"/>
    <p:sldId xmlns:r="http://schemas.openxmlformats.org/officeDocument/2006/relationships" id="271" r:id="Re26bc6a574fd4513"/>
    <p:sldId xmlns:r="http://schemas.openxmlformats.org/officeDocument/2006/relationships" id="272" r:id="Ref174ff206c743b6"/>
    <p:sldId xmlns:r="http://schemas.openxmlformats.org/officeDocument/2006/relationships" id="273" r:id="Re41763ab8f86426a"/>
    <p:sldId xmlns:r="http://schemas.openxmlformats.org/officeDocument/2006/relationships" id="274" r:id="R73ae8ca9c4b441cb"/>
    <p:sldId xmlns:r="http://schemas.openxmlformats.org/officeDocument/2006/relationships" id="275" r:id="Rcca519380f014713"/>
    <p:sldId xmlns:r="http://schemas.openxmlformats.org/officeDocument/2006/relationships" id="276" r:id="Re86d574fd32f4cde"/>
    <p:sldId xmlns:r="http://schemas.openxmlformats.org/officeDocument/2006/relationships" id="277" r:id="Rd5b854bedf8a4399"/>
    <p:sldId xmlns:r="http://schemas.openxmlformats.org/officeDocument/2006/relationships" id="278" r:id="R464974a48df046b3"/>
    <p:sldId xmlns:r="http://schemas.openxmlformats.org/officeDocument/2006/relationships" id="279" r:id="Ra9ef4f9765364ddd"/>
    <p:sldId xmlns:r="http://schemas.openxmlformats.org/officeDocument/2006/relationships" id="280" r:id="R437a210967894b4d"/>
    <p:sldId xmlns:r="http://schemas.openxmlformats.org/officeDocument/2006/relationships" id="281" r:id="R5c7b4b3f9f834cac"/>
    <p:sldId xmlns:r="http://schemas.openxmlformats.org/officeDocument/2006/relationships" id="282" r:id="R80f4228716b349e7"/>
    <p:sldId xmlns:r="http://schemas.openxmlformats.org/officeDocument/2006/relationships" id="283" r:id="Rcdd91fffdbd04cdb"/>
    <p:sldId xmlns:r="http://schemas.openxmlformats.org/officeDocument/2006/relationships" id="284" r:id="Rccc27a9cf27946d4"/>
    <p:sldId xmlns:r="http://schemas.openxmlformats.org/officeDocument/2006/relationships" id="285" r:id="R7bb274e2129a48e4"/>
    <p:sldId xmlns:r="http://schemas.openxmlformats.org/officeDocument/2006/relationships" id="286" r:id="Rab098aad2fc5470a"/>
    <p:sldId xmlns:r="http://schemas.openxmlformats.org/officeDocument/2006/relationships" id="287" r:id="R32d2be7306214fa9"/>
    <p:sldId xmlns:r="http://schemas.openxmlformats.org/officeDocument/2006/relationships" id="288" r:id="R0f71bf51a99a42f4"/>
    <p:sldId xmlns:r="http://schemas.openxmlformats.org/officeDocument/2006/relationships" id="289" r:id="Rcf880a64e8ce4e3c"/>
    <p:sldId xmlns:r="http://schemas.openxmlformats.org/officeDocument/2006/relationships" id="290" r:id="R0254a3c4f72945ab"/>
    <p:sldId xmlns:r="http://schemas.openxmlformats.org/officeDocument/2006/relationships" id="291" r:id="R978f6044662348ff"/>
    <p:sldId xmlns:r="http://schemas.openxmlformats.org/officeDocument/2006/relationships" id="292" r:id="Rf0ee72aaee624fb7"/>
    <p:sldId xmlns:r="http://schemas.openxmlformats.org/officeDocument/2006/relationships" id="293" r:id="Rab81f73c290c44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305e63525d49e0" /><Relationship Type="http://schemas.openxmlformats.org/officeDocument/2006/relationships/slideMaster" Target="/ppt/slideMasters/slideMaster1.xml" Id="R3222756150064375" /><Relationship Type="http://schemas.openxmlformats.org/officeDocument/2006/relationships/notesMaster" Target="/ppt/notesMasters/notesMaster1.xml" Id="R50aef6fc0cb44b01" /><Relationship Type="http://schemas.openxmlformats.org/officeDocument/2006/relationships/presProps" Target="/ppt/presProps.xml" Id="Rc3e12629035d42e8" /><Relationship Type="http://schemas.openxmlformats.org/officeDocument/2006/relationships/tableStyles" Target="/ppt/tableStyles.xml" Id="Ra4fd5b3cd9be4309" /><Relationship Type="http://schemas.openxmlformats.org/officeDocument/2006/relationships/slide" Target="/ppt/slides/slide1.xml" Id="R37f3d19a27384d72" /><Relationship Type="http://schemas.openxmlformats.org/officeDocument/2006/relationships/slide" Target="/ppt/slides/slide2.xml" Id="Rac24a3302d744ed9" /><Relationship Type="http://schemas.openxmlformats.org/officeDocument/2006/relationships/slide" Target="/ppt/slides/slide3.xml" Id="R4af44c974df84f95" /><Relationship Type="http://schemas.openxmlformats.org/officeDocument/2006/relationships/slide" Target="/ppt/slides/slide4.xml" Id="R5b41b7bc128641ab" /><Relationship Type="http://schemas.openxmlformats.org/officeDocument/2006/relationships/slide" Target="/ppt/slides/slide5.xml" Id="R6668d5e66d114f78" /><Relationship Type="http://schemas.openxmlformats.org/officeDocument/2006/relationships/slide" Target="/ppt/slides/slide6.xml" Id="Rbbaaf1c1eede4f76" /><Relationship Type="http://schemas.openxmlformats.org/officeDocument/2006/relationships/slide" Target="/ppt/slides/slide7.xml" Id="R3958452d1e7b4383" /><Relationship Type="http://schemas.openxmlformats.org/officeDocument/2006/relationships/slide" Target="/ppt/slides/slide8.xml" Id="R08688c314a694b51" /><Relationship Type="http://schemas.openxmlformats.org/officeDocument/2006/relationships/slide" Target="/ppt/slides/slide9.xml" Id="Re58d42fc2ba44cd5" /><Relationship Type="http://schemas.openxmlformats.org/officeDocument/2006/relationships/slide" Target="/ppt/slides/slide10.xml" Id="R6c6c10690d3c4060" /><Relationship Type="http://schemas.openxmlformats.org/officeDocument/2006/relationships/slide" Target="/ppt/slides/slide11.xml" Id="R53cdbc3f72bb4cff" /><Relationship Type="http://schemas.openxmlformats.org/officeDocument/2006/relationships/slide" Target="/ppt/slides/slide12.xml" Id="R38d5c3654db74d55" /><Relationship Type="http://schemas.openxmlformats.org/officeDocument/2006/relationships/slide" Target="/ppt/slides/slide13.xml" Id="Rfafb8f9628d749ad" /><Relationship Type="http://schemas.openxmlformats.org/officeDocument/2006/relationships/slide" Target="/ppt/slides/slide14.xml" Id="Re9610045c39940ae" /><Relationship Type="http://schemas.openxmlformats.org/officeDocument/2006/relationships/slide" Target="/ppt/slides/slide15.xml" Id="R2ca6cd1f4ad54586" /><Relationship Type="http://schemas.openxmlformats.org/officeDocument/2006/relationships/slide" Target="/ppt/slides/slide16.xml" Id="Re26bc6a574fd4513" /><Relationship Type="http://schemas.openxmlformats.org/officeDocument/2006/relationships/slide" Target="/ppt/slides/slide17.xml" Id="Ref174ff206c743b6" /><Relationship Type="http://schemas.openxmlformats.org/officeDocument/2006/relationships/slide" Target="/ppt/slides/slide18.xml" Id="Re41763ab8f86426a" /><Relationship Type="http://schemas.openxmlformats.org/officeDocument/2006/relationships/slide" Target="/ppt/slides/slide19.xml" Id="R73ae8ca9c4b441cb" /><Relationship Type="http://schemas.openxmlformats.org/officeDocument/2006/relationships/slide" Target="/ppt/slides/slide20.xml" Id="Rcca519380f014713" /><Relationship Type="http://schemas.openxmlformats.org/officeDocument/2006/relationships/slide" Target="/ppt/slides/slide21.xml" Id="Re86d574fd32f4cde" /><Relationship Type="http://schemas.openxmlformats.org/officeDocument/2006/relationships/slide" Target="/ppt/slides/slide22.xml" Id="Rd5b854bedf8a4399" /><Relationship Type="http://schemas.openxmlformats.org/officeDocument/2006/relationships/slide" Target="/ppt/slides/slide23.xml" Id="R464974a48df046b3" /><Relationship Type="http://schemas.openxmlformats.org/officeDocument/2006/relationships/slide" Target="/ppt/slides/slide24.xml" Id="Ra9ef4f9765364ddd" /><Relationship Type="http://schemas.openxmlformats.org/officeDocument/2006/relationships/slide" Target="/ppt/slides/slide25.xml" Id="R437a210967894b4d" /><Relationship Type="http://schemas.openxmlformats.org/officeDocument/2006/relationships/slide" Target="/ppt/slides/slide26.xml" Id="R5c7b4b3f9f834cac" /><Relationship Type="http://schemas.openxmlformats.org/officeDocument/2006/relationships/slide" Target="/ppt/slides/slide27.xml" Id="R80f4228716b349e7" /><Relationship Type="http://schemas.openxmlformats.org/officeDocument/2006/relationships/slide" Target="/ppt/slides/slide28.xml" Id="Rcdd91fffdbd04cdb" /><Relationship Type="http://schemas.openxmlformats.org/officeDocument/2006/relationships/slide" Target="/ppt/slides/slide29.xml" Id="Rccc27a9cf27946d4" /><Relationship Type="http://schemas.openxmlformats.org/officeDocument/2006/relationships/slide" Target="/ppt/slides/slide30.xml" Id="R7bb274e2129a48e4" /><Relationship Type="http://schemas.openxmlformats.org/officeDocument/2006/relationships/slide" Target="/ppt/slides/slide31.xml" Id="Rab098aad2fc5470a" /><Relationship Type="http://schemas.openxmlformats.org/officeDocument/2006/relationships/slide" Target="/ppt/slides/slide32.xml" Id="R32d2be7306214fa9" /><Relationship Type="http://schemas.openxmlformats.org/officeDocument/2006/relationships/slide" Target="/ppt/slides/slide33.xml" Id="R0f71bf51a99a42f4" /><Relationship Type="http://schemas.openxmlformats.org/officeDocument/2006/relationships/slide" Target="/ppt/slides/slide34.xml" Id="Rcf880a64e8ce4e3c" /><Relationship Type="http://schemas.openxmlformats.org/officeDocument/2006/relationships/slide" Target="/ppt/slides/slide35.xml" Id="R0254a3c4f72945ab" /><Relationship Type="http://schemas.openxmlformats.org/officeDocument/2006/relationships/slide" Target="/ppt/slides/slide36.xml" Id="R978f6044662348ff" /><Relationship Type="http://schemas.openxmlformats.org/officeDocument/2006/relationships/slide" Target="/ppt/slides/slide37.xml" Id="Rf0ee72aaee624fb7" /><Relationship Type="http://schemas.openxmlformats.org/officeDocument/2006/relationships/slide" Target="/ppt/slides/slide38.xml" Id="Rab81f73c290c44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811247bc4d45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7b305f250b4557" /><Relationship Type="http://schemas.openxmlformats.org/officeDocument/2006/relationships/notesMaster" Target="/ppt/notesMasters/notesMaster1.xml" Id="Rc6ffc540df90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be184494a44510" /><Relationship Type="http://schemas.openxmlformats.org/officeDocument/2006/relationships/notesMaster" Target="/ppt/notesMasters/notesMaster1.xml" Id="R2d3b1289774d44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31e222778048a6" /><Relationship Type="http://schemas.openxmlformats.org/officeDocument/2006/relationships/notesMaster" Target="/ppt/notesMasters/notesMaster1.xml" Id="R4212dfa9158943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03a17826964ad8" /><Relationship Type="http://schemas.openxmlformats.org/officeDocument/2006/relationships/notesMaster" Target="/ppt/notesMasters/notesMaster1.xml" Id="R6e2e53040cc9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dfb7c3ce924558" /><Relationship Type="http://schemas.openxmlformats.org/officeDocument/2006/relationships/notesMaster" Target="/ppt/notesMasters/notesMaster1.xml" Id="Re9d8966dafc04f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2d97dd0e5944649" /><Relationship Type="http://schemas.openxmlformats.org/officeDocument/2006/relationships/notesMaster" Target="/ppt/notesMasters/notesMaster1.xml" Id="R509de2f27f7640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f461a1931f4cb5" /><Relationship Type="http://schemas.openxmlformats.org/officeDocument/2006/relationships/notesMaster" Target="/ppt/notesMasters/notesMaster1.xml" Id="R7c780eb1d4f045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ffb273048a4923" /><Relationship Type="http://schemas.openxmlformats.org/officeDocument/2006/relationships/notesMaster" Target="/ppt/notesMasters/notesMaster1.xml" Id="R52ffc4c0f32041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b858fe8b044452" /><Relationship Type="http://schemas.openxmlformats.org/officeDocument/2006/relationships/notesMaster" Target="/ppt/notesMasters/notesMaster1.xml" Id="R3c7c8e6d53c546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b55fb8255442b2" /><Relationship Type="http://schemas.openxmlformats.org/officeDocument/2006/relationships/notesMaster" Target="/ppt/notesMasters/notesMaster1.xml" Id="Red3c113f74c24a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66aab7c8d64ef2" /><Relationship Type="http://schemas.openxmlformats.org/officeDocument/2006/relationships/notesMaster" Target="/ppt/notesMasters/notesMaster1.xml" Id="R1aa0bb7b7072477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a9ebff19174421" /><Relationship Type="http://schemas.openxmlformats.org/officeDocument/2006/relationships/notesMaster" Target="/ppt/notesMasters/notesMaster1.xml" Id="Rcbba0795b32040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ce48bdf2514da9" /><Relationship Type="http://schemas.openxmlformats.org/officeDocument/2006/relationships/notesMaster" Target="/ppt/notesMasters/notesMaster1.xml" Id="R124f1509b71f40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4872ed206d411e" /><Relationship Type="http://schemas.openxmlformats.org/officeDocument/2006/relationships/notesMaster" Target="/ppt/notesMasters/notesMaster1.xml" Id="Rca8549e0425643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6bfe06796c4514" /><Relationship Type="http://schemas.openxmlformats.org/officeDocument/2006/relationships/notesMaster" Target="/ppt/notesMasters/notesMaster1.xml" Id="R4f6fe448f15944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f91529fe26d4330" /><Relationship Type="http://schemas.openxmlformats.org/officeDocument/2006/relationships/notesMaster" Target="/ppt/notesMasters/notesMaster1.xml" Id="R414d4af29a9f43f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bf32f2fca94958" /><Relationship Type="http://schemas.openxmlformats.org/officeDocument/2006/relationships/notesMaster" Target="/ppt/notesMasters/notesMaster1.xml" Id="Re79babd79859478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89cb9069de8499c" /><Relationship Type="http://schemas.openxmlformats.org/officeDocument/2006/relationships/notesMaster" Target="/ppt/notesMasters/notesMaster1.xml" Id="R1089cba44bed4d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d74c58fe33428f" /><Relationship Type="http://schemas.openxmlformats.org/officeDocument/2006/relationships/notesMaster" Target="/ppt/notesMasters/notesMaster1.xml" Id="Re2db4147fe774c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bce31e01fec47de" /><Relationship Type="http://schemas.openxmlformats.org/officeDocument/2006/relationships/notesMaster" Target="/ppt/notesMasters/notesMaster1.xml" Id="R9f2bd68645ac4a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294c9fe47c14cf0" /><Relationship Type="http://schemas.openxmlformats.org/officeDocument/2006/relationships/notesMaster" Target="/ppt/notesMasters/notesMaster1.xml" Id="R0bd5e178fe1940f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b80b9738b58414d" /><Relationship Type="http://schemas.openxmlformats.org/officeDocument/2006/relationships/notesMaster" Target="/ppt/notesMasters/notesMaster1.xml" Id="Ra065d5eaf70c416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c2c676ab7e54e20" /><Relationship Type="http://schemas.openxmlformats.org/officeDocument/2006/relationships/notesMaster" Target="/ppt/notesMasters/notesMaster1.xml" Id="Rfbe69b43f7964e9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6e06c6ec104dae" /><Relationship Type="http://schemas.openxmlformats.org/officeDocument/2006/relationships/notesMaster" Target="/ppt/notesMasters/notesMaster1.xml" Id="R5ad64ec0406e41f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f116420f7414cf8" /><Relationship Type="http://schemas.openxmlformats.org/officeDocument/2006/relationships/notesMaster" Target="/ppt/notesMasters/notesMaster1.xml" Id="Re4113f97af8e4d2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da3f011b7ff466b" /><Relationship Type="http://schemas.openxmlformats.org/officeDocument/2006/relationships/notesMaster" Target="/ppt/notesMasters/notesMaster1.xml" Id="R968716c3b32543e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be4f2f7052648dc" /><Relationship Type="http://schemas.openxmlformats.org/officeDocument/2006/relationships/notesMaster" Target="/ppt/notesMasters/notesMaster1.xml" Id="R1ac3072afce849c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962ef988ac40de" /><Relationship Type="http://schemas.openxmlformats.org/officeDocument/2006/relationships/notesMaster" Target="/ppt/notesMasters/notesMaster1.xml" Id="R244213f236b849f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4143b41e1f4415b" /><Relationship Type="http://schemas.openxmlformats.org/officeDocument/2006/relationships/notesMaster" Target="/ppt/notesMasters/notesMaster1.xml" Id="R6867a02b1741439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6c233794bd647f4" /><Relationship Type="http://schemas.openxmlformats.org/officeDocument/2006/relationships/notesMaster" Target="/ppt/notesMasters/notesMaster1.xml" Id="R49cb6f51453440f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9b815455eb64003" /><Relationship Type="http://schemas.openxmlformats.org/officeDocument/2006/relationships/notesMaster" Target="/ppt/notesMasters/notesMaster1.xml" Id="R7896c8db1eee4b8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39e892bef0241f2" /><Relationship Type="http://schemas.openxmlformats.org/officeDocument/2006/relationships/notesMaster" Target="/ppt/notesMasters/notesMaster1.xml" Id="R40a302f9dfa24e4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7a2f109f17744c2" /><Relationship Type="http://schemas.openxmlformats.org/officeDocument/2006/relationships/notesMaster" Target="/ppt/notesMasters/notesMaster1.xml" Id="R4838a67e6f784d1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a012032c78c4059" /><Relationship Type="http://schemas.openxmlformats.org/officeDocument/2006/relationships/notesMaster" Target="/ppt/notesMasters/notesMaster1.xml" Id="R176df09698064fd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7960f1ab1f54251" /><Relationship Type="http://schemas.openxmlformats.org/officeDocument/2006/relationships/notesMaster" Target="/ppt/notesMasters/notesMaster1.xml" Id="R4defb44711df430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a98972c3d544ebb" /><Relationship Type="http://schemas.openxmlformats.org/officeDocument/2006/relationships/notesMaster" Target="/ppt/notesMasters/notesMaster1.xml" Id="R62f81900d03a40a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c41b4c1dc024510" /><Relationship Type="http://schemas.openxmlformats.org/officeDocument/2006/relationships/notesMaster" Target="/ppt/notesMasters/notesMaster1.xml" Id="R9844c7a953c4482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cc18fbf443e4861" /><Relationship Type="http://schemas.openxmlformats.org/officeDocument/2006/relationships/notesMaster" Target="/ppt/notesMasters/notesMaster1.xml" Id="R0b107a67f05143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faa33d42048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225742802b42b7" /><Relationship Type="http://schemas.openxmlformats.org/officeDocument/2006/relationships/slideLayout" Target="/ppt/slideLayouts/slideLayout1.xml" Id="R7245f4f1111544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45f4f1111544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dd14243d345e5" /><Relationship Type="http://schemas.openxmlformats.org/officeDocument/2006/relationships/notesSlide" Target="/ppt/notesSlides/notesSlide1.xml" Id="R734b5bbbf1eb42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b160b34464b7d" /><Relationship Type="http://schemas.openxmlformats.org/officeDocument/2006/relationships/notesSlide" Target="/ppt/notesSlides/notesSlide2.xml" Id="R3714649bd0bf43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edca3fd1a4485" /><Relationship Type="http://schemas.openxmlformats.org/officeDocument/2006/relationships/notesSlide" Target="/ppt/notesSlides/notesSlide3.xml" Id="R26ad6231d0a341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824f150e14039" /><Relationship Type="http://schemas.openxmlformats.org/officeDocument/2006/relationships/notesSlide" Target="/ppt/notesSlides/notesSlide4.xml" Id="R11935bfdc72c47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57b42311d4298" /><Relationship Type="http://schemas.openxmlformats.org/officeDocument/2006/relationships/notesSlide" Target="/ppt/notesSlides/notesSlide5.xml" Id="R561c10e98b984f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264efb99a481e" /><Relationship Type="http://schemas.openxmlformats.org/officeDocument/2006/relationships/notesSlide" Target="/ppt/notesSlides/notesSlide6.xml" Id="R43277b159c1d41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37cdaeb974f8b" /><Relationship Type="http://schemas.openxmlformats.org/officeDocument/2006/relationships/notesSlide" Target="/ppt/notesSlides/notesSlide7.xml" Id="R1d99a909fce04b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666620c614e7c" /><Relationship Type="http://schemas.openxmlformats.org/officeDocument/2006/relationships/notesSlide" Target="/ppt/notesSlides/notesSlide8.xml" Id="R75ea46e7270e41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73d29e843431a" /><Relationship Type="http://schemas.openxmlformats.org/officeDocument/2006/relationships/notesSlide" Target="/ppt/notesSlides/notesSlide9.xml" Id="R01bd3e15ddc24f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a4dc970734e4e" /><Relationship Type="http://schemas.openxmlformats.org/officeDocument/2006/relationships/notesSlide" Target="/ppt/notesSlides/notesSlide10.xml" Id="R493e6bae5d9142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e1290f9cb4ea6" /><Relationship Type="http://schemas.openxmlformats.org/officeDocument/2006/relationships/notesSlide" Target="/ppt/notesSlides/notesSlide11.xml" Id="Rbf53aef6bc0d47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8ad0f30a64765" /><Relationship Type="http://schemas.openxmlformats.org/officeDocument/2006/relationships/notesSlide" Target="/ppt/notesSlides/notesSlide12.xml" Id="R80c7c24e829549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ad7a03d1a491f" /><Relationship Type="http://schemas.openxmlformats.org/officeDocument/2006/relationships/notesSlide" Target="/ppt/notesSlides/notesSlide13.xml" Id="Rc7fa77ad182642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b596ea667496e" /><Relationship Type="http://schemas.openxmlformats.org/officeDocument/2006/relationships/notesSlide" Target="/ppt/notesSlides/notesSlide14.xml" Id="R869a6f8cd01a42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c8539333e4d7e" /><Relationship Type="http://schemas.openxmlformats.org/officeDocument/2006/relationships/notesSlide" Target="/ppt/notesSlides/notesSlide15.xml" Id="R7652b3bd65334e0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e8f8815aa4b32" /><Relationship Type="http://schemas.openxmlformats.org/officeDocument/2006/relationships/notesSlide" Target="/ppt/notesSlides/notesSlide16.xml" Id="R45d7ea5f9ca941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579ac2bbc4efc" /><Relationship Type="http://schemas.openxmlformats.org/officeDocument/2006/relationships/notesSlide" Target="/ppt/notesSlides/notesSlide17.xml" Id="Ra64801c09bab4fd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1d2ecc93b470a" /><Relationship Type="http://schemas.openxmlformats.org/officeDocument/2006/relationships/notesSlide" Target="/ppt/notesSlides/notesSlide18.xml" Id="Re28f6970705b491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1035e389a4f21" /><Relationship Type="http://schemas.openxmlformats.org/officeDocument/2006/relationships/notesSlide" Target="/ppt/notesSlides/notesSlide19.xml" Id="R447375a1b51c41e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b3e828e5d4c55" /><Relationship Type="http://schemas.openxmlformats.org/officeDocument/2006/relationships/notesSlide" Target="/ppt/notesSlides/notesSlide20.xml" Id="R53649d25baae43d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469214b404c07" /><Relationship Type="http://schemas.openxmlformats.org/officeDocument/2006/relationships/notesSlide" Target="/ppt/notesSlides/notesSlide21.xml" Id="Re03426a2d85b43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16e419029439d" /><Relationship Type="http://schemas.openxmlformats.org/officeDocument/2006/relationships/notesSlide" Target="/ppt/notesSlides/notesSlide22.xml" Id="Rfa35e20cd01547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8bfb952a34926" /><Relationship Type="http://schemas.openxmlformats.org/officeDocument/2006/relationships/notesSlide" Target="/ppt/notesSlides/notesSlide23.xml" Id="Rf44f1138eeea41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c51a5118542ea" /><Relationship Type="http://schemas.openxmlformats.org/officeDocument/2006/relationships/notesSlide" Target="/ppt/notesSlides/notesSlide24.xml" Id="Rf4a342a151ee470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0178390774ab9" /><Relationship Type="http://schemas.openxmlformats.org/officeDocument/2006/relationships/notesSlide" Target="/ppt/notesSlides/notesSlide25.xml" Id="R42e06aab210743c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c5074981f4480" /><Relationship Type="http://schemas.openxmlformats.org/officeDocument/2006/relationships/notesSlide" Target="/ppt/notesSlides/notesSlide26.xml" Id="R39184b4479554e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2904352804b28" /><Relationship Type="http://schemas.openxmlformats.org/officeDocument/2006/relationships/notesSlide" Target="/ppt/notesSlides/notesSlide27.xml" Id="Rb4634decfec14c8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2bce245484bad" /><Relationship Type="http://schemas.openxmlformats.org/officeDocument/2006/relationships/notesSlide" Target="/ppt/notesSlides/notesSlide28.xml" Id="R1ae090c1838449c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914163cb24ec1" /><Relationship Type="http://schemas.openxmlformats.org/officeDocument/2006/relationships/notesSlide" Target="/ppt/notesSlides/notesSlide29.xml" Id="Rd14f765e39ae4e4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7b1d55b3b4c5b" /><Relationship Type="http://schemas.openxmlformats.org/officeDocument/2006/relationships/notesSlide" Target="/ppt/notesSlides/notesSlide30.xml" Id="Ra312ae498d164be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1155f9f6e43af" /><Relationship Type="http://schemas.openxmlformats.org/officeDocument/2006/relationships/notesSlide" Target="/ppt/notesSlides/notesSlide31.xml" Id="R6d7e437b53894b8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88831ef9549b6" /><Relationship Type="http://schemas.openxmlformats.org/officeDocument/2006/relationships/notesSlide" Target="/ppt/notesSlides/notesSlide32.xml" Id="R69894539c28341c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e8efcbfb84ae2" /><Relationship Type="http://schemas.openxmlformats.org/officeDocument/2006/relationships/notesSlide" Target="/ppt/notesSlides/notesSlide33.xml" Id="Rfe9f5e6360ae4dc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51812f6734d79" /><Relationship Type="http://schemas.openxmlformats.org/officeDocument/2006/relationships/notesSlide" Target="/ppt/notesSlides/notesSlide34.xml" Id="R9e188bfaeab2483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08912f6ad4b4d" /><Relationship Type="http://schemas.openxmlformats.org/officeDocument/2006/relationships/notesSlide" Target="/ppt/notesSlides/notesSlide35.xml" Id="R947af43ecbd64d3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523043a824ae0" /><Relationship Type="http://schemas.openxmlformats.org/officeDocument/2006/relationships/notesSlide" Target="/ppt/notesSlides/notesSlide36.xml" Id="R61e4e00610cc485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e90e27aca4b18" /><Relationship Type="http://schemas.openxmlformats.org/officeDocument/2006/relationships/notesSlide" Target="/ppt/notesSlides/notesSlide37.xml" Id="R61a3bc3ad8c6429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0beede8554632" /><Relationship Type="http://schemas.openxmlformats.org/officeDocument/2006/relationships/notesSlide" Target="/ppt/notesSlides/notesSlide38.xml" Id="R14751674ea3e43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A1BE27-9E90-4E97-8E7A-95106EE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013B-ECBE-4359-ACC6-BAB8D4C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CB98-4EBE-4772-8DC3-8175F98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7AAA6-8DC7-4EA9-A7EA-94FEFBE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49E4-67F9-4EE9-9CBA-481B361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A34C5-E2D2-44C0-90A1-8C855E2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Critical Assets — How They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9E86-6BF4-4665-B4CB-F6817FC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CrewAI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FEBA-E4A7-4DBC-8E7E-F346B9A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65314-03B3-4AB8-A713-580430B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Managing</a:t>
            </a:r>
          </a:p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Multi-Agent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42C68-4089-4681-9640-D3FA1A3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BFC2FF"/>
                </a:solidFill>
              </a:defRPr>
            </a:pPr>
            <a:r>
              <a:rPr sz="1500">
                <a:solidFill>
                  <a:srgbClr val="BFC2FF"/>
                </a:solidFill>
              </a:rPr>
              <a:t>Agentic AI  ·  Vibe Coding  ·  System Governance  ·  Pydantic  · 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8579-3B47-4458-BB7C-4E09F96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6 Modules  ·  Build. Break. Fix. Govern.</a:t>
            </a:r>
          </a:p>
        </p:txBody>
      </p:sp>
    </p:spTree>
    <p:extLst>
      <p:ext uri="{BB962C8B-B14F-4D97-AF65-F5344CB8AC3E}">
        <p14:creationId xmlns:p14="http://schemas.microsoft.com/office/powerpoint/2010/main" val="1779052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2E3449-A84E-4406-950A-3C849ED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3F4A1-8C01-4E2B-BA4B-903B3F4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8622-FE2D-4F1A-AD05-EE51170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414E-4CCE-4EF8-9CC8-8493C8F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7890-52AE-4C73-81F4-70C6010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96C9-F749-4758-9DB9-510A6D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B2039-1EBD-4717-B84F-0AE4942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Course philosophy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2050B-70A7-4E84-9B61-9D04E5E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F953-37B7-4F2B-AABD-6D60BB5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Build the governance shell first.</a:t>
            </a:r>
          </a:p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Then connect real agents and frameworks.</a:t>
            </a:r>
          </a:p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That is how production learning sticks.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CE82-18E3-4DE8-990B-0DA9AC4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BFC2FF"/>
                </a:solidFill>
              </a:defRPr>
            </a:pPr>
            <a:r>
              <a:rPr sz="1350">
                <a:solidFill>
                  <a:srgbClr val="BFC2FF"/>
                </a:solidFill>
              </a:rPr>
              <a:t>Course principle</a:t>
            </a:r>
          </a:p>
        </p:txBody>
      </p:sp>
    </p:spTree>
    <p:extLst>
      <p:ext uri="{BB962C8B-B14F-4D97-AF65-F5344CB8AC3E}">
        <p14:creationId xmlns:p14="http://schemas.microsoft.com/office/powerpoint/2010/main" val="752041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F24DB-9456-43AF-8541-4B32F7F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7982-41FD-4F27-9A73-50577A0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7E318-7A0A-45C4-97B7-EAD9F3D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303D-A32D-402C-8790-A649242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D97C9-140C-4011-9354-2C212CC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A5F6B-6300-414B-91B8-C82CAE3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3B4A-CDAE-48CC-9A14-7E9E5B4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Course overview + ChatDev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1E6E8-024D-471C-8012-E3E76DC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D81B6-7059-48CA-B25D-DED4E76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5211-7F3E-457C-A18D-1AC2069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What This Course Teaches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64CD2-7CC2-482A-90A1-64826DB3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96731-9260-4A91-88D8-DEB3330C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Multi-agent teams fail without contracts, memory, and governance.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73472-72F6-4FB7-8B78-333C77B8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D5AC6-CEA8-4B6D-8DC5-4E6ACC7D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We build the governance shell first: schemas, gateways, repair loops.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D71B4D-FDF3-468C-AC52-3C77F5A5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19A54-753B-42A1-BB7F-97013C9D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Three layers: deterministic shell → mock LLM failure → live LLM.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492D6-3E15-43A9-AB54-8598A622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CFE9A-D2FF-454D-B010-30FFBBCB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Each module gives one problem, one architecture, one practice.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137F6-5714-480D-A3F0-8B01568B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Understand the pipes before the brain.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04A60-45DF-4576-8929-CBB685B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4071035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67C6E-B29F-4D34-9E9C-0702470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6E768-3875-4BA3-8325-6F263BF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B056-44C9-4C27-8405-DED641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7-0DD1-471B-BF1F-34CA348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CDED-8469-474C-8D11-EBBD7BE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54E2-4A75-4C68-8B93-61E78C4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B7A62-AD34-4C2F-BA94-8A1C30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Module map + ChatDev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D132F-E211-47E0-B9B4-B24E365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7084-A780-4D0F-9FF9-919D68E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D916-D9C8-4C4E-8322-D4B6E3B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Six modules, one production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F107-4BC6-4FA8-BBEC-265BA9B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34DCE-A122-43CB-88D6-E83BD98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1   Foundations &amp; Vibe 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D0EF1-5951-494F-A3E3-38FE8F5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6EA9-8E06-488B-8C6E-F591387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2   TeamLog &amp; Theory of Mind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D4B1B-38C5-43DE-9E44-6F17A86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22DCC-F613-43C3-BA8B-A1F2B02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3   Agentic RAG &amp; MCP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76759-D82C-4F14-837B-F4DA7D7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DA34-13FC-4A27-B6E5-C32927C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4   Pydantic AI &amp; Type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AF994-BFC9-4E55-A601-EDB95DC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3594B-9303-4880-8A9D-1DDF14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5   Fugu Routing &amp; ChatDev Self-Repair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809F8-97D7-4C25-8EA0-E658CF4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C632C-1CDA-4711-84EE-BAAF23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6   Internet of Agents &amp; Zero Trust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08542-F3A2-4A6B-82E7-243C710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Governance before autonomy.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82D8C-7A9D-438A-BD6A-BA409AD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095641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1D5862-11E1-4300-BD85-5BB9639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F00B6-F28E-4D12-B96D-7FB0072A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337A76-A0BB-4907-B714-A14107C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64746-1C31-477E-A1E2-7A47429F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DA2AE-93E5-4118-9301-C66E38A1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DB8C3-A47A-4ABA-8374-C76DA72F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08CF3-B77A-4F24-8E02-9D7A39CA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AutoGen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4D94D-6C6D-4C85-9C52-1F1A8EED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EBF3C-3660-4611-943D-A461E3EE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177DF-487C-4B41-9136-D35EB0C1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Module 1 → Foundations &amp; Vibe Coding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FD22D-0A41-4127-8430-5D30D3C2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BFC2FF"/>
                </a:solidFill>
              </a:defRPr>
            </a:pPr>
            <a:r>
              <a:rPr sz="1800">
                <a:solidFill>
                  <a:srgbClr val="BFC2FF"/>
                </a:solidFill>
              </a:rPr>
              <a:t>From isolated prompting to managed AI teams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5E94D-4087-43CB-996A-79D529C0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C2FF"/>
                </a:solidFill>
              </a:defRPr>
            </a:pPr>
            <a:r>
              <a:rPr sz="1125" b="1">
                <a:solidFill>
                  <a:srgbClr val="BFC2FF"/>
                </a:solidFill>
              </a:rPr>
              <a:t>JOURNEY  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1ADAC-E5F7-4484-BCCD-14293EC0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Goal: move from isolated prompts to governed handoffs.</a:t>
            </a:r>
          </a:p>
        </p:txBody>
      </p:sp>
    </p:spTree>
    <p:extLst>
      <p:ext uri="{BB962C8B-B14F-4D97-AF65-F5344CB8AC3E}">
        <p14:creationId xmlns:p14="http://schemas.microsoft.com/office/powerpoint/2010/main" val="17770127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2568F6-1199-4375-B01E-EE410F79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4C1BC-4A5B-469A-AEB1-45870292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A6017-8EF5-4AF5-87CF-180C2C6A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F626B-E23D-403C-A160-C84CCE55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C7C2B2-A9AD-44CE-AE06-5BF5EE15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808503-4830-48CF-9570-54498C6D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A5C7F-6DF4-4F30-9207-4910F146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Vibe Coding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96F5F-6C05-4336-91AD-DAE5422C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5B916-7A3E-466E-A5DA-D4150FCB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4AF00-E8E3-45B6-BA14-ABDD7E00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 Single-Agent Ceiling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B1BD8-4EDE-437D-BEEF-5912C1B8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74694-3372-4393-B7D8-45FCB49D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Problem: one model must plan, code, test, and review itself.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AEF5F-BC38-42A1-83E8-95C4EC4E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EDC78-D4F1-49E2-AECE-C72887DB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Result: brittle outputs, hidden assumptions, no accountability.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2B3E08-1954-4CB5-A1E5-48F68752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91A862-5932-41AD-908E-EFFD5867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Vibe coding is not casual prompting at scale.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1F789-8332-4630-8A12-7A0D2033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07328-7981-4C3D-B09B-DE0A0A65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It is intent-driven software creation with roles, artifacts, and gates.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D2017-FFE3-4EC7-9008-267745D5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First skill: managing delegation, not building a swarm.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5D0603-2CE8-495F-9B4C-0509E19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7752023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227B5-A06B-411C-8E59-C048C87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D607-C325-4D25-86A8-F43B497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EA56D-A2ED-49DA-B3FE-F6F40DA9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E39A-DFBE-417C-86E0-C77776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5266-9CFD-42CE-873E-3EBE09F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E272-1DBD-4ADD-B606-4AEAAFB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619C-E2E2-4379-8069-7104CE7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processes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8D7D-A46E-4C4C-93D4-9B4D97C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CF91-5E92-4AFE-BA22-B641014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AE38E-20F7-4355-A50D-5AFCDF2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CrewAI Processes: Sequential vs Hierarchical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CA99-DBB4-4BD3-A5CA-9CE6A6C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926E-C6FF-4EC2-B5B1-F989D3F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3BA45-DB72-485E-A028-38F01B2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Sequential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66DB0-6F13-4B03-B0C7-6AA03C5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Hierarchical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1D0B8-A6F4-4322-89E8-CBB065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E47CE-AAAC-4EE7-A246-FE08A38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CrewAI: Process.sequential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B42D-E64C-4CBE-9662-E9841E8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CEEB2-A95B-43E9-AAC6-1BCBE93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Tasks run in 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AAF28-1115-4F4A-9D38-99E91AE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D668-538F-4F7A-998E-FB7181E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Best for fixed pipelines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078BD-69D7-4D42-9423-F120CB9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F73B9-7F8A-477A-AAB9-5D8F032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Transparent, easy to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7E7D4-B795-4450-8321-1F77E0A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81C01-1682-42AA-B65F-6D2E526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CrewAI: Process.hierarchical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DDFF-F234-4DA2-B04C-BFAC260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C8A2C-5B45-46C6-824A-124680F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Manager coordinates agents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9A8A-1D9C-4156-9589-AAFB88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33C73-31B6-40B8-A932-1AB8B7C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Best for dynamic delegation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91DBE-3464-4443-802E-E8C984F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37731-B239-4A05-A21D-C1BF797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Flexible, harder to debug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9BCAE-25E2-41A4-92AF-9E0FD0F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CrewAI is used here as the production-framework comparison, not a replacement for governance.</a:t>
            </a:r>
          </a:p>
        </p:txBody>
      </p:sp>
    </p:spTree>
    <p:extLst>
      <p:ext uri="{BB962C8B-B14F-4D97-AF65-F5344CB8AC3E}">
        <p14:creationId xmlns:p14="http://schemas.microsoft.com/office/powerpoint/2010/main" val="10852556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E7B67-843F-438F-A135-A1965134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460D7-0510-443B-A6A0-0BCF8923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0F3808-584B-49F2-9AA7-CB1A572F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90D3E6-AC5D-4D4E-963F-DB63F7FE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resources/README.md: papers, videos, cited schemas.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947B6-DC0A-4EC1-92AD-E464BF1F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3FE96-B943-496C-BBC4-47875F0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D390E-50ED-492C-927F-8C655A77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+ course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75550-F3F5-4374-B437-FE9DC218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CA90A-36F2-409F-8C18-2FFF57F0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60CB0-5F8D-4A3B-886D-EEF2734F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Five Production Failure Modes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03124-AA62-4FD0-99FB-718A3549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EFE7F-9295-43A2-AD8F-BD699B11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Role confusion — agent does too many things.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9D36CD-2FDE-419B-8FF9-1BA5447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BD720-6B54-4140-9DFC-0BB970B0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Context loss — downstream agent never received upstream output.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56163-F091-4DBC-97DE-DC49C87D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AE8F7-6D73-40B7-9DC5-2999B485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Tool overreach — agent calls tools it should not have.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BA76F-CB01-44E1-96A0-98C20462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FFF13-1A07-4178-90B6-84495312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No done criteria — agent never knows when to stop.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52B91-F8E3-4AA2-96D3-19FE4A2F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CD88EF-BBB0-42D3-A085-2AEE09FF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No escalation path — failure loops silently instead of surfacing.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34453B-9EF3-4CE9-9BB2-258B9519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Boring is safe.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D7BCA-CA46-458A-A9F7-D2FD97D2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6303101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2CADB-14E9-4557-ABAE-5C2859E5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CCFB6-0E1B-4990-8E14-6880D3BE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8217B-DA16-420D-B77C-58435923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43BD4-76C2-4D80-81D9-762A65CB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6EFE1-E543-460A-AC5C-CB52BE9B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A22A4-E498-46EC-8001-F1467573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8BF85-7096-4723-9257-69CD1010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delegation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D8926-AF49-4E33-B930-07902C22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F5FFD-3496-4ABD-A6F6-BA6A2C4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2C5CEE-6512-4D49-B9CF-018F624B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6D4DD-F2B5-4CBA-9760-2603C54D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9BF13-C1E5-4898-B9FB-13E805D6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The first skill is not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4E664-0184-4F7C-8E77-10623151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building a swarm.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F86D7-567C-4B03-ADEE-A5C03DD7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It is managing delegation.</a:t>
            </a:r>
          </a:p>
        </p:txBody>
      </p:sp>
    </p:spTree>
    <p:extLst>
      <p:ext uri="{BB962C8B-B14F-4D97-AF65-F5344CB8AC3E}">
        <p14:creationId xmlns:p14="http://schemas.microsoft.com/office/powerpoint/2010/main" val="3704321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B6ECC-11BE-43BB-BE08-21538E3C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1BE2A-503E-419D-920E-6F4D7A68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1DB71-D90C-41FA-99FB-15AB2278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FDAD5-A344-49B1-8483-32579AA9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01800-E2F7-469B-87B5-0DEB71B3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35CDC-9C6D-4AE4-ABAC-88EDDEAC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1C72A-642C-45AF-9298-81BF01EE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TeamLog + ToM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A6F74-49A8-45E9-A91B-5B9E6164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85BFE-90FA-47DC-A238-2472C94C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469F3-6A4E-49AE-B484-AAD5A386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TeamLog &amp;</a:t>
            </a:r>
          </a:p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Theory of Mind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C3616-9726-463A-9240-0085C66C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BFC2FF"/>
                </a:solidFill>
              </a:defRPr>
            </a:pPr>
            <a:r>
              <a:rPr sz="1800">
                <a:solidFill>
                  <a:srgbClr val="BFC2FF"/>
                </a:solidFill>
              </a:rPr>
              <a:t>Alignment as shared commitments and retrievable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F9076A-8E78-4FD0-A5E9-3FAE0A85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C2FF"/>
                </a:solidFill>
              </a:defRPr>
            </a:pPr>
            <a:r>
              <a:rPr sz="1125" b="1">
                <a:solidFill>
                  <a:srgbClr val="BFC2FF"/>
                </a:solidFill>
              </a:rPr>
              <a:t>JOURNEY  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49762-BBCE-433D-9401-E0B4C8A3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Foundations  →  Memory &amp; Mind  →  RAG &amp; MCP  →  Type Safety  →  Routing &amp; Repair  →  Zero Trust</a:t>
            </a:r>
          </a:p>
        </p:txBody>
      </p:sp>
    </p:spTree>
    <p:extLst>
      <p:ext uri="{BB962C8B-B14F-4D97-AF65-F5344CB8AC3E}">
        <p14:creationId xmlns:p14="http://schemas.microsoft.com/office/powerpoint/2010/main" val="10818939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4923C8-1E47-4826-B764-7DF00AB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0067-B680-4F7D-BF4C-74E2CF0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4CDA-A547-4B73-B84D-5F1D6DF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30DA7-69AA-4D9A-AACE-B15F0D8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0668-B6E6-43FA-B9F7-F777A1F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E297-E672-47CC-A4CE-D253034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CA33-5921-4929-9177-2C4ACCA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TeamLog + ToM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4E34-1B41-4072-8097-4B01044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BC8D-2A27-421D-AED7-F5F2099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A6F8B-94CD-457A-ADE9-D37B9E0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Why Agent Teams Misalign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C9CD-02CC-4142-B953-7BF1AC0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3EAD-CE78-4BED-A533-D3E416D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Hidden constraints disappear between turns.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F6D7-1370-4A24-A0E5-202E5FA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DB5A2-60E7-40BB-B34D-B6A9E0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 local agent satisfies its task while violating the global 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B1BE8-EBEC-4E6A-A563-3EF38B9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9CB8F-96EA-4EDA-892A-ACE132C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Long workflows erase context: the coder forgets the PM's constraint.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66F6-14EC-480F-8DBE-85CA547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F888A-AD1D-4F8B-AA52-0E051A0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Memory is governed data, not a prompt dump.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35253-993C-40EA-BC5B-F27F1A8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Alignment is a data architecture problem.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82FCE-3744-4D41-836E-E969237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6053513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03ADB-50E1-4094-A723-D1076DEC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0AC7B-B1E2-44FF-A3B8-76A551B8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B8857-C412-460E-A32E-A50FE8B3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48F97-DC07-4D1F-A91E-BF3CB0EB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95364-ED49-4336-B978-D4C1E613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86FC6-2D16-4515-A952-CEE79F092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A46D6-8FCE-42DC-BFD9-5F5F874C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TeamLog + ToM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A2701-1E9C-4F24-A159-C25AD0DE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14FC8-ECBC-4258-BC07-A7C1BAC4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9A948-295D-43AE-B330-B3794607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Two Patterns to 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1BD7C5-142A-4632-AD60-64EC1B06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7208D-09A5-489F-A968-D2D308C0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F8CDC-6FBF-420A-AF88-453AF41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TeamLog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0C3417-43BE-4292-BA9C-2B01FD6D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Theory of Mind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E0254-93C3-42F4-A5E6-34C0358A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F0169-BCF5-426B-9204-747EC48E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Who owns the promise?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51DE1-531D-48C9-9067-DCBC7A8D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075F9-2150-42E9-A725-4DE6A895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Who can see it?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4AF29-97D9-49C2-8511-F6B6D6B9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2F401A-CCAC-4DE3-9CE2-E267049B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What must be true before done?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366B8-5D17-46E4-A5E4-10906BFA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903214-C025-4576-B10F-E47E4981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Commitments override local goals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C8878-D2C2-42E0-9C7A-1BCD60D4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B85B5-7175-4F73-A54D-549E63A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What does each teammate know?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93AFF-4E67-4C3B-9BE8-41E8C2A6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5D1BDE-2722-4CE3-95A8-081E4045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What are they missing?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9D9D9-D0FF-4F4F-87B5-56FDD15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A5A77E-B33A-4927-B70D-79535183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What should stay hidden?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8045D6-445A-4119-B265-2F46FCAE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B4930-65F8-4704-A909-73525C3E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Memory = role-filtered retrieval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2F9A7C-172F-4300-B682-24189EF1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Shared does not mean open.</a:t>
            </a:r>
          </a:p>
        </p:txBody>
      </p:sp>
    </p:spTree>
    <p:extLst>
      <p:ext uri="{BB962C8B-B14F-4D97-AF65-F5344CB8AC3E}">
        <p14:creationId xmlns:p14="http://schemas.microsoft.com/office/powerpoint/2010/main" val="66342746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09BDE5-BDF9-41F1-B6D8-1261734B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D51BD-AC6C-4334-A8A0-98F8611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33602-2872-4AFA-B11F-3C56DA7B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4A1A7-D6E8-427B-92B9-0B8B3F69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C6B9B-6D64-40C7-BC4B-C37DF04F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7937F-118C-4256-9525-D45C663D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6CD11-3D29-40B7-999A-269FBC2B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Agentic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E8708-19D8-4EBB-BA09-79FA6189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B7478-B722-4DB2-8FB5-296B100A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D87B0-25D1-4615-BF26-8F54EBC5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 Hidden Constraint Pattern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63B63-4B42-4B7D-BA84-5DDCD56C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D5E12-546C-4B36-81A1-7AB860C2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PM records: Use PostgreSQL for persistent storage.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1EEE3-2B05-490B-A87B-B338D820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4CBC7-F8E6-4372-A2B9-B4BB6614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Coder prompt omits it under context-window pressure.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590355-7D75-4019-AE11-4A5FB49B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DAB6A-E8F2-48DB-831C-B549F506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Coder queries memory, retrieves the constraint, honors 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7F4BB-456F-4251-8C8C-43A9127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E3BFB-D0B8-44A7-970E-48F4DD94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Security password records are not returned to the coder.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270BE1-2483-4C47-92BA-867B33F1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Need-to-know is a data architecture rule.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33A8C7-4F1E-4A8C-8039-B2E2A76E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360089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06F09-0439-47E4-91CD-8E8B6F1A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82DAE-0179-49DE-8C9D-86127AEC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31D7F-85DB-4256-A941-FB3892CC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2D6B7-705E-4C3D-AD11-DE45F730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971C8-E51C-48DA-B2A2-56DD88B9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27543-11D0-405B-8B14-00C9154F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39860-A04F-44DE-902F-9070E924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TeamLog +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7EFB-A4DC-42BD-95FF-0577852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143FF-38CA-4D87-9059-E2F4998A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B52AA-0AEA-4C75-8853-D2E9BF0A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4057C-309D-491A-827A-50D09F18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243311-68C7-4D28-8DFB-3671280C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Alignment is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AD060-7029-4CB6-B2EE-1BBDAAB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data architecture problem,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3B785-C705-4045-A85F-15B61943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not only prompting.</a:t>
            </a:r>
          </a:p>
        </p:txBody>
      </p:sp>
    </p:spTree>
    <p:extLst>
      <p:ext uri="{BB962C8B-B14F-4D97-AF65-F5344CB8AC3E}">
        <p14:creationId xmlns:p14="http://schemas.microsoft.com/office/powerpoint/2010/main" val="116744702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97AEF2-DCC7-4703-940A-C6F176C5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6A02F-F963-4E74-BC54-B73DAF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70B35-59D0-43A8-99F0-4D3E4FE2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83147-EF44-4BDB-A79E-68B0020C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22296-9151-4B3D-B1AA-138C5D3A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292FE-08E3-4CDC-8EC9-2DF3E896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1C7BB-327B-435A-8B1D-11721349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+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33767-3F35-4769-8D66-D6951A62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E4605-21DE-45D9-94F4-14C958B0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6BA43-F050-4908-9865-621F4FB7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Agentic RAG</a:t>
            </a:r>
          </a:p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&amp;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0F7B3-34DA-4DE8-BF6B-A8D29EFC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BFC2FF"/>
                </a:solidFill>
              </a:defRPr>
            </a:pPr>
            <a:r>
              <a:rPr sz="1800">
                <a:solidFill>
                  <a:srgbClr val="BFC2FF"/>
                </a:solidFill>
              </a:rPr>
              <a:t>The governed nervous system for tools, memory, and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799F5-B4BB-4D46-88E3-2B8F37B5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C2FF"/>
                </a:solidFill>
              </a:defRPr>
            </a:pPr>
            <a:r>
              <a:rPr sz="1125" b="1">
                <a:solidFill>
                  <a:srgbClr val="BFC2FF"/>
                </a:solidFill>
              </a:rPr>
              <a:t>JOURNEY  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066B9-A3E7-4EC3-AD8E-DB938243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assignment_syllabus.md: numbered assignments and Homework A-G.</a:t>
            </a:r>
          </a:p>
        </p:txBody>
      </p:sp>
    </p:spTree>
    <p:extLst>
      <p:ext uri="{BB962C8B-B14F-4D97-AF65-F5344CB8AC3E}">
        <p14:creationId xmlns:p14="http://schemas.microsoft.com/office/powerpoint/2010/main" val="52168515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A14A4-1F68-40AB-B3C3-8A75A621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2447E-EFB8-4BD0-BE65-1535AC95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7B588-9114-4A50-A73A-D17DD7A9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269D9-BBDF-47FE-BA22-431F1EC5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21ADD-9A6C-4E9A-BF64-BD0114C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AA7EF-5D40-4F44-8C83-BA32D713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28277-212F-4967-AE00-E2B2135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+ Agentic 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AE94F-9DC9-499E-A4F8-80F7BAEE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EFB90-0F69-4222-A579-2C62316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79645-4AB1-4F14-8CF3-EC319AB3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 Access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22924B-2997-4DFE-9E21-8F6D1FD7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37916-2338-475B-B2D1-1C824CB7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Agents need code, tickets, docs, databases, and tests.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0CC4E-90D5-42E4-A5AC-82A2A7F4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8C4A1-961B-47AF-A002-F064A063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Direct access creates security and reliability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332D5-3104-4EBC-AECF-910653C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A56EA-DAC0-47DE-A287-278D4B1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Agentic RAG: agents choose sources, inspect evidence, decide next step.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B76989-B60B-4852-935F-C9A31216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264BD6-1947-4B32-83E3-3D3B7F52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MCP: a standard interface between agents and external tools.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EAC2C-7AF3-4381-949C-E9F88EDF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RAG gives context. MCP gives action. Policy decides.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B519C-F52A-4D69-8C55-3A1B5278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21129392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2C50A-090F-443B-856F-430A9035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29038-4B10-44EE-B950-6ABB42D3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86177-E7A8-460A-BB04-2BF4323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057B7-0678-4745-BB73-4DFF7DBD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D5F30-BEE7-4919-80CA-560A2B9F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342D6-3E59-4C85-ACC0-794759F2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842FB-5307-42C2-8213-EBDA17EB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protocol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8C665-AFCC-420C-A54C-28C75793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23AB0-FC5D-4FB7-9C41-04594229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525E4-66BA-48BA-9BC2-95EFB816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RAG vs MCP — What Each Does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6C389-FFE8-445C-9B54-F71A679A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50E37-6818-4E52-A204-5DA35AF2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426B1-F28D-4E2F-AEDD-0BC67845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Agentic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B563B-DB93-4A4B-93EE-16F90B2A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MCP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55BBB9-972D-481D-92A9-0D9F1099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99A6D0-BCDE-40B6-8475-B591AEBD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Retrieve from shared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44D84-DFB5-4CFC-A44F-708C58F3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611D7-25A5-49A6-9C49-C9DBEF58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Filter by role and sensitivity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7E76C-413D-4C8E-BD66-F15E9BD1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F9F06-54D8-4F33-9045-DCB52214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Inspect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AA9241-FD59-4225-A077-E993CF15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574D1-F60D-43A6-877F-5F1C6CE4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Govern context as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639DB-333F-4A34-B041-2EF7EB46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9DC679-721B-40E4-A5C5-EAE80AC0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Standard tool discovery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CD2234-3E6A-40CA-B78B-85CABCB9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28B5BB-A885-49C1-B419-3CCB6EDA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Identity + tool + args + sensitivity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5953E8-73EC-4A32-AA78-E4430177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8C5FE-3BA2-4CFB-8614-8E93DB3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Policy decides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8D09A2-C3D5-4922-8FF4-547CB136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9EE5D-9D30-4076-91FA-FE4DEF28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Audit every invocation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FC5D2-1AB0-4E4F-A8DD-58CDCD34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 nervous system must be standardized before it is powerful.</a:t>
            </a:r>
          </a:p>
        </p:txBody>
      </p:sp>
    </p:spTree>
    <p:extLst>
      <p:ext uri="{BB962C8B-B14F-4D97-AF65-F5344CB8AC3E}">
        <p14:creationId xmlns:p14="http://schemas.microsoft.com/office/powerpoint/2010/main" val="21891166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9CABB-A942-42C0-8F35-B69BDDB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E8D83-EAA6-4455-91C1-0A074B0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AC2B-AEA1-4A83-9E7A-4D35C97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EED25-CA36-434B-A8E9-F0B7AEC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22AA-25E6-4BA5-9EF6-D13F316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A0A1-B58F-4926-8135-02FDBEF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357D-B354-452C-9D99-857D186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6D284-217A-4221-B2F7-0B2683F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E716-9B5D-4155-9574-F374E6A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7297-4534-487E-99E7-FE061E7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Zero-Trust Tool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B421D-BDCA-4F88-A43F-709B2AC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48B22-1CE6-4D76-91AC-EC46DC9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Do not ask: does the model want this tool?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AE07-37BA-4B8E-AE9D-E11B6CA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FD42-E57C-4870-AF2B-2045946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Ask: does policy allow this identity to use this tool for this data?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5ABC-72A4-4F68-A619-98C2485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F111-1C40-4039-AF75-0469F68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Agent → ToolRequest → Policy Gate → MCP Server → ToolResult.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467B1-E810-4DEE-B784-249E0F1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2CC-72DF-4012-A132-3FA591B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Threats: prompt injection, tool overreach, context leakage, stale permissions.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F5669-0D12-4DC7-9010-CF6F348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tool gateway is the bouncer.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85E72-E09C-49B5-B25B-A4012F3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98813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CE18CF-8221-4115-A865-1BB01690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F78BC-570A-4D65-8D0F-C5F7B4EE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FAD0A-50D8-403A-9082-6926F7DB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E0ADE-5B95-4A61-A537-FF5BAA5E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7E989-AC28-4DA4-B6C3-FD8483AE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3E833-B080-48F1-8F19-9A69825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74373-1EE6-454D-987B-15406A3B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15212-2386-4118-8D81-6B0E13F1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CA44F-9F83-4744-951C-C422D393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EECEA-F035-4A84-A0D9-62A7B2A4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5109E7-32B4-4C73-92E1-38D5AEDF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D908B-E779-4357-86AA-AFD22300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The nervous system must be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D2C13-97C4-4EA6-B38F-B443187D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standardized and governed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01A02-9FB2-4CF8-9E80-A1402B11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it is powerful.</a:t>
            </a:r>
          </a:p>
        </p:txBody>
      </p:sp>
    </p:spTree>
    <p:extLst>
      <p:ext uri="{BB962C8B-B14F-4D97-AF65-F5344CB8AC3E}">
        <p14:creationId xmlns:p14="http://schemas.microsoft.com/office/powerpoint/2010/main" val="191895219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0D8293-2FD1-4ADB-98AE-4A7393B7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AE987-652D-4E33-AA85-F9F591E9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4309F-9476-4F3A-820B-F765FFF5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5CFBE-0798-485A-AB61-D50A69B0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211E7-04E4-48FE-A61A-6F33E1AA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D9FA2-10CC-4762-973C-0E9A8260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61D1A-DCD7-4AF8-A91E-755CCCEB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0E538-3121-41FC-98C1-87E7FCE3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FC6A3-2E7C-4EEF-837C-2C0F36B2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9837A-2551-4359-A503-21D940D4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Pydantic AI</a:t>
            </a:r>
          </a:p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&amp; Type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2C0DC-8666-49D6-BF8D-7CF476D2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BFC2FF"/>
                </a:solidFill>
              </a:defRPr>
            </a:pPr>
            <a:r>
              <a:rPr sz="1800">
                <a:solidFill>
                  <a:srgbClr val="BFC2FF"/>
                </a:solidFill>
              </a:rPr>
              <a:t>Typed contracts for production delegation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20C31-BEF3-4F54-BCD7-BBD9C7F0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C2FF"/>
                </a:solidFill>
              </a:defRPr>
            </a:pPr>
            <a:r>
              <a:rPr sz="1125" b="1">
                <a:solidFill>
                  <a:srgbClr val="BFC2FF"/>
                </a:solidFill>
              </a:rPr>
              <a:t>JOURNEY  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43421-036C-4F0A-941F-68002020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Foundations  →  Memory &amp; Mind  →  RAG &amp; MCP  →  Type Safety  →  Routing &amp; Repair  →  Zero Trust</a:t>
            </a:r>
          </a:p>
        </p:txBody>
      </p:sp>
    </p:spTree>
    <p:extLst>
      <p:ext uri="{BB962C8B-B14F-4D97-AF65-F5344CB8AC3E}">
        <p14:creationId xmlns:p14="http://schemas.microsoft.com/office/powerpoint/2010/main" val="60839722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890B41-C06B-454A-A4AB-314F747E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E6E53-C3FD-4ECF-90FB-344FBE28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B9772-6FB8-449B-9682-8EF6382A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6ADAE-A88E-444B-966B-754DC1E0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98F57-A87C-4190-92C9-BD03F05F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23887-27AC-466D-ADCF-113F8B78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86326-66F8-49CF-B08E-D4BFBCD2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618FE-0169-4AB9-92D2-B1DDAC87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CE5F9-1A9C-4423-A621-E0AB471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11E0D-46CB-4E80-997B-0312491E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Why Raw Text Breaks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CDDDB-FAD2-4B8C-8202-667B1BBE4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D8AC5-F427-4866-A617-96F9D6D0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Raw LLM output is flexible; production systems need reliable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981A4-D55E-4907-8D96-F425AF31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95104-97A1-47DA-BD55-9DEA56A1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PM emits TaskSpec. Coder emits CodePatch. QA emits TestResult.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00C55-86E5-4501-829A-03D62787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11E57-443C-450F-872D-435C5492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Pydantic is the customs checkpoint: valid artifacts cross.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51C19-E7A1-4266-80CD-4C075AAB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C296A3-B20E-46E0-9B7E-E23DB53B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Validation errors become structured feedback for repair.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C3C4D-B0FD-406C-8AA0-FFBA8284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Schema drift is silent. Pydantic makes it loud.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5A36A7-1C7C-40CA-B8DC-1A0A23E9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45814466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E795D5-E65D-4D3B-8A13-D6CC343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D3388-E700-4142-8764-366DD25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282E-A88D-4E47-8672-EA3A111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51CD-834B-4F1B-810B-D6EF109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855C-FC4B-49E9-AD0C-76E0022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55D0B-3C68-44F1-8ACF-49E2FF9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223A-0FE2-4C77-B4E4-0F27C83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validators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0150C-5692-4537-A610-B9D4030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BF40E-B3E5-4F1A-B513-7E1E67A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45D5-B707-4B28-9D87-BA0FAA3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Strict Schema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AD79-AB70-4153-AC8F-BD2E14A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84D83-9043-4581-BDB4-0C7D7A89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Use extra='forbid' to reject hallucinated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26944-F73F-4BDF-87A7-B10ABF83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850C6-01FC-46AE-BAF4-D38A1484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Validate field lengths and constrain enums.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95727-779B-4B52-8DBA-70AA274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8801D-0ACD-4C07-BB60-E873671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Reject unsafe file paths before they reach the filesystem.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BB736-8FB1-4E83-81AF-1692647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19778-1C92-4A78-877F-11D26DF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Test valid inputs, invalid inputs, empty lists, extra fields, unsafe paths.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6EA94-598A-436A-A5EE-7DE4742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Test contracts as rigorously as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5836-23C5-46E3-84E9-6F48665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79873385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D4D387-198E-4826-9B5D-BE8C3B58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88A83-FA35-4FE7-AC42-B97E9FCE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5CEA2-7A7C-4863-9846-04ED4A7D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600959-DFEF-488A-82C2-484D41A1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6BD4E-ACA1-4ADB-B90D-CEAE4604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39543-00D9-43B1-9332-8A23D767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DD6F6-6C65-484B-9429-50614E7E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Type-safe delegation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514A70-D9BA-4497-BF99-B55BE7F0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B6BFB-96A1-4EF7-B359-2A61E09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9C29B-830F-46D7-9741-710DCED2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E5824-A59D-4142-9FE9-9862C1D2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F5ACB-F03F-43AD-875F-4A12502C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Type safety is how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AF4566-BA3F-44CE-88D1-CF147F63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agent conversation becomes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A122E-3ED7-466E-931D-A84965B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software architecture.</a:t>
            </a:r>
          </a:p>
        </p:txBody>
      </p:sp>
    </p:spTree>
    <p:extLst>
      <p:ext uri="{BB962C8B-B14F-4D97-AF65-F5344CB8AC3E}">
        <p14:creationId xmlns:p14="http://schemas.microsoft.com/office/powerpoint/2010/main" val="127329689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E2F56B-E751-456A-BC32-3B64A7FB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F5893-E49D-4F3E-8FED-BB2C5833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E2311-5FD8-4DA4-AFEA-B5414331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EF0E3-5F70-4150-9A65-B67D94FA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602FE-315B-4D24-A9E5-734EC84F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E757F-D5E3-4650-A035-AB33CD68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D2A1E-A4E7-4886-BAD4-465F6D6A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Fugu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6ACB7-7018-4A6D-AA75-81BC26F6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02C4C-6DBF-4641-9F50-FD51C21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007C1-F420-4747-9DF7-32541F69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Fugu Routing &amp;</a:t>
            </a:r>
          </a:p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ChatDev Self-Repair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13FE4-6C94-4155-A23C-BF9B1B18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BFC2FF"/>
                </a:solidFill>
              </a:defRPr>
            </a:pPr>
            <a:r>
              <a:rPr sz="1800">
                <a:solidFill>
                  <a:srgbClr val="BFC2FF"/>
                </a:solidFill>
              </a:rPr>
              <a:t>Dynamic routing, bounded correction, and recovery loops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5F63A-7FF3-40D0-B23F-2C219254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C2FF"/>
                </a:solidFill>
              </a:defRPr>
            </a:pPr>
            <a:r>
              <a:rPr sz="1125" b="1">
                <a:solidFill>
                  <a:srgbClr val="BFC2FF"/>
                </a:solidFill>
              </a:rPr>
              <a:t>JOURNEY  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C84A2-26AC-4547-AAD7-EF119D35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Foundations  →  Memory &amp; Mind  →  RAG &amp; MCP  →  Type Safety  →  Routing &amp; Repair  →  Zero Trust</a:t>
            </a:r>
          </a:p>
        </p:txBody>
      </p:sp>
    </p:spTree>
    <p:extLst>
      <p:ext uri="{BB962C8B-B14F-4D97-AF65-F5344CB8AC3E}">
        <p14:creationId xmlns:p14="http://schemas.microsoft.com/office/powerpoint/2010/main" val="205156460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0B7E35-F126-4EE9-9C73-0C88C48B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B0657-E7FA-45D0-9E18-C1A55D86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A6854-1D08-4650-AF2F-66E3B22A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78451-5915-4ACA-8123-AB3DD96E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2477C2-C824-4DDC-ABE8-BE53380B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055BC-16AC-45F9-841D-EB07CA1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91636-B669-41F7-988F-C62C6261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Fugu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4A87C-70C4-4D2D-8B27-797A7E0D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25C41-F106-4B5C-AE6A-4172E74F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Fugu Routing &amp; ChatDev Self-Repair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71E43-A9C5-43AA-94F6-B6577C0E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Two Reflexes Every Team Needs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D3A2E-1896-4E30-A1D2-285B42DB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8D65D-179C-4CF2-A5BB-F1EA01F7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1613A-408C-4AD8-BEA4-B11F9F73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Fugu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5DB1C-9348-47B6-BD4B-CBF4BEC6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ChatDev Repair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99881-96D2-4B1E-8405-90E53AC9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14B83-865A-498E-905E-CF1C07CB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Simple task → fast, cheap 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8B473-D40F-4CDD-844C-65873DFF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0C21E-7110-4D47-A788-50FC981B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Complex task → deeper, slower worker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61092-8A68-4D39-B2C5-3C84F98B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4A025-179E-4A75-99BE-8B06C53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Signals: complexity, risk, cost, latency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D54A9-FDD3-40F5-B49C-7EF794EE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386D6-5A1E-4B5B-95A8-6B47BF65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Log every route 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827119-B8CB-4A9C-BF40-C088B224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0246D4-F6B8-41E3-902F-89CCF7FB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Developer writes, tester fails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A3046-A272-4493-8C12-19CDD23E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72912F-1A0C-409D-B8E7-D50DB55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Reviewer sends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C802F-EA49-45A6-BFF8-9950D396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5B3B8A-D53A-4D63-9C34-4DEADD5D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Developer repairs with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06DDE9-88F4-43F5-A14E-E7092297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51CE8C-7B18-4E8F-8712-0E1E122C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Max repairs: 2, then escalate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0BADCD-0268-446D-8297-F81437C4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Reflexes make teams resilient only when bounded.</a:t>
            </a:r>
          </a:p>
        </p:txBody>
      </p:sp>
    </p:spTree>
    <p:extLst>
      <p:ext uri="{BB962C8B-B14F-4D97-AF65-F5344CB8AC3E}">
        <p14:creationId xmlns:p14="http://schemas.microsoft.com/office/powerpoint/2010/main" val="149355387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F68580-D47F-45CD-8497-39CAC82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F4CB4-90D8-46B9-8B00-1E1AA93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E5493-D35E-4E17-910C-5B4B98D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47E4B-2D86-4CC9-819E-7335171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4F25-452C-40B4-81E3-0BFAC0E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9946-1605-4982-8773-71BE07B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2665-75BA-40A7-86A0-88FBFAA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self-repair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0B70-83F4-4497-8149-921BDBF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AB8E6-1F73-4E1E-B1B5-9CB4AC7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Fugu Routing &amp; ChatDev Self-Repair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BDCE-8915-4F56-AF39-07F36E6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 Bounded Repair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0DA14-FBDC-457C-AD9B-1C9B375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B69B-D4CB-44B7-84AB-86BD117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Task → Router → Coder → QA → Reviewer → Repair Memory → Coder.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489-7F46-4906-A4E8-407B5BB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412E-BB51-4AD6-B96A-A28DC32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Store failing test, error log, expected behavior, prior patch rationale.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F3F6-4541-446E-A139-5C30F54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6AD67-5CB9-4D6E-BB5E-C201BA4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Budget: Research 2, Writing 2, Evaluation 1, Manager 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8B65-3C2D-4F90-A772-0EAF455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86E46-C930-45AD-9181-614BFDA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On exceed: ESCALATED_TO_HUMAN, never silent failure.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169C-7A4D-4CB1-B0A3-E9B7F07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repair loop must have an exit.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F2CB-C7DB-4A6C-A621-5FF26D4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53188312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B64729-4E43-4B6D-908B-B13D0FF0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1D025-CC97-4592-80F0-EF878BD7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2AD97-D79B-4A8F-9622-608AB83B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1C1A9-4DC5-4F85-8F0A-611A08C2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96ACB-6C59-4FFA-B433-B67EE12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5C793-9626-48BA-B7A6-D5437A78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5AFA0-4019-40D1-9B64-301EA1FF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bounded repair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46E7C-BD66-4359-A296-5A337400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5FC12-71EA-456D-B969-E10C08B5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Fugu Routing &amp; ChatDev Self-Repair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51E94-B59D-485E-9508-6E2BB58F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1792E-54D2-4D54-8064-B0B50486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B48B4-7B5E-4283-9C77-83200337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Reflexes make agent 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82359-EC1A-4220-8429-D13BAA6F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resilient,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5F3C35-0C2E-4886-B10B-3D9C55B2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only when bounded.</a:t>
            </a:r>
          </a:p>
        </p:txBody>
      </p:sp>
    </p:spTree>
    <p:extLst>
      <p:ext uri="{BB962C8B-B14F-4D97-AF65-F5344CB8AC3E}">
        <p14:creationId xmlns:p14="http://schemas.microsoft.com/office/powerpoint/2010/main" val="23318082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12051E-D82C-4F97-8304-7FDBCAB1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CB99A-5E0D-4348-B88E-E0131166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D9B58-B732-4099-94A2-D6C2CCD4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A64E9-BFD8-479B-8E22-37D8493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682FE-01C2-43E7-96C4-7A7A5193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57348-B166-4454-BAD1-C5E89B4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FF16F-83EB-49CC-A95E-08CABF06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IoA + Zero Trust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9BDBF-8053-4A68-A42E-D8CF6E77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3F3C7-CFF9-4F02-A459-292C507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1047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C39F5-BABF-40A6-A312-CD375011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573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Internet of Agents</a:t>
            </a:r>
          </a:p>
          <a:p xmlns:a="http://schemas.openxmlformats.org/drawingml/2006/main">
            <a:pPr>
              <a:buNone/>
              <a:defRPr sz="3600">
                <a:solidFill>
                  <a:srgbClr val="FFFFFF"/>
                </a:solidFill>
              </a:defRPr>
            </a:pPr>
            <a:r>
              <a:rPr sz="3600">
                <a:solidFill>
                  <a:srgbClr val="FFFFFF"/>
                </a:solidFill>
              </a:rPr>
              <a:t>&amp; Zero Trust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B0090-551E-4BDC-B9C0-65E75A73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BFC2FF"/>
                </a:solidFill>
              </a:defRPr>
            </a:pPr>
            <a:r>
              <a:rPr sz="1800">
                <a:solidFill>
                  <a:srgbClr val="BFC2FF"/>
                </a:solidFill>
              </a:rPr>
              <a:t>Enterprise-scale interoperability and governance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9A046-41E0-4D0E-B1B7-ED8B760B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BFC2FF"/>
                </a:solidFill>
              </a:defRPr>
            </a:pPr>
            <a:r>
              <a:rPr sz="1125" b="1">
                <a:solidFill>
                  <a:srgbClr val="BFC2FF"/>
                </a:solidFill>
              </a:rPr>
              <a:t>JOURNEY  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AB8AE-90ED-41D0-87C6-40C08E9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767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Foundations  →  Memory &amp; Mind  →  RAG &amp; MCP  →  Type Safety  →  Routing &amp; Repair  →  Zero Trust</a:t>
            </a:r>
          </a:p>
        </p:txBody>
      </p:sp>
    </p:spTree>
    <p:extLst>
      <p:ext uri="{BB962C8B-B14F-4D97-AF65-F5344CB8AC3E}">
        <p14:creationId xmlns:p14="http://schemas.microsoft.com/office/powerpoint/2010/main" val="163701859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2B5FD1-E7CB-4D2D-ADC9-D488E24F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8B850-E666-4A4D-B4D0-C6810F6D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5715F-BB73-446F-A4E4-303D7E3D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D5FD1-DEC8-4CB5-86BA-CD1D3FA1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6D706-3AA7-4EA8-922D-CBEBDCD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98806C-DE72-4F29-9D7E-C673CC5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20257-1C15-4538-A1A3-D92BCF57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Cisco IoA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41D45-6DD6-4F34-A3AB-CE9AD08E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64291-3AEC-4692-B6A0-EBFC68DE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6 · Internet of Agents &amp; Zero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775E9-A93B-45E8-998E-6C50F386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From Local Team to Ecosystem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753B4-3AD4-48B4-A4C9-2599D80B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4822E-2763-421C-B53C-F1014FFF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Enterprise agents collaborate across teams, vendors, and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F77DC-2B3F-4867-98A3-10BBF913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14656-BE2F-42DD-AEC4-60D384AE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Every agent needs organization, role, trust tier, identity.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DF6367-6659-4A4F-AEC6-44CD4DE7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17127-4CE3-4345-900F-FF76632F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A2A messages need schemas, provenance, and policy-aware routing.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44CEE-8F43-410C-A7DB-B3293701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ED2F93-F77D-4815-BA65-455BD159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Governance matrix: agents × tools × data classes × message types.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68C298-F3E5-4F8D-BC05-19B96322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Enterprise multi-agent AI is a governed network.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EAAFEF-9CD2-4115-8396-AC8E0E4E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042442660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530343-9393-4DE8-9084-9364346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F3A8D-1A25-4366-BAAD-46FCE51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87D4D-F40A-42FB-8A40-44C7FFC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85403-86E1-44FE-B7A8-8672303C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3EBCA-A2F2-4907-88F1-C0202244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4ADDB-0E84-4823-819F-D22AA8C3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1CB83E-9B12-4282-B196-C92202E5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OWASP + A2A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328B23-F1A8-4C82-B554-B70FBCEB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760B9C-095B-4682-893D-A2B9948B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6 · Internet of Agents &amp; Zero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836EFE-B8BE-4DFE-B1B8-350003A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Threat Model &amp;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F89095-ED0A-4616-810B-459A5FD7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5E6A2-0CCC-427A-9B5D-512CDAE5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DABA2-B3C4-4618-BF14-BF5683CC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What Can Go 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C60DA-479D-4828-9D13-BA481C4A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Governance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458B0-3817-4AE6-9299-8908311E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A1F7B-AB32-4C7C-BD77-BA3EBEFD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Prompt injection from payload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EB1A25-55B7-4023-BF7D-5D0A9096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34335-3529-4969-BFF8-633DD4D9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Tool misuse by impersonated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56AE5C-40A4-4BF1-93C7-BB598CEA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C2C073-498C-4ACD-AD95-E7EC0225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Context exfiltration across orgs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8F6BE-0C39-4B75-BB8C-C5E7C1D3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954B16-F7C7-4EF4-8F3F-39755344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Unbounded agent-to-agent delegation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7889BC-3259-49ED-B932-43595C7C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93EB92-D041-41B7-AA70-99A19AA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Stale permissions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900231-8AD6-4706-9D1A-6954B20F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3BE6CB-E6CF-45FC-847A-669946CF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Schema checks on A2A messages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62606-7BC2-442E-9928-0514EAC4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2C71BD-7474-4A73-83CB-9F9D3BFC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Dead-letter denied payloads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7462C-2452-4235-8908-DDF13E9B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287211-5215-40AC-8C7A-7A4636B5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Audit every route and tool 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E82350-C0A1-43F3-B6DE-6E989269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8C6A7-4A4A-48E4-9FFA-D32E097B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Trust tiers: internal, partner, public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75EFF-3802-4C12-87CE-E9884554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D1B790-FD0F-46C9-85EC-EE158F0F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No action without policy approval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52BDDC-092D-4383-91BA-F8533F88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Log route decisions, tool calls, denials, schema failures, and repairs.</a:t>
            </a:r>
          </a:p>
        </p:txBody>
      </p:sp>
    </p:spTree>
    <p:extLst>
      <p:ext uri="{BB962C8B-B14F-4D97-AF65-F5344CB8AC3E}">
        <p14:creationId xmlns:p14="http://schemas.microsoft.com/office/powerpoint/2010/main" val="206832212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BB4A69-B4C2-4E10-A3AA-AAA4ACD4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3A035-2CDA-4425-A2D0-C4327918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E6799-F628-4696-AF40-CA251CE5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98F4A-43BF-46E7-9FD8-604AA544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B53A4-3E2F-4B4B-A9F8-2F188C0A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596E6-C74A-476F-AC6F-47941972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5263F-5180-4404-8419-76760BA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IoA ecosystem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F942D-3345-49F0-A7E1-A4F59CE8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A217F-F861-4062-B147-3609EF4B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6 · Internet of Agents &amp; Zero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A0716-9AED-4176-96CE-5F2EF19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Key Takeaway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6527F-204C-49EC-B5CB-D5D0D6BC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243F9-0328-4966-AF2A-C719F9B3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Enterprise multi-agent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5FEDF-49B3-4DC6-90E3-BCDD0ECE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is a governed network,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CB8E8-296C-485F-A8EE-124059EB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not a bigger chat room.</a:t>
            </a:r>
          </a:p>
        </p:txBody>
      </p:sp>
    </p:spTree>
    <p:extLst>
      <p:ext uri="{BB962C8B-B14F-4D97-AF65-F5344CB8AC3E}">
        <p14:creationId xmlns:p14="http://schemas.microsoft.com/office/powerpoint/2010/main" val="140722564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82B48-82B6-407F-A754-C2C0248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04BCD-6947-49AF-B3CC-ED56C7E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89467-F80A-425E-A5A1-FD4E46D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5B84-BD7D-4F4A-97A4-7233D4A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E25C-55D2-4801-92C9-65223EE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62-C223-42C2-B2A3-E43B41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29FD9-5D9F-498A-9B5C-1E610EA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capstone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4733-D166-404C-84CC-B09929E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4EE4-57FF-4E13-8BB2-72DFAAF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4A04-15D0-4028-AFDF-418C809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Build the Virtual Software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FF726-05F3-458F-9D5A-5ACC0044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17C9A-E128-48B5-8F3B-54BBF3BB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5+ agents with typed contracts at every handoff.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C848D-4223-430D-A8DA-5C362523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37F19-F629-48E3-9262-E22FFA82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Sequential process with a quality gate that routes, not modifies.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4B7F9-BD74-4DA9-8B8B-550692C1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0C27D-46DD-447C-A736-D8753356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Governed tool access through an MCP-style gateway with audit log.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0D517-3A00-4334-BBE2-C0F0A7D9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E7FE3E-E60F-4143-B454-FFCF67C7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Shared memory with role-filtered retrieval.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60D1B-9506-49D5-8B95-9E6833D8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046A9-C966-4F52-BFFD-42DF375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Bounded self-repair: max 2 repairs, then ESCALATED_TO_HUMAN.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552BE-EC05-443D-A60A-262D5FEC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7D77B-34B1-4D82-B4D4-69CE9343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Clean reader-facing delivery: strip pipeline metadata.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6780FE-3A23-4262-9F5E-77E8B7CB0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If you can build this, you can manage a production AI workforce.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E93CC2-4D7A-4EEB-9921-A130B70A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408165729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3B274-9F01-4B42-90E5-01A773BF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477CA-A011-4A5C-BCB4-CFB62CDC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D7B40-3664-4026-815D-0541C7E6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7D437-63E2-4E27-BCD7-0063656F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2AA85-FCDC-43A1-B301-810E605F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C4776-48CC-4A36-A72A-9E29E953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AE878-6B3F-4EA0-812D-97FD43B5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Resource 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DF5109-221F-471C-A693-A38427DA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E9352-F9C5-4742-AE21-12DF931B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Alignment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4782C-C491-4D89-A3B0-136801B3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Critical Assets — How They Fit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E1C8F-EEC6-4E55-BE62-4A322477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32EFE-55AB-4521-91E9-79B80E76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course_overview.md: promise, philosophy, module map,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0F4E0-3219-49A1-99ED-0D37A779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F2809-E6F2-4706-A085-693A99E6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README.md: workspace map, assets, quick start, teaching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1876D-BA99-4DF0-9C0F-AF65085D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BC225-8078-4C8A-9EBE-7E54BDED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assignment_syllabus.md: numbered assignments and Homework A-G.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DDD95-218C-45FF-868D-CCAB62D1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0A8AF-8C2C-43EB-892A-6D456639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resources/README.md: papers, videos, cited schemas.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FE298-054B-4526-84F5-CFD9B13B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39E5E1-45C6-47F5-9D45-C24493C3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crewai_learning: Homework G readiness and coding-agent teams.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A4B6F-6DB2-404C-B4C2-73B79619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Use documents as teaching aids, not slide copy.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2D1D77-3B67-4E6A-993B-7638F266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45492024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2211C-EDD6-4B3A-BB24-F8DCAD5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D7345-6312-4E84-B44B-020B703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FA1B-263D-4AC2-8976-7B5978A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EBB2-9651-48B7-A04F-60AF200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C172-D5CA-45B3-A781-F29D760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81EB-2A02-42F0-829E-F7EA2F1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4037-1D5B-4840-87AF-FCD6625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Mock LLM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F6B1-E636-4AB9-8126-88EECA7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ED6B-5B0A-445E-89BF-0A410FF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Alignment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567B-9833-4F9C-BC72-DDFA3AC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Three Layers of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A3BC2-FA36-427D-B24E-EB0E1B87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56570-F08D-4F49-804C-DC66D8FA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Deterministic shell: predictable mocks test the pipes.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E9ABE1-EE1A-4A69-897B-91BCC79E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6E497-C65B-431C-911A-9F6A68EE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Mock LLM adapter: messy JSON and schema failures become feedback.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9AE28-CADD-47DD-994D-9EC67429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9E2888-0D8B-43EC-9422-63BA9ED5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Live LLM integration: same contracts govern a real model.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33AD09-2669-47CE-9A9B-C7A2055D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First isolate the rules. Then add the dynamic brain.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9D0E4-6FDF-47D1-8BCE-30CE2CD8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61519758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4D47F1-D6A1-4198-BDA4-E7840AF8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DB35-FE92-461D-83DA-3A4B9898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30596-6347-4837-9D2A-999BD8CA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4AFB0-ECDF-4606-997B-424FD339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E9C67-9A57-4B2D-B895-D4032013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A909F-C476-4069-8C1A-872E800B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56B70-B670-4CB0-B10B-BCA8B8A8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5-part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1DDF1-F488-4941-905E-C30FE87B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B640D-11D0-4128-AA22-C8A3CAB3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Alignment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C3C15-BB06-43AC-8BD5-C805CFB6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Brain → Body → Ecosystem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A6F59-7811-47A2-8AEE-A0D98D69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271D6-DCFD-450C-BA02-A6AD6A2C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5B6AF3-42CF-4F02-896D-15932FF6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Operating Anatomy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17A40-DF2C-4682-AA93-86606BCF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Management Meaning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E65C3D-5B39-4AA5-80A4-209CE75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225637-4C4B-4729-BD1D-B7121E4A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Brain: TeamLog + Theory of Mind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D88DC-388C-42FB-8A31-1B74D323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B3849-46C6-4A2F-8BC5-F63F6E1C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Nervous system: Agentic RAG + MCP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849DF-C5CF-4299-AFD6-3DB057BC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C4D41-0F47-4C28-A4F6-EE6359AE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Body: Pydantic + orchestration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67393-D0D1-4B0C-B203-EE781F6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E342F-6A39-4E39-957B-721B53F5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Reflexes: routing + repair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AF261-A660-41E7-A269-8874D1BD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FEAA0-AB19-49DB-900D-45C376AC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Ecosystem: API + A2A + zero trust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9EBCD-3C91-4DF8-9233-BDF27E8D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EA5FFC-0A7D-4A41-B174-F9E82691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align the team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489A4-7A9F-429A-864C-AC261A2D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C5D06D-F081-4F6C-A868-14E40367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route context and tools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F0BDE6-2631-4D62-B56F-DE23A94A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AAF4C7-6A3E-4132-A26A-1C306FE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make handoffs executable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D6E989-BA8F-4529-BF25-A1351CF1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9DAE7F-2045-4755-909D-F00CFBEC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recover within bounds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8CE2D-C24A-46B0-A3DE-841A6D1E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86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EFD280-7C07-4AAA-AA7A-B6E03052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interoperate safely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557D64-2223-456D-BD12-578614F0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 anatomy keeps the course from becoming a tool tutorial.</a:t>
            </a:r>
          </a:p>
        </p:txBody>
      </p:sp>
    </p:spTree>
    <p:extLst>
      <p:ext uri="{BB962C8B-B14F-4D97-AF65-F5344CB8AC3E}">
        <p14:creationId xmlns:p14="http://schemas.microsoft.com/office/powerpoint/2010/main" val="398609809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10F2E-2A64-42D9-AFE0-DF75238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A2C7-9A12-4657-A4E3-B79253B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207C-B470-4332-83D3-8047DF7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2605-DEE7-4D93-93B6-815A7C6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BF6EE-784C-4178-A85B-6B33E57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8AA5-49BC-4165-959A-DB8A45C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D3FD-6CF7-490F-BF44-287DB2C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NB8-NB11 + Assignment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EEE5B-B5AF-4006-8D20-A552528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FC54-99AE-47FF-AB45-17F8DAB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Alignment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B450-C57B-4420-B19E-6E69EFA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You can Build labs after the Six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379B8-46B5-4B3B-8F21-CB16937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Bridge from classroom concepts to production operating surfaces: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43C8E-8034-46EF-BBD2-9BA0BA1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7F53-4ACB-4558-825C-5A66299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Classroom concepts → NB8 API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A057A-4D9F-4FC9-AD90-40E855F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external events become governed TaskSpec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AA7D-A366-4AB9-8E36-FDB96A3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5087-6805-4AA0-A964-9AEE9E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NB8 → NB9 Advanced Orchestration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B363-25B7-4FB0-A490-15236DB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typed delegation, scaffolds, debate, and routing decisions.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09673-EF0A-4308-96F9-96FB09B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78924-6584-4D6F-80EC-56C252F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NB9 → NB10 Vibe Coding CEO Interface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7CBE-5100-4385-A97C-7EDA3EB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human steering updates commitments without breaking contracts.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E746-9AD7-4326-8C4F-C4C74D3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3ACC5-34E7-4213-AB89-70B2BC8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NB10 → Assignment 12 From Whisper to Shipped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E4ED3-7EAD-4301-B51E-29D0DC6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connect human intent, scaffold, debate, TeamLog, and release.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025B1-3D9D-4D6D-A2E7-44BC1FC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77412-6CDA-4CED-A080-B123C3A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NB11 → CrewAI Learning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034DD-08D4-4DDC-8487-6963D98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design Coder, QA, Review agents with optional live execution.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65F96-3CC9-4196-ABDC-902BD87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Each bridge lab turns one classroom pattern into one production operating surface.</a:t>
            </a:r>
          </a:p>
        </p:txBody>
      </p:sp>
    </p:spTree>
    <p:extLst>
      <p:ext uri="{BB962C8B-B14F-4D97-AF65-F5344CB8AC3E}">
        <p14:creationId xmlns:p14="http://schemas.microsoft.com/office/powerpoint/2010/main" val="711041383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EE241-3E72-4129-96B6-1F1E4D0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0E58-5FA7-4801-B458-2702565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55A9-3D7E-4BE2-B3A9-9D1BF64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11D21-2944-4EBD-8CB9-CE9230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90C-26EE-43C9-80BC-48F6720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ECD9-210B-4C20-A5B5-D519CE0A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C847-8D4E-4C9D-9999-72F8B4A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+ course 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FCC4-D179-47F6-ACD9-E70D7E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4049-2A21-460D-8279-DAEF586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Alignment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4C91-FBD6-464E-9553-CBDCE2C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CrewAI Coding-Team Readiness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945FA-C705-4E09-90CF-C81165A6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Everyone gets a coding-agent team design: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21B6E-E16D-4EC6-835F-2EE25686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Coder → QA → Review with typed state and guardrails.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2BC2D6-3A1F-4E3F-BEA6-4DF0A1E3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B81BE-38AF-47E8-B03C-D0E40B0A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Bounded retry; live keys optional.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D6166-5A7F-4271-8A25-ED9FEA12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29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Score: basics, setup, agents, state, orchestration, template.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24EC2-9021-4506-BD89-05CC993D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CrewAI accelerates orchestration; governance still owns safety.</a:t>
            </a:r>
          </a:p>
        </p:txBody>
      </p:sp>
    </p:spTree>
    <p:extLst>
      <p:ext uri="{BB962C8B-B14F-4D97-AF65-F5344CB8AC3E}">
        <p14:creationId xmlns:p14="http://schemas.microsoft.com/office/powerpoint/2010/main" val="341654867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59562F-199A-405C-B0DB-DD42255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CB5B-76AF-4768-91DC-212CFDC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DC4B-1A7A-4016-B091-E7DF8BF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65ED-FAE7-48A9-B3A7-6163316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FDCD1-0CD1-42F1-ACE9-B5DF7B5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919B-B4E0-455F-B7C0-4035C30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A929-9113-4BC9-86AF-4AF09DE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Karpathy AI Ascent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7531-C353-419A-9986-6F59BFD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E8A9-F6FA-4CF3-985C-B0E0F12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You can outsource your thinking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F4741-5A77-4102-858E-4B4038F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but you can't outsource your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2F01-7C49-4777-864E-41C9E7F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— Andrej Karpathy, Sequoia AI Ascent 2026</a:t>
            </a:r>
          </a:p>
        </p:txBody>
      </p:sp>
    </p:spTree>
    <p:extLst>
      <p:ext uri="{BB962C8B-B14F-4D97-AF65-F5344CB8AC3E}">
        <p14:creationId xmlns:p14="http://schemas.microsoft.com/office/powerpoint/2010/main" val="2007971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2026-06-30T13:25:13.4160000Z</dcterms:created>
  <dcterms:modified xsi:type="dcterms:W3CDTF">2026-06-30T13:25:13.4160000Z</dcterms:modified>
</coreProperties>
</file>