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acf54bfc54846" /><Relationship Type="http://schemas.openxmlformats.org/officeDocument/2006/relationships/extended-properties" Target="/docProps/app.xml" Id="R8c1c00a3db6b4c47" /><Relationship Type="http://schemas.openxmlformats.org/officeDocument/2006/relationships/officeDocument" Target="/ppt/presentation.xml" Id="Rfaa9280ad71f4e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e0a729d6bb4d2b"/>
  </p:sldMasterIdLst>
  <p:notesMasterIdLst>
    <p:notesMasterId xmlns:r="http://schemas.openxmlformats.org/officeDocument/2006/relationships" r:id="R4275bcb6fee442b4"/>
  </p:notesMasterIdLst>
  <p:sldIdLst>
    <p:sldId xmlns:r="http://schemas.openxmlformats.org/officeDocument/2006/relationships" id="256" r:id="R728710c945e64d92"/>
    <p:sldId xmlns:r="http://schemas.openxmlformats.org/officeDocument/2006/relationships" id="257" r:id="R90a03f0991ad45c5"/>
    <p:sldId xmlns:r="http://schemas.openxmlformats.org/officeDocument/2006/relationships" id="258" r:id="Rc708f48a40f84b49"/>
    <p:sldId xmlns:r="http://schemas.openxmlformats.org/officeDocument/2006/relationships" id="259" r:id="R6b2ea774136b4d5b"/>
    <p:sldId xmlns:r="http://schemas.openxmlformats.org/officeDocument/2006/relationships" id="260" r:id="R3b0ace5898f146b3"/>
    <p:sldId xmlns:r="http://schemas.openxmlformats.org/officeDocument/2006/relationships" id="261" r:id="Rde8f6a70f0df4cbc"/>
    <p:sldId xmlns:r="http://schemas.openxmlformats.org/officeDocument/2006/relationships" id="262" r:id="Rf9f4680cfb8c4eae"/>
    <p:sldId xmlns:r="http://schemas.openxmlformats.org/officeDocument/2006/relationships" id="263" r:id="Rcfab46ac63314e68"/>
    <p:sldId xmlns:r="http://schemas.openxmlformats.org/officeDocument/2006/relationships" id="264" r:id="R32ab657a54a2408f"/>
    <p:sldId xmlns:r="http://schemas.openxmlformats.org/officeDocument/2006/relationships" id="265" r:id="Ra074b48814594142"/>
    <p:sldId xmlns:r="http://schemas.openxmlformats.org/officeDocument/2006/relationships" id="266" r:id="Rb5c9a953f8bf42f2"/>
    <p:sldId xmlns:r="http://schemas.openxmlformats.org/officeDocument/2006/relationships" id="267" r:id="R577b4e3d7ea644e3"/>
    <p:sldId xmlns:r="http://schemas.openxmlformats.org/officeDocument/2006/relationships" id="268" r:id="R53f1fec284a44152"/>
    <p:sldId xmlns:r="http://schemas.openxmlformats.org/officeDocument/2006/relationships" id="269" r:id="R0e02bc13e506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85d144a05045a7" /><Relationship Type="http://schemas.openxmlformats.org/officeDocument/2006/relationships/slideMaster" Target="/ppt/slideMasters/slideMaster1.xml" Id="R87e0a729d6bb4d2b" /><Relationship Type="http://schemas.openxmlformats.org/officeDocument/2006/relationships/notesMaster" Target="/ppt/notesMasters/notesMaster1.xml" Id="R4275bcb6fee442b4" /><Relationship Type="http://schemas.openxmlformats.org/officeDocument/2006/relationships/presProps" Target="/ppt/presProps.xml" Id="R15100382bee5467d" /><Relationship Type="http://schemas.openxmlformats.org/officeDocument/2006/relationships/tableStyles" Target="/ppt/tableStyles.xml" Id="Rae7c41d152c94ad1" /><Relationship Type="http://schemas.openxmlformats.org/officeDocument/2006/relationships/slide" Target="/ppt/slides/slide1.xml" Id="R728710c945e64d92" /><Relationship Type="http://schemas.openxmlformats.org/officeDocument/2006/relationships/slide" Target="/ppt/slides/slide2.xml" Id="R90a03f0991ad45c5" /><Relationship Type="http://schemas.openxmlformats.org/officeDocument/2006/relationships/slide" Target="/ppt/slides/slide3.xml" Id="Rc708f48a40f84b49" /><Relationship Type="http://schemas.openxmlformats.org/officeDocument/2006/relationships/slide" Target="/ppt/slides/slide4.xml" Id="R6b2ea774136b4d5b" /><Relationship Type="http://schemas.openxmlformats.org/officeDocument/2006/relationships/slide" Target="/ppt/slides/slide5.xml" Id="R3b0ace5898f146b3" /><Relationship Type="http://schemas.openxmlformats.org/officeDocument/2006/relationships/slide" Target="/ppt/slides/slide6.xml" Id="Rde8f6a70f0df4cbc" /><Relationship Type="http://schemas.openxmlformats.org/officeDocument/2006/relationships/slide" Target="/ppt/slides/slide7.xml" Id="Rf9f4680cfb8c4eae" /><Relationship Type="http://schemas.openxmlformats.org/officeDocument/2006/relationships/slide" Target="/ppt/slides/slide8.xml" Id="Rcfab46ac63314e68" /><Relationship Type="http://schemas.openxmlformats.org/officeDocument/2006/relationships/slide" Target="/ppt/slides/slide9.xml" Id="R32ab657a54a2408f" /><Relationship Type="http://schemas.openxmlformats.org/officeDocument/2006/relationships/slide" Target="/ppt/slides/slide10.xml" Id="Ra074b48814594142" /><Relationship Type="http://schemas.openxmlformats.org/officeDocument/2006/relationships/slide" Target="/ppt/slides/slide11.xml" Id="Rb5c9a953f8bf42f2" /><Relationship Type="http://schemas.openxmlformats.org/officeDocument/2006/relationships/slide" Target="/ppt/slides/slide12.xml" Id="R577b4e3d7ea644e3" /><Relationship Type="http://schemas.openxmlformats.org/officeDocument/2006/relationships/slide" Target="/ppt/slides/slide13.xml" Id="R53f1fec284a44152" /><Relationship Type="http://schemas.openxmlformats.org/officeDocument/2006/relationships/slide" Target="/ppt/slides/slide14.xml" Id="R0e02bc13e506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e8f41ddc6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eae4201ee4ced" /><Relationship Type="http://schemas.openxmlformats.org/officeDocument/2006/relationships/notesMaster" Target="/ppt/notesMasters/notesMaster1.xml" Id="Rf85f9b1ed30a42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c5a139dd504ef8" /><Relationship Type="http://schemas.openxmlformats.org/officeDocument/2006/relationships/notesMaster" Target="/ppt/notesMasters/notesMaster1.xml" Id="R28346d076fea4f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d1f3e595ea439e" /><Relationship Type="http://schemas.openxmlformats.org/officeDocument/2006/relationships/notesMaster" Target="/ppt/notesMasters/notesMaster1.xml" Id="R9227f6507042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c8419f7784e43" /><Relationship Type="http://schemas.openxmlformats.org/officeDocument/2006/relationships/notesMaster" Target="/ppt/notesMasters/notesMaster1.xml" Id="R7845926393d44a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2e7460f504a7c" /><Relationship Type="http://schemas.openxmlformats.org/officeDocument/2006/relationships/notesMaster" Target="/ppt/notesMasters/notesMaster1.xml" Id="R894cae06369a43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baec5cc5342f9" /><Relationship Type="http://schemas.openxmlformats.org/officeDocument/2006/relationships/notesMaster" Target="/ppt/notesMasters/notesMaster1.xml" Id="Rc59ef3de70a6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3796f6d3224f93" /><Relationship Type="http://schemas.openxmlformats.org/officeDocument/2006/relationships/notesMaster" Target="/ppt/notesMasters/notesMaster1.xml" Id="R2dd633d0eae94a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9f47d9ee1947b7" /><Relationship Type="http://schemas.openxmlformats.org/officeDocument/2006/relationships/notesMaster" Target="/ppt/notesMasters/notesMaster1.xml" Id="R3a09344e533a49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9f0f91c2ab451e" /><Relationship Type="http://schemas.openxmlformats.org/officeDocument/2006/relationships/notesMaster" Target="/ppt/notesMasters/notesMaster1.xml" Id="Re0bd1c18975f48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b5c0688d247b3" /><Relationship Type="http://schemas.openxmlformats.org/officeDocument/2006/relationships/notesMaster" Target="/ppt/notesMasters/notesMaster1.xml" Id="R821cfbead86d4c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844312e6834b35" /><Relationship Type="http://schemas.openxmlformats.org/officeDocument/2006/relationships/notesMaster" Target="/ppt/notesMasters/notesMaster1.xml" Id="Rad31faccf2d041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82564a28b04b21" /><Relationship Type="http://schemas.openxmlformats.org/officeDocument/2006/relationships/notesMaster" Target="/ppt/notesMasters/notesMaster1.xml" Id="R48701e12923e49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2924b10e2e46ce" /><Relationship Type="http://schemas.openxmlformats.org/officeDocument/2006/relationships/notesMaster" Target="/ppt/notesMasters/notesMaster1.xml" Id="R1f4a5530b27b42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038d4d63e64983" /><Relationship Type="http://schemas.openxmlformats.org/officeDocument/2006/relationships/notesMaster" Target="/ppt/notesMasters/notesMaster1.xml" Id="R2450ee94f4ba46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MetaGPT: Meta Programming for a Multi-Agent Collaborative Framework, ICLR 2024. https://proceedings.iclr.cc/paper_files/paper/2024/hash/6507b115562bb0a305f1958ccc87355a-Abstract-Conference.html</a:t>
            </a:r>
          </a:p>
          <a:p xmlns:a="http://schemas.openxmlformats.org/drawingml/2006/main">
            <a:r>
              <a:t>ChatDev: Communicative Agents for Software Development, ACL 2024. https://aclanthology.org/2024.acl-long.810/</a:t>
            </a:r>
          </a:p>
          <a:p xmlns:a="http://schemas.openxmlformats.org/drawingml/2006/main">
            <a:r>
              <a:t>Reflexion: Language Agents with Verbal Reinforcement Learning, NeurIPS 2023. https://papers.nips.cc/paper_files/paper/2023/hash/1b44b878bb782e6954cd888628510e90-Abstract-Conference.html</a:t>
            </a:r>
          </a:p>
          <a:p xmlns:a="http://schemas.openxmlformats.org/drawingml/2006/main">
            <a:r>
              <a:t>These works motivate role-specific workflows, communication, and feedback memory. The exact three-agent split, typed schemas, tool permissions, retry limits, and escalation behavior are course design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Theory of Mind for Multi-Agent Collaboration via Large Language Models, EMNLP 2023. https://aclanthology.org/2023.emnlp-main.13/</a:t>
            </a:r>
          </a:p>
          <a:p xmlns:a="http://schemas.openxmlformats.org/drawingml/2006/main">
            <a:r>
              <a:t>Teamwork in Multi-Agent Systems: A Formal Approach / TeamLog. https://arxiv.org/abs/2402.01680</a:t>
            </a:r>
          </a:p>
          <a:p xmlns:a="http://schemas.openxmlformats.org/drawingml/2006/main">
            <a:r>
              <a:t>The course uses Theory of Mind as an operational lens for modeling role-specific knowledge, needs, and permitted disclosure. It does not claim human-like mental states. The access-list detail is from Conductor research: https://arxiv.org/abs/2512.04388.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TRINITY: An Evolved LLM Coordinator, ICLR 2026. https://arxiv.org/abs/2512.04695. TRINITY names the Thinker, Worker, and Verifier roles.</a:t>
            </a:r>
          </a:p>
          <a:p xmlns:a="http://schemas.openxmlformats.org/drawingml/2006/main">
            <a:r>
              <a:t>Learning to Orchestrate Agents in Natural Language with the Conductor, ICLR 2026. https://arxiv.org/abs/2512.04388. The Conductor defines subtasks, workers, communication topology, and access lists that select previous subtask outputs for each worker context.</a:t>
            </a:r>
          </a:p>
          <a:p xmlns:a="http://schemas.openxmlformats.org/drawingml/2006/main">
            <a:r>
              <a:t>Sakana Fugu Technical Report. https://arxiv.org/abs/2606.21228. ChatDev: https://aclanthology.org/2024.acl-long.810/. Reflexion: https://papers.nips.cc/paper_files/paper/2023/hash/1b44b878bb782e6954cd888628510e90-Abstract-Conference.html.</a:t>
            </a:r>
          </a:p>
          <a:p xmlns:a="http://schemas.openxmlformats.org/drawingml/2006/main">
            <a:r>
              <a:t>Course adaptation: deterministic fixtures, a bounded retry cap, and human escalation. These are teaching policies; the notebook does not reproduce Fugu, its training, or a live multi-provider pool.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Sakana Fugu Technical Report: https://arxiv.org/abs/2606.21228. The paper evaluates Fugu models against provider models including Claude Opus 4.8, Gemini 3.1 Pro, and GPT-5.5; those names describe the report’s model snapshot, not a timeless list of current models.</a:t>
            </a:r>
          </a:p>
          <a:p xmlns:a="http://schemas.openxmlformats.org/drawingml/2006/main">
            <a:r>
              <a:t>TRINITY: https://arxiv.org/abs/2512.04695. Conductor: https://arxiv.org/abs/2512.04388.</a:t>
            </a:r>
          </a:p>
          <a:p xmlns:a="http://schemas.openxmlformats.org/drawingml/2006/main">
            <a:r>
              <a:t>OpenAI Agents API multi-agent guide: https://developers.openai.com/api/docs/guides/agents-api/multi-agent. Claude Code subagents: https://code.claude.com/docs/en/sub-agents.</a:t>
            </a:r>
          </a:p>
          <a:p xmlns:a="http://schemas.openxmlformats.org/drawingml/2006/main">
            <a:r>
              <a:t>Both vendor documents describe subagent coordination and context separation; model choice and work isolation depend on product configuration. Avoid asserting that all coding-agent subagents use one model family. Compare end-to-end quality, latency, spend, tool/workspace access, and traceability for the actual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d0357798b4f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507911aba94eac" /><Relationship Type="http://schemas.openxmlformats.org/officeDocument/2006/relationships/slideLayout" Target="/ppt/slideLayouts/slideLayout1.xml" Id="R786a5818e7ff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6a5818e7ff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96c5d65414660" /><Relationship Type="http://schemas.openxmlformats.org/officeDocument/2006/relationships/notesSlide" Target="/ppt/notesSlides/notesSlide1.xml" Id="Rd125fe1ab42d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a897be0664feb" /><Relationship Type="http://schemas.openxmlformats.org/officeDocument/2006/relationships/notesSlide" Target="/ppt/notesSlides/notesSlide2.xml" Id="R70cef8a73b2d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3beda373545b4" /><Relationship Type="http://schemas.openxmlformats.org/officeDocument/2006/relationships/notesSlide" Target="/ppt/notesSlides/notesSlide3.xml" Id="R1c0ecf7a820743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20e359c364da3" /><Relationship Type="http://schemas.openxmlformats.org/officeDocument/2006/relationships/notesSlide" Target="/ppt/notesSlides/notesSlide4.xml" Id="Rdff6f9ee3274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855aa77494b96" /><Relationship Type="http://schemas.openxmlformats.org/officeDocument/2006/relationships/notesSlide" Target="/ppt/notesSlides/notesSlide5.xml" Id="Rd6f03d03eee1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a84bc44940c5" /><Relationship Type="http://schemas.openxmlformats.org/officeDocument/2006/relationships/notesSlide" Target="/ppt/notesSlides/notesSlide6.xml" Id="R4f6bbca079314a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b1baed7dd472a" /><Relationship Type="http://schemas.openxmlformats.org/officeDocument/2006/relationships/notesSlide" Target="/ppt/notesSlides/notesSlide7.xml" Id="R737b86d0943747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9be21c8534ab3" /><Relationship Type="http://schemas.openxmlformats.org/officeDocument/2006/relationships/notesSlide" Target="/ppt/notesSlides/notesSlide8.xml" Id="R2fb4f856c17d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ed611fc3a4335" /><Relationship Type="http://schemas.openxmlformats.org/officeDocument/2006/relationships/image" Target="/ppt/media/image.png" Id="Re3793f562ff84817" /><Relationship Type="http://schemas.openxmlformats.org/officeDocument/2006/relationships/image" Target="/ppt/media/image.svg" Id="Rd149dda00b2a4ce1" /><Relationship Type="http://schemas.openxmlformats.org/officeDocument/2006/relationships/notesSlide" Target="/ppt/notesSlides/notesSlide9.xml" Id="Rf37e094af1234c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ad023444847d7" /><Relationship Type="http://schemas.openxmlformats.org/officeDocument/2006/relationships/notesSlide" Target="/ppt/notesSlides/notesSlide10.xml" Id="R28454f8e557a4f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1dd885473470d" /><Relationship Type="http://schemas.openxmlformats.org/officeDocument/2006/relationships/notesSlide" Target="/ppt/notesSlides/notesSlide11.xml" Id="Rf5f4507bea8f43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35b4e64e04bc8" /><Relationship Type="http://schemas.openxmlformats.org/officeDocument/2006/relationships/notesSlide" Target="/ppt/notesSlides/notesSlide12.xml" Id="R8d61186f0a734a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4963ad5894511" /><Relationship Type="http://schemas.openxmlformats.org/officeDocument/2006/relationships/notesSlide" Target="/ppt/notesSlides/notesSlide13.xml" Id="R83ed0299c59148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c25961588497d" /><Relationship Type="http://schemas.openxmlformats.org/officeDocument/2006/relationships/notesSlide" Target="/ppt/notesSlides/notesSlide14.xml" Id="R8926a2a20f194d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Research to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Theory of Mind  ·  Fugu-style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6 Modules  ·  Plan. Build. Verify. Repair.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Course philosophy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Plan the work. Build a result.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Verify it with evidence.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Repair within a limit or escalate.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>Course workflow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Day 1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CORE PRACTICE SEQUENCE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NB3 · TOOL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Block unsafe or unauthorized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NB4 · CONTRACTS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invalid agent handoffs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NB5 · SELF-REPAIR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Limit retries; escalate unresolved 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BRIDGE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Optional framework extension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required Jupyter labs do not need Groq or an API key. A first-time package install may need internet.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Live-model examples are optional; the current live cells use the OpenAI client, not a configured Groq client.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Six modules, one evidence-based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1   Foundations &amp; Vibe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2   TeamLog &amp; Theory of Mind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3   Agentic RAG &amp;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4   Pydantic AI &amp; Type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5   Fugu Routing &amp; ChatDev Self-Repair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6   Internet of Agents &amp; Zero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Verify before release.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MetaGPT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Research Foundations for Managed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MetaGPT · ICLR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+ Reflexion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Role-specific workflow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procedures guide handoffs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Artifacts make work legible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Our typed contracts are an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ChatDev: communicate in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Reflexion stores verbal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Later attempts reuse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Retry caps remain course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These papers inform the pattern; the course sets its own tool boundaries and retry limits.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ToM · EMNLP 2023 + TeamLog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Theory of Mind: Role-Specific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 what each teammate knows about the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Manager records constraints and shared commitments.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Coder retrieves the relevant constraint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Conductor access list selects prior outputs for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access list is a map of team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AD79-AB70-4153-AC8F-BD2E14A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4D83-9043-4581-BDB4-0C7D7A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Use extra='forbid' to reject hallucinated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6944-F73F-4BDF-87A7-B10ABF8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850C6-01FC-46AE-BAF4-D38A1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Validate field lengths and constrain enums.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95727-779B-4B52-8DBA-70AA274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801D-0ACD-4C07-BB60-E873671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Reject unsafe file paths before they reach the filesystem.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B736-8FB1-4E83-81AF-1692647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9778-1C92-4A78-877F-11D26DF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Test valid inputs, invalid inputs, empty lists, extra fields, unsafe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TRINITY · Conductor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TRINITY, Fugu, ChatDev, Reflexion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 → Test → Review → Repair →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local retry cap is course policy, not Fugu training.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93f562ff84817">
            <a:extLst>
              <a:ext uri="{96DAC541-7B7A-43D3-8B79-37D633B846F1}">
                <asvg:svgBlip xmlns:asvg="http://schemas.microsoft.com/office/drawing/2016/SVG/main" r:embed="Rd149dda00b2a4c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562100"/>
            <a:ext cx="113919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Target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Virtual Software Company: Three-Agent Capstone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RAW ISSUE / EXTERNAL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API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 request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Map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TaskSpec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Delegate subtasks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SENIOR 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Write CodePatch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through scoped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QA AUDITOR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 tests + scan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Return TestResult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75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POLICY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Check access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and patch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approves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or escalates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failure returns to the Coder for up to 2 capstone repairs; unresolved risk goes to a human.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The core agents are Manager, Coder, and QA; API, policy, and release checks are workflow components.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This is the capstone target design: deterministic inputs and repository checks provide evidence; no live model or fixed test count is required.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Test the Workflow Before Live Models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VALIDATION + EXECUTION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DATA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+ TOOL CHECKS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LIMIT + HUMAN REVIEW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1 · REPEATABLE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with fixed inputs and local mocks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 labs without a model key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2 · FAILURE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Inspect invalid output and unsafe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Use tests to locate and correct failures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Reuse the same task and result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Current live cells use OpenAI; Groq is not wired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optional; it is not needed for JupyterLab, required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Fugu research + vendor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Research snapshot · October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Fugu and Coding-Agent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Compare how systems route work, pass context, and expose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Fugu: heterogeneous model pool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Coordinates workers across model providers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TRINITY: Thinker / Worker /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 coordinator selects a role and worker each 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Conductor: task-specific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Access lists select the earlier outputs each worker sees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Codex / Claude Code harnesses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Subagents can use separate contexts; configuration varies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 the complete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Measure quality, latency, spend, and 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Fugu paper compares specific model snapshots; harness behavior varies by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Core Team · Capstone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Three-Agent Hierarchy: Manager, Coder, QA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Natural-language request and final authority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Delegates typed work · approve or escalate · no code or test tools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SENIOR 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Implements assigned logic · write_code only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 AUDITOR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tests and returns evidence · run_tests only</a:t>
            </a:r>
          </a:p>
        </p:txBody>
      </p:sp>
      <p:cxnSp>
        <p:nvCxnSpPr>
          <p:cNvPr id="100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optional CrewAI bridge constructs the three-agent hierarchy; it does not call a live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Frameworks organize handoffs; the Manager uses QA evidence to decide release.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2026-10-05T02:01:40.3300000Z</dcterms:created>
  <dcterms:modified xsi:type="dcterms:W3CDTF">2026-10-05T02:01:40.3300000Z</dcterms:modified>
</coreProperties>
</file>