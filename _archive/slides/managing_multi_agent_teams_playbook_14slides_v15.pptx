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1393e782fee446e" Type="http://schemas.openxmlformats.org/package/2006/relationships/metadata/core-properties" Target="docProps/core.xml"/><Relationship Id="R1c4b5545a95e49f5" Type="http://schemas.openxmlformats.org/officeDocument/2006/relationships/extended-properties" Target="docProps/app.xml"/><Relationship Id="R9210b73974dd40a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95a42b21ea8c4a24"/>
  </p:sldMasterIdLst>
  <p:notesMasterIdLst>
    <p:notesMasterId xmlns:r="http://schemas.openxmlformats.org/officeDocument/2006/relationships" r:id="R14825b496c5c484f"/>
  </p:notesMasterIdLst>
  <p:sldIdLst>
    <p:sldId xmlns:r="http://schemas.openxmlformats.org/officeDocument/2006/relationships" id="256" r:id="R129446b1e6914baa"/>
    <p:sldId xmlns:r="http://schemas.openxmlformats.org/officeDocument/2006/relationships" id="257" r:id="R2fa77a648ba548c8"/>
    <p:sldId xmlns:r="http://schemas.openxmlformats.org/officeDocument/2006/relationships" id="258" r:id="Ra3379a55043d443c"/>
    <p:sldId xmlns:r="http://schemas.openxmlformats.org/officeDocument/2006/relationships" id="259" r:id="Rcdcf0cbc5edd413c"/>
    <p:sldId xmlns:r="http://schemas.openxmlformats.org/officeDocument/2006/relationships" id="260" r:id="R1870c384ff614180"/>
    <p:sldId xmlns:r="http://schemas.openxmlformats.org/officeDocument/2006/relationships" id="261" r:id="Rc7c7ff3bf5d947b1"/>
    <p:sldId xmlns:r="http://schemas.openxmlformats.org/officeDocument/2006/relationships" id="262" r:id="Ra6457c47a7194c38"/>
    <p:sldId xmlns:r="http://schemas.openxmlformats.org/officeDocument/2006/relationships" id="263" r:id="R9fc5c44300c14abd"/>
    <p:sldId xmlns:r="http://schemas.openxmlformats.org/officeDocument/2006/relationships" id="264" r:id="R258cc23fc12e4c7b"/>
    <p:sldId xmlns:r="http://schemas.openxmlformats.org/officeDocument/2006/relationships" id="265" r:id="Ra86af81d15a54651"/>
    <p:sldId xmlns:r="http://schemas.openxmlformats.org/officeDocument/2006/relationships" id="266" r:id="R190917495a25401a"/>
    <p:sldId xmlns:r="http://schemas.openxmlformats.org/officeDocument/2006/relationships" id="267" r:id="R87df4ac0da23473b"/>
    <p:sldId xmlns:r="http://schemas.openxmlformats.org/officeDocument/2006/relationships" id="268" r:id="R09ff43ff17094018"/>
    <p:sldId xmlns:r="http://schemas.openxmlformats.org/officeDocument/2006/relationships" id="269" r:id="R66ee4980405843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9ff43ff17094018" Type="http://schemas.openxmlformats.org/officeDocument/2006/relationships/slide" Target="slides/slide13.xml"/><Relationship Id="R129446b1e6914baa" Type="http://schemas.openxmlformats.org/officeDocument/2006/relationships/slide" Target="slides/slide1.xml"/><Relationship Id="R14825b496c5c484f" Type="http://schemas.openxmlformats.org/officeDocument/2006/relationships/notesMaster" Target="notesMasters/notesMaster1.xml"/><Relationship Id="R1870c384ff614180" Type="http://schemas.openxmlformats.org/officeDocument/2006/relationships/slide" Target="slides/slide5.xml"/><Relationship Id="R190917495a25401a" Type="http://schemas.openxmlformats.org/officeDocument/2006/relationships/slide" Target="slides/slide11.xml"/><Relationship Id="R227fb9ec0554423c" Type="http://schemas.openxmlformats.org/officeDocument/2006/relationships/tableStyles" Target="tableStyles.xml"/><Relationship Id="R258cc23fc12e4c7b" Type="http://schemas.openxmlformats.org/officeDocument/2006/relationships/slide" Target="slides/slide9.xml"/><Relationship Id="R2fa77a648ba548c8" Type="http://schemas.openxmlformats.org/officeDocument/2006/relationships/slide" Target="slides/slide2.xml"/><Relationship Id="R66ee498040584332" Type="http://schemas.openxmlformats.org/officeDocument/2006/relationships/slide" Target="slides/slide14.xml"/><Relationship Id="R87df4ac0da23473b" Type="http://schemas.openxmlformats.org/officeDocument/2006/relationships/slide" Target="slides/slide12.xml"/><Relationship Id="R95a42b21ea8c4a24" Type="http://schemas.openxmlformats.org/officeDocument/2006/relationships/slideMaster" Target="slideMasters/slideMaster1.xml"/><Relationship Id="R9fc5c44300c14abd" Type="http://schemas.openxmlformats.org/officeDocument/2006/relationships/slide" Target="slides/slide8.xml"/><Relationship Id="Ra3379a55043d443c" Type="http://schemas.openxmlformats.org/officeDocument/2006/relationships/slide" Target="slides/slide3.xml"/><Relationship Id="Ra6457c47a7194c38" Type="http://schemas.openxmlformats.org/officeDocument/2006/relationships/slide" Target="slides/slide7.xml"/><Relationship Id="Ra86af81d15a54651" Type="http://schemas.openxmlformats.org/officeDocument/2006/relationships/slide" Target="slides/slide10.xml"/><Relationship Id="Rc7c7ff3bf5d947b1" Type="http://schemas.openxmlformats.org/officeDocument/2006/relationships/slide" Target="slides/slide6.xml"/><Relationship Id="Rcdcf0cbc5edd413c" Type="http://schemas.openxmlformats.org/officeDocument/2006/relationships/slide" Target="slides/slide4.xml"/><Relationship Id="Rea76c0a1f81542bf" Type="http://schemas.openxmlformats.org/officeDocument/2006/relationships/presProps" Target="presProps.xml"/><Relationship Id="Rfcb217cae107422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bea839ddc46242a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58fa85283e341f2" Type="http://schemas.openxmlformats.org/officeDocument/2006/relationships/slide" Target="../slides/slide1.xml"/><Relationship Id="Rb3ee825831e1437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0f90823bc9742af" Type="http://schemas.openxmlformats.org/officeDocument/2006/relationships/slide" Target="../slides/slide2.xml"/><Relationship Id="R75986795267d4da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8d5f73c83854eff" Type="http://schemas.openxmlformats.org/officeDocument/2006/relationships/notesMaster" Target="../notesMasters/notesMaster1.xml"/><Relationship Id="R42435441810f4b24"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9950d9b45b545e6" Type="http://schemas.openxmlformats.org/officeDocument/2006/relationships/notesMaster" Target="../notesMasters/notesMaster1.xml"/><Relationship Id="R9358fd00eff44397"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c410150fb964aa3" Type="http://schemas.openxmlformats.org/officeDocument/2006/relationships/notesMaster" Target="../notesMasters/notesMaster1.xml"/><Relationship Id="R91ae893a47b9402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3136abea9734386" Type="http://schemas.openxmlformats.org/officeDocument/2006/relationships/notesMaster" Target="../notesMasters/notesMaster1.xml"/><Relationship Id="Rd0125806b07b428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4d0f912f9cfb4f72" Type="http://schemas.openxmlformats.org/officeDocument/2006/relationships/slide" Target="../slides/slide7.xml"/><Relationship Id="Rb456778ad3cc487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3fddcf03ad84357" Type="http://schemas.openxmlformats.org/officeDocument/2006/relationships/notesMaster" Target="../notesMasters/notesMaster1.xml"/><Relationship Id="R69f95725fb9b422b"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b2a6e91f9f0f4ed2" Type="http://schemas.openxmlformats.org/officeDocument/2006/relationships/notesMaster" Target="../notesMasters/notesMaster1.xml"/><Relationship Id="Re116d637ca96403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e7392f90be54f0b" Type="http://schemas.openxmlformats.org/officeDocument/2006/relationships/notesMaster" Target="../notesMasters/notesMaster1.xml"/><Relationship Id="Rdefdbab6e4db439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1341ff911814d8e" Type="http://schemas.openxmlformats.org/officeDocument/2006/relationships/slide" Target="../slides/slide11.xml"/><Relationship Id="Rc362416189224d2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6b0ebbd5f4c44c7" Type="http://schemas.openxmlformats.org/officeDocument/2006/relationships/slide" Target="../slides/slide12.xml"/><Relationship Id="Rff57983450f347be"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1b6002db519b4d37" Type="http://schemas.openxmlformats.org/officeDocument/2006/relationships/slide" Target="../slides/slide13.xml"/><Relationship Id="R4c14f377977e484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e8c9b7d96ee4e99" Type="http://schemas.openxmlformats.org/officeDocument/2006/relationships/slide" Target="../slides/slide14.xml"/><Relationship Id="R60b53f09fc2444e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 sources: Shoham and Leyton-Brown, Multiagent Systems (2009), https://www.masfoundations.org/; IBM multi-agent systems explainer, https://www.ibm.com/think/topics/multiagent-system. Agents may share or differ in information and interests. A fixed sequence of ordinary functions can simulate team coordination but does not establish live autonomous multiagent behavior. The diagram is a conceptual procurement team, not an implemented service. Brand logo: course-owner-supplied UN Volunteers/IYV26 image; preserve the complete lockup.</a:t>
            </a:r>
          </a:p>
          <a:p xmlns:a="http://schemas.openxmlformats.org/drawingml/2006/main">
            <a:r>
              <a:t/>
            </a:r>
          </a:p>
          <a:p xmlns:a="http://schemas.openxmlformats.org/drawingml/2006/main">
            <a:r>
              <a:t>Framework literacy objective is slide/reference only, not another practical. Read ../resources/framework_comparison.md with slides10 and13. AutoGen remains an architectural reference; its official repository now declares it archived. https://github.com/microsoft/autogen#autogen . Microsoft successor: https://learn.microsoft.com/agent-framework/overview . Multiple teams, vendors, or frameworks are not required to meet the MAS definition.</a:t>
            </a:r>
          </a:p>
          <a:p xmlns:a="http://schemas.openxmlformats.org/drawingml/2006/main">
            <a:r>
              <a:t/>
            </a:r>
          </a:p>
          <a:p xmlns:a="http://schemas.openxmlformats.org/drawingml/2006/main">
            <a:r>
              <a:t>Visible reference bullet links: MAS foundations: https://www.masfoundations.org/</a:t>
            </a:r>
          </a:p>
          <a:p xmlns:a="http://schemas.openxmlformats.org/drawingml/2006/main">
            <a:r>
              <a:t>framework comparison: ../resources/framework_comparison.md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Shoham and Leyton-Brown, https://www.masfoundations.org/; IBM, https://www.ibm.com/think/topics/multiagent-system. Lowe et al. (2017), Multi-Agent Actor-Critic for Mixed Cooperative-Competitive Environments, https://arxiv.org/abs/1706.02275 supports cooperative/competitive/mixed goal settings. Shazeer et al. (2017), https://arxiv.org/abs/1701.06538 describes gated neural subnetworks, which differ from autonomous interacting agents. This three-axis taxonomy is a teaching synthesis, not a claim that each label is a mutually exclusive system type.</a:t>
            </a:r>
          </a:p>
          <a:p xmlns:a="http://schemas.openxmlformats.org/drawingml/2006/main">
            <a:r>
              <a:t/>
            </a:r>
          </a:p>
          <a:p xmlns:a="http://schemas.openxmlformats.org/drawingml/2006/main">
            <a:r>
              <a:t>Visible reference bullet links: MAS foundations: https://www.masfoundations.org/</a:t>
            </a:r>
          </a:p>
          <a:p xmlns:a="http://schemas.openxmlformats.org/drawingml/2006/main">
            <a:r>
              <a:t>Lowe et al. (2017): https://arxiv.org/abs/1706.02275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IBM multi-agent systems explainer, https://www.ibm.com/think/topics/multiagent-system. The listed benefits are potential uses and design goals, not guaranteed improvements in speed, accuracy, scalability, or real-time operation. Procurement and HR are classroom simulations with synthetic facts. The software labs use deterministic fixtures and CrewAI configurations. Domain integration requires shared contracts and evidence, not merely adding model calls.</a:t>
            </a:r>
          </a:p>
          <a:p xmlns:a="http://schemas.openxmlformats.org/drawingml/2006/main">
            <a:r>
              <a:t/>
            </a:r>
          </a:p>
          <a:p xmlns:a="http://schemas.openxmlformats.org/drawingml/2006/main">
            <a:r>
              <a:t>Visible reference bullet links: IBM: multiagent systems: https://www.ibm.com/think/topics/multiagent-system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tabletop simulation P-001. See ../assignments/workshop_simulations.md#simulation-1-automating-a-procurement-recommendation. Costs are complete quote totals, not unit prices. Eligibility requires cost&lt;=budget, delivery&lt;=deadline, and approved supplier status. A is the only eligible quote at1200/5. At1000/5 no supplier is eligible; a1000/7 scenario makes B eligible. Do not infer approval from missing registry data. Output is a recommendation, evidence, and human-approval status; no purchase is placed. The conceptual team roles reuse Lab 1 contract, Lab 2 context/roles, Lab 3 gate, and Capstone boundary patterns. No new graded lab or package is required.</a:t>
            </a:r>
          </a:p>
          <a:p xmlns:a="http://schemas.openxmlformats.org/drawingml/2006/main">
            <a:r>
              <a:t/>
            </a:r>
          </a:p>
          <a:p xmlns:a="http://schemas.openxmlformats.org/drawingml/2006/main">
            <a:r>
              <a:t>Visible reference bullet links: Procurement simulation (synthetic): ../assignments/workshop_simulations.md#simulation-1-automating-a-procurement-recommendation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generation conditions on retrieved external information. Primary source: Lewis et al. (2020), https://arxiv.org/abs/2005.11401. See also IBM, https://www.ibm.com/think/topics/retrieval-augmented-generation. This HR use is a synthetic course application, not a result established by the paper. Complete fixtures: ../assignments/workshop_simulations.md#simulation-2-enhancing-an-hr-virtual-assistant-with-rag. Policy IDs and limits are invented teaching facts, not UN Volunteers HR policy. HR-LEARN v1 is superseded; HR-REVIEW is restricted. No real employee data or employment/payroll decision is used. Retrieval and citations do not by themselves prove a truthful or authorized answer.</a:t>
            </a:r>
          </a:p>
          <a:p xmlns:a="http://schemas.openxmlformats.org/drawingml/2006/main"/>
          <a:p xmlns:a="http://schemas.openxmlformats.org/drawingml/2006/main">
            <a:r>
              <a:t>Visible reference bullet links: Lewis et al. (2020): https://arxiv.org/abs/2005.11401</a:t>
            </a:r>
          </a:p>
          <a:p xmlns:a="http://schemas.openxmlformats.org/drawingml/2006/main">
            <a:r>
              <a:t>HR simulation (synthetic): ../assignments/workshop_simulations.md#simulation-2-enhancing-an-hr-virtual-assistant-with-rag</a:t>
            </a:r>
          </a:p>
          <a:p xmlns:a="http://schemas.openxmlformats.org/drawingml/2006/main"/>
          <a:p xmlns:a="http://schemas.openxmlformats.org/drawingml/2006/main">
            <a:r>
              <a:t>Facilitator reveal — Governance answer: If no current, authorized source supports the answer, the Drafting Agent must not guess. It returns a strict NoSourceFound Pydantic object, halts the downstream handoff, and escalates to a human HR representative. This is Bounded Autonomy in action. A required citation/source-ID field checks output shape; the Compliance Agent must still compare each citation with the retrieved snippet because a citation field alone does not prove support. The Obsidian Vault/vector index and CrewAI output_pydantic path on this slide are a governed design example; the required course exercise uses local deterministic fixtures, not a live database or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sequence: ../notebooks/00_sandbox_preflight.ipynb, ../notebooks/01_lab_pydantic_contracts.ipynb, ../notebooks/02_lab_crewai_team_handoff.ipynb, ../notebooks/03_lab_tool_gates_bounded_repair.ipynb, ../notebooks/04_capstone_dev_to_security.ipynb. Setup uses python3.12 -m venv .venv; activate; python -m pip install -r requirements-workshop.txt; python -m jupyter lab. First installation needs internet or a prepared package bundle. Required notebook runtime is deterministic. Groq and other live model providers are optional. Procurement/HR discussion adds no extra grades or installs.</a:t>
            </a:r>
          </a:p>
          <a:p xmlns:a="http://schemas.openxmlformats.org/drawingml/2006/main">
            <a:r>
              <a:t/>
            </a:r>
          </a:p>
          <a:p xmlns:a="http://schemas.openxmlformats.org/drawingml/2006/main">
            <a:r>
              <a:t>Vocabulary alignment only: Lab1 Context Engineering: Typed Contracts; Lab2 Code Auditing: Roles and Context; Lab3 Code Validation: Tool Gates and Bounded Repair. No Python exercise, package, or score changes.</a:t>
            </a:r>
          </a:p>
          <a:p xmlns:a="http://schemas.openxmlformats.org/drawingml/2006/main">
            <a:r>
              <a:t/>
            </a:r>
          </a:p>
          <a:p xmlns:a="http://schemas.openxmlformats.org/drawingml/2006/main">
            <a:r>
              <a:t>Visible reference bullet links: Setup guide: ../SETUP.md</a:t>
            </a:r>
          </a:p>
          <a:p xmlns:a="http://schemas.openxmlformats.org/drawingml/2006/main">
            <a:r>
              <a:t>notebook manifest: ../notebooks/notebook_manifest.yml</a:t>
            </a:r>
          </a:p>
          <a:p xmlns:a="http://schemas.openxmlformats.org/drawingml/2006/main">
            <a:r>
              <a:t/>
            </a:r>
          </a:p>
          <a:p xmlns:a="http://schemas.openxmlformats.org/drawingml/2006/main">
            <a:r>
              <a:t>The learner is the human delivery manager throughout Labs1–3: define acceptance in Lab1, audit the team and local QA handoff in Lab2, inspect retry/input evidence and escalation in Lab3. New supplied actions are formative and add no learner code TODO, package, or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../notebooks/01_lab_pydantic_contracts.ipynb. Current cell4 is the learner model; cell5 grader checks valid acceptance, score rejection, and forbidden extra fields. Pydantic source: https://docs.pydantic.dev/latest/concepts/fields/ and https://docs.pydantic.dev/latest/concepts/config/. Capstone DevDeliverable separately requires a learner validator rejecting unit_tests_passed=False. The default QA status is simulated; supporting test evidence must be inspected.</a:t>
            </a:r>
          </a:p>
          <a:p xmlns:a="http://schemas.openxmlformats.org/drawingml/2006/main">
            <a:r>
              <a:t/>
            </a:r>
          </a:p>
          <a:p xmlns:a="http://schemas.openxmlformats.org/drawingml/2006/main">
            <a:r>
              <a:t>Context Engineering here covers the typed artifact and its constraints. Lab2 connects those specifications to the task context. Strategic prompt engineering spans precise requirements, roles, context dependencies, and expected outputs. Neither context nor a schema eliminates hallucinations.</a:t>
            </a:r>
          </a:p>
          <a:p xmlns:a="http://schemas.openxmlformats.org/drawingml/2006/main">
            <a:r>
              <a:t/>
            </a:r>
          </a:p>
          <a:p xmlns:a="http://schemas.openxmlformats.org/drawingml/2006/main">
            <a:r>
              <a:t>Visible reference bullet links: Pydantic fields: https://docs.pydantic.dev/latest/concepts/fields/</a:t>
            </a:r>
          </a:p>
          <a:p xmlns:a="http://schemas.openxmlformats.org/drawingml/2006/main">
            <a:r>
              <a:t>Lab 1: ../notebooks/01_lab_pydantic_contracts.ipynb</a:t>
            </a:r>
          </a:p>
          <a:p xmlns:a="http://schemas.openxmlformats.org/drawingml/2006/main">
            <a:r>
              <a:t/>
            </a:r>
          </a:p>
          <a:p xmlns:a="http://schemas.openxmlformats.org/drawingml/2006/main">
            <a:r>
              <a:t>Lab1 management frame: the human learner sets the acceptance contract for the same Manager–Coder–QA team introduced in Lab2. The lab isolates this control and does not execute 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cell4 learner edits: Manager tools=[approve_code_tool] and coder_task.context=[architect_task]; retain delegation. Coder and QA keep their supplied tool lists. ArchitectBrief is a task artifact, not a fourth agent. Cell6 chooses a deterministic response and validates CodePatch; cell11 grader checks Manager tools/delegation and the actual architect_task dependency. The required lab does not run Crew.kickoff or execute QA. Tools are named stubs, not actual file writers/test runners/approvals. Agent tool availability is not an OS sandbox. Task context makes prior output available, not proof a model followed it. API sources: https://docs.crewai.com/en/concepts/agents, https://docs.crewai.com/en/concepts/tasks, https://docs.crewai.com/en/learn/create-custom-tools.</a:t>
            </a:r>
          </a:p>
          <a:p xmlns:a="http://schemas.openxmlformats.org/drawingml/2006/main">
            <a:r>
              <a:t/>
            </a:r>
          </a:p>
          <a:p xmlns:a="http://schemas.openxmlformats.org/drawingml/2006/main">
            <a:r>
              <a:t>Code Auditing here means inspecting role permissions and task context. Theory of Mind provides an information lens: https://aclanthology.org/2023.emnlp-main.13/ . TEAMLOG: https://www.comsis.org/pdf.php?id=244-0912 . The team_log dictionary is a teaching analogy, not TEAMLOG formal logic or proof of a model mental state. ChatDev: https://aclanthology.org/2024.acl-long.810/ . Framework comparisons are reference only.</a:t>
            </a:r>
          </a:p>
          <a:p xmlns:a="http://schemas.openxmlformats.org/drawingml/2006/main">
            <a:r>
              <a:t/>
            </a:r>
          </a:p>
          <a:p xmlns:a="http://schemas.openxmlformats.org/drawingml/2006/main">
            <a:r>
              <a:t>Visible reference bullet links: CrewAI tasks: https://docs.crewai.com/en/concepts/tasks</a:t>
            </a:r>
          </a:p>
          <a:p xmlns:a="http://schemas.openxmlformats.org/drawingml/2006/main">
            <a:r>
              <a:t>Theory of Mind: https://aclanthology.org/2023.emnlp-main.13/</a:t>
            </a:r>
          </a:p>
          <a:p xmlns:a="http://schemas.openxmlformats.org/drawingml/2006/main">
            <a:r>
              <a:t/>
            </a:r>
          </a:p>
          <a:p xmlns:a="http://schemas.openxmlformats.org/drawingml/2006/main">
            <a:r>
              <a:t>Lab2 new Manager audit is cell8, ID lab2-manager-audit-gate. The unchanged /15 grader moves to cell11 (84aaa3ad). Cell9 provides a decision/evidence/next-owner note. Supplied manager_audit_gate checks exact Manager/Coder/QA tool lists, Manager delegation, task owners, Architect context, declared CodePatch/QAReport models, Coder-to-QA dependency, and revalidates the current payload. A failed audit returns BLOCK and resets qa_inbox to empty. PASS_TO_QA admits one local CodePatch for simulated review; it executes no QA agent, test tool, release, or live Crew. The two learner code repairs and all grader points are unchanged. The human learner is delivery manager; manager_agent is the configured 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cell3 combines SecureToolInput and MAX_RETRIES. The corrected ID validator accepts1–12 digits and forbids extra fields. Validation rejects the SQL-like fixture before dry_run_database_lookup; this is an MCP-style local boundary, not a running MCP service or a complete injection defense. Real SQL requires parameterized queries plus authorization. run_repair_loop uses range(max_retries+1): MAX_RETRIES=3 gives one initial attempt and three retries. At the$0.05 mock-call fixture the always-failing case stops at$0.20 and returns an escalation flag. It does not repair real code, spend money, or contact a person. Source: ../notebooks/03_lab_tool_gates_bounded_repair.ipynb; protocol background https://modelcontextprotocol.io/specification.</a:t>
            </a:r>
          </a:p>
          <a:p xmlns:a="http://schemas.openxmlformats.org/drawingml/2006/main">
            <a:r>
              <a:t/>
            </a:r>
          </a:p>
          <a:p xmlns:a="http://schemas.openxmlformats.org/drawingml/2006/main">
            <a:r>
              <a:t>Code Validation here checks supplied input fixtures and explicit attempt limits. Reflexion https://papers.nips.cc/paper_files/paper/2023/hash/1b44b878bb782e6954cd888628510e90-Abstract-Conference.html informs feedback discussion. TRINITY https://arxiv.org/abs/2512.04695 and Conductor https://arxiv.org/abs/2512.04388 inform coordination/context discussion. Fugu-style means a visible local routing/context policy. This course does not reproduce those trained systems or use a hosted Fugu API.</a:t>
            </a:r>
          </a:p>
          <a:p xmlns:a="http://schemas.openxmlformats.org/drawingml/2006/main">
            <a:r>
              <a:t/>
            </a:r>
          </a:p>
          <a:p xmlns:a="http://schemas.openxmlformats.org/drawingml/2006/main">
            <a:r>
              <a:t>Visible reference bullet links: MCP specification: https://modelcontextprotocol.io/specification</a:t>
            </a:r>
          </a:p>
          <a:p xmlns:a="http://schemas.openxmlformats.org/drawingml/2006/main">
            <a:r>
              <a:t>Reflexion: https://papers.nips.cc/paper_files/paper/2023/hash/1b44b878bb782e6954cd888628510e90-Abstract-Conference.html</a:t>
            </a:r>
          </a:p>
          <a:p xmlns:a="http://schemas.openxmlformats.org/drawingml/2006/main">
            <a:r>
              <a:t/>
            </a:r>
          </a:p>
          <a:p xmlns:a="http://schemas.openxmlformats.org/drawingml/2006/main">
            <a:r>
              <a:t>Lab3 new oversight is cell7, ID lab3-management-oversight. It checks input rejection/acceptance, unsafe-call absence, exactly3retries,4failed calls, consistent simulated cost within$0.20, and escalated=True. Corrected controls return ESCALATE_TO_HUMAN with release_approved=False; failed controls return BLOCK_AND_REPAIR_CONTROLS. The action makes no additional calls or notification. Cell8 is the decision/evidence/next-owner note. The unchanged /15 grader moves to cell10 (03_guardrails_security_and_repair-06). Escalation means the control worked, not that the failed task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script (about 60 seconds)</a:t>
            </a:r>
          </a:p>
          <a:p xmlns:a="http://schemas.openxmlformats.org/drawingml/2006/main">
            <a:r>
              <a:t>The decision tree gives us a shortlist based on the dominant need. Clear task ownership points us toward CrewAI. Stateful branching and recovery point us toward LangGraph. Existing AutoGen applications give us conversation patterns to inspect. Document retrieval points us toward LlamaIndex. Python and .NET workflow integration gives us a reason to evaluate Microsoft Agent Framework. These are starting points, and capabilities overlap.</a:t>
            </a:r>
          </a:p>
          <a:p xmlns:a="http://schemas.openxmlformats.org/drawingml/2006/main">
            <a:r>
              <a:t>The patterns we teach transfer across all of them. Pass explicit context and typed artifacts between roles. Give each tool only the authority it needs. Verify the result with evidence, bound retries and spending, and define when a human must approve or take over. A framework supplies abstractions. We still design and test those controls. CrewAI remains the only required framework in this workshop.</a:t>
            </a:r>
          </a:p>
          <a:p xmlns:a="http://schemas.openxmlformats.org/drawingml/2006/main">
            <a:r>
              <a:t/>
            </a:r>
          </a:p>
          <a:p xmlns:a="http://schemas.openxmlformats.org/drawingml/2006/main">
            <a:r>
              <a:t>Lifecycle/source note, checked 17 October 2026</a:t>
            </a:r>
          </a:p>
          <a:p xmlns:a="http://schemas.openxmlformats.org/drawingml/2006/main">
            <a:r>
              <a:t>AutoGen is deliberately named without a lifecycle label on the slide. Its GitHub API currently reports archived:false, while the repository README prominently says the project is archived and Microsoft no longer maintains it. These signals conflict. Do not infer active support from the archive flag, a push date, or a 2024 release. The README directs new users to Microsoft Agent Framework. Check the current project policy before selecting a deployment dependency.</a:t>
            </a:r>
          </a:p>
          <a:p xmlns:a="http://schemas.openxmlformats.org/drawingml/2006/main">
            <a:r>
              <a:t>https://api.github.com/repos/microsoft/autogen</a:t>
            </a:r>
          </a:p>
          <a:p xmlns:a="http://schemas.openxmlformats.org/drawingml/2006/main">
            <a:r>
              <a:t>https://github.com/microsoft/autogen#autogen</a:t>
            </a:r>
          </a:p>
          <a:p xmlns:a="http://schemas.openxmlformats.org/drawingml/2006/main">
            <a:r>
              <a:t>https://github.com/microsoft/agent-framework</a:t>
            </a:r>
          </a:p>
          <a:p xmlns:a="http://schemas.openxmlformats.org/drawingml/2006/main">
            <a:r>
              <a:t/>
            </a:r>
          </a:p>
          <a:p xmlns:a="http://schemas.openxmlformats.org/drawingml/2006/main">
            <a:r>
              <a:t>Primary repositories for the comparison</a:t>
            </a:r>
          </a:p>
          <a:p xmlns:a="http://schemas.openxmlformats.org/drawingml/2006/main">
            <a:r>
              <a:t>CrewAI: https://github.com/crewAIInc/crewAI</a:t>
            </a:r>
          </a:p>
          <a:p xmlns:a="http://schemas.openxmlformats.org/drawingml/2006/main">
            <a:r>
              <a:t>LangGraph: https://github.com/langchain-ai/langgraph</a:t>
            </a:r>
          </a:p>
          <a:p xmlns:a="http://schemas.openxmlformats.org/drawingml/2006/main">
            <a:r>
              <a:t>AutoGen: https://github.com/microsoft/autogen</a:t>
            </a:r>
          </a:p>
          <a:p xmlns:a="http://schemas.openxmlformats.org/drawingml/2006/main">
            <a:r>
              <a:t>LlamaIndex: https://github.com/run-llama/llama_index</a:t>
            </a:r>
          </a:p>
          <a:p xmlns:a="http://schemas.openxmlformats.org/drawingml/2006/main">
            <a:r>
              <a:t>Microsoft Agent Framework: https://github.com/microsoft/agent-framework</a:t>
            </a:r>
          </a:p>
          <a:p xmlns:a="http://schemas.openxmlformats.org/drawingml/2006/main">
            <a:r>
              <a:t/>
            </a:r>
          </a:p>
          <a:p xmlns:a="http://schemas.openxmlformats.org/drawingml/2006/main">
            <a:r>
              <a:t>Further guidance</a:t>
            </a:r>
          </a:p>
          <a:p xmlns:a="http://schemas.openxmlformats.org/drawingml/2006/main">
            <a:r>
              <a:t>These selection criteria are teaching heuristics, not exclusive capabilities or performance rankings. Runtime validation, authorization, isolation, evidence checks, and recovery remain application design tasks. Reference: ../resources/framework_comparison.md#framework-shortlist</a:t>
            </a:r>
          </a:p>
          <a:p xmlns:a="http://schemas.openxmlformats.org/drawingml/2006/main">
            <a:r>
              <a:t/>
            </a:r>
          </a:p>
          <a:p xmlns:a="http://schemas.openxmlformats.org/drawingml/2006/main">
            <a:r>
              <a:t>Lecture8 framework-literacy discussion: CrewAI is the course-specific teaching choice because named roles, tools, and task dependencies make separation of duties visible. This is not a universal simplicity or superiority claim. A future Coordinator could be a LangGraph state machine with validation and conditional transitions, configured persistence, and human-review interrupts. LlamaIndex remains the retrieval-oriented comparison for the HR/RAG case. Optional Capstone extension is reference/design only, with no extra homework, implementation, package, or marks. See ../assignments/assignment_08_debugging_sdlc.md#lecture-8-reference-discussion-choosing-an-orchestration-pattern and ../resources/framework_comparison.md#optional-capstone-architecture-extension-langgraph . Primary references: https://docs.crewai.com/en/concepts/tasks ; https://docs.langchain.com/oss/python/langgraph/persistence ; https://docs.langchain.com/oss/python/langgraph/interrupts ; https://developers.llamaindex.ai/python/framework/understanding/agent/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../notebooks/04_capstone_dev_to_security.ipynb. Learner edits in cells5,7,13: reject unit_tests_passed=False; coordinate_handoff revalidates and logs before Security starts; Security Manager tools=[approve_audit_tool], Pen Tester tools=[mock_pen_test_tool]. Code grader in cell17 gives5+10+5=/20. The default adapters use simulated QA status and a marker scanner, not real pytest/penetration testing. Coder/QA in Capstone have no custom tools, unlike Lab 2. Only optional live cell15 executes Development Crew kickoff, validates typed output, then starts Security Crew through kickoff inputs. No automatic release, deployment, or inter-team repair cycle is implemented.</a:t>
            </a:r>
          </a:p>
          <a:p xmlns:a="http://schemas.openxmlformats.org/drawingml/2006/main">
            <a:r>
              <a:t/>
            </a:r>
          </a:p>
          <a:p xmlns:a="http://schemas.openxmlformats.org/drawingml/2006/main">
            <a:r>
              <a:t>Visible reference bullet links: Capstone brief: ../assignments/ex5_capstone_virtual_software_company.md</a:t>
            </a:r>
          </a:p>
          <a:p xmlns:a="http://schemas.openxmlformats.org/drawingml/2006/main">
            <a:r>
              <a:t>CrewAI tasks: https://docs.crewai.com/en/concepts/tasks</a:t>
            </a:r>
          </a:p>
          <a:p xmlns:a="http://schemas.openxmlformats.org/drawingml/2006/main">
            <a:r>
              <a:t/>
            </a:r>
          </a:p>
          <a:p xmlns:a="http://schemas.openxmlformats.org/drawingml/2006/main">
            <a:r>
              <a:t>Labs 1-3 taught you to manage a single team. The Capstone teaches you to manage a multi-team ecosystem. Mission: supervise the Development Team artifact, execute the Python Coordinator validation boundary before the separate Security &amp; Compliance Team receives it, and inspect SecurityAuditResult. One coordinated team can already be a MAS. This example chooses two specialist teams; multiple frameworks are not required. Coordinator is Python control flow, not a sixth agent. The exact notebook intro states this mission; new final Markdown cell capstone-framework-extension links the optional reference/design LangGraph refactor. No implementation, dependency, or assessment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assessment: three lab scores raw/15*20 contribute60; Capstone code20 and ADR20 total100. ADR rubric is6risk/architecture+7controls/evidence+7next step. Use the published Paper ADR fallback when execution is prevented by the environment; sound reasoning meets the pass route, not automatic full marks or fabricated execution evidence. Record the actual command/environment/result of python -m pytest tests/ -v; no fixed historic test count is promised. Saved output/screenshots are supporting evidence, not independent confirmation. ../PLAYBOOK.md#assessment-and-gradebook and ../assignments/ex5_capstone_virtual_software_company.md.</a:t>
            </a:r>
          </a:p>
          <a:p xmlns:a="http://schemas.openxmlformats.org/drawingml/2006/main">
            <a:r>
              <a:t/>
            </a:r>
          </a:p>
          <a:p xmlns:a="http://schemas.openxmlformats.org/drawingml/2006/main">
            <a:r>
              <a:t>Visible reference bullet links: Assessment and submission: ../PLAYBOOK.md#assessment-and-gradebook</a:t>
            </a:r>
          </a:p>
          <a:p xmlns:a="http://schemas.openxmlformats.org/drawingml/2006/main">
            <a:r>
              <a:t/>
            </a:r>
          </a:p>
          <a:p xmlns:a="http://schemas.openxmlformats.org/drawingml/2006/main">
            <a:r>
              <a:t>Lab2 Manager audit and Lab3 oversight/decision notes are formative evidence. Existing three raw /15 graders and /20 Capstone code + /20 ADR remain unchanged:100total. No new points for framework comparison or architecture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Slide13 is the broader ecosystem comparison, with no exercises, homework, installs, or marks. Full audience/fit/control/limitation columns and official links: ../resources/framework_comparison.md . Official sources reviewed17October2026: Microsoft https://learn.microsoft.com/agent-framework/overview ; Google https://adk.dev/agents/ and https://adk.dev/safety/ ; Claude https://code.claude.com/docs/en/agent-sdk/overview and https://code.claude.com/docs/en/agent-sdk/permissions ; MetaGPT https://github.com/FoundationAgents/MetaGPT#software-company-as-multi-agent-system ; Pydantic AI https://pydantic.dev/docs/ai/overview/ and https://pydantic.dev/docs/ai/core-concepts/output/ ; n8n https://docs.n8n.io/build/understand-workflows.md ; OpenClaw https://docs.openclaw.ai/concepts/multi-agent and https://docs.openclaw.ai/gateway/sandboxing . These products are different categories: frameworks, SDK/harness, visual automation platform, assistant gateway. Claude allowedTools preapproves tools rather than alone removing unlisted tools. OpenClaw sandboxing is configurable and off by default. Schema validity is not factual truth. A working directory is not a sandbox. Local gateway hosting does not imply local model inference.</a:t>
            </a:r>
          </a:p>
          <a:p xmlns:a="http://schemas.openxmlformats.org/drawingml/2006/main">
            <a:r>
              <a:t/>
            </a:r>
          </a:p>
          <a:p xmlns:a="http://schemas.openxmlformats.org/drawingml/2006/main">
            <a:r>
              <a:t>Visible reference bullet links: Ecosystem comparison and official documentation: ../resources/framework_comparison.md#broader-ecosystem</a:t>
            </a:r>
          </a:p>
          <a:p xmlns:a="http://schemas.openxmlformats.org/drawingml/2006/main">
            <a:r>
              <a:t/>
            </a:r>
          </a:p>
          <a:p xmlns:a="http://schemas.openxmlformats.org/drawingml/2006/main">
            <a:r>
              <a:t>Official repository/name check, 17 October 2026</a:t>
            </a:r>
          </a:p>
          <a:p xmlns:a="http://schemas.openxmlformats.org/drawingml/2006/main">
            <a:r>
              <a:t>Microsoft Agent Framework: https://github.com/microsoft/agent-framework</a:t>
            </a:r>
          </a:p>
          <a:p xmlns:a="http://schemas.openxmlformats.org/drawingml/2006/main">
            <a:r>
              <a:t>Google Agent Development Kit (Google ADK): https://github.com/google/adk-python</a:t>
            </a:r>
          </a:p>
          <a:p xmlns:a="http://schemas.openxmlformats.org/drawingml/2006/main">
            <a:r>
              <a:t>Claude Agent SDK: https://github.com/anthropics/claude-agent-sdk-python</a:t>
            </a:r>
          </a:p>
          <a:p xmlns:a="http://schemas.openxmlformats.org/drawingml/2006/main">
            <a:r>
              <a:t>MetaGPT: https://github.com/FoundationAgents/MetaGPT</a:t>
            </a:r>
          </a:p>
          <a:p xmlns:a="http://schemas.openxmlformats.org/drawingml/2006/main">
            <a:r>
              <a:t>Pydantic AI: https://github.com/pydantic/pydantic-ai</a:t>
            </a:r>
          </a:p>
          <a:p xmlns:a="http://schemas.openxmlformats.org/drawingml/2006/main">
            <a:r>
              <a:t>n8n: https://github.com/n8n-io/n8n</a:t>
            </a:r>
          </a:p>
          <a:p xmlns:a="http://schemas.openxmlformats.org/drawingml/2006/main">
            <a:r>
              <a:t>OpenClaw: https://github.com/openclaw/openclaw</a:t>
            </a:r>
          </a:p>
          <a:p xmlns:a="http://schemas.openxmlformats.org/drawingml/2006/main">
            <a:r>
              <a:t>These names and repository links identify the products. Repository activity is not a support or security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to navigate the one main presentation, simulations, three labs, and Capstone. Submission requirements are in ../assignments/ex5_capstone_virtual_software_company.md. Keep procurement/HR demonstration conclusions separate from executed notebook evidence. Required work uses deterministic local fixtures; optional resources add no workshop marks.</a:t>
            </a:r>
          </a:p>
          <a:p xmlns:a="http://schemas.openxmlformats.org/drawingml/2006/main">
            <a:r>
              <a:t/>
            </a:r>
          </a:p>
          <a:p xmlns:a="http://schemas.openxmlformats.org/drawingml/2006/main">
            <a:r>
              <a:t>Visible reference bullet links: Course dashboard: ../README.md</a:t>
            </a:r>
          </a:p>
          <a:p xmlns:a="http://schemas.openxmlformats.org/drawingml/2006/main">
            <a:r>
              <a:t>resource library: ../resources/curated_resource_library.md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72c093eaa39400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82dcadfe9ed445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4714ea8e7b6492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c0ab2a64c8941f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9b86a33983d45a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c4f0f589a1d4b0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221FE-9FBC-43EE-9D48-A14BBB5EC6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8D8066-818A-4240-88C9-2F374496D6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461CAC-8D14-4FA1-90BF-5F75B4F22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D3091-1197-423A-AA1E-0D9B79499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EDBB9-9A63-4362-92D4-91F144AFD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AABDB7-F6FF-4EB9-9748-AEE2ACE21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83896-247C-4FA8-BAED-7DA9AEF58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643FC2-029E-4176-8479-9049418DB2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0B273-6A95-4C2C-9B0E-C565FF4A9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638B-05B5-40AE-A9FE-1934D4AEA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e5edab7d13043f1" Type="http://schemas.openxmlformats.org/officeDocument/2006/relationships/slideLayout" Target="../slideLayouts/slideLayout4.xml"/><Relationship Id="R2e0800f88ca24628" Type="http://schemas.openxmlformats.org/officeDocument/2006/relationships/slideLayout" Target="../slideLayouts/slideLayout1.xml"/><Relationship Id="R57279c902cab4ece" Type="http://schemas.openxmlformats.org/officeDocument/2006/relationships/slideLayout" Target="../slideLayouts/slideLayout5.xml"/><Relationship Id="R58c5791ebae546be" Type="http://schemas.openxmlformats.org/officeDocument/2006/relationships/slideLayout" Target="../slideLayouts/slideLayout2.xml"/><Relationship Id="Rb44554c252e64164" Type="http://schemas.openxmlformats.org/officeDocument/2006/relationships/slideLayout" Target="../slideLayouts/slideLayout3.xml"/><Relationship Id="Rb77e4e07f5bf4883" Type="http://schemas.openxmlformats.org/officeDocument/2006/relationships/slideLayout" Target="../slideLayouts/slideLayout6.xml"/><Relationship Id="Read933367ad14169"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0800f88ca24628"/>
    <p:sldLayoutId xmlns:r="http://schemas.openxmlformats.org/officeDocument/2006/relationships" id="2147483650" r:id="R58c5791ebae546be"/>
    <p:sldLayoutId xmlns:r="http://schemas.openxmlformats.org/officeDocument/2006/relationships" id="2147483651" r:id="Rb44554c252e64164"/>
    <p:sldLayoutId xmlns:r="http://schemas.openxmlformats.org/officeDocument/2006/relationships" id="2147483652" r:id="R0e5edab7d13043f1"/>
    <p:sldLayoutId xmlns:r="http://schemas.openxmlformats.org/officeDocument/2006/relationships" id="2147483653" r:id="R57279c902cab4ece"/>
    <p:sldLayoutId xmlns:r="http://schemas.openxmlformats.org/officeDocument/2006/relationships" id="2147483654" r:id="Rb77e4e07f5bf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4d602725d2d4dab" Type="http://schemas.openxmlformats.org/officeDocument/2006/relationships/hyperlink" Target="https://www.masfoundations.org/" TargetMode="External"/><Relationship Id="R094d01331cd34289" Type="http://schemas.openxmlformats.org/officeDocument/2006/relationships/image" Target="../media/image.png"/><Relationship Id="R6838b8375d124acf" Type="http://schemas.openxmlformats.org/officeDocument/2006/relationships/slideLayout" Target="../slideLayouts/slideLayout6.xml"/><Relationship Id="R7210d41507bf40e1" Type="http://schemas.openxmlformats.org/officeDocument/2006/relationships/hyperlink" Target="../resources/framework_comparison.md" TargetMode="External"/><Relationship Id="R84bcef4e01fc4cf8" Type="http://schemas.openxmlformats.org/officeDocument/2006/relationships/notesSlide" Target="../notesSlides/notesSlide1.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2.xml.rels><?xml version='1.0' encoding='UTF-8' standalone='yes'?>
<Relationships xmlns="http://schemas.openxmlformats.org/package/2006/relationships"><Relationship Id="R785bf7303dbf4cc8" Type="http://schemas.openxmlformats.org/officeDocument/2006/relationships/image" Target="../media/image2.png"/><Relationship Id="R7c1ed764954d4c49" Type="http://schemas.openxmlformats.org/officeDocument/2006/relationships/hyperlink" Target="https://arxiv.org/abs/1706.02275" TargetMode="External"/><Relationship Id="Rad306a01d6ba492d" Type="http://schemas.openxmlformats.org/officeDocument/2006/relationships/notesSlide" Target="../notesSlides/notesSlide2.xml"/><Relationship Id="Rb59107067e5b4a6b" Type="http://schemas.openxmlformats.org/officeDocument/2006/relationships/hyperlink" Target="https://www.masfoundations.org/" TargetMode="External"/><Relationship Id="Rc47e2fd393a543e7" Type="http://schemas.openxmlformats.org/officeDocument/2006/relationships/slideLayout" Target="../slideLayouts/slideLayout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3.xml.rels><?xml version='1.0' encoding='UTF-8' standalone='yes'?>
<Relationships xmlns="http://schemas.openxmlformats.org/package/2006/relationships"><Relationship Id="R2940ccfad6484dc3" Type="http://schemas.openxmlformats.org/officeDocument/2006/relationships/hyperlink" Target="https://www.ibm.com/think/topics/multiagent-system" TargetMode="External"/><Relationship Id="R2e4a028f98824931" Type="http://schemas.openxmlformats.org/officeDocument/2006/relationships/image" Target="../media/image3.png"/><Relationship Id="R4bb6722f70d14360" Type="http://schemas.openxmlformats.org/officeDocument/2006/relationships/slideLayout" Target="../slideLayouts/slideLayout6.xml"/><Relationship Id="Re610a8852c7a455f" Type="http://schemas.openxmlformats.org/officeDocument/2006/relationships/notesSlide" Target="../notesSlides/notesSlide3.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4.xml.rels><?xml version='1.0' encoding='UTF-8' standalone='yes'?>
<Relationships xmlns="http://schemas.openxmlformats.org/package/2006/relationships"><Relationship Id="R214ad7554cb24d0e" Type="http://schemas.openxmlformats.org/officeDocument/2006/relationships/hyperlink" Target="../assignments/workshop_simulations.md#simulation-1-automating-a-procurement-recommendation" TargetMode="External"/><Relationship Id="R968d2d08a9fe4519" Type="http://schemas.openxmlformats.org/officeDocument/2006/relationships/slideLayout" Target="../slideLayouts/slideLayout6.xml"/><Relationship Id="Rc63c8e5cd525404b" Type="http://schemas.openxmlformats.org/officeDocument/2006/relationships/image" Target="../media/image4.png"/><Relationship Id="Rf9b105fdfeb94c01" Type="http://schemas.openxmlformats.org/officeDocument/2006/relationships/notesSlide" Target="../notesSlides/notesSlide4.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5.xml.rels><?xml version='1.0' encoding='UTF-8' standalone='yes'?>
<Relationships xmlns="http://schemas.openxmlformats.org/package/2006/relationships"><Relationship Id="R28b2c6aea8464ce1" Type="http://schemas.openxmlformats.org/officeDocument/2006/relationships/hyperlink" Target="../assignments/workshop_simulations.md#simulation-2-enhancing-an-hr-virtual-assistant-with-rag" TargetMode="External"/><Relationship Id="R53745fdf2f094d29" Type="http://schemas.openxmlformats.org/officeDocument/2006/relationships/hyperlink" Target="https://arxiv.org/abs/2005.11401" TargetMode="External"/><Relationship Id="R54b1e3e7c5dc4876" Type="http://schemas.openxmlformats.org/officeDocument/2006/relationships/slideLayout" Target="../slideLayouts/slideLayout6.xml"/><Relationship Id="R627985b9bce94bd8" Type="http://schemas.openxmlformats.org/officeDocument/2006/relationships/notesSlide" Target="../notesSlides/notesSlide5.xml"/><Relationship Id="R97d9d9355d094f0e" Type="http://schemas.openxmlformats.org/officeDocument/2006/relationships/image" Target="../media/image5.png"/><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6.xml.rels><?xml version='1.0' encoding='UTF-8' standalone='yes'?>
<Relationships xmlns="http://schemas.openxmlformats.org/package/2006/relationships"><Relationship Id="R0d98679dce484366" Type="http://schemas.openxmlformats.org/officeDocument/2006/relationships/hyperlink" Target="../SETUP.md" TargetMode="External"/><Relationship Id="R13fd18f7e6b640cd" Type="http://schemas.openxmlformats.org/officeDocument/2006/relationships/hyperlink" Target="../notebooks/notebook_manifest.yml" TargetMode="External"/><Relationship Id="R5df0e4213ece4c9e" Type="http://schemas.openxmlformats.org/officeDocument/2006/relationships/slideLayout" Target="../slideLayouts/slideLayout6.xml"/><Relationship Id="R76715ada87c44fc6" Type="http://schemas.openxmlformats.org/officeDocument/2006/relationships/image" Target="../media/image6.png"/><Relationship Id="Rc9402b5389de4218" Type="http://schemas.openxmlformats.org/officeDocument/2006/relationships/notesSlide" Target="../notesSlides/notesSlide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 Type="http://schemas.openxmlformats.org/officeDocument/2006/relationships/hyperlink" Target="../SETUP.md" TargetMode="External" Id="rIdLearnerNav3"/><Relationship Type="http://schemas.openxmlformats.org/officeDocument/2006/relationships/hyperlink" Target="../notebooks/00_sandbox_preflight.ipynb" TargetMode="External" Id="rIdLearnerNav4"/><Relationship Type="http://schemas.openxmlformats.org/officeDocument/2006/relationships/slide" Target="slide7.xml" Id="rIdLearnerNav5"/><Relationship Type="http://schemas.openxmlformats.org/officeDocument/2006/relationships/slide" Target="slide8.xml" Id="rIdLearnerNav6"/><Relationship Type="http://schemas.openxmlformats.org/officeDocument/2006/relationships/slide" Target="slide9.xml" Id="rIdLearnerNav7"/><Relationship Type="http://schemas.openxmlformats.org/officeDocument/2006/relationships/slide" Target="slide11.xml" Id="rIdLearnerNav8"/></Relationships>
</file>

<file path=ppt/slides/_rels/slide7.xml.rels><?xml version='1.0' encoding='UTF-8' standalone='yes'?>
<Relationships xmlns="http://schemas.openxmlformats.org/package/2006/relationships"><Relationship Id="R44cd3e6b834b4ea8" Type="http://schemas.openxmlformats.org/officeDocument/2006/relationships/image" Target="../media/image7.png"/><Relationship Id="R45d726f567674fea" Type="http://schemas.openxmlformats.org/officeDocument/2006/relationships/hyperlink" Target="../notebooks/01_lab_pydantic_contracts.ipynb" TargetMode="External"/><Relationship Id="R831a8646943d4cb8" Type="http://schemas.openxmlformats.org/officeDocument/2006/relationships/slideLayout" Target="../slideLayouts/slideLayout6.xml"/><Relationship Id="Rce323d88bd044992" Type="http://schemas.openxmlformats.org/officeDocument/2006/relationships/hyperlink" Target="https://docs.pydantic.dev/latest/concepts/fields/" TargetMode="External"/><Relationship Id="Rd82ead0e71914cb9" Type="http://schemas.openxmlformats.org/officeDocument/2006/relationships/notesSlide" Target="../notesSlides/notesSlide7.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8.xml.rels><?xml version='1.0' encoding='UTF-8' standalone='yes'?>
<Relationships xmlns="http://schemas.openxmlformats.org/package/2006/relationships"><Relationship Id="R1e7dce9d06ef4123" Type="http://schemas.openxmlformats.org/officeDocument/2006/relationships/notesSlide" Target="../notesSlides/notesSlide8.xml"/><Relationship Id="R236f5383d4744103" Type="http://schemas.openxmlformats.org/officeDocument/2006/relationships/hyperlink" Target="https://docs.crewai.com/en/concepts/tasks" TargetMode="External"/><Relationship Id="R3a7ebf3ba0e14e0e" Type="http://schemas.openxmlformats.org/officeDocument/2006/relationships/image" Target="../media/image8.png"/><Relationship Id="R7c914d3fbf814162" Type="http://schemas.openxmlformats.org/officeDocument/2006/relationships/hyperlink" Target="https://aclanthology.org/2023.emnlp-main.13/" TargetMode="External"/><Relationship Id="R83a8b34c156a45c6" Type="http://schemas.openxmlformats.org/officeDocument/2006/relationships/slideLayout" Target="../slideLayouts/slideLayout6.xml"/><Relationship Id="Re9958b2042ca4055" Type="http://schemas.openxmlformats.org/officeDocument/2006/relationships/hyperlink" Target="../notebooks/02_lab_crewai_team_handoff.ipynb"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9.xml.rels><?xml version='1.0' encoding='UTF-8' standalone='yes'?>
<Relationships xmlns="http://schemas.openxmlformats.org/package/2006/relationships"><Relationship Id="R0e774adf3c034c20" Type="http://schemas.openxmlformats.org/officeDocument/2006/relationships/notesSlide" Target="../notesSlides/notesSlide9.xml"/><Relationship Id="R1852703a3a864c20" Type="http://schemas.openxmlformats.org/officeDocument/2006/relationships/hyperlink" Target="https://modelcontextprotocol.io/specification" TargetMode="External"/><Relationship Id="R1edb4c1b5bc44363" Type="http://schemas.openxmlformats.org/officeDocument/2006/relationships/hyperlink" Target="https://papers.nips.cc/paper_files/paper/2023/hash/1b44b878bb782e6954cd888628510e90-Abstract-Conference.html" TargetMode="External"/><Relationship Id="R52ca31b0c51b4c87" Type="http://schemas.openxmlformats.org/officeDocument/2006/relationships/slideLayout" Target="../slideLayouts/slideLayout6.xml"/><Relationship Id="R9a69bcb847ec457f" Type="http://schemas.openxmlformats.org/officeDocument/2006/relationships/hyperlink" Target="../notebooks/03_lab_tool_gates_bounded_repair.ipynb" TargetMode="External"/><Relationship Id="Rfb60823dcb814a58" Type="http://schemas.openxmlformats.org/officeDocument/2006/relationships/image" Target="../media/image9.png"/><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10.xml.rels><?xml version='1.0' encoding='UTF-8' standalone='yes'?>
<Relationships xmlns="http://schemas.openxmlformats.org/package/2006/relationships"><Relationship Id="R0cac82375e3147b6" Type="http://schemas.openxmlformats.org/officeDocument/2006/relationships/image" Target="../media/image10.png"/><Relationship Id="R9fcb2e6cd2374447" Type="http://schemas.openxmlformats.org/officeDocument/2006/relationships/slideLayout" Target="../slideLayouts/slideLayout6.xml"/><Relationship Id="Ra66a0195f6594a75" Type="http://schemas.openxmlformats.org/officeDocument/2006/relationships/hyperlink" Target="../resources/framework_comparison.md#four-core-frameworks" TargetMode="External"/><Relationship Id="Reb708116b9ad432d" Type="http://schemas.openxmlformats.org/officeDocument/2006/relationships/notesSlide" Target="../notesSlides/notesSlide10.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11.xml.rels><?xml version='1.0' encoding='UTF-8' standalone='yes'?>
<Relationships xmlns="http://schemas.openxmlformats.org/package/2006/relationships"><Relationship Id="R3f844ea0aff542bf" Type="http://schemas.openxmlformats.org/officeDocument/2006/relationships/slideLayout" Target="../slideLayouts/slideLayout6.xml"/><Relationship Id="R652e0dc8223b4564" Type="http://schemas.openxmlformats.org/officeDocument/2006/relationships/image" Target="../media/image11.png"/><Relationship Id="R741dec5c8a164ee1" Type="http://schemas.openxmlformats.org/officeDocument/2006/relationships/hyperlink" Target="https://docs.crewai.com/en/concepts/tasks" TargetMode="External"/><Relationship Id="Ra2eebcd9aff744c7" Type="http://schemas.openxmlformats.org/officeDocument/2006/relationships/hyperlink" Target="../assignments/ex5_capstone_virtual_software_company.md" TargetMode="External"/><Relationship Id="Re6fe146aa59c4542" Type="http://schemas.openxmlformats.org/officeDocument/2006/relationships/notesSlide" Target="../notesSlides/notesSlide11.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12.xml.rels><?xml version='1.0' encoding='UTF-8' standalone='yes'?>
<Relationships xmlns="http://schemas.openxmlformats.org/package/2006/relationships"><Relationship Id="R007c462417d84362" Type="http://schemas.openxmlformats.org/officeDocument/2006/relationships/notesSlide" Target="../notesSlides/notesSlide12.xml"/><Relationship Id="R12eb9b05d8414653" Type="http://schemas.openxmlformats.org/officeDocument/2006/relationships/image" Target="../media/image12.png"/><Relationship Id="R97e277c8a42a4140" Type="http://schemas.openxmlformats.org/officeDocument/2006/relationships/slideLayout" Target="../slideLayouts/slideLayout6.xml"/><Relationship Id="Red7eefe8735a4ac7" Type="http://schemas.openxmlformats.org/officeDocument/2006/relationships/hyperlink" Target="../PLAYBOOK.md#assessment-and-gradebook"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13.xml.rels><?xml version='1.0' encoding='UTF-8' standalone='yes'?>
<Relationships xmlns="http://schemas.openxmlformats.org/package/2006/relationships"><Relationship Id="R7b0d5fcfc3114f56" Type="http://schemas.openxmlformats.org/officeDocument/2006/relationships/image" Target="../media/image13.png"/><Relationship Id="R7d1bc4906fc745fa" Type="http://schemas.openxmlformats.org/officeDocument/2006/relationships/notesSlide" Target="../notesSlides/notesSlide13.xml"/><Relationship Id="R9359cefaccbe4682" Type="http://schemas.openxmlformats.org/officeDocument/2006/relationships/hyperlink" Target="../resources/framework_comparison.md#broader-ecosystem" TargetMode="External"/><Relationship Id="Rbde9fff1012b4eab" Type="http://schemas.openxmlformats.org/officeDocument/2006/relationships/hyperlink" Target="../resources/framework_comparison.md" TargetMode="External"/><Relationship Id="Rcbb14e7cbeb94d10" Type="http://schemas.openxmlformats.org/officeDocument/2006/relationships/slideLayout" Target="../slideLayouts/slideLayout6.xm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_rels/slide14.xml.rels><?xml version='1.0' encoding='UTF-8' standalone='yes'?>
<Relationships xmlns="http://schemas.openxmlformats.org/package/2006/relationships"><Relationship Id="R1a40c3b7dd6c4a2d" Type="http://schemas.openxmlformats.org/officeDocument/2006/relationships/slideLayout" Target="../slideLayouts/slideLayout6.xml"/><Relationship Id="R1fb26b8317c74ef2" Type="http://schemas.openxmlformats.org/officeDocument/2006/relationships/hyperlink" Target="../README.md" TargetMode="External"/><Relationship Id="R2254e3c4221141a3" Type="http://schemas.openxmlformats.org/officeDocument/2006/relationships/hyperlink" Target="../assignments/ex5_capstone_virtual_software_company.md" TargetMode="External"/><Relationship Id="R4a3ea162277b44c7" Type="http://schemas.openxmlformats.org/officeDocument/2006/relationships/hyperlink" Target="../README.md" TargetMode="External"/><Relationship Id="R9c131e1abdfe4cdc" Type="http://schemas.openxmlformats.org/officeDocument/2006/relationships/image" Target="../media/image14.png"/><Relationship Id="Rcc2410b58eb44bb4" Type="http://schemas.openxmlformats.org/officeDocument/2006/relationships/notesSlide" Target="../notesSlides/notesSlide14.xml"/><Relationship Id="Rf28e9e20c1c74b2b" Type="http://schemas.openxmlformats.org/officeDocument/2006/relationships/hyperlink" Target="../resources/curated_resource_library.md" TargetMode="External"/><Relationship Type="http://schemas.openxmlformats.org/officeDocument/2006/relationships/hyperlink" Target="../README.md#main-deck-slide-index" TargetMode="External" Id="rIdLearnerNav1"/><Relationship Type="http://schemas.openxmlformats.org/officeDocument/2006/relationships/slide" Target="slide6.xml" Id="rIdLearnerNav2"/></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1600FA3-7EC5-49C6-BB3C-9E71AF3B0525}"/>
              </a:ext>
            </a:extLst>
          </p:cNvPr>
          <p:cNvPicPr>
            <a:picLocks xmlns:a="http://schemas.openxmlformats.org/drawingml/2006/main" noChangeAspect="1"/>
          </p:cNvPicPr>
          <p:nvPr/>
        </p:nvPicPr>
        <p:blipFill>
          <a:blip xmlns:r="http://schemas.openxmlformats.org/officeDocument/2006/relationships" xmlns:a="http://schemas.openxmlformats.org/drawingml/2006/main" r:embed="R094d01331cd3428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92591B23-6DDD-4EAD-AC23-169203FBDE8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AAF1D9-238D-4FF0-90AB-28617E4E980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A07FF38-EEEF-451D-97CB-8D51C1E25454}"/>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The Vibe Coding Trap: From Hope to Governance</a:t>
            </a:r>
          </a:p>
        </p:txBody>
      </p:sp>
      <p:sp>
        <p:nvSpPr>
          <p:cNvPr id="5" name="footer-course">
            <a:extLst xmlns:a="http://schemas.openxmlformats.org/drawingml/2006/main">
              <a:ext uri="{FF2B5EF4-FFF2-40B4-BE49-F238E27FC236}">
                <a16:creationId xmlns:a16="http://schemas.microsoft.com/office/drawing/2014/main" id="{58D13DB4-C815-42E2-922A-F4C99D6FFD1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01360C82-874C-432A-8D54-0E92B23CD0D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01</a:t>
            </a:r>
          </a:p>
        </p:txBody>
      </p:sp>
      <p:sp>
        <p:nvSpPr>
          <p:cNvPr id="7" name="definition">
            <a:extLst xmlns:a="http://schemas.openxmlformats.org/drawingml/2006/main">
              <a:ext uri="{FF2B5EF4-FFF2-40B4-BE49-F238E27FC236}">
                <a16:creationId xmlns:a16="http://schemas.microsoft.com/office/drawing/2014/main" id="{C07BF04F-6E29-4316-B3DA-4D2E348BF00E}"/>
              </a:ext>
            </a:extLst>
          </p:cNvPr>
          <p:cNvSpPr>
            <a:spLocks xmlns:a="http://schemas.openxmlformats.org/drawingml/2006/main" noGrp="1"/>
          </p:cNvSpPr>
          <p:nvPr/>
        </p:nvSpPr>
        <p:spPr>
          <a:xfrm xmlns:a="http://schemas.openxmlformats.org/drawingml/2006/main">
            <a:off x="533400" y="18097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400" b="1">
                <a:solidFill>
                  <a:srgbClr val="123D5A"/>
                </a:solidFill>
                <a:latin typeface="Arial"/>
                <a:ea typeface="Arial"/>
                <a:cs typeface="Arial"/>
              </a:defRPr>
            </a:defPPr>
          </a:lstStyle>
          <a:p xmlns:a="http://schemas.openxmlformats.org/drawingml/2006/main">
            <a:pPr algn="l">
              <a:buNone/>
              <a:defRPr sz="2400" b="1">
                <a:solidFill>
                  <a:srgbClr val="123D5A"/>
                </a:solidFill>
                <a:latin typeface="Arial"/>
                <a:ea typeface="Arial"/>
                <a:cs typeface="Arial"/>
              </a:defRPr>
            </a:pPr>
            <a:r>
              <a:rPr sz="2300" b="1">
                <a:solidFill>
                  <a:srgbClr val="123D5A"/>
                </a:solidFill>
                <a:latin typeface="Arial"/>
                <a:ea typeface="Arial"/>
                <a:cs typeface="Arial"/>
              </a:rPr>
              <a:t>Multiagent workflows amplify loose handoffs, forgotten rules, runaway retries, and excessive tool access.</a:t>
            </a:r>
          </a:p>
        </p:txBody>
      </p:sp>
      <p:sp>
        <p:nvSpPr>
          <p:cNvPr id="8" name="context">
            <a:extLst xmlns:a="http://schemas.openxmlformats.org/drawingml/2006/main">
              <a:ext uri="{FF2B5EF4-FFF2-40B4-BE49-F238E27FC236}">
                <a16:creationId xmlns:a16="http://schemas.microsoft.com/office/drawing/2014/main" id="{2CB54DB7-2AEF-4174-B201-0DA4BF28C6C2}"/>
              </a:ext>
            </a:extLst>
          </p:cNvPr>
          <p:cNvSpPr>
            <a:spLocks xmlns:a="http://schemas.openxmlformats.org/drawingml/2006/main" noGrp="1"/>
          </p:cNvSpPr>
          <p:nvPr/>
        </p:nvSpPr>
        <p:spPr>
          <a:xfrm xmlns:a="http://schemas.openxmlformats.org/drawingml/2006/main">
            <a:off x="533400" y="2761488"/>
            <a:ext cx="111252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Before vs. after: the Governance Shell makes each boundary inspectable.</a:t>
            </a:r>
          </a:p>
        </p:txBody>
      </p:sp>
      <p:sp>
        <p:nvSpPr>
          <p:cNvPr id="22" name="framework-literacy-objective">
            <a:extLst xmlns:a="http://schemas.openxmlformats.org/drawingml/2006/main">
              <a:ext uri="{FF2B5EF4-FFF2-40B4-BE49-F238E27FC236}">
                <a16:creationId xmlns:a16="http://schemas.microsoft.com/office/drawing/2014/main" id="{2C117652-C6BD-4C5B-9A94-8E6170AF0050}"/>
              </a:ext>
            </a:extLst>
          </p:cNvPr>
          <p:cNvSpPr>
            <a:spLocks xmlns:a="http://schemas.openxmlformats.org/drawingml/2006/main" noGrp="1"/>
          </p:cNvSpPr>
          <p:nvPr/>
        </p:nvSpPr>
        <p:spPr>
          <a:xfrm xmlns:a="http://schemas.openxmlformats.org/drawingml/2006/main">
            <a:off x="533400" y="5797296"/>
            <a:ext cx="111252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575" b="0">
                <a:solidFill>
                  <a:srgbClr val="183D50"/>
                </a:solidFill>
                <a:latin typeface="Arial"/>
                <a:ea typeface="Arial"/>
                <a:cs typeface="Arial"/>
              </a:defRPr>
            </a:defPPr>
          </a:lstStyle>
          <a:p xmlns:a="http://schemas.openxmlformats.org/drawingml/2006/main">
            <a:pPr algn="l">
              <a:buNone/>
              <a:defRPr sz="1575" b="0">
                <a:solidFill>
                  <a:srgbClr val="183D50"/>
                </a:solidFill>
                <a:latin typeface="Arial"/>
                <a:ea typeface="Arial"/>
                <a:cs typeface="Arial"/>
              </a:defRPr>
            </a:pPr>
            <a:r>
              <a:rPr sz="1575" b="1">
                <a:solidFill>
                  <a:srgbClr val="007DBA"/>
                </a:solidFill>
                <a:latin typeface="Arial"/>
                <a:ea typeface="Arial"/>
                <a:cs typeface="Arial"/>
              </a:rPr>
              <a:t>Warm-up: Which control would you require before using an agent in your workflow?</a:t>
            </a:r>
          </a:p>
        </p:txBody>
      </p:sp>
      <p:sp>
        <p:nvSpPr>
          <p:cNvPr id="23" name="footer-reference">
            <a:extLst xmlns:a="http://schemas.openxmlformats.org/drawingml/2006/main">
              <a:ext uri="{FF2B5EF4-FFF2-40B4-BE49-F238E27FC236}">
                <a16:creationId xmlns:a16="http://schemas.microsoft.com/office/drawing/2014/main" id="{692C725E-FABA-4778-8AD9-CF18623F77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4d602725d2d4da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210d41507bf40e1"/>
              </a:rPr>
              <a:t>framework comparison</a:t>
            </a:r>
          </a:p>
        </p:txBody>
      </p:sp>
      <p:graphicFrame xmlns:a="http://schemas.openxmlformats.org/drawingml/2006/main">
        <p:nvGraphicFramePr>
          <p:cNvPr id="24" name="Table 23"/>
          <p:cNvGraphicFramePr>
            <a:graphicFrameLocks noGrp="1"/>
          </p:cNvGraphicFramePr>
          <p:nvPr/>
        </p:nvGraphicFramePr>
        <p:xfrm>
          <a:off x="530352" y="3136392"/>
          <a:ext cx="11128248" cy="2487165"/>
        </p:xfrm>
        <a:graphic>
          <a:graphicData uri="http://schemas.openxmlformats.org/drawingml/2006/table">
            <a:tbl>
              <a:tblPr firstRow="1" bandRow="1">
                <a:tableStyleId>{5C22544A-7EE6-4342-B048-85BDC9FD1C3A}</a:tableStyleId>
              </a:tblPr>
              <a:tblGrid>
                <a:gridCol w="1572768"/>
                <a:gridCol w="4343400"/>
                <a:gridCol w="5212080"/>
              </a:tblGrid>
              <a:tr h="411480">
                <a:tc>
                  <a:txBody>
                    <a:bodyPr/>
                    <a:lstStyle/>
                    <a:p>
                      <a:r>
                        <a:rPr sz="1500" b="1">
                          <a:solidFill>
                            <a:srgbClr val="FFFFFF"/>
                          </a:solidFill>
                          <a:latin typeface="Arial"/>
                        </a:rPr>
                        <a:t>Metric</a:t>
                      </a:r>
                    </a:p>
                  </a:txBody>
                  <a:tcPr marL="91440" marR="91440" marT="36576" marB="36576" anchor="ctr">
                    <a:solidFill>
                      <a:srgbClr val="007AB5"/>
                    </a:solidFill>
                  </a:tcPr>
                </a:tc>
                <a:tc>
                  <a:txBody>
                    <a:bodyPr/>
                    <a:lstStyle/>
                    <a:p>
                      <a:r>
                        <a:rPr sz="1500" b="1">
                          <a:solidFill>
                            <a:srgbClr val="FFFFFF"/>
                          </a:solidFill>
                          <a:latin typeface="Arial"/>
                        </a:rPr>
                        <a:t>Vibe coding</a:t>
                      </a:r>
                    </a:p>
                  </a:txBody>
                  <a:tcPr marL="91440" marR="91440" marT="36576" marB="36576" anchor="ctr">
                    <a:solidFill>
                      <a:srgbClr val="007AB5"/>
                    </a:solidFill>
                  </a:tcPr>
                </a:tc>
                <a:tc>
                  <a:txBody>
                    <a:bodyPr/>
                    <a:lstStyle/>
                    <a:p>
                      <a:r>
                        <a:rPr sz="1500" b="1">
                          <a:solidFill>
                            <a:srgbClr val="FFFFFF"/>
                          </a:solidFill>
                          <a:latin typeface="Arial"/>
                        </a:rPr>
                        <a:t>Governed engineering</a:t>
                      </a:r>
                    </a:p>
                  </a:txBody>
                  <a:tcPr marL="91440" marR="91440" marT="36576" marB="36576" anchor="ctr">
                    <a:solidFill>
                      <a:srgbClr val="007AB5"/>
                    </a:solidFill>
                  </a:tcPr>
                </a:tc>
              </a:tr>
              <a:tr h="415137">
                <a:tc>
                  <a:txBody>
                    <a:bodyPr/>
                    <a:lstStyle/>
                    <a:p>
                      <a:r>
                        <a:rPr sz="1400" b="1">
                          <a:solidFill>
                            <a:srgbClr val="183D50"/>
                          </a:solidFill>
                          <a:latin typeface="Arial"/>
                        </a:rPr>
                        <a:t>Communication</a:t>
                      </a:r>
                    </a:p>
                  </a:txBody>
                  <a:tcPr marL="91440" marR="91440" marT="36576" marB="36576" anchor="ctr">
                    <a:solidFill>
                      <a:srgbClr val="E8F4F9"/>
                    </a:solidFill>
                  </a:tcPr>
                </a:tc>
                <a:tc>
                  <a:txBody>
                    <a:bodyPr/>
                    <a:lstStyle/>
                    <a:p>
                      <a:r>
                        <a:rPr sz="1400" b="0">
                          <a:solidFill>
                            <a:srgbClr val="183D50"/>
                          </a:solidFill>
                          <a:latin typeface="Arial"/>
                        </a:rPr>
                        <a:t>Loose, unstructured prompts</a:t>
                      </a:r>
                    </a:p>
                  </a:txBody>
                  <a:tcPr marL="91440" marR="91440" marT="36576" marB="36576" anchor="ctr">
                    <a:solidFill>
                      <a:srgbClr val="E8F4F9"/>
                    </a:solidFill>
                  </a:tcPr>
                </a:tc>
                <a:tc>
                  <a:txBody>
                    <a:bodyPr/>
                    <a:lstStyle/>
                    <a:p>
                      <a:r>
                        <a:rPr sz="1400" b="0">
                          <a:solidFill>
                            <a:srgbClr val="183D50"/>
                          </a:solidFill>
                          <a:latin typeface="Arial"/>
                        </a:rPr>
                        <a:t>Typed Pydantic handoffs</a:t>
                      </a:r>
                    </a:p>
                  </a:txBody>
                  <a:tcPr marL="91440" marR="91440" marT="36576" marB="36576" anchor="ctr">
                    <a:solidFill>
                      <a:srgbClr val="E8F4F9"/>
                    </a:solidFill>
                  </a:tcPr>
                </a:tc>
              </a:tr>
              <a:tr h="415137">
                <a:tc>
                  <a:txBody>
                    <a:bodyPr/>
                    <a:lstStyle/>
                    <a:p>
                      <a:r>
                        <a:rPr sz="1400" b="1">
                          <a:solidFill>
                            <a:srgbClr val="183D50"/>
                          </a:solidFill>
                          <a:latin typeface="Arial"/>
                        </a:rPr>
                        <a:t>Memory</a:t>
                      </a:r>
                    </a:p>
                  </a:txBody>
                  <a:tcPr marL="91440" marR="91440" marT="36576" marB="36576" anchor="ctr">
                    <a:solidFill>
                      <a:srgbClr val="FFFFFF"/>
                    </a:solidFill>
                  </a:tcPr>
                </a:tc>
                <a:tc>
                  <a:txBody>
                    <a:bodyPr/>
                    <a:lstStyle/>
                    <a:p>
                      <a:r>
                        <a:rPr sz="1400" b="0">
                          <a:solidFill>
                            <a:srgbClr val="183D50"/>
                          </a:solidFill>
                          <a:latin typeface="Arial"/>
                        </a:rPr>
                        <a:t>Rules drift as context grows</a:t>
                      </a:r>
                    </a:p>
                  </a:txBody>
                  <a:tcPr marL="91440" marR="91440" marT="36576" marB="36576" anchor="ctr">
                    <a:solidFill>
                      <a:srgbClr val="FFFFFF"/>
                    </a:solidFill>
                  </a:tcPr>
                </a:tc>
                <a:tc>
                  <a:txBody>
                    <a:bodyPr/>
                    <a:lstStyle/>
                    <a:p>
                      <a:r>
                        <a:rPr sz="1400" b="0">
                          <a:solidFill>
                            <a:srgbClr val="183D50"/>
                          </a:solidFill>
                          <a:latin typeface="Arial"/>
                        </a:rPr>
                        <a:t>TeamLog passes explicit decisions</a:t>
                      </a:r>
                    </a:p>
                  </a:txBody>
                  <a:tcPr marL="91440" marR="91440" marT="36576" marB="36576" anchor="ctr">
                    <a:solidFill>
                      <a:srgbClr val="FFFFFF"/>
                    </a:solidFill>
                  </a:tcPr>
                </a:tc>
              </a:tr>
              <a:tr h="415137">
                <a:tc>
                  <a:txBody>
                    <a:bodyPr/>
                    <a:lstStyle/>
                    <a:p>
                      <a:r>
                        <a:rPr sz="1400" b="1">
                          <a:solidFill>
                            <a:srgbClr val="183D50"/>
                          </a:solidFill>
                          <a:latin typeface="Arial"/>
                        </a:rPr>
                        <a:t>Security</a:t>
                      </a:r>
                    </a:p>
                  </a:txBody>
                  <a:tcPr marL="91440" marR="91440" marT="36576" marB="36576" anchor="ctr">
                    <a:solidFill>
                      <a:srgbClr val="E8F4F9"/>
                    </a:solidFill>
                  </a:tcPr>
                </a:tc>
                <a:tc>
                  <a:txBody>
                    <a:bodyPr/>
                    <a:lstStyle/>
                    <a:p>
                      <a:r>
                        <a:rPr sz="1400" b="0">
                          <a:solidFill>
                            <a:srgbClr val="183D50"/>
                          </a:solidFill>
                          <a:latin typeface="Arial"/>
                        </a:rPr>
                        <a:t>Broad, unchecked tools</a:t>
                      </a:r>
                    </a:p>
                  </a:txBody>
                  <a:tcPr marL="91440" marR="91440" marT="36576" marB="36576" anchor="ctr">
                    <a:solidFill>
                      <a:srgbClr val="E8F4F9"/>
                    </a:solidFill>
                  </a:tcPr>
                </a:tc>
                <a:tc>
                  <a:txBody>
                    <a:bodyPr/>
                    <a:lstStyle/>
                    <a:p>
                      <a:r>
                        <a:rPr sz="1400" b="0">
                          <a:solidFill>
                            <a:srgbClr val="183D50"/>
                          </a:solidFill>
                          <a:latin typeface="Arial"/>
                        </a:rPr>
                        <a:t>Input gates + scoped role tools</a:t>
                      </a:r>
                    </a:p>
                  </a:txBody>
                  <a:tcPr marL="91440" marR="91440" marT="36576" marB="36576" anchor="ctr">
                    <a:solidFill>
                      <a:srgbClr val="E8F4F9"/>
                    </a:solidFill>
                  </a:tcPr>
                </a:tc>
              </a:tr>
              <a:tr h="415137">
                <a:tc>
                  <a:txBody>
                    <a:bodyPr/>
                    <a:lstStyle/>
                    <a:p>
                      <a:r>
                        <a:rPr sz="1400" b="1">
                          <a:solidFill>
                            <a:srgbClr val="183D50"/>
                          </a:solidFill>
                          <a:latin typeface="Arial"/>
                        </a:rPr>
                        <a:t>Failure</a:t>
                      </a:r>
                    </a:p>
                  </a:txBody>
                  <a:tcPr marL="91440" marR="91440" marT="36576" marB="36576" anchor="ctr">
                    <a:solidFill>
                      <a:srgbClr val="FFFFFF"/>
                    </a:solidFill>
                  </a:tcPr>
                </a:tc>
                <a:tc>
                  <a:txBody>
                    <a:bodyPr/>
                    <a:lstStyle/>
                    <a:p>
                      <a:r>
                        <a:rPr sz="1400" b="0">
                          <a:solidFill>
                            <a:srgbClr val="183D50"/>
                          </a:solidFill>
                          <a:latin typeface="Arial"/>
                        </a:rPr>
                        <a:t>Open-ended retries</a:t>
                      </a:r>
                    </a:p>
                  </a:txBody>
                  <a:tcPr marL="91440" marR="91440" marT="36576" marB="36576" anchor="ctr">
                    <a:solidFill>
                      <a:srgbClr val="FFFFFF"/>
                    </a:solidFill>
                  </a:tcPr>
                </a:tc>
                <a:tc>
                  <a:txBody>
                    <a:bodyPr/>
                    <a:lstStyle/>
                    <a:p>
                      <a:r>
                        <a:rPr sz="1400" b="0">
                          <a:solidFill>
                            <a:srgbClr val="183D50"/>
                          </a:solidFill>
                          <a:latin typeface="Arial"/>
                        </a:rPr>
                        <a:t>Max 3 retries; record escalation</a:t>
                      </a:r>
                    </a:p>
                  </a:txBody>
                  <a:tcPr marL="91440" marR="91440" marT="36576" marB="36576" anchor="ctr">
                    <a:solidFill>
                      <a:srgbClr val="FFFFFF"/>
                    </a:solidFill>
                  </a:tcPr>
                </a:tc>
              </a:tr>
              <a:tr h="415137">
                <a:tc>
                  <a:txBody>
                    <a:bodyPr/>
                    <a:lstStyle/>
                    <a:p>
                      <a:r>
                        <a:rPr sz="1400" b="1">
                          <a:solidFill>
                            <a:srgbClr val="183D50"/>
                          </a:solidFill>
                          <a:latin typeface="Arial"/>
                        </a:rPr>
                        <a:t>Deployment</a:t>
                      </a:r>
                    </a:p>
                  </a:txBody>
                  <a:tcPr marL="91440" marR="91440" marT="36576" marB="36576" anchor="ctr">
                    <a:solidFill>
                      <a:srgbClr val="E8F4F9"/>
                    </a:solidFill>
                  </a:tcPr>
                </a:tc>
                <a:tc>
                  <a:txBody>
                    <a:bodyPr/>
                    <a:lstStyle/>
                    <a:p>
                      <a:r>
                        <a:rPr sz="1400" b="0">
                          <a:solidFill>
                            <a:srgbClr val="183D50"/>
                          </a:solidFill>
                          <a:latin typeface="Arial"/>
                        </a:rPr>
                        <a:t>“It worked once”</a:t>
                      </a:r>
                    </a:p>
                  </a:txBody>
                  <a:tcPr marL="91440" marR="91440" marT="36576" marB="36576" anchor="ctr">
                    <a:solidFill>
                      <a:srgbClr val="E8F4F9"/>
                    </a:solidFill>
                  </a:tcPr>
                </a:tc>
                <a:tc>
                  <a:txBody>
                    <a:bodyPr/>
                    <a:lstStyle/>
                    <a:p>
                      <a:r>
                        <a:rPr sz="1400" b="0">
                          <a:solidFill>
                            <a:srgbClr val="183D50"/>
                          </a:solidFill>
                          <a:latin typeface="Arial"/>
                        </a:rPr>
                        <a:t>Tests cover fixtures; production still needs review</a:t>
                      </a:r>
                    </a:p>
                  </a:txBody>
                  <a:tcPr marL="91440" marR="91440" marT="36576" marB="36576" anchor="ctr">
                    <a:solidFill>
                      <a:srgbClr val="E8F4F9"/>
                    </a:solidFill>
                  </a:tcPr>
                </a:tc>
              </a:tr>
            </a:tbl>
          </a:graphicData>
        </a:graphic>
      </p:graphicFrame>
    </p:spTree>
    <p:extLst>
      <p:ext uri="{BB962C8B-B14F-4D97-AF65-F5344CB8AC3E}">
        <p14:creationId xmlns:p14="http://schemas.microsoft.com/office/powerpoint/2010/main" val="2806307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DD4353-4D38-4847-892C-986B91B3FFC9}"/>
              </a:ext>
            </a:extLst>
          </p:cNvPr>
          <p:cNvPicPr>
            <a:picLocks xmlns:a="http://schemas.openxmlformats.org/drawingml/2006/main" noChangeAspect="1"/>
          </p:cNvPicPr>
          <p:nvPr/>
        </p:nvPicPr>
        <p:blipFill>
          <a:blip xmlns:r="http://schemas.openxmlformats.org/officeDocument/2006/relationships" xmlns:a="http://schemas.openxmlformats.org/drawingml/2006/main" r:embed="R785bf7303dbf4cc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83DF06C-F18F-41F3-A37D-DCC37431C81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CE7DF47A-61C9-4AA5-B245-100489DBA2CB}"/>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01E6D91-A608-4CF4-B231-C306B820ED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Types of Multiagent Systems</a:t>
            </a:r>
          </a:p>
        </p:txBody>
      </p:sp>
      <p:sp>
        <p:nvSpPr>
          <p:cNvPr id="5" name="footer-course">
            <a:extLst xmlns:a="http://schemas.openxmlformats.org/drawingml/2006/main">
              <a:ext uri="{FF2B5EF4-FFF2-40B4-BE49-F238E27FC236}">
                <a16:creationId xmlns:a16="http://schemas.microsoft.com/office/drawing/2014/main" id="{52D3B4AB-36C6-48C0-9731-BE758109148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FBF15B01-E85B-494B-9775-F41B5F7C6A61}"/>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02</a:t>
            </a:r>
          </a:p>
        </p:txBody>
      </p:sp>
      <p:graphicFrame>
        <p:nvGraphicFramePr>
          <p:cNvPr id="7" name="">
            <a:extLst xmlns:a="http://schemas.openxmlformats.org/drawingml/2006/main">
              <a:ext uri="{FF2B5EF4-FFF2-40B4-BE49-F238E27FC236}">
                <a16:creationId xmlns:a16="http://schemas.microsoft.com/office/drawing/2014/main" id="{29C0A44F-6298-4152-9C34-04ABAD8464B6}"/>
              </a:ext>
            </a:extLst>
          </p:cNvPr>
          <p:cNvGraphicFramePr/>
          <p:nvPr/>
        </p:nvGraphicFramePr>
        <p:xfrm>
          <a:off xmlns:a="http://schemas.openxmlformats.org/drawingml/2006/main" x="533400" y="2038350"/>
          <a:ext xmlns:a="http://schemas.openxmlformats.org/drawingml/2006/main" cx="11125200" cy="3028950"/>
        </p:xfrm>
        <a:graphic xmlns:a="http://schemas.openxmlformats.org/drawingml/2006/main">
          <a:graphicData uri="http://schemas.openxmlformats.org/drawingml/2006/table">
            <a:tbl>
              <a:tblPr/>
              <a:tblGrid>
                <a:gridCol w="2047875"/>
                <a:gridCol w="3905250"/>
                <a:gridCol w="5172075"/>
              </a:tblGrid>
              <a:tr h="757238">
                <a:tc>
                  <a:txBody>
                    <a:bodyPr lIns="114300" tIns="76200" rIns="114300" bIns="76200">
                      <a:noAutofit/>
                    </a:bodyPr>
                    <a:lstStyle/>
                    <a:p>
                      <a:pPr algn="l">
                        <a:buNone/>
                      </a:pPr>
                      <a:r>
                        <a:rPr sz="1725" b="1">
                          <a:solidFill>
                            <a:srgbClr val="FFFFFF"/>
                          </a:solidFill>
                          <a:latin typeface="Arial"/>
                          <a:ea typeface="Arial"/>
                          <a:cs typeface="Arial"/>
                        </a:rPr>
                        <a:t>Dimension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Types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Example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Goals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Cooperative, competitive, mixed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Colleagues collaborate; suppliers may compete.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Coordination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Hierarchical, peer, or hybrid</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A manager delegates, or peers coordinate.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Capabilities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Homogeneous or heterogeneous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Similar agents, or specialists with different tools.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course-type">
            <a:extLst xmlns:a="http://schemas.openxmlformats.org/drawingml/2006/main">
              <a:ext uri="{FF2B5EF4-FFF2-40B4-BE49-F238E27FC236}">
                <a16:creationId xmlns:a16="http://schemas.microsoft.com/office/drawing/2014/main" id="{7D1E2F99-D923-4155-A26F-A905290C8E8E}"/>
              </a:ext>
            </a:extLst>
          </p:cNvPr>
          <p:cNvSpPr>
            <a:spLocks xmlns:a="http://schemas.openxmlformats.org/drawingml/2006/main" noGrp="1"/>
          </p:cNvSpPr>
          <p:nvPr/>
        </p:nvSpPr>
        <p:spPr>
          <a:xfrm xmlns:a="http://schemas.openxmlformats.org/drawingml/2006/main">
            <a:off x="533400" y="53911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This course models a cooperative, hierarchical team with specialized roles.</a:t>
            </a:r>
          </a:p>
        </p:txBody>
      </p:sp>
      <p:sp>
        <p:nvSpPr>
          <p:cNvPr id="9" name="types-limit">
            <a:extLst xmlns:a="http://schemas.openxmlformats.org/drawingml/2006/main">
              <a:ext uri="{FF2B5EF4-FFF2-40B4-BE49-F238E27FC236}">
                <a16:creationId xmlns:a16="http://schemas.microsoft.com/office/drawing/2014/main" id="{25BB7699-70AC-40F9-A2EE-0E67D9709CC2}"/>
              </a:ext>
            </a:extLst>
          </p:cNvPr>
          <p:cNvSpPr>
            <a:spLocks xmlns:a="http://schemas.openxmlformats.org/drawingml/2006/main" noGrp="1"/>
          </p:cNvSpPr>
          <p:nvPr/>
        </p:nvSpPr>
        <p:spPr>
          <a:xfrm xmlns:a="http://schemas.openxmlformats.org/drawingml/2006/main">
            <a:off x="533400" y="5905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rPr>
              <a:t>These dimensions can overlap. Neural mixture-of-experts layers alone do not form a multiagent system.</a:t>
            </a:r>
          </a:p>
        </p:txBody>
      </p:sp>
      <p:sp>
        <p:nvSpPr>
          <p:cNvPr id="11" name="footer-reference">
            <a:extLst xmlns:a="http://schemas.openxmlformats.org/drawingml/2006/main">
              <a:ext uri="{FF2B5EF4-FFF2-40B4-BE49-F238E27FC236}">
                <a16:creationId xmlns:a16="http://schemas.microsoft.com/office/drawing/2014/main" id="{351546F1-1F55-4DDB-94F3-422DE47DA28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b59107067e5b4a6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1ed764954d4c49"/>
              </a:rPr>
              <a:t>Lowe et al. (2017)</a:t>
            </a:r>
          </a:p>
        </p:txBody>
      </p:sp>
    </p:spTree>
    <p:extLst>
      <p:ext uri="{BB962C8B-B14F-4D97-AF65-F5344CB8AC3E}">
        <p14:creationId xmlns:p14="http://schemas.microsoft.com/office/powerpoint/2010/main" val="124194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24210A4-9E5F-4180-9249-54EA22F7FA94}"/>
              </a:ext>
            </a:extLst>
          </p:cNvPr>
          <p:cNvPicPr>
            <a:picLocks xmlns:a="http://schemas.openxmlformats.org/drawingml/2006/main" noChangeAspect="1"/>
          </p:cNvPicPr>
          <p:nvPr/>
        </p:nvPicPr>
        <p:blipFill>
          <a:blip xmlns:r="http://schemas.openxmlformats.org/officeDocument/2006/relationships" xmlns:a="http://schemas.openxmlformats.org/drawingml/2006/main" r:embed="R2e4a028f98824931"/>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81FB29FA-4735-436F-81AE-6D25B83A42A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598B6CA-CC27-45F7-8A62-5F91F48AB24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E4E30248-691F-4A81-8B8F-675936559BE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Applications of Multiagent Systems</a:t>
            </a:r>
          </a:p>
        </p:txBody>
      </p:sp>
      <p:sp>
        <p:nvSpPr>
          <p:cNvPr id="5" name="footer-course">
            <a:extLst xmlns:a="http://schemas.openxmlformats.org/drawingml/2006/main">
              <a:ext uri="{FF2B5EF4-FFF2-40B4-BE49-F238E27FC236}">
                <a16:creationId xmlns:a16="http://schemas.microsoft.com/office/drawing/2014/main" id="{B17EC605-83A7-4C8E-9982-1B74AB5F86A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FFCF7F0B-BFEE-4276-90A9-95BD4F2DB91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03</a:t>
            </a:r>
          </a:p>
        </p:txBody>
      </p:sp>
      <p:sp>
        <p:nvSpPr>
          <p:cNvPr id="7" name="application-0">
            <a:extLst xmlns:a="http://schemas.openxmlformats.org/drawingml/2006/main">
              <a:ext uri="{FF2B5EF4-FFF2-40B4-BE49-F238E27FC236}">
                <a16:creationId xmlns:a16="http://schemas.microsoft.com/office/drawing/2014/main" id="{26C1F6B5-AD2D-4106-9515-1C2AC3BB0F7E}"/>
              </a:ext>
            </a:extLst>
          </p:cNvPr>
          <p:cNvSpPr>
            <a:spLocks xmlns:a="http://schemas.openxmlformats.org/drawingml/2006/main" noGrp="1"/>
          </p:cNvSpPr>
          <p:nvPr/>
        </p:nvSpPr>
        <p:spPr>
          <a:xfrm xmlns:a="http://schemas.openxmlformats.org/drawingml/2006/main">
            <a:off x="533400" y="19716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Cross-domain integration</a:t>
            </a:r>
          </a:p>
        </p:txBody>
      </p:sp>
      <p:sp>
        <p:nvSpPr>
          <p:cNvPr id="8" name="application-detail-0">
            <a:extLst xmlns:a="http://schemas.openxmlformats.org/drawingml/2006/main">
              <a:ext uri="{FF2B5EF4-FFF2-40B4-BE49-F238E27FC236}">
                <a16:creationId xmlns:a16="http://schemas.microsoft.com/office/drawing/2014/main" id="{1F95C0D0-1A7B-4370-8A43-1BC7341DCAC7}"/>
              </a:ext>
            </a:extLst>
          </p:cNvPr>
          <p:cNvSpPr>
            <a:spLocks xmlns:a="http://schemas.openxmlformats.org/drawingml/2006/main" noGrp="1"/>
          </p:cNvSpPr>
          <p:nvPr/>
        </p:nvSpPr>
        <p:spPr>
          <a:xfrm xmlns:a="http://schemas.openxmlformats.org/drawingml/2006/main">
            <a:off x="4171950" y="19716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delivery, finance, and policy evidence.</a:t>
            </a:r>
          </a:p>
        </p:txBody>
      </p:sp>
      <p:sp>
        <p:nvSpPr>
          <p:cNvPr id="9" name="application-1">
            <a:extLst xmlns:a="http://schemas.openxmlformats.org/drawingml/2006/main">
              <a:ext uri="{FF2B5EF4-FFF2-40B4-BE49-F238E27FC236}">
                <a16:creationId xmlns:a16="http://schemas.microsoft.com/office/drawing/2014/main" id="{B5297C4E-8CBD-450B-9C20-9EF0DFF1E7E3}"/>
              </a:ext>
            </a:extLst>
          </p:cNvPr>
          <p:cNvSpPr>
            <a:spLocks xmlns:a="http://schemas.openxmlformats.org/drawingml/2006/main" noGrp="1"/>
          </p:cNvSpPr>
          <p:nvPr/>
        </p:nvSpPr>
        <p:spPr>
          <a:xfrm xmlns:a="http://schemas.openxmlformats.org/drawingml/2006/main">
            <a:off x="533400" y="27527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Repetitive task automation</a:t>
            </a:r>
          </a:p>
        </p:txBody>
      </p:sp>
      <p:sp>
        <p:nvSpPr>
          <p:cNvPr id="10" name="application-detail-1">
            <a:extLst xmlns:a="http://schemas.openxmlformats.org/drawingml/2006/main">
              <a:ext uri="{FF2B5EF4-FFF2-40B4-BE49-F238E27FC236}">
                <a16:creationId xmlns:a16="http://schemas.microsoft.com/office/drawing/2014/main" id="{9085F0D6-2477-4F40-A6EC-91D5A2D1BB66}"/>
              </a:ext>
            </a:extLst>
          </p:cNvPr>
          <p:cNvSpPr>
            <a:spLocks xmlns:a="http://schemas.openxmlformats.org/drawingml/2006/main" noGrp="1"/>
          </p:cNvSpPr>
          <p:nvPr/>
        </p:nvSpPr>
        <p:spPr>
          <a:xfrm xmlns:a="http://schemas.openxmlformats.org/drawingml/2006/main">
            <a:off x="4171950" y="27527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An HR assistant retrieves an approved policy and drafts a cited answer.</a:t>
            </a:r>
          </a:p>
        </p:txBody>
      </p:sp>
      <p:sp>
        <p:nvSpPr>
          <p:cNvPr id="11" name="application-2">
            <a:extLst xmlns:a="http://schemas.openxmlformats.org/drawingml/2006/main">
              <a:ext uri="{FF2B5EF4-FFF2-40B4-BE49-F238E27FC236}">
                <a16:creationId xmlns:a16="http://schemas.microsoft.com/office/drawing/2014/main" id="{7D4E7A47-DDE4-4220-878E-2C5CEA39ABCB}"/>
              </a:ext>
            </a:extLst>
          </p:cNvPr>
          <p:cNvSpPr>
            <a:spLocks xmlns:a="http://schemas.openxmlformats.org/drawingml/2006/main" noGrp="1"/>
          </p:cNvSpPr>
          <p:nvPr/>
        </p:nvSpPr>
        <p:spPr>
          <a:xfrm xmlns:a="http://schemas.openxmlformats.org/drawingml/2006/main">
            <a:off x="533400" y="35337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Decision support</a:t>
            </a:r>
          </a:p>
        </p:txBody>
      </p:sp>
      <p:sp>
        <p:nvSpPr>
          <p:cNvPr id="12" name="application-detail-2">
            <a:extLst xmlns:a="http://schemas.openxmlformats.org/drawingml/2006/main">
              <a:ext uri="{FF2B5EF4-FFF2-40B4-BE49-F238E27FC236}">
                <a16:creationId xmlns:a16="http://schemas.microsoft.com/office/drawing/2014/main" id="{F357A61C-6ED4-4E13-9861-0857CA37C823}"/>
              </a:ext>
            </a:extLst>
          </p:cNvPr>
          <p:cNvSpPr>
            <a:spLocks xmlns:a="http://schemas.openxmlformats.org/drawingml/2006/main" noGrp="1"/>
          </p:cNvSpPr>
          <p:nvPr/>
        </p:nvSpPr>
        <p:spPr>
          <a:xfrm xmlns:a="http://schemas.openxmlformats.org/drawingml/2006/main">
            <a:off x="4171950" y="35337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software team proposes a patch and returns separate QA evidence.</a:t>
            </a:r>
          </a:p>
        </p:txBody>
      </p:sp>
      <p:sp>
        <p:nvSpPr>
          <p:cNvPr id="13" name="application-3">
            <a:extLst xmlns:a="http://schemas.openxmlformats.org/drawingml/2006/main">
              <a:ext uri="{FF2B5EF4-FFF2-40B4-BE49-F238E27FC236}">
                <a16:creationId xmlns:a16="http://schemas.microsoft.com/office/drawing/2014/main" id="{E7355B5D-581D-49A0-82FD-83CEDD9D435F}"/>
              </a:ext>
            </a:extLst>
          </p:cNvPr>
          <p:cNvSpPr>
            <a:spLocks xmlns:a="http://schemas.openxmlformats.org/drawingml/2006/main" noGrp="1"/>
          </p:cNvSpPr>
          <p:nvPr/>
        </p:nvSpPr>
        <p:spPr>
          <a:xfrm xmlns:a="http://schemas.openxmlformats.org/drawingml/2006/main">
            <a:off x="533400" y="43148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Dynamic problem solving</a:t>
            </a:r>
          </a:p>
        </p:txBody>
      </p:sp>
      <p:sp>
        <p:nvSpPr>
          <p:cNvPr id="14" name="application-detail-3">
            <a:extLst xmlns:a="http://schemas.openxmlformats.org/drawingml/2006/main">
              <a:ext uri="{FF2B5EF4-FFF2-40B4-BE49-F238E27FC236}">
                <a16:creationId xmlns:a16="http://schemas.microsoft.com/office/drawing/2014/main" id="{DDB8CA63-CD49-4494-BA82-9A4BA23D84B7}"/>
              </a:ext>
            </a:extLst>
          </p:cNvPr>
          <p:cNvSpPr>
            <a:spLocks xmlns:a="http://schemas.openxmlformats.org/drawingml/2006/main" noGrp="1"/>
          </p:cNvSpPr>
          <p:nvPr/>
        </p:nvSpPr>
        <p:spPr>
          <a:xfrm xmlns:a="http://schemas.openxmlformats.org/drawingml/2006/main">
            <a:off x="4171950" y="43148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changed deadline triggers a revised recommendation or escalation.</a:t>
            </a:r>
          </a:p>
        </p:txBody>
      </p:sp>
      <p:sp>
        <p:nvSpPr>
          <p:cNvPr id="15" name="risks-label">
            <a:extLst xmlns:a="http://schemas.openxmlformats.org/drawingml/2006/main">
              <a:ext uri="{FF2B5EF4-FFF2-40B4-BE49-F238E27FC236}">
                <a16:creationId xmlns:a16="http://schemas.microsoft.com/office/drawing/2014/main" id="{FB78D447-FCEF-45D7-8063-BE90E0B0F28C}"/>
              </a:ext>
            </a:extLst>
          </p:cNvPr>
          <p:cNvSpPr>
            <a:spLocks xmlns:a="http://schemas.openxmlformats.org/drawingml/2006/main" noGrp="1"/>
          </p:cNvSpPr>
          <p:nvPr/>
        </p:nvSpPr>
        <p:spPr>
          <a:xfrm xmlns:a="http://schemas.openxmlformats.org/drawingml/2006/main">
            <a:off x="533400" y="53149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D5077D"/>
                </a:solidFill>
                <a:latin typeface="Arial"/>
                <a:ea typeface="Arial"/>
                <a:cs typeface="Arial"/>
              </a:defRPr>
            </a:defPPr>
          </a:lstStyle>
          <a:p xmlns:a="http://schemas.openxmlformats.org/drawingml/2006/main">
            <a:pPr algn="l">
              <a:buNone/>
              <a:defRPr sz="2025" b="1">
                <a:solidFill>
                  <a:srgbClr val="D5077D"/>
                </a:solidFill>
                <a:latin typeface="Arial"/>
                <a:ea typeface="Arial"/>
                <a:cs typeface="Arial"/>
              </a:defRPr>
            </a:pPr>
            <a:r>
              <a:rPr sz="2025" b="1">
                <a:solidFill>
                  <a:srgbClr val="D5077D"/>
                </a:solidFill>
                <a:latin typeface="Arial"/>
                <a:ea typeface="Arial"/>
                <a:cs typeface="Arial"/>
              </a:rPr>
              <a:t>Coordination adds risk</a:t>
            </a:r>
          </a:p>
        </p:txBody>
      </p:sp>
      <p:sp>
        <p:nvSpPr>
          <p:cNvPr id="16" name="risks">
            <a:extLst xmlns:a="http://schemas.openxmlformats.org/drawingml/2006/main">
              <a:ext uri="{FF2B5EF4-FFF2-40B4-BE49-F238E27FC236}">
                <a16:creationId xmlns:a16="http://schemas.microsoft.com/office/drawing/2014/main" id="{E6E0C901-5ABB-4EBE-88CE-9A0864D54A66}"/>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Think-pair-share: Where might coordination fail, and what evidence would help a human decide?</a:t>
            </a:r>
          </a:p>
        </p:txBody>
      </p:sp>
      <p:sp>
        <p:nvSpPr>
          <p:cNvPr id="18" name="footer-reference">
            <a:extLst xmlns:a="http://schemas.openxmlformats.org/drawingml/2006/main">
              <a:ext uri="{FF2B5EF4-FFF2-40B4-BE49-F238E27FC236}">
                <a16:creationId xmlns:a16="http://schemas.microsoft.com/office/drawing/2014/main" id="{53CB5C74-63E6-4D81-A98E-D739832B6BA2}"/>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940ccfad6484dc3"/>
              </a:rPr>
              <a:t>IBM: multiagent systems</a:t>
            </a:r>
          </a:p>
        </p:txBody>
      </p:sp>
    </p:spTree>
    <p:extLst>
      <p:ext uri="{BB962C8B-B14F-4D97-AF65-F5344CB8AC3E}">
        <p14:creationId xmlns:p14="http://schemas.microsoft.com/office/powerpoint/2010/main" val="1828343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8AEA990-7274-4DC8-8CBC-806E00CCE5B1}"/>
              </a:ext>
            </a:extLst>
          </p:cNvPr>
          <p:cNvPicPr>
            <a:picLocks xmlns:a="http://schemas.openxmlformats.org/drawingml/2006/main" noChangeAspect="1"/>
          </p:cNvPicPr>
          <p:nvPr/>
        </p:nvPicPr>
        <p:blipFill>
          <a:blip xmlns:r="http://schemas.openxmlformats.org/officeDocument/2006/relationships" xmlns:a="http://schemas.openxmlformats.org/drawingml/2006/main" r:embed="Rc63c8e5cd525404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59D19E0-C0C5-49FA-953E-82BF51D43AA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85E0588-92C0-4D9D-8295-6053F4CBB65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0CE0B707-01F6-4C26-A39C-3749EA9C475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Simulation: Automating Procurement</a:t>
            </a:r>
          </a:p>
        </p:txBody>
      </p:sp>
      <p:sp>
        <p:nvSpPr>
          <p:cNvPr id="5" name="footer-course">
            <a:extLst xmlns:a="http://schemas.openxmlformats.org/drawingml/2006/main">
              <a:ext uri="{FF2B5EF4-FFF2-40B4-BE49-F238E27FC236}">
                <a16:creationId xmlns:a16="http://schemas.microsoft.com/office/drawing/2014/main" id="{8DFCA0B7-2A9B-4640-BAFD-92BDC43EB92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02189AB4-EFF9-4BBB-9B07-45635DDFDB65}"/>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04</a:t>
            </a:r>
          </a:p>
        </p:txBody>
      </p:sp>
      <p:sp>
        <p:nvSpPr>
          <p:cNvPr id="7" name="procurement-request">
            <a:extLst xmlns:a="http://schemas.openxmlformats.org/drawingml/2006/main">
              <a:ext uri="{FF2B5EF4-FFF2-40B4-BE49-F238E27FC236}">
                <a16:creationId xmlns:a16="http://schemas.microsoft.com/office/drawing/2014/main" id="{93FD26A0-CDE1-4193-9165-3B5F69794512}"/>
              </a:ext>
            </a:extLst>
          </p:cNvPr>
          <p:cNvSpPr>
            <a:spLocks xmlns:a="http://schemas.openxmlformats.org/drawingml/2006/main" noGrp="1"/>
          </p:cNvSpPr>
          <p:nvPr/>
        </p:nvSpPr>
        <p:spPr>
          <a:xfrm xmlns:a="http://schemas.openxmlformats.org/drawingml/2006/main">
            <a:off x="533400" y="18669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Request: 20 kits, total budget $1,200, delivery within 5 days, approved suppliers only.</a:t>
            </a:r>
          </a:p>
        </p:txBody>
      </p:sp>
      <p:graphicFrame>
        <p:nvGraphicFramePr>
          <p:cNvPr id="8" name="">
            <a:extLst xmlns:a="http://schemas.openxmlformats.org/drawingml/2006/main">
              <a:ext uri="{FF2B5EF4-FFF2-40B4-BE49-F238E27FC236}">
                <a16:creationId xmlns:a16="http://schemas.microsoft.com/office/drawing/2014/main" id="{2714E75C-8741-47A8-A0C1-B6672DE3E707}"/>
              </a:ext>
            </a:extLst>
          </p:cNvPr>
          <p:cNvGraphicFramePr/>
          <p:nvPr/>
        </p:nvGraphicFramePr>
        <p:xfrm>
          <a:off xmlns:a="http://schemas.openxmlformats.org/drawingml/2006/main" x="533400" y="2600325"/>
          <a:ext xmlns:a="http://schemas.openxmlformats.org/drawingml/2006/main" cx="11125200" cy="2295525"/>
        </p:xfrm>
        <a:graphic xmlns:a="http://schemas.openxmlformats.org/drawingml/2006/main">
          <a:graphicData uri="http://schemas.openxmlformats.org/drawingml/2006/table">
            <a:tbl>
              <a:tblPr/>
              <a:tblGrid>
                <a:gridCol w="1524000"/>
                <a:gridCol w="2047875"/>
                <a:gridCol w="2047875"/>
                <a:gridCol w="2143125"/>
                <a:gridCol w="3362325"/>
              </a:tblGrid>
              <a:tr h="573881">
                <a:tc>
                  <a:txBody>
                    <a:bodyPr lIns="114300" tIns="76200" rIns="114300" bIns="76200">
                      <a:noAutofit/>
                    </a:bodyPr>
                    <a:lstStyle/>
                    <a:p>
                      <a:pPr algn="l">
                        <a:buNone/>
                      </a:pPr>
                      <a:r>
                        <a:rPr sz="1725" b="1">
                          <a:solidFill>
                            <a:srgbClr val="FFFFFF"/>
                          </a:solidFill>
                          <a:latin typeface="Arial"/>
                          <a:ea typeface="Arial"/>
                          <a:cs typeface="Arial"/>
                        </a:rPr>
                        <a:t>Supplier</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Total cost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Delivery</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Approved?</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725" b="1">
                          <a:solidFill>
                            <a:srgbClr val="FFFFFF"/>
                          </a:solidFill>
                          <a:latin typeface="Arial"/>
                          <a:ea typeface="Arial"/>
                          <a:cs typeface="Arial"/>
                        </a:rPr>
                        <a:t>Your check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A</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$1,100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4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B</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$1,000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7 days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73881">
                <a:tc>
                  <a:txBody>
                    <a:bodyPr lIns="114300" tIns="76200" rIns="114300" bIns="76200">
                      <a:noAutofit/>
                    </a:bodyPr>
                    <a:lstStyle/>
                    <a:p>
                      <a:pPr algn="l">
                        <a:buNone/>
                      </a:pPr>
                      <a:r>
                        <a:rPr sz="1725" b="0">
                          <a:solidFill>
                            <a:srgbClr val="183D50"/>
                          </a:solidFill>
                          <a:latin typeface="Arial"/>
                          <a:ea typeface="Arial"/>
                          <a:cs typeface="Arial"/>
                        </a:rPr>
                        <a:t>C</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$900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3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9" name="procurement-roles">
            <a:extLst xmlns:a="http://schemas.openxmlformats.org/drawingml/2006/main">
              <a:ext uri="{FF2B5EF4-FFF2-40B4-BE49-F238E27FC236}">
                <a16:creationId xmlns:a16="http://schemas.microsoft.com/office/drawing/2014/main" id="{91E3652A-4DCE-4E06-9A64-341ED33F9FFD}"/>
              </a:ext>
            </a:extLst>
          </p:cNvPr>
          <p:cNvSpPr>
            <a:spLocks xmlns:a="http://schemas.openxmlformats.org/drawingml/2006/main" noGrp="1"/>
          </p:cNvSpPr>
          <p:nvPr/>
        </p:nvSpPr>
        <p:spPr>
          <a:xfrm xmlns:a="http://schemas.openxmlformats.org/drawingml/2006/main">
            <a:off x="533400" y="51530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Buyer Agent defines need. Analyst Agent reads quotes. Finance/Policy reviews; a human approves.</a:t>
            </a:r>
          </a:p>
        </p:txBody>
      </p:sp>
      <p:sp>
        <p:nvSpPr>
          <p:cNvPr id="10" name="procurement-outcome">
            <a:extLst xmlns:a="http://schemas.openxmlformats.org/drawingml/2006/main">
              <a:ext uri="{FF2B5EF4-FFF2-40B4-BE49-F238E27FC236}">
                <a16:creationId xmlns:a16="http://schemas.microsoft.com/office/drawing/2014/main" id="{362C6F1E-02D5-414A-A6DF-E6314E803080}"/>
              </a:ext>
            </a:extLst>
          </p:cNvPr>
          <p:cNvSpPr>
            <a:spLocks xmlns:a="http://schemas.openxmlformats.org/drawingml/2006/main" noGrp="1"/>
          </p:cNvSpPr>
          <p:nvPr/>
        </p:nvSpPr>
        <p:spPr>
          <a:xfrm xmlns:a="http://schemas.openxmlformats.org/drawingml/2006/main">
            <a:off x="533400" y="5629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D5077D"/>
                </a:solidFill>
                <a:latin typeface="Arial"/>
                <a:ea typeface="Arial"/>
                <a:cs typeface="Arial"/>
              </a:defRPr>
            </a:defPPr>
          </a:lstStyle>
          <a:p xmlns:a="http://schemas.openxmlformats.org/drawingml/2006/main">
            <a:pPr algn="l">
              <a:buNone/>
              <a:defRPr sz="1875" b="1">
                <a:solidFill>
                  <a:srgbClr val="D5077D"/>
                </a:solidFill>
                <a:latin typeface="Arial"/>
                <a:ea typeface="Arial"/>
                <a:cs typeface="Arial"/>
              </a:defRPr>
            </a:pPr>
            <a:r>
              <a:rPr sz="1875" b="1">
                <a:solidFill>
                  <a:srgbClr val="D5077D"/>
                </a:solidFill>
                <a:latin typeface="Arial"/>
                <a:ea typeface="Arial"/>
                <a:cs typeface="Arial"/>
              </a:rPr>
              <a:t>Before the reveal: Which quote qualifies, and what must a human approve?</a:t>
            </a:r>
          </a:p>
        </p:txBody>
      </p:sp>
      <p:sp>
        <p:nvSpPr>
          <p:cNvPr id="11" name="procurement-synthetic">
            <a:extLst xmlns:a="http://schemas.openxmlformats.org/drawingml/2006/main">
              <a:ext uri="{FF2B5EF4-FFF2-40B4-BE49-F238E27FC236}">
                <a16:creationId xmlns:a16="http://schemas.microsoft.com/office/drawing/2014/main" id="{4812F688-3EA1-4EC0-9194-938FA50B9D1A}"/>
              </a:ext>
            </a:extLst>
          </p:cNvPr>
          <p:cNvSpPr>
            <a:spLocks xmlns:a="http://schemas.openxmlformats.org/drawingml/2006/main" noGrp="1"/>
          </p:cNvSpPr>
          <p:nvPr/>
        </p:nvSpPr>
        <p:spPr>
          <a:xfrm xmlns:a="http://schemas.openxmlformats.org/drawingml/2006/main">
            <a:off x="533400" y="61150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quotes and teaching rules, not actual UN procurement policy.</a:t>
            </a:r>
          </a:p>
        </p:txBody>
      </p:sp>
      <p:sp>
        <p:nvSpPr>
          <p:cNvPr id="13" name="footer-reference">
            <a:extLst xmlns:a="http://schemas.openxmlformats.org/drawingml/2006/main">
              <a:ext uri="{FF2B5EF4-FFF2-40B4-BE49-F238E27FC236}">
                <a16:creationId xmlns:a16="http://schemas.microsoft.com/office/drawing/2014/main" id="{5FE0C29B-6B9D-4F1E-962A-BD38E757144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14ad7554cb24d0e"/>
              </a:rPr>
              <a:t>Procurement simulation (synthetic)</a:t>
            </a:r>
          </a:p>
        </p:txBody>
      </p:sp>
    </p:spTree>
    <p:extLst>
      <p:ext uri="{BB962C8B-B14F-4D97-AF65-F5344CB8AC3E}">
        <p14:creationId xmlns:p14="http://schemas.microsoft.com/office/powerpoint/2010/main" val="17735257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A5B78B7-5EBD-48A6-93DB-E386AE92F6A5}"/>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15F2B751-9042-4715-8862-518273153506}"/>
              </a:ext>
            </a:extLst>
          </p:cNvPr>
          <p:cNvCxnSpPr>
            <a:stCxn xmlns:a="http://schemas.openxmlformats.org/drawingml/2006/main" id="9" idx="3"/>
            <a:endCxn xmlns:a="http://schemas.openxmlformats.org/drawingml/2006/main" id="12" idx="1"/>
          </p:cNvCxnSpPr>
          <p:nvPr/>
        </p:nvCxnSpPr>
        <p:spPr>
          <a:xfrm xmlns:a="http://schemas.openxmlformats.org/drawingml/2006/main">
            <a:off x="377190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3" name="">
            <a:extLst xmlns:a="http://schemas.openxmlformats.org/drawingml/2006/main">
              <a:ext uri="{FF2B5EF4-FFF2-40B4-BE49-F238E27FC236}">
                <a16:creationId xmlns:a16="http://schemas.microsoft.com/office/drawing/2014/main" id="{CDCCE34F-AB7A-427A-AFBD-1C079B37CB4D}"/>
              </a:ext>
            </a:extLst>
          </p:cNvPr>
          <p:cNvPicPr>
            <a:picLocks xmlns:a="http://schemas.openxmlformats.org/drawingml/2006/main" noChangeAspect="1"/>
          </p:cNvPicPr>
          <p:nvPr/>
        </p:nvPicPr>
        <p:blipFill>
          <a:blip xmlns:r="http://schemas.openxmlformats.org/officeDocument/2006/relationships" xmlns:a="http://schemas.openxmlformats.org/drawingml/2006/main" r:embed="R97d9d9355d094f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52A1F0B0-BC59-4604-941E-4E87D12C01A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92CE075-E66D-4710-910F-307CBF09B2D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C22F891F-961C-449F-B24B-E55F231042C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2900" b="1">
                <a:solidFill>
                  <a:srgbClr val="123D5A"/>
                </a:solidFill>
                <a:latin typeface="Arial"/>
                <a:ea typeface="Arial"/>
                <a:cs typeface="Arial"/>
              </a:rPr>
              <a:t>Governed HR Virtual Assistant (Multi-Agent RAG)</a:t>
            </a:r>
          </a:p>
        </p:txBody>
      </p:sp>
      <p:sp>
        <p:nvSpPr>
          <p:cNvPr id="5" name="footer-course">
            <a:extLst xmlns:a="http://schemas.openxmlformats.org/drawingml/2006/main">
              <a:ext uri="{FF2B5EF4-FFF2-40B4-BE49-F238E27FC236}">
                <a16:creationId xmlns:a16="http://schemas.microsoft.com/office/drawing/2014/main" id="{FE77DAAD-05FA-455F-9FB4-72C385602DDF}"/>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5B530AB0-34BB-457B-95FB-AB15FC24304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05</a:t>
            </a:r>
          </a:p>
        </p:txBody>
      </p:sp>
      <p:sp>
        <p:nvSpPr>
          <p:cNvPr id="7" name="rag-definition">
            <a:extLst xmlns:a="http://schemas.openxmlformats.org/drawingml/2006/main">
              <a:ext uri="{FF2B5EF4-FFF2-40B4-BE49-F238E27FC236}">
                <a16:creationId xmlns:a16="http://schemas.microsoft.com/office/drawing/2014/main" id="{B03AF3CB-E1F8-47F1-BC64-238C422046FA}"/>
              </a:ext>
            </a:extLst>
          </p:cNvPr>
          <p:cNvSpPr>
            <a:spLocks xmlns:a="http://schemas.openxmlformats.org/drawingml/2006/main" noGrp="1"/>
          </p:cNvSpPr>
          <p:nvPr/>
        </p:nvSpPr>
        <p:spPr>
          <a:xfrm xmlns:a="http://schemas.openxmlformats.org/drawingml/2006/main">
            <a:off x="533400" y="175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Three roles separate source retrieval, answer drafting, and citation verification.</a:t>
            </a:r>
          </a:p>
        </p:txBody>
      </p:sp>
      <p:sp>
        <p:nvSpPr>
          <p:cNvPr id="8" name="hr-question">
            <a:extLst xmlns:a="http://schemas.openxmlformats.org/drawingml/2006/main">
              <a:ext uri="{FF2B5EF4-FFF2-40B4-BE49-F238E27FC236}">
                <a16:creationId xmlns:a16="http://schemas.microsoft.com/office/drawing/2014/main" id="{05ABF189-240E-4082-A44F-98CF1AC6A89C}"/>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Question: “How much learning time is available, and how do I book it?”</a:t>
            </a:r>
          </a:p>
        </p:txBody>
      </p:sp>
      <p:sp>
        <p:nvSpPr>
          <p:cNvPr id="9" name="hr-retrieve">
            <a:extLst xmlns:a="http://schemas.openxmlformats.org/drawingml/2006/main">
              <a:ext uri="{FF2B5EF4-FFF2-40B4-BE49-F238E27FC236}">
                <a16:creationId xmlns:a16="http://schemas.microsoft.com/office/drawing/2014/main" id="{D7A4F876-1B56-41E0-BC83-3E4C23B8BF32}"/>
              </a:ext>
            </a:extLst>
          </p:cNvPr>
          <p:cNvSpPr>
            <a:spLocks xmlns:a="http://schemas.openxmlformats.org/drawingml/2006/main" noGrp="1"/>
          </p:cNvSpPr>
          <p:nvPr/>
        </p:nvSpPr>
        <p:spPr>
          <a:xfrm xmlns:a="http://schemas.openxmlformats.org/drawingml/2006/main">
            <a:off x="5334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hr-retrieve-head">
            <a:extLst xmlns:a="http://schemas.openxmlformats.org/drawingml/2006/main">
              <a:ext uri="{FF2B5EF4-FFF2-40B4-BE49-F238E27FC236}">
                <a16:creationId xmlns:a16="http://schemas.microsoft.com/office/drawing/2014/main" id="{E6C4A71B-03FB-4836-B43E-9C7F62849BF0}"/>
              </a:ext>
            </a:extLst>
          </p:cNvPr>
          <p:cNvSpPr>
            <a:spLocks xmlns:a="http://schemas.openxmlformats.org/drawingml/2006/main" noGrp="1"/>
          </p:cNvSpPr>
          <p:nvPr/>
        </p:nvSpPr>
        <p:spPr>
          <a:xfrm xmlns:a="http://schemas.openxmlformats.org/drawingml/2006/main">
            <a:off x="7048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Knowledge Agent (Read)</a:t>
            </a:r>
          </a:p>
        </p:txBody>
      </p:sp>
      <p:sp>
        <p:nvSpPr>
          <p:cNvPr id="11" name="hr-retrieve-body">
            <a:extLst xmlns:a="http://schemas.openxmlformats.org/drawingml/2006/main">
              <a:ext uri="{FF2B5EF4-FFF2-40B4-BE49-F238E27FC236}">
                <a16:creationId xmlns:a16="http://schemas.microsoft.com/office/drawing/2014/main" id="{F2FC9B3D-FC3B-4B71-A53D-CADE5136367F}"/>
              </a:ext>
            </a:extLst>
          </p:cNvPr>
          <p:cNvSpPr>
            <a:spLocks xmlns:a="http://schemas.openxmlformats.org/drawingml/2006/main" noGrp="1"/>
          </p:cNvSpPr>
          <p:nvPr/>
        </p:nvSpPr>
        <p:spPr>
          <a:xfrm xmlns:a="http://schemas.openxmlformats.org/drawingml/2006/main">
            <a:off x="7048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Queries approved snippets in Obsidian Vault / vector index (simulated).</a:t>
            </a:r>
          </a:p>
        </p:txBody>
      </p:sp>
      <p:sp>
        <p:nvSpPr>
          <p:cNvPr id="12" name="hr-answer">
            <a:extLst xmlns:a="http://schemas.openxmlformats.org/drawingml/2006/main">
              <a:ext uri="{FF2B5EF4-FFF2-40B4-BE49-F238E27FC236}">
                <a16:creationId xmlns:a16="http://schemas.microsoft.com/office/drawing/2014/main" id="{638EBD99-0FA5-4EF1-8925-F5D619CE93FC}"/>
              </a:ext>
            </a:extLst>
          </p:cNvPr>
          <p:cNvSpPr>
            <a:spLocks xmlns:a="http://schemas.openxmlformats.org/drawingml/2006/main" noGrp="1"/>
          </p:cNvSpPr>
          <p:nvPr/>
        </p:nvSpPr>
        <p:spPr>
          <a:xfrm xmlns:a="http://schemas.openxmlformats.org/drawingml/2006/main">
            <a:off x="447675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hr-answer-head">
            <a:extLst xmlns:a="http://schemas.openxmlformats.org/drawingml/2006/main">
              <a:ext uri="{FF2B5EF4-FFF2-40B4-BE49-F238E27FC236}">
                <a16:creationId xmlns:a16="http://schemas.microsoft.com/office/drawing/2014/main" id="{534312CA-8C7C-4541-B61B-A3B9A1664D34}"/>
              </a:ext>
            </a:extLst>
          </p:cNvPr>
          <p:cNvSpPr>
            <a:spLocks xmlns:a="http://schemas.openxmlformats.org/drawingml/2006/main" noGrp="1"/>
          </p:cNvSpPr>
          <p:nvPr/>
        </p:nvSpPr>
        <p:spPr>
          <a:xfrm xmlns:a="http://schemas.openxmlformats.org/drawingml/2006/main">
            <a:off x="464820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Drafting Agent (Write)</a:t>
            </a:r>
          </a:p>
        </p:txBody>
      </p:sp>
      <p:sp>
        <p:nvSpPr>
          <p:cNvPr id="14" name="hr-answer-body">
            <a:extLst xmlns:a="http://schemas.openxmlformats.org/drawingml/2006/main">
              <a:ext uri="{FF2B5EF4-FFF2-40B4-BE49-F238E27FC236}">
                <a16:creationId xmlns:a16="http://schemas.microsoft.com/office/drawing/2014/main" id="{47AC6DC0-7FE7-4585-8380-0A186206B09F}"/>
              </a:ext>
            </a:extLst>
          </p:cNvPr>
          <p:cNvSpPr>
            <a:spLocks xmlns:a="http://schemas.openxmlformats.org/drawingml/2006/main" noGrp="1"/>
          </p:cNvSpPr>
          <p:nvPr/>
        </p:nvSpPr>
        <p:spPr>
          <a:xfrm xmlns:a="http://schemas.openxmlformats.org/drawingml/2006/main">
            <a:off x="464820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output_pydantic + source IDs
Pydantic contract:
citation_required: True</a:t>
            </a:r>
          </a:p>
        </p:txBody>
      </p:sp>
      <p:sp>
        <p:nvSpPr>
          <p:cNvPr id="15" name="hr-review">
            <a:extLst xmlns:a="http://schemas.openxmlformats.org/drawingml/2006/main">
              <a:ext uri="{FF2B5EF4-FFF2-40B4-BE49-F238E27FC236}">
                <a16:creationId xmlns:a16="http://schemas.microsoft.com/office/drawing/2014/main" id="{69217603-ABC0-4C78-AE22-BDFFA8B525ED}"/>
              </a:ext>
            </a:extLst>
          </p:cNvPr>
          <p:cNvSpPr>
            <a:spLocks xmlns:a="http://schemas.openxmlformats.org/drawingml/2006/main" noGrp="1"/>
          </p:cNvSpPr>
          <p:nvPr/>
        </p:nvSpPr>
        <p:spPr>
          <a:xfrm xmlns:a="http://schemas.openxmlformats.org/drawingml/2006/main">
            <a:off x="84201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hr-review-head">
            <a:extLst xmlns:a="http://schemas.openxmlformats.org/drawingml/2006/main">
              <a:ext uri="{FF2B5EF4-FFF2-40B4-BE49-F238E27FC236}">
                <a16:creationId xmlns:a16="http://schemas.microsoft.com/office/drawing/2014/main" id="{71B14F33-271C-4B19-977F-18BB92C2946B}"/>
              </a:ext>
            </a:extLst>
          </p:cNvPr>
          <p:cNvSpPr>
            <a:spLocks xmlns:a="http://schemas.openxmlformats.org/drawingml/2006/main" noGrp="1"/>
          </p:cNvSpPr>
          <p:nvPr/>
        </p:nvSpPr>
        <p:spPr>
          <a:xfrm xmlns:a="http://schemas.openxmlformats.org/drawingml/2006/main">
            <a:off x="85915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325" b="1">
                <a:solidFill>
                  <a:srgbClr val="007DBA"/>
                </a:solidFill>
                <a:latin typeface="Arial"/>
                <a:ea typeface="Arial"/>
                <a:cs typeface="Arial"/>
              </a:rPr>
              <a:t>Compliance Agent (Read/Verify)</a:t>
            </a:r>
          </a:p>
        </p:txBody>
      </p:sp>
      <p:sp>
        <p:nvSpPr>
          <p:cNvPr id="17" name="hr-review-body">
            <a:extLst xmlns:a="http://schemas.openxmlformats.org/drawingml/2006/main">
              <a:ext uri="{FF2B5EF4-FFF2-40B4-BE49-F238E27FC236}">
                <a16:creationId xmlns:a16="http://schemas.microsoft.com/office/drawing/2014/main" id="{30A8FA3D-A063-47E1-96E8-3A316F55B691}"/>
              </a:ext>
            </a:extLst>
          </p:cNvPr>
          <p:cNvSpPr>
            <a:spLocks xmlns:a="http://schemas.openxmlformats.org/drawingml/2006/main" noGrp="1"/>
          </p:cNvSpPr>
          <p:nvPr/>
        </p:nvSpPr>
        <p:spPr>
          <a:xfrm xmlns:a="http://schemas.openxmlformats.org/drawingml/2006/main">
            <a:off x="85915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Checks citations against retrieved snippets; blocks unsupported claims.</a:t>
            </a:r>
          </a:p>
        </p:txBody>
      </p:sp>
      <p:sp>
        <p:nvSpPr>
          <p:cNvPr id="20" name="hr-answer-text">
            <a:extLst xmlns:a="http://schemas.openxmlformats.org/drawingml/2006/main">
              <a:ext uri="{FF2B5EF4-FFF2-40B4-BE49-F238E27FC236}">
                <a16:creationId xmlns:a16="http://schemas.microsoft.com/office/drawing/2014/main" id="{75AEA518-BF96-40C1-8D85-03F712491306}"/>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HR-LEARN/v2 §2: “May request 3 hours/month.”
HR-BOOK/v1 §1: “Coordinator confirmation before booking.”</a:t>
            </a:r>
          </a:p>
        </p:txBody>
      </p:sp>
      <p:sp>
        <p:nvSpPr>
          <p:cNvPr id="21" name="hr-gates">
            <a:extLst xmlns:a="http://schemas.openxmlformats.org/drawingml/2006/main">
              <a:ext uri="{FF2B5EF4-FFF2-40B4-BE49-F238E27FC236}">
                <a16:creationId xmlns:a16="http://schemas.microsoft.com/office/drawing/2014/main" id="{16AA2E61-8CEC-4238-B1EF-40127D63DF55}"/>
              </a:ext>
            </a:extLst>
          </p:cNvPr>
          <p:cNvSpPr>
            <a:spLocks xmlns:a="http://schemas.openxmlformats.org/drawingml/2006/main" noGrp="1"/>
          </p:cNvSpPr>
          <p:nvPr/>
        </p:nvSpPr>
        <p:spPr>
          <a:xfrm xmlns:a="http://schemas.openxmlformats.org/drawingml/2006/main">
            <a:off x="533400" y="53816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1">
                <a:solidFill>
                  <a:srgbClr val="D5077D"/>
                </a:solidFill>
                <a:latin typeface="Arial"/>
                <a:ea typeface="Arial"/>
                <a:cs typeface="Arial"/>
              </a:defRPr>
            </a:defPPr>
          </a:lstStyle>
          <a:p xmlns:a="http://schemas.openxmlformats.org/drawingml/2006/main">
            <a:pPr algn="l">
              <a:buNone/>
              <a:defRPr sz="1800" b="1">
                <a:solidFill>
                  <a:srgbClr val="D5077D"/>
                </a:solidFill>
                <a:latin typeface="Arial"/>
                <a:ea typeface="Arial"/>
                <a:cs typeface="Arial"/>
              </a:defRPr>
            </a:pPr>
            <a:r>
              <a:rPr sz="1800" b="1">
                <a:solidFill>
                  <a:srgbClr val="D5077D"/>
                </a:solidFill>
                <a:latin typeface="Arial"/>
                <a:ea typeface="Arial"/>
                <a:cs typeface="Arial"/>
              </a:rPr>
              <a:t>Pair check: What should happen when no current, authorized source supports an answer?</a:t>
            </a:r>
          </a:p>
        </p:txBody>
      </p:sp>
      <p:sp>
        <p:nvSpPr>
          <p:cNvPr id="22" name="hr-synthetic">
            <a:extLst xmlns:a="http://schemas.openxmlformats.org/drawingml/2006/main">
              <a:ext uri="{FF2B5EF4-FFF2-40B4-BE49-F238E27FC236}">
                <a16:creationId xmlns:a16="http://schemas.microsoft.com/office/drawing/2014/main" id="{19952400-186E-4CAD-A3B6-5671B01DF505}"/>
              </a:ext>
            </a:extLst>
          </p:cNvPr>
          <p:cNvSpPr>
            <a:spLocks xmlns:a="http://schemas.openxmlformats.org/drawingml/2006/main" noGrp="1"/>
          </p:cNvSpPr>
          <p:nvPr/>
        </p:nvSpPr>
        <p:spPr>
          <a:xfrm xmlns:a="http://schemas.openxmlformats.org/drawingml/2006/main">
            <a:off x="533400" y="60769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policies; Vault/vector retrieval uses local fixtures, not live HR data or a live DB.</a:t>
            </a:r>
          </a:p>
        </p:txBody>
      </p:sp>
      <p:sp>
        <p:nvSpPr>
          <p:cNvPr id="24" name="footer-reference">
            <a:extLst xmlns:a="http://schemas.openxmlformats.org/drawingml/2006/main">
              <a:ext uri="{FF2B5EF4-FFF2-40B4-BE49-F238E27FC236}">
                <a16:creationId xmlns:a16="http://schemas.microsoft.com/office/drawing/2014/main" id="{D7F09793-DB98-454E-B4E8-E407C536E34E}"/>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53745fdf2f094d29"/>
              </a:rPr>
              <a:t>Lewis et al. (2020)</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8b2c6aea8464ce1"/>
              </a:rPr>
              <a:t>HR simulation (synthetic)</a:t>
            </a:r>
          </a:p>
        </p:txBody>
      </p:sp>
    </p:spTree>
    <p:extLst>
      <p:ext uri="{BB962C8B-B14F-4D97-AF65-F5344CB8AC3E}">
        <p14:creationId xmlns:p14="http://schemas.microsoft.com/office/powerpoint/2010/main" val="139521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543EDF0-2F03-46AE-973D-9600C8E6ABC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defRPr sz="3150" b="1">
                <a:solidFill>
                  <a:srgbClr val="123D5A"/>
                </a:solidFill>
                <a:latin typeface="Arial"/>
                <a:ea typeface="Arial"/>
                <a:cs typeface="Arial"/>
              </a:defRPr>
            </a:lvl1pPr>
            <a:lvl2pPr algn="l">
              <a:defRPr sz="3150" b="1">
                <a:solidFill>
                  <a:srgbClr val="123D5A"/>
                </a:solidFill>
                <a:latin typeface="Arial"/>
                <a:ea typeface="Arial"/>
                <a:cs typeface="Arial"/>
              </a:defRPr>
            </a:lvl2pPr>
            <a:lvl3pPr algn="l">
              <a:defRPr sz="3150" b="1">
                <a:solidFill>
                  <a:srgbClr val="123D5A"/>
                </a:solidFill>
                <a:latin typeface="Arial"/>
                <a:ea typeface="Arial"/>
                <a:cs typeface="Arial"/>
              </a:defRPr>
            </a:lvl3pPr>
            <a:lvl4pPr algn="l">
              <a:defRPr sz="3150" b="1">
                <a:solidFill>
                  <a:srgbClr val="123D5A"/>
                </a:solidFill>
                <a:latin typeface="Arial"/>
                <a:ea typeface="Arial"/>
                <a:cs typeface="Arial"/>
              </a:defRPr>
            </a:lvl4pPr>
            <a:lvl5pPr algn="l">
              <a:defRPr sz="3150" b="1">
                <a:solidFill>
                  <a:srgbClr val="123D5A"/>
                </a:solidFill>
                <a:latin typeface="Arial"/>
                <a:ea typeface="Arial"/>
                <a:cs typeface="Arial"/>
              </a:defRPr>
            </a:lvl5pPr>
            <a:lvl6pPr algn="l">
              <a:defRPr sz="3150" b="1">
                <a:solidFill>
                  <a:srgbClr val="123D5A"/>
                </a:solidFill>
                <a:latin typeface="Arial"/>
                <a:ea typeface="Arial"/>
                <a:cs typeface="Arial"/>
              </a:defRPr>
            </a:lvl6pPr>
            <a:lvl7pPr algn="l">
              <a:defRPr sz="3150" b="1">
                <a:solidFill>
                  <a:srgbClr val="123D5A"/>
                </a:solidFill>
                <a:latin typeface="Arial"/>
                <a:ea typeface="Arial"/>
                <a:cs typeface="Arial"/>
              </a:defRPr>
            </a:lvl7pPr>
            <a:lvl8pPr algn="l">
              <a:defRPr sz="3150" b="1">
                <a:solidFill>
                  <a:srgbClr val="123D5A"/>
                </a:solidFill>
                <a:latin typeface="Arial"/>
                <a:ea typeface="Arial"/>
                <a:cs typeface="Arial"/>
              </a:defRPr>
            </a:lvl8pPr>
            <a:lvl9pPr algn="l">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Three Labs and One Capstone</a:t>
            </a:r>
          </a:p>
        </p:txBody>
      </p:sp>
      <p:sp>
        <p:nvSpPr>
          <p:cNvPr id="5" name="footer-course">
            <a:extLst xmlns:a="http://schemas.openxmlformats.org/drawingml/2006/main">
              <a:ext uri="{FF2B5EF4-FFF2-40B4-BE49-F238E27FC236}">
                <a16:creationId xmlns:a16="http://schemas.microsoft.com/office/drawing/2014/main" id="{4F0CABC0-E828-4311-8B43-7C137AEF86A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6A8B5766-D4C8-45BC-8931-297D91329527}"/>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CDC75CD0-F7B1-4119-B74C-9321E4031EDA}"/>
              </a:ext>
            </a:extLst>
          </p:cNvPr>
          <p:cNvGraphicFramePr/>
          <p:nvPr/>
        </p:nvGraphicFramePr>
        <p:xfrm>
          <a:off xmlns:a="http://schemas.openxmlformats.org/drawingml/2006/main" x="533400" y="1924050"/>
          <a:ext xmlns:a="http://schemas.openxmlformats.org/drawingml/2006/main" cx="11125200" cy="2952750"/>
        </p:xfrm>
        <a:graphic xmlns:a="http://schemas.openxmlformats.org/drawingml/2006/main">
          <a:graphicData uri="http://schemas.openxmlformats.org/drawingml/2006/table">
            <a:tbl>
              <a:tblPr/>
              <a:tblGrid>
                <a:gridCol w="1619250"/>
                <a:gridCol w="2762250"/>
                <a:gridCol w="4286250"/>
                <a:gridCol w="2457450"/>
              </a:tblGrid>
              <a:tr h="590550">
                <a:tc>
                  <a:txBody>
                    <a:bodyPr lIns="114300" tIns="76200" rIns="114300" bIns="76200" wrap="square">
                      <a:noAutofit/>
                    </a:bodyPr>
                    <a:lstStyle/>
                    <a:p>
                      <a:pPr algn="l">
                        <a:buNone/>
                      </a:pPr>
                      <a:r>
                        <a:rPr sz="1650" b="1">
                          <a:solidFill>
                            <a:srgbClr val="FFFFFF"/>
                          </a:solidFill>
                          <a:latin typeface="Arial"/>
                          <a:ea typeface="Arial"/>
                          <a:cs typeface="Arial"/>
                        </a:rPr>
                        <a:t>Step</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Learner action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Scaffolded practice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650" b="1">
                          <a:solidFill>
                            <a:srgbClr val="FFFFFF"/>
                          </a:solidFill>
                          <a:latin typeface="Arial"/>
                          <a:ea typeface="Arial"/>
                          <a:cs typeface="Arial"/>
                        </a:rPr>
                        <a:t>Evidence + feedback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5" action="ppaction://hlinksldjump"/>
                        </a:rPr>
                        <a:t>1 Contract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Predict, then repair</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Specify rules; test 3 fixtures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reflection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6" action="ppaction://hlinksldjump"/>
                        </a:rPr>
                        <a:t>2 Team</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Audit, then decide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Fix tools/context; inspect gate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decision note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7" action="ppaction://hlinksldjump"/>
                        </a:rPr>
                        <a:t>3 Guardrails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Validate, limit, escalate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Test input and retry policy</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650" b="0">
                          <a:solidFill>
                            <a:srgbClr val="183D50"/>
                          </a:solidFill>
                          <a:latin typeface="Arial"/>
                          <a:ea typeface="Arial"/>
                          <a:cs typeface="Arial"/>
                        </a:rPr>
                        <a:t>15/15 + trace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hlinkClick xmlns:r="http://schemas.openxmlformats.org/officeDocument/2006/relationships" r:id="rIdLearnerNav8" action="ppaction://hlinksldjump"/>
                        </a:rPr>
                        <a:t>4 Capstone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Integrate, defend, transfer</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Validate handoff; scope tools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650" b="0">
                          <a:solidFill>
                            <a:srgbClr val="183D50"/>
                          </a:solidFill>
                          <a:latin typeface="Arial"/>
                          <a:ea typeface="Arial"/>
                          <a:cs typeface="Arial"/>
                        </a:rPr>
                        <a:t>Code /20 + ADR /20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setup-guide">
            <a:extLst xmlns:a="http://schemas.openxmlformats.org/drawingml/2006/main">
              <a:ext uri="{FF2B5EF4-FFF2-40B4-BE49-F238E27FC236}">
                <a16:creationId xmlns:a16="http://schemas.microsoft.com/office/drawing/2014/main" id="{6F6614B3-626E-48C4-BAD8-E127F997C405}"/>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Cycle: connect → predict → practice → inspect feedback → explain → transfer.</a:t>
            </a:r>
          </a:p>
        </p:txBody>
      </p:sp>
      <p:sp>
        <p:nvSpPr>
          <p:cNvPr id="9" name="setup-mode">
            <a:extLst xmlns:a="http://schemas.openxmlformats.org/drawingml/2006/main">
              <a:ext uri="{FF2B5EF4-FFF2-40B4-BE49-F238E27FC236}">
                <a16:creationId xmlns:a16="http://schemas.microsoft.com/office/drawing/2014/main" id="{5B2CE68E-88CF-4BCC-AB23-5F204CB5A8BD}"/>
              </a:ext>
            </a:extLst>
          </p:cNvPr>
          <p:cNvSpPr>
            <a:spLocks xmlns:a="http://schemas.openxmlformats.org/drawingml/2006/main" noGrp="1"/>
          </p:cNvSpPr>
          <p:nvPr/>
        </p:nvSpPr>
        <p:spPr>
          <a:xfrm xmlns:a="http://schemas.openxmlformats.org/drawingml/2006/main">
            <a:off x="533400" y="5762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46579"/>
                </a:solidFill>
                <a:latin typeface="Arial"/>
                <a:ea typeface="Arial"/>
                <a:cs typeface="Arial"/>
              </a:defRPr>
            </a:defPPr>
            <a:lvl1pPr algn="l">
              <a:defRPr sz="1650" b="0">
                <a:solidFill>
                  <a:srgbClr val="446579"/>
                </a:solidFill>
                <a:latin typeface="Arial"/>
                <a:ea typeface="Arial"/>
                <a:cs typeface="Arial"/>
              </a:defRPr>
            </a:lvl1pPr>
            <a:lvl2pPr algn="l">
              <a:defRPr sz="1650" b="0">
                <a:solidFill>
                  <a:srgbClr val="446579"/>
                </a:solidFill>
                <a:latin typeface="Arial"/>
                <a:ea typeface="Arial"/>
                <a:cs typeface="Arial"/>
              </a:defRPr>
            </a:lvl2pPr>
            <a:lvl3pPr algn="l">
              <a:defRPr sz="1650" b="0">
                <a:solidFill>
                  <a:srgbClr val="446579"/>
                </a:solidFill>
                <a:latin typeface="Arial"/>
                <a:ea typeface="Arial"/>
                <a:cs typeface="Arial"/>
              </a:defRPr>
            </a:lvl3pPr>
            <a:lvl4pPr algn="l">
              <a:defRPr sz="1650" b="0">
                <a:solidFill>
                  <a:srgbClr val="446579"/>
                </a:solidFill>
                <a:latin typeface="Arial"/>
                <a:ea typeface="Arial"/>
                <a:cs typeface="Arial"/>
              </a:defRPr>
            </a:lvl4pPr>
            <a:lvl5pPr algn="l">
              <a:defRPr sz="1650" b="0">
                <a:solidFill>
                  <a:srgbClr val="446579"/>
                </a:solidFill>
                <a:latin typeface="Arial"/>
                <a:ea typeface="Arial"/>
                <a:cs typeface="Arial"/>
              </a:defRPr>
            </a:lvl5pPr>
            <a:lvl6pPr algn="l">
              <a:defRPr sz="1650" b="0">
                <a:solidFill>
                  <a:srgbClr val="446579"/>
                </a:solidFill>
                <a:latin typeface="Arial"/>
                <a:ea typeface="Arial"/>
                <a:cs typeface="Arial"/>
              </a:defRPr>
            </a:lvl6pPr>
            <a:lvl7pPr algn="l">
              <a:defRPr sz="1650" b="0">
                <a:solidFill>
                  <a:srgbClr val="446579"/>
                </a:solidFill>
                <a:latin typeface="Arial"/>
                <a:ea typeface="Arial"/>
                <a:cs typeface="Arial"/>
              </a:defRPr>
            </a:lvl7pPr>
            <a:lvl8pPr algn="l">
              <a:defRPr sz="1650" b="0">
                <a:solidFill>
                  <a:srgbClr val="446579"/>
                </a:solidFill>
                <a:latin typeface="Arial"/>
                <a:ea typeface="Arial"/>
                <a:cs typeface="Arial"/>
              </a:defRPr>
            </a:lvl8pPr>
            <a:lvl9pPr algn="l">
              <a:defRPr sz="1650" b="0">
                <a:solidFill>
                  <a:srgbClr val="446579"/>
                </a:solidFill>
                <a:latin typeface="Arial"/>
                <a:ea typeface="Arial"/>
                <a:cs typeface="Arial"/>
              </a:defRPr>
            </a:lvl9pPr>
          </a:lstStyle>
          <a:p xmlns:a="http://schemas.openxmlformats.org/drawingml/2006/main">
            <a:pPr algn="l">
              <a:defRPr sz="1650" b="0">
                <a:solidFill>
                  <a:srgbClr val="446579"/>
                </a:solidFill>
                <a:latin typeface="Arial"/>
                <a:ea typeface="Arial"/>
                <a:cs typeface="Arial"/>
              </a:defRPr>
            </a:pPr>
            <a:r>
              <a:t>Before Lab 1: </a:t>
            </a:r>
            <a:r>
              <a:rPr u="sng">
                <a:solidFill>
                  <a:srgbClr val="007DBA"/>
                </a:solidFill>
                <a:hlinkClick xmlns:r="http://schemas.openxmlformats.org/officeDocument/2006/relationships" r:id="rIdLearnerNav3"/>
              </a:rPr>
              <a:t>Setup</a:t>
            </a:r>
            <a:r>
              <a:t> then </a:t>
            </a:r>
            <a:r>
              <a:rPr u="sng">
                <a:solidFill>
                  <a:srgbClr val="007DBA"/>
                </a:solidFill>
                <a:hlinkClick xmlns:r="http://schemas.openxmlformats.org/officeDocument/2006/relationships" r:id="rIdLearnerNav4"/>
              </a:rPr>
              <a:t>preflight</a:t>
            </a:r>
            <a:r>
              <a:t>. Python 3.12, JupyterLab, no provider key required.</a:t>
            </a:r>
          </a:p>
        </p:txBody>
      </p:sp>
      <p:sp>
        <p:nvSpPr>
          <p:cNvPr id="11" name="footer-reference">
            <a:extLst xmlns:a="http://schemas.openxmlformats.org/drawingml/2006/main">
              <a:ext uri="{FF2B5EF4-FFF2-40B4-BE49-F238E27FC236}">
                <a16:creationId xmlns:a16="http://schemas.microsoft.com/office/drawing/2014/main" id="{93F3696A-106C-4404-8F3F-15A58FFB9B60}"/>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d98679dce484366"/>
              </a:rPr>
              <a:t>Setup guide</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3fd18f7e6b640cd"/>
              </a:rPr>
              <a:t>notebook manifest</a:t>
            </a:r>
          </a:p>
        </p:txBody>
      </p:sp>
    </p:spTree>
    <p:extLst>
      <p:ext uri="{BB962C8B-B14F-4D97-AF65-F5344CB8AC3E}">
        <p14:creationId xmlns:p14="http://schemas.microsoft.com/office/powerpoint/2010/main" val="865990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1FA03BC-0100-4F42-97FB-C9D7EF6784D8}"/>
              </a:ext>
            </a:extLst>
          </p:cNvPr>
          <p:cNvPicPr>
            <a:picLocks xmlns:a="http://schemas.openxmlformats.org/drawingml/2006/main" noChangeAspect="1"/>
          </p:cNvPicPr>
          <p:nvPr/>
        </p:nvPicPr>
        <p:blipFill>
          <a:blip xmlns:r="http://schemas.openxmlformats.org/officeDocument/2006/relationships" xmlns:a="http://schemas.openxmlformats.org/drawingml/2006/main" r:embed="R44cd3e6b834b4ea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442F3199-5BE4-484C-98C8-28537E83D0DA}"/>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FC945C78-09B3-422C-825E-2F83807FE67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73D8127-32A5-445F-960F-458411BBD41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Typed Contracts</a:t>
            </a:r>
          </a:p>
        </p:txBody>
      </p:sp>
      <p:sp>
        <p:nvSpPr>
          <p:cNvPr id="5" name="footer-course">
            <a:extLst xmlns:a="http://schemas.openxmlformats.org/drawingml/2006/main">
              <a:ext uri="{FF2B5EF4-FFF2-40B4-BE49-F238E27FC236}">
                <a16:creationId xmlns:a16="http://schemas.microsoft.com/office/drawing/2014/main" id="{A7A600F5-69BC-403E-B306-1F954EFAF4E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C9187753-310D-4010-A156-E1BD28F9507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07</a:t>
            </a:r>
          </a:p>
        </p:txBody>
      </p:sp>
      <p:sp>
        <p:nvSpPr>
          <p:cNvPr id="7" name="contract-intent">
            <a:extLst xmlns:a="http://schemas.openxmlformats.org/drawingml/2006/main">
              <a:ext uri="{FF2B5EF4-FFF2-40B4-BE49-F238E27FC236}">
                <a16:creationId xmlns:a16="http://schemas.microsoft.com/office/drawing/2014/main" id="{4349B44A-8D25-4007-A826-502E68CDF84E}"/>
              </a:ext>
            </a:extLst>
          </p:cNvPr>
          <p:cNvSpPr>
            <a:spLocks xmlns:a="http://schemas.openxmlformats.org/drawingml/2006/main" noGrp="1"/>
          </p:cNvSpPr>
          <p:nvPr/>
        </p:nvSpPr>
        <p:spPr>
          <a:xfrm xmlns:a="http://schemas.openxmlformats.org/drawingml/2006/main">
            <a:off x="533400" y="19145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Lab 1: specify the artifact and constraints before another role receives it.</a:t>
            </a:r>
          </a:p>
        </p:txBody>
      </p:sp>
      <p:sp>
        <p:nvSpPr>
          <p:cNvPr id="8" name="contract-code">
            <a:extLst xmlns:a="http://schemas.openxmlformats.org/drawingml/2006/main">
              <a:ext uri="{FF2B5EF4-FFF2-40B4-BE49-F238E27FC236}">
                <a16:creationId xmlns:a16="http://schemas.microsoft.com/office/drawing/2014/main" id="{5ED0722E-D435-46DB-96F8-28CE37E3DEC9}"/>
              </a:ext>
            </a:extLst>
          </p:cNvPr>
          <p:cNvSpPr>
            <a:spLocks xmlns:a="http://schemas.openxmlformats.org/drawingml/2006/main" noGrp="1"/>
          </p:cNvSpPr>
          <p:nvPr/>
        </p:nvSpPr>
        <p:spPr>
          <a:xfrm xmlns:a="http://schemas.openxmlformats.org/drawingml/2006/main">
            <a:off x="533400" y="2714625"/>
            <a:ext cx="111252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Courier New"/>
                <a:ea typeface="Courier New"/>
                <a:cs typeface="Courier New"/>
              </a:defRPr>
            </a:defPPr>
          </a:lstStyle>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{"topic": "API Security",
 "confidence_score": 150.5, "secret_backdoor": true}</a:t>
            </a:r>
          </a:p>
        </p:txBody>
      </p:sp>
      <p:sp>
        <p:nvSpPr>
          <p:cNvPr id="9" name="contract-evidence">
            <a:extLst xmlns:a="http://schemas.openxmlformats.org/drawingml/2006/main">
              <a:ext uri="{FF2B5EF4-FFF2-40B4-BE49-F238E27FC236}">
                <a16:creationId xmlns:a16="http://schemas.microsoft.com/office/drawing/2014/main" id="{0ED8AC50-8015-4641-BE94-0FBFD106E418}"/>
              </a:ext>
            </a:extLst>
          </p:cNvPr>
          <p:cNvSpPr>
            <a:spLocks xmlns:a="http://schemas.openxmlformats.org/drawingml/2006/main" noGrp="1"/>
          </p:cNvSpPr>
          <p:nvPr/>
        </p:nvSpPr>
        <p:spPr>
          <a:xfrm xmlns:a="http://schemas.openxmlformats.org/drawingml/2006/main">
            <a:off x="533400" y="50768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007DBA"/>
                </a:solidFill>
                <a:latin typeface="Arial"/>
                <a:ea typeface="Arial"/>
                <a:cs typeface="Arial"/>
              </a:defRPr>
            </a:defPPr>
          </a:lstStyle>
          <a:p xmlns:a="http://schemas.openxmlformats.org/drawingml/2006/main">
            <a:pPr algn="l">
              <a:buNone/>
              <a:defRPr sz="2025" b="1">
                <a:solidFill>
                  <a:srgbClr val="007DBA"/>
                </a:solidFill>
                <a:latin typeface="Arial"/>
                <a:ea typeface="Arial"/>
                <a:cs typeface="Arial"/>
              </a:defRPr>
            </a:pPr>
            <a:r>
              <a:rPr sz="2025" b="1">
                <a:solidFill>
                  <a:srgbClr val="007DBA"/>
                </a:solidFill>
                <a:latin typeface="Arial"/>
                <a:ea typeface="Arial"/>
                <a:cs typeface="Arial"/>
              </a:rPr>
              <a:t>Predict what the weak schema admits. Then repair the contract and test valid + invalid fixtures.</a:t>
            </a:r>
          </a:p>
        </p:txBody>
      </p:sp>
      <p:sp>
        <p:nvSpPr>
          <p:cNvPr id="10" name="contract-limit">
            <a:extLst xmlns:a="http://schemas.openxmlformats.org/drawingml/2006/main">
              <a:ext uri="{FF2B5EF4-FFF2-40B4-BE49-F238E27FC236}">
                <a16:creationId xmlns:a16="http://schemas.microsoft.com/office/drawing/2014/main" id="{BA944E49-5B2E-4F0E-A445-35B287D6549F}"/>
              </a:ext>
            </a:extLst>
          </p:cNvPr>
          <p:cNvSpPr>
            <a:spLocks xmlns:a="http://schemas.openxmlformats.org/drawingml/2006/main" noGrp="1"/>
          </p:cNvSpPr>
          <p:nvPr/>
        </p:nvSpPr>
        <p:spPr>
          <a:xfrm xmlns:a="http://schemas.openxmlformats.org/drawingml/2006/main">
            <a:off x="533400" y="57721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A schema checks declared constraints. It cannot establish that a finding or test-status claim is true.</a:t>
            </a:r>
          </a:p>
        </p:txBody>
      </p:sp>
      <p:sp>
        <p:nvSpPr>
          <p:cNvPr id="12" name="footer-reference">
            <a:extLst xmlns:a="http://schemas.openxmlformats.org/drawingml/2006/main">
              <a:ext uri="{FF2B5EF4-FFF2-40B4-BE49-F238E27FC236}">
                <a16:creationId xmlns:a16="http://schemas.microsoft.com/office/drawing/2014/main" id="{E1668168-22A6-4C5A-B7B5-63FCA9A9808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ce323d88bd044992"/>
              </a:rPr>
              <a:t>Pydantic fields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45d726f567674fea"/>
              </a:rPr>
              <a:t>Lab 1</a:t>
            </a:r>
          </a:p>
        </p:txBody>
      </p:sp>
    </p:spTree>
    <p:extLst>
      <p:ext uri="{BB962C8B-B14F-4D97-AF65-F5344CB8AC3E}">
        <p14:creationId xmlns:p14="http://schemas.microsoft.com/office/powerpoint/2010/main" val="13647641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2C62FD29-48A2-4167-A26F-2A2AF5DC1433}"/>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74B3DA9-1662-4F04-A43C-89F0ACBE5B74}"/>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8A117911-245A-484E-82FD-D062D51860F8}"/>
              </a:ext>
            </a:extLst>
          </p:cNvPr>
          <p:cNvPicPr>
            <a:picLocks xmlns:a="http://schemas.openxmlformats.org/drawingml/2006/main" noChangeAspect="1"/>
          </p:cNvPicPr>
          <p:nvPr/>
        </p:nvPicPr>
        <p:blipFill>
          <a:blip xmlns:r="http://schemas.openxmlformats.org/officeDocument/2006/relationships" xmlns:a="http://schemas.openxmlformats.org/drawingml/2006/main" r:embed="R3a7ebf3ba0e14e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6DCFF24D-F983-4ADB-B438-4BDD4377AA7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523F083A-D701-4CCF-B87C-EEF10C15284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6E9DC53-3E69-40A4-A272-707C2423D68B}"/>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Management: Manager's Audit</a:t>
            </a:r>
          </a:p>
        </p:txBody>
      </p:sp>
      <p:sp>
        <p:nvSpPr>
          <p:cNvPr id="5" name="footer-course">
            <a:extLst xmlns:a="http://schemas.openxmlformats.org/drawingml/2006/main">
              <a:ext uri="{FF2B5EF4-FFF2-40B4-BE49-F238E27FC236}">
                <a16:creationId xmlns:a16="http://schemas.microsoft.com/office/drawing/2014/main" id="{5F7697AB-890A-4BE8-A99E-745C92BD3D5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7964C30D-09AD-453F-BA2A-AA030AB549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08</a:t>
            </a:r>
          </a:p>
        </p:txBody>
      </p:sp>
      <p:sp>
        <p:nvSpPr>
          <p:cNvPr id="7" name="manager">
            <a:extLst xmlns:a="http://schemas.openxmlformats.org/drawingml/2006/main">
              <a:ext uri="{FF2B5EF4-FFF2-40B4-BE49-F238E27FC236}">
                <a16:creationId xmlns:a16="http://schemas.microsoft.com/office/drawing/2014/main" id="{1398196C-D490-4564-A7C1-3901568DA27D}"/>
              </a:ext>
            </a:extLst>
          </p:cNvPr>
          <p:cNvSpPr>
            <a:spLocks xmlns:a="http://schemas.openxmlformats.org/drawingml/2006/main" noGrp="1"/>
          </p:cNvSpPr>
          <p:nvPr/>
        </p:nvSpPr>
        <p:spPr>
          <a:xfrm xmlns:a="http://schemas.openxmlformats.org/drawingml/2006/main">
            <a:off x="5334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manager-head">
            <a:extLst xmlns:a="http://schemas.openxmlformats.org/drawingml/2006/main">
              <a:ext uri="{FF2B5EF4-FFF2-40B4-BE49-F238E27FC236}">
                <a16:creationId xmlns:a16="http://schemas.microsoft.com/office/drawing/2014/main" id="{EE00868D-92FC-4ABA-BFB6-F92F7E19E83C}"/>
              </a:ext>
            </a:extLst>
          </p:cNvPr>
          <p:cNvSpPr>
            <a:spLocks xmlns:a="http://schemas.openxmlformats.org/drawingml/2006/main" noGrp="1"/>
          </p:cNvSpPr>
          <p:nvPr/>
        </p:nvSpPr>
        <p:spPr>
          <a:xfrm xmlns:a="http://schemas.openxmlformats.org/drawingml/2006/main">
            <a:off x="7048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Manager</a:t>
            </a:r>
          </a:p>
        </p:txBody>
      </p:sp>
      <p:sp>
        <p:nvSpPr>
          <p:cNvPr id="9" name="manager-body">
            <a:extLst xmlns:a="http://schemas.openxmlformats.org/drawingml/2006/main">
              <a:ext uri="{FF2B5EF4-FFF2-40B4-BE49-F238E27FC236}">
                <a16:creationId xmlns:a16="http://schemas.microsoft.com/office/drawing/2014/main" id="{801402F0-7752-49D2-8FED-C87E2FBE995F}"/>
              </a:ext>
            </a:extLst>
          </p:cNvPr>
          <p:cNvSpPr>
            <a:spLocks xmlns:a="http://schemas.openxmlformats.org/drawingml/2006/main" noGrp="1"/>
          </p:cNvSpPr>
          <p:nvPr/>
        </p:nvSpPr>
        <p:spPr>
          <a:xfrm xmlns:a="http://schemas.openxmlformats.org/drawingml/2006/main">
            <a:off x="7048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Reviews and delegates
No implementation tool</a:t>
            </a:r>
          </a:p>
        </p:txBody>
      </p:sp>
      <p:sp>
        <p:nvSpPr>
          <p:cNvPr id="10" name="coder">
            <a:extLst xmlns:a="http://schemas.openxmlformats.org/drawingml/2006/main">
              <a:ext uri="{FF2B5EF4-FFF2-40B4-BE49-F238E27FC236}">
                <a16:creationId xmlns:a16="http://schemas.microsoft.com/office/drawing/2014/main" id="{BF80AFD5-DA81-430D-A711-8A668460542E}"/>
              </a:ext>
            </a:extLst>
          </p:cNvPr>
          <p:cNvSpPr>
            <a:spLocks xmlns:a="http://schemas.openxmlformats.org/drawingml/2006/main" noGrp="1"/>
          </p:cNvSpPr>
          <p:nvPr/>
        </p:nvSpPr>
        <p:spPr>
          <a:xfrm xmlns:a="http://schemas.openxmlformats.org/drawingml/2006/main">
            <a:off x="447675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der-head">
            <a:extLst xmlns:a="http://schemas.openxmlformats.org/drawingml/2006/main">
              <a:ext uri="{FF2B5EF4-FFF2-40B4-BE49-F238E27FC236}">
                <a16:creationId xmlns:a16="http://schemas.microsoft.com/office/drawing/2014/main" id="{196ABC31-2B77-4FD6-AFDA-5E1E82F5084D}"/>
              </a:ext>
            </a:extLst>
          </p:cNvPr>
          <p:cNvSpPr>
            <a:spLocks xmlns:a="http://schemas.openxmlformats.org/drawingml/2006/main" noGrp="1"/>
          </p:cNvSpPr>
          <p:nvPr/>
        </p:nvSpPr>
        <p:spPr>
          <a:xfrm xmlns:a="http://schemas.openxmlformats.org/drawingml/2006/main">
            <a:off x="464820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Coder</a:t>
            </a:r>
          </a:p>
        </p:txBody>
      </p:sp>
      <p:sp>
        <p:nvSpPr>
          <p:cNvPr id="12" name="coder-body">
            <a:extLst xmlns:a="http://schemas.openxmlformats.org/drawingml/2006/main">
              <a:ext uri="{FF2B5EF4-FFF2-40B4-BE49-F238E27FC236}">
                <a16:creationId xmlns:a16="http://schemas.microsoft.com/office/drawing/2014/main" id="{9A433F6D-444B-4B66-AC95-0F06D8F9C47F}"/>
              </a:ext>
            </a:extLst>
          </p:cNvPr>
          <p:cNvSpPr>
            <a:spLocks xmlns:a="http://schemas.openxmlformats.org/drawingml/2006/main" noGrp="1"/>
          </p:cNvSpPr>
          <p:nvPr/>
        </p:nvSpPr>
        <p:spPr>
          <a:xfrm xmlns:a="http://schemas.openxmlformats.org/drawingml/2006/main">
            <a:off x="464820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Writes a proposal
No self-approval</a:t>
            </a:r>
          </a:p>
        </p:txBody>
      </p:sp>
      <p:sp>
        <p:nvSpPr>
          <p:cNvPr id="13" name="qa">
            <a:extLst xmlns:a="http://schemas.openxmlformats.org/drawingml/2006/main">
              <a:ext uri="{FF2B5EF4-FFF2-40B4-BE49-F238E27FC236}">
                <a16:creationId xmlns:a16="http://schemas.microsoft.com/office/drawing/2014/main" id="{82D528CF-A3C9-4F75-A89A-CCD625054840}"/>
              </a:ext>
            </a:extLst>
          </p:cNvPr>
          <p:cNvSpPr>
            <a:spLocks xmlns:a="http://schemas.openxmlformats.org/drawingml/2006/main" noGrp="1"/>
          </p:cNvSpPr>
          <p:nvPr/>
        </p:nvSpPr>
        <p:spPr>
          <a:xfrm xmlns:a="http://schemas.openxmlformats.org/drawingml/2006/main">
            <a:off x="84201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qa-head">
            <a:extLst xmlns:a="http://schemas.openxmlformats.org/drawingml/2006/main">
              <a:ext uri="{FF2B5EF4-FFF2-40B4-BE49-F238E27FC236}">
                <a16:creationId xmlns:a16="http://schemas.microsoft.com/office/drawing/2014/main" id="{A26D8E2A-BC72-4400-8499-9ABC8CD03DAE}"/>
              </a:ext>
            </a:extLst>
          </p:cNvPr>
          <p:cNvSpPr>
            <a:spLocks xmlns:a="http://schemas.openxmlformats.org/drawingml/2006/main" noGrp="1"/>
          </p:cNvSpPr>
          <p:nvPr/>
        </p:nvSpPr>
        <p:spPr>
          <a:xfrm xmlns:a="http://schemas.openxmlformats.org/drawingml/2006/main">
            <a:off x="85915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QA Auditor</a:t>
            </a:r>
          </a:p>
        </p:txBody>
      </p:sp>
      <p:sp>
        <p:nvSpPr>
          <p:cNvPr id="15" name="qa-body">
            <a:extLst xmlns:a="http://schemas.openxmlformats.org/drawingml/2006/main">
              <a:ext uri="{FF2B5EF4-FFF2-40B4-BE49-F238E27FC236}">
                <a16:creationId xmlns:a16="http://schemas.microsoft.com/office/drawing/2014/main" id="{808F1720-AACB-40FC-92FF-A6EC6F9D64E5}"/>
              </a:ext>
            </a:extLst>
          </p:cNvPr>
          <p:cNvSpPr>
            <a:spLocks xmlns:a="http://schemas.openxmlformats.org/drawingml/2006/main" noGrp="1"/>
          </p:cNvSpPr>
          <p:nvPr/>
        </p:nvSpPr>
        <p:spPr>
          <a:xfrm xmlns:a="http://schemas.openxmlformats.org/drawingml/2006/main">
            <a:off x="85915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Tests and reports evidence
No code changes</a:t>
            </a:r>
          </a:p>
        </p:txBody>
      </p:sp>
      <p:sp>
        <p:nvSpPr>
          <p:cNvPr id="18" name="team-context">
            <a:extLst xmlns:a="http://schemas.openxmlformats.org/drawingml/2006/main">
              <a:ext uri="{FF2B5EF4-FFF2-40B4-BE49-F238E27FC236}">
                <a16:creationId xmlns:a16="http://schemas.microsoft.com/office/drawing/2014/main" id="{E3D48991-BB7B-4F5C-85F7-A84F363C4A29}"/>
              </a:ext>
            </a:extLst>
          </p:cNvPr>
          <p:cNvSpPr>
            <a:spLocks xmlns:a="http://schemas.openxmlformats.org/drawingml/2006/main" noGrp="1"/>
          </p:cNvSpPr>
          <p:nvPr/>
        </p:nvSpPr>
        <p:spPr>
          <a:xfrm xmlns:a="http://schemas.openxmlformats.org/drawingml/2006/main">
            <a:off x="533400" y="37814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Audit the role boundaries and the rules reaching the Coder.</a:t>
            </a:r>
          </a:p>
        </p:txBody>
      </p:sp>
      <p:sp>
        <p:nvSpPr>
          <p:cNvPr id="19" name="team-context-code">
            <a:extLst xmlns:a="http://schemas.openxmlformats.org/drawingml/2006/main">
              <a:ext uri="{FF2B5EF4-FFF2-40B4-BE49-F238E27FC236}">
                <a16:creationId xmlns:a16="http://schemas.microsoft.com/office/drawing/2014/main" id="{0110D759-3AD7-495F-A5FB-B7845E41D47C}"/>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Courier New"/>
                <a:ea typeface="Courier New"/>
                <a:cs typeface="Courier New"/>
              </a:defRPr>
            </a:defPPr>
          </a:lstStyle>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Where does the approved rule enter the Coder's task context?
What evidence should a Manager inspect before passing work to QA?</a:t>
            </a:r>
          </a:p>
        </p:txBody>
      </p:sp>
      <p:sp>
        <p:nvSpPr>
          <p:cNvPr id="20" name="team-proof">
            <a:extLst xmlns:a="http://schemas.openxmlformats.org/drawingml/2006/main">
              <a:ext uri="{FF2B5EF4-FFF2-40B4-BE49-F238E27FC236}">
                <a16:creationId xmlns:a16="http://schemas.microsoft.com/office/drawing/2014/main" id="{BD40F8FF-25AF-4422-9177-85F54C99F2B2}"/>
              </a:ext>
            </a:extLst>
          </p:cNvPr>
          <p:cNvSpPr>
            <a:spLocks xmlns:a="http://schemas.openxmlformats.org/drawingml/2006/main" noGrp="1"/>
          </p:cNvSpPr>
          <p:nvPr/>
        </p:nvSpPr>
        <p:spPr>
          <a:xfrm xmlns:a="http://schemas.openxmlformats.org/drawingml/2006/main">
            <a:off x="533400" y="56197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A pass opens only the local QA inbox—not a test run or release approval.</a:t>
            </a:r>
          </a:p>
        </p:txBody>
      </p:sp>
      <p:sp>
        <p:nvSpPr>
          <p:cNvPr id="22" name="footer-reference">
            <a:extLst xmlns:a="http://schemas.openxmlformats.org/drawingml/2006/main">
              <a:ext uri="{FF2B5EF4-FFF2-40B4-BE49-F238E27FC236}">
                <a16:creationId xmlns:a16="http://schemas.microsoft.com/office/drawing/2014/main" id="{DCCCDAB5-9403-47A3-8B94-0E87AB26FFD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9958b2042ca4055"/>
              </a:rPr>
              <a:t>Lab 2 Manager audit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36f5383d4744103"/>
              </a:rPr>
              <a:t>CrewAI tasks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914d3fbf814162"/>
              </a:rPr>
              <a:t>Theory of Mind</a:t>
            </a:r>
          </a:p>
        </p:txBody>
      </p:sp>
    </p:spTree>
    <p:extLst>
      <p:ext uri="{BB962C8B-B14F-4D97-AF65-F5344CB8AC3E}">
        <p14:creationId xmlns:p14="http://schemas.microsoft.com/office/powerpoint/2010/main" val="10451782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D48E5B6-053E-4494-B471-692714D3C077}"/>
              </a:ext>
            </a:extLst>
          </p:cNvPr>
          <p:cNvCxnSpPr>
            <a:stCxn xmlns:a="http://schemas.openxmlformats.org/drawingml/2006/main" id="11" idx="3"/>
            <a:endCxn xmlns:a="http://schemas.openxmlformats.org/drawingml/2006/main" id="14" idx="1"/>
          </p:cNvCxnSpPr>
          <p:nvPr/>
        </p:nvCxnSpPr>
        <p:spPr>
          <a:xfrm xmlns:a="http://schemas.openxmlformats.org/drawingml/2006/main">
            <a:off x="771525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7" name="">
            <a:extLst xmlns:a="http://schemas.openxmlformats.org/drawingml/2006/main">
              <a:ext uri="{FF2B5EF4-FFF2-40B4-BE49-F238E27FC236}">
                <a16:creationId xmlns:a16="http://schemas.microsoft.com/office/drawing/2014/main" id="{41DED08B-5900-4502-A6D7-1595DFB4F294}"/>
              </a:ext>
            </a:extLst>
          </p:cNvPr>
          <p:cNvCxnSpPr>
            <a:stCxn xmlns:a="http://schemas.openxmlformats.org/drawingml/2006/main" id="8" idx="3"/>
            <a:endCxn xmlns:a="http://schemas.openxmlformats.org/drawingml/2006/main" id="11" idx="1"/>
          </p:cNvCxnSpPr>
          <p:nvPr/>
        </p:nvCxnSpPr>
        <p:spPr>
          <a:xfrm xmlns:a="http://schemas.openxmlformats.org/drawingml/2006/main">
            <a:off x="377190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4" name="">
            <a:extLst xmlns:a="http://schemas.openxmlformats.org/drawingml/2006/main">
              <a:ext uri="{FF2B5EF4-FFF2-40B4-BE49-F238E27FC236}">
                <a16:creationId xmlns:a16="http://schemas.microsoft.com/office/drawing/2014/main" id="{D68120C7-1A83-4080-AA5F-A48DAA2A7385}"/>
              </a:ext>
            </a:extLst>
          </p:cNvPr>
          <p:cNvPicPr>
            <a:picLocks xmlns:a="http://schemas.openxmlformats.org/drawingml/2006/main" noChangeAspect="1"/>
          </p:cNvPicPr>
          <p:nvPr/>
        </p:nvPicPr>
        <p:blipFill>
          <a:blip xmlns:r="http://schemas.openxmlformats.org/officeDocument/2006/relationships" xmlns:a="http://schemas.openxmlformats.org/drawingml/2006/main" r:embed="Rfb60823dcb814a5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BB7A2A0-82CE-466E-A0F7-CB084A641C1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1974ADD2-378D-44C1-B62A-253F745B028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FDAAB41-0FB8-4BB1-BBE4-33C58274192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Manager Oversight: Code Validation</a:t>
            </a:r>
          </a:p>
        </p:txBody>
      </p:sp>
      <p:sp>
        <p:nvSpPr>
          <p:cNvPr id="5" name="footer-course">
            <a:extLst xmlns:a="http://schemas.openxmlformats.org/drawingml/2006/main">
              <a:ext uri="{FF2B5EF4-FFF2-40B4-BE49-F238E27FC236}">
                <a16:creationId xmlns:a16="http://schemas.microsoft.com/office/drawing/2014/main" id="{627B5B18-5D3B-4EF4-8F36-38F70DC693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C0BCC4B7-16F8-4DC5-B44F-91138C72043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09</a:t>
            </a:r>
          </a:p>
        </p:txBody>
      </p:sp>
      <p:sp>
        <p:nvSpPr>
          <p:cNvPr id="7" name="tool-gate-head">
            <a:extLst xmlns:a="http://schemas.openxmlformats.org/drawingml/2006/main">
              <a:ext uri="{FF2B5EF4-FFF2-40B4-BE49-F238E27FC236}">
                <a16:creationId xmlns:a16="http://schemas.microsoft.com/office/drawing/2014/main" id="{0083E46B-6B89-4E64-9A6B-3AE2A9B220A3}"/>
              </a:ext>
            </a:extLst>
          </p:cNvPr>
          <p:cNvSpPr>
            <a:spLocks xmlns:a="http://schemas.openxmlformats.org/drawingml/2006/main" noGrp="1"/>
          </p:cNvSpPr>
          <p:nvPr/>
        </p:nvSpPr>
        <p:spPr>
          <a:xfrm xmlns:a="http://schemas.openxmlformats.org/drawingml/2006/main">
            <a:off x="533400" y="1924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Input gate</a:t>
            </a:r>
          </a:p>
        </p:txBody>
      </p:sp>
      <p:sp>
        <p:nvSpPr>
          <p:cNvPr id="8" name="unsafe-input">
            <a:extLst xmlns:a="http://schemas.openxmlformats.org/drawingml/2006/main">
              <a:ext uri="{FF2B5EF4-FFF2-40B4-BE49-F238E27FC236}">
                <a16:creationId xmlns:a16="http://schemas.microsoft.com/office/drawing/2014/main" id="{BE8E2013-064F-43B1-8891-8229F7F456C2}"/>
              </a:ext>
            </a:extLst>
          </p:cNvPr>
          <p:cNvSpPr>
            <a:spLocks xmlns:a="http://schemas.openxmlformats.org/drawingml/2006/main" noGrp="1"/>
          </p:cNvSpPr>
          <p:nvPr/>
        </p:nvSpPr>
        <p:spPr>
          <a:xfrm xmlns:a="http://schemas.openxmlformats.org/drawingml/2006/main">
            <a:off x="5334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9" name="unsafe-input-head">
            <a:extLst xmlns:a="http://schemas.openxmlformats.org/drawingml/2006/main">
              <a:ext uri="{FF2B5EF4-FFF2-40B4-BE49-F238E27FC236}">
                <a16:creationId xmlns:a16="http://schemas.microsoft.com/office/drawing/2014/main" id="{C93EFF9B-BB4F-462D-BEA5-E63D92F9F2EF}"/>
              </a:ext>
            </a:extLst>
          </p:cNvPr>
          <p:cNvSpPr>
            <a:spLocks xmlns:a="http://schemas.openxmlformats.org/drawingml/2006/main" noGrp="1"/>
          </p:cNvSpPr>
          <p:nvPr/>
        </p:nvSpPr>
        <p:spPr>
          <a:xfrm xmlns:a="http://schemas.openxmlformats.org/drawingml/2006/main">
            <a:off x="7048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Tool request</a:t>
            </a:r>
          </a:p>
        </p:txBody>
      </p:sp>
      <p:sp>
        <p:nvSpPr>
          <p:cNvPr id="10" name="unsafe-input-body">
            <a:extLst xmlns:a="http://schemas.openxmlformats.org/drawingml/2006/main">
              <a:ext uri="{FF2B5EF4-FFF2-40B4-BE49-F238E27FC236}">
                <a16:creationId xmlns:a16="http://schemas.microsoft.com/office/drawing/2014/main" id="{6667FEB2-96EA-485B-81D7-91BFB14C1F96}"/>
              </a:ext>
            </a:extLst>
          </p:cNvPr>
          <p:cNvSpPr>
            <a:spLocks xmlns:a="http://schemas.openxmlformats.org/drawingml/2006/main" noGrp="1"/>
          </p:cNvSpPr>
          <p:nvPr/>
        </p:nvSpPr>
        <p:spPr>
          <a:xfrm xmlns:a="http://schemas.openxmlformats.org/drawingml/2006/main">
            <a:off x="7048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123 or a SQL-like value</a:t>
            </a:r>
          </a:p>
        </p:txBody>
      </p:sp>
      <p:sp>
        <p:nvSpPr>
          <p:cNvPr id="11" name="input-validator">
            <a:extLst xmlns:a="http://schemas.openxmlformats.org/drawingml/2006/main">
              <a:ext uri="{FF2B5EF4-FFF2-40B4-BE49-F238E27FC236}">
                <a16:creationId xmlns:a16="http://schemas.microsoft.com/office/drawing/2014/main" id="{489777BA-B7EE-42ED-BD67-25F792BB303D}"/>
              </a:ext>
            </a:extLst>
          </p:cNvPr>
          <p:cNvSpPr>
            <a:spLocks xmlns:a="http://schemas.openxmlformats.org/drawingml/2006/main" noGrp="1"/>
          </p:cNvSpPr>
          <p:nvPr/>
        </p:nvSpPr>
        <p:spPr>
          <a:xfrm xmlns:a="http://schemas.openxmlformats.org/drawingml/2006/main">
            <a:off x="447675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2" name="input-validator-head">
            <a:extLst xmlns:a="http://schemas.openxmlformats.org/drawingml/2006/main">
              <a:ext uri="{FF2B5EF4-FFF2-40B4-BE49-F238E27FC236}">
                <a16:creationId xmlns:a16="http://schemas.microsoft.com/office/drawing/2014/main" id="{18CFD1DF-29C5-4B7B-B7F1-B8D0250FAAFE}"/>
              </a:ext>
            </a:extLst>
          </p:cNvPr>
          <p:cNvSpPr>
            <a:spLocks xmlns:a="http://schemas.openxmlformats.org/drawingml/2006/main" noGrp="1"/>
          </p:cNvSpPr>
          <p:nvPr/>
        </p:nvSpPr>
        <p:spPr>
          <a:xfrm xmlns:a="http://schemas.openxmlformats.org/drawingml/2006/main">
            <a:off x="464820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Validate ID</a:t>
            </a:r>
          </a:p>
        </p:txBody>
      </p:sp>
      <p:sp>
        <p:nvSpPr>
          <p:cNvPr id="13" name="input-validator-body">
            <a:extLst xmlns:a="http://schemas.openxmlformats.org/drawingml/2006/main">
              <a:ext uri="{FF2B5EF4-FFF2-40B4-BE49-F238E27FC236}">
                <a16:creationId xmlns:a16="http://schemas.microsoft.com/office/drawing/2014/main" id="{4B00E4CB-E744-44A3-9A0B-D3106D37EA78}"/>
              </a:ext>
            </a:extLst>
          </p:cNvPr>
          <p:cNvSpPr>
            <a:spLocks xmlns:a="http://schemas.openxmlformats.org/drawingml/2006/main" noGrp="1"/>
          </p:cNvSpPr>
          <p:nvPr/>
        </p:nvSpPr>
        <p:spPr>
          <a:xfrm xmlns:a="http://schemas.openxmlformats.org/drawingml/2006/main">
            <a:off x="464820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Set accepted ID format</a:t>
            </a:r>
          </a:p>
        </p:txBody>
      </p:sp>
      <p:sp>
        <p:nvSpPr>
          <p:cNvPr id="14" name="dry-run-tool">
            <a:extLst xmlns:a="http://schemas.openxmlformats.org/drawingml/2006/main">
              <a:ext uri="{FF2B5EF4-FFF2-40B4-BE49-F238E27FC236}">
                <a16:creationId xmlns:a16="http://schemas.microsoft.com/office/drawing/2014/main" id="{DC795693-F993-492F-9309-8837082FE014}"/>
              </a:ext>
            </a:extLst>
          </p:cNvPr>
          <p:cNvSpPr>
            <a:spLocks xmlns:a="http://schemas.openxmlformats.org/drawingml/2006/main" noGrp="1"/>
          </p:cNvSpPr>
          <p:nvPr/>
        </p:nvSpPr>
        <p:spPr>
          <a:xfrm xmlns:a="http://schemas.openxmlformats.org/drawingml/2006/main">
            <a:off x="84201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5" name="dry-run-tool-head">
            <a:extLst xmlns:a="http://schemas.openxmlformats.org/drawingml/2006/main">
              <a:ext uri="{FF2B5EF4-FFF2-40B4-BE49-F238E27FC236}">
                <a16:creationId xmlns:a16="http://schemas.microsoft.com/office/drawing/2014/main" id="{9D3F4BDE-D60D-4E97-A9E4-AA5E66FB4CDA}"/>
              </a:ext>
            </a:extLst>
          </p:cNvPr>
          <p:cNvSpPr>
            <a:spLocks xmlns:a="http://schemas.openxmlformats.org/drawingml/2006/main" noGrp="1"/>
          </p:cNvSpPr>
          <p:nvPr/>
        </p:nvSpPr>
        <p:spPr>
          <a:xfrm xmlns:a="http://schemas.openxmlformats.org/drawingml/2006/main">
            <a:off x="85915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Dry-run lookup</a:t>
            </a:r>
          </a:p>
        </p:txBody>
      </p:sp>
      <p:sp>
        <p:nvSpPr>
          <p:cNvPr id="16" name="dry-run-tool-body">
            <a:extLst xmlns:a="http://schemas.openxmlformats.org/drawingml/2006/main">
              <a:ext uri="{FF2B5EF4-FFF2-40B4-BE49-F238E27FC236}">
                <a16:creationId xmlns:a16="http://schemas.microsoft.com/office/drawing/2014/main" id="{6521424E-A476-4636-ACE7-2EEF216022A1}"/>
              </a:ext>
            </a:extLst>
          </p:cNvPr>
          <p:cNvSpPr>
            <a:spLocks xmlns:a="http://schemas.openxmlformats.org/drawingml/2006/main" noGrp="1"/>
          </p:cNvSpPr>
          <p:nvPr/>
        </p:nvSpPr>
        <p:spPr>
          <a:xfrm xmlns:a="http://schemas.openxmlformats.org/drawingml/2006/main">
            <a:off x="85915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Call only after validation</a:t>
            </a:r>
          </a:p>
        </p:txBody>
      </p:sp>
      <p:sp>
        <p:nvSpPr>
          <p:cNvPr id="19" name="tool-denial">
            <a:extLst xmlns:a="http://schemas.openxmlformats.org/drawingml/2006/main">
              <a:ext uri="{FF2B5EF4-FFF2-40B4-BE49-F238E27FC236}">
                <a16:creationId xmlns:a16="http://schemas.microsoft.com/office/drawing/2014/main" id="{A4266199-F768-4CBF-B57A-CAA701204C94}"/>
              </a:ext>
            </a:extLst>
          </p:cNvPr>
          <p:cNvSpPr>
            <a:spLocks xmlns:a="http://schemas.openxmlformats.org/drawingml/2006/main" noGrp="1"/>
          </p:cNvSpPr>
          <p:nvPr/>
        </p:nvSpPr>
        <p:spPr>
          <a:xfrm xmlns:a="http://schemas.openxmlformats.org/drawingml/2006/main">
            <a:off x="533400" y="36004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575" b="1">
                <a:solidFill>
                  <a:srgbClr val="D5077D"/>
                </a:solidFill>
                <a:latin typeface="Arial"/>
                <a:ea typeface="Arial"/>
                <a:cs typeface="Arial"/>
              </a:defRPr>
            </a:defPPr>
          </a:lstStyle>
          <a:p xmlns:a="http://schemas.openxmlformats.org/drawingml/2006/main">
            <a:pPr algn="l">
              <a:buNone/>
              <a:defRPr sz="1575" b="1">
                <a:solidFill>
                  <a:srgbClr val="D5077D"/>
                </a:solidFill>
                <a:latin typeface="Arial"/>
                <a:ea typeface="Arial"/>
                <a:cs typeface="Arial"/>
              </a:defRPr>
            </a:pPr>
            <a:r>
              <a:rPr sz="1575" b="1">
                <a:solidFill>
                  <a:srgbClr val="D5077D"/>
                </a:solidFill>
                <a:latin typeface="Arial"/>
                <a:ea typeface="Arial"/>
                <a:cs typeface="Arial"/>
              </a:rPr>
              <a:t>Gate first: invalid input must stop before the dry-run tool.</a:t>
            </a:r>
          </a:p>
        </p:txBody>
      </p:sp>
      <p:sp>
        <p:nvSpPr>
          <p:cNvPr id="20" name="bound-head">
            <a:extLst xmlns:a="http://schemas.openxmlformats.org/drawingml/2006/main">
              <a:ext uri="{FF2B5EF4-FFF2-40B4-BE49-F238E27FC236}">
                <a16:creationId xmlns:a16="http://schemas.microsoft.com/office/drawing/2014/main" id="{CB01539D-A088-48E2-94EB-ADEADD861A9C}"/>
              </a:ext>
            </a:extLst>
          </p:cNvPr>
          <p:cNvSpPr>
            <a:spLocks xmlns:a="http://schemas.openxmlformats.org/drawingml/2006/main" noGrp="1"/>
          </p:cNvSpPr>
          <p:nvPr/>
        </p:nvSpPr>
        <p:spPr>
          <a:xfrm xmlns:a="http://schemas.openxmlformats.org/drawingml/2006/main">
            <a:off x="533400" y="40576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Retry bound</a:t>
            </a:r>
          </a:p>
        </p:txBody>
      </p:sp>
      <p:sp>
        <p:nvSpPr>
          <p:cNvPr id="21" name="retry-sequence">
            <a:extLst xmlns:a="http://schemas.openxmlformats.org/drawingml/2006/main">
              <a:ext uri="{FF2B5EF4-FFF2-40B4-BE49-F238E27FC236}">
                <a16:creationId xmlns:a16="http://schemas.microsoft.com/office/drawing/2014/main" id="{4DA9B62A-7A45-4409-A84B-A74CE7F8A637}"/>
              </a:ext>
            </a:extLst>
          </p:cNvPr>
          <p:cNvSpPr>
            <a:spLocks xmlns:a="http://schemas.openxmlformats.org/drawingml/2006/main" noGrp="1"/>
          </p:cNvSpPr>
          <p:nvPr/>
        </p:nvSpPr>
        <p:spPr>
          <a:xfrm xmlns:a="http://schemas.openxmlformats.org/drawingml/2006/main">
            <a:off x="533400" y="45720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75" b="1">
                <a:solidFill>
                  <a:srgbClr val="007DBA"/>
                </a:solidFill>
                <a:latin typeface="Arial"/>
                <a:ea typeface="Arial"/>
                <a:cs typeface="Arial"/>
              </a:defRPr>
            </a:defPPr>
          </a:lstStyle>
          <a:p xmlns:a="http://schemas.openxmlformats.org/drawingml/2006/main">
            <a:pPr algn="l">
              <a:buNone/>
              <a:defRPr sz="2175" b="1">
                <a:solidFill>
                  <a:srgbClr val="007DBA"/>
                </a:solidFill>
                <a:latin typeface="Arial"/>
                <a:ea typeface="Arial"/>
                <a:cs typeface="Arial"/>
              </a:defRPr>
            </a:pPr>
            <a:r>
              <a:rPr sz="2175" b="1">
                <a:solidFill>
                  <a:srgbClr val="007DBA"/>
                </a:solidFill>
                <a:latin typeface="Arial"/>
                <a:ea typeface="Arial"/>
                <a:cs typeface="Arial"/>
              </a:rPr>
              <a:t>Your turn: set a retry ceiling and define when to escalate.</a:t>
            </a:r>
          </a:p>
        </p:txBody>
      </p:sp>
      <p:sp>
        <p:nvSpPr>
          <p:cNvPr id="22" name="retry-result">
            <a:extLst xmlns:a="http://schemas.openxmlformats.org/drawingml/2006/main">
              <a:ext uri="{FF2B5EF4-FFF2-40B4-BE49-F238E27FC236}">
                <a16:creationId xmlns:a16="http://schemas.microsoft.com/office/drawing/2014/main" id="{B58A6E45-90A9-41BD-AC1B-D4D8AA2DFEAE}"/>
              </a:ext>
            </a:extLst>
          </p:cNvPr>
          <p:cNvSpPr>
            <a:spLocks xmlns:a="http://schemas.openxmlformats.org/drawingml/2006/main" noGrp="1"/>
          </p:cNvSpPr>
          <p:nvPr/>
        </p:nvSpPr>
        <p:spPr>
          <a:xfrm xmlns:a="http://schemas.openxmlformats.org/drawingml/2006/main">
            <a:off x="533400" y="51816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Estimate the fixture cost, then compare it with the observed trace.</a:t>
            </a:r>
          </a:p>
        </p:txBody>
      </p:sp>
      <p:sp>
        <p:nvSpPr>
          <p:cNvPr id="23" name="gate-limit">
            <a:extLst xmlns:a="http://schemas.openxmlformats.org/drawingml/2006/main">
              <a:ext uri="{FF2B5EF4-FFF2-40B4-BE49-F238E27FC236}">
                <a16:creationId xmlns:a16="http://schemas.microsoft.com/office/drawing/2014/main" id="{68846BEB-F027-4270-98BF-0221310660B5}"/>
              </a:ext>
            </a:extLst>
          </p:cNvPr>
          <p:cNvSpPr>
            <a:spLocks xmlns:a="http://schemas.openxmlformats.org/drawingml/2006/main" noGrp="1"/>
          </p:cNvSpPr>
          <p:nvPr/>
        </p:nvSpPr>
        <p:spPr>
          <a:xfrm xmlns:a="http://schemas.openxmlformats.org/drawingml/2006/main">
            <a:off x="533400" y="57816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The Manager records escalation after the limit; no real alert or release occurs.</a:t>
            </a:r>
          </a:p>
        </p:txBody>
      </p:sp>
      <p:sp>
        <p:nvSpPr>
          <p:cNvPr id="25" name="footer-reference">
            <a:extLst xmlns:a="http://schemas.openxmlformats.org/drawingml/2006/main">
              <a:ext uri="{FF2B5EF4-FFF2-40B4-BE49-F238E27FC236}">
                <a16:creationId xmlns:a16="http://schemas.microsoft.com/office/drawing/2014/main" id="{42B3AA52-50EF-4ECC-B4F1-CCE78159C4F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a69bcb847ec457f"/>
              </a:rPr>
              <a:t>Lab 3 Manager oversight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852703a3a864c20"/>
              </a:rPr>
              <a:t>MCP specification</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edb4c1b5bc44363"/>
              </a:rPr>
              <a:t>Reflexion</a:t>
            </a:r>
          </a:p>
        </p:txBody>
      </p:sp>
    </p:spTree>
    <p:extLst>
      <p:ext uri="{BB962C8B-B14F-4D97-AF65-F5344CB8AC3E}">
        <p14:creationId xmlns:p14="http://schemas.microsoft.com/office/powerpoint/2010/main" val="11018025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DAE923-7FEC-4074-965A-CCEE4158498A}"/>
              </a:ext>
            </a:extLst>
          </p:cNvPr>
          <p:cNvPicPr>
            <a:picLocks xmlns:a="http://schemas.openxmlformats.org/drawingml/2006/main" noChangeAspect="1"/>
          </p:cNvPicPr>
          <p:nvPr/>
        </p:nvPicPr>
        <p:blipFill>
          <a:blip xmlns:r="http://schemas.openxmlformats.org/officeDocument/2006/relationships" xmlns:a="http://schemas.openxmlformats.org/drawingml/2006/main" r:embed="R0cac82375e3147b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ABBF605-0234-40E3-B819-BD899D36042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E146F6F-BC10-4F75-BFC7-5892C102575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2B44369-614F-43B0-89AD-7ED7F0C4B79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Framework Comparison</a:t>
            </a:r>
          </a:p>
        </p:txBody>
      </p:sp>
      <p:sp>
        <p:nvSpPr>
          <p:cNvPr id="5" name="footer-course">
            <a:extLst xmlns:a="http://schemas.openxmlformats.org/drawingml/2006/main">
              <a:ext uri="{FF2B5EF4-FFF2-40B4-BE49-F238E27FC236}">
                <a16:creationId xmlns:a16="http://schemas.microsoft.com/office/drawing/2014/main" id="{4EDA3328-4487-4543-B93A-970F2B10ECE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3485BE69-3738-401A-B714-31CC951F91F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10</a:t>
            </a:r>
          </a:p>
        </p:txBody>
      </p:sp>
      <p:sp>
        <p:nvSpPr>
          <p:cNvPr id="10" name="footer-reference">
            <a:extLst xmlns:a="http://schemas.openxmlformats.org/drawingml/2006/main">
              <a:ext uri="{FF2B5EF4-FFF2-40B4-BE49-F238E27FC236}">
                <a16:creationId xmlns:a16="http://schemas.microsoft.com/office/drawing/2014/main" id="{BA10DBFE-7DF8-4099-B76E-D26D9071255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66a0195f6594a75"/>
              </a:rPr>
              <a:t>Framework comparison and official documentation</a:t>
            </a:r>
          </a:p>
        </p:txBody>
      </p:sp>
      <p:graphicFrame>
        <p:nvGraphicFramePr>
          <p:cNvPr id="11" name="">
            <a:extLst xmlns:a="http://schemas.openxmlformats.org/drawingml/2006/main">
              <a:ext uri="{FF2B5EF4-FFF2-40B4-BE49-F238E27FC236}">
                <a16:creationId xmlns:a16="http://schemas.microsoft.com/office/drawing/2014/main" id="{A975E6D4-0C11-46C9-A0B1-972E62E6DD1E}"/>
              </a:ext>
            </a:extLst>
          </p:cNvPr>
          <p:cNvGraphicFramePr/>
          <p:nvPr/>
        </p:nvGraphicFramePr>
        <p:xfrm>
          <a:off xmlns:a="http://schemas.openxmlformats.org/drawingml/2006/main" x="533400" y="1828800"/>
          <a:ext xmlns:a="http://schemas.openxmlformats.org/drawingml/2006/main" cx="11125200" cy="3086100"/>
        </p:xfrm>
        <a:graphic xmlns:a="http://schemas.openxmlformats.org/drawingml/2006/main">
          <a:graphicData uri="http://schemas.openxmlformats.org/drawingml/2006/table">
            <a:tbl>
              <a:tblPr/>
              <a:tblGrid>
                <a:gridCol w="2286000"/>
                <a:gridCol w="2362200"/>
                <a:gridCol w="3333750"/>
                <a:gridCol w="3143250"/>
              </a:tblGrid>
              <a:tr h="419100">
                <a:tc>
                  <a:txBody>
                    <a:bodyPr wrap="square" lIns="95250" tIns="38100" rIns="95250" bIns="38100">
                      <a:noAutofit/>
                    </a:bodyPr>
                    <a:lstStyle/>
                    <a:p>
                      <a:pPr algn="l">
                        <a:buNone/>
                      </a:pPr>
                      <a:r>
                        <a:rPr sz="1500" b="1">
                          <a:solidFill>
                            <a:srgbClr val="FFFFFF"/>
                          </a:solidFill>
                          <a:latin typeface="Arial"/>
                          <a:ea typeface="Arial"/>
                          <a:cs typeface="Arial"/>
                        </a:rPr>
                        <a:t>Framework</a:t>
                      </a:r>
                    </a:p>
                  </a:txBody>
                  <a:tcPr marL="91440" marR="91440" marT="45720" marB="45720" anchor="ctr">
                    <a:lnL w="7620">
                      <a:solidFill>
                        <a:srgbClr val="BCDCEB"/>
                      </a:solidFill>
                      <a:prstDash val="solid"/>
                    </a:lnL>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Pattern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When to choose</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Control to design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CrewAI</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Roles and task handoffs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Clear ownership and deliverables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Typed outputs and tool scope</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LangGraph</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graphs and recovery</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Branching, checkpoints, resume</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validation and retry bounds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AutoGen</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Conversational agent teams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Existing AutoGen systems or pattern study</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Termination and executor isolation</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LlamaIndex</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Retrieval tools and workflows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Document search and grounded answers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Source access and evidence checks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Microsoft Agent</a:t>
                      </a:r>
                    </a:p>
                    <a:p>
                      <a:pPr algn="l">
                        <a:buNone/>
                      </a:pPr>
                      <a:r>
                        <a:rPr sz="1500" b="0">
                          <a:solidFill>
                            <a:srgbClr val="183D50"/>
                          </a:solidFill>
                          <a:latin typeface="Arial"/>
                          <a:ea typeface="Arial"/>
                          <a:cs typeface="Arial"/>
                        </a:rPr>
                        <a:t>Framework (MAF)</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Agents and explicit workflows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Python/.NET workflows and integrations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Tool policy and approval checkpoints</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bl>
          </a:graphicData>
        </a:graphic>
      </p:graphicFrame>
      <p:sp>
        <p:nvSpPr>
          <p:cNvPr id="12" name="decision-tree-question">
            <a:extLst xmlns:a="http://schemas.openxmlformats.org/drawingml/2006/main">
              <a:ext uri="{FF2B5EF4-FFF2-40B4-BE49-F238E27FC236}">
                <a16:creationId xmlns:a16="http://schemas.microsoft.com/office/drawing/2014/main" id="{959A0382-CA97-49CB-8AB6-0B35A75AB86D}"/>
              </a:ext>
            </a:extLst>
          </p:cNvPr>
          <p:cNvSpPr>
            <a:spLocks xmlns:a="http://schemas.openxmlformats.org/drawingml/2006/main" noGrp="1"/>
          </p:cNvSpPr>
          <p:nvPr/>
        </p:nvSpPr>
        <p:spPr>
          <a:xfrm xmlns:a="http://schemas.openxmlformats.org/drawingml/2006/main">
            <a:off x="3810000" y="50958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123D5A"/>
                </a:solidFill>
                <a:latin typeface="Arial"/>
                <a:ea typeface="Arial"/>
                <a:cs typeface="Arial"/>
              </a:defRPr>
            </a:defPPr>
          </a:lstStyle>
          <a:p xmlns:a="http://schemas.openxmlformats.org/drawingml/2006/main">
            <a:pPr algn="ctr">
              <a:buNone/>
              <a:defRPr sz="1500" b="1">
                <a:solidFill>
                  <a:srgbClr val="123D5A"/>
                </a:solidFill>
                <a:latin typeface="Arial"/>
                <a:ea typeface="Arial"/>
                <a:cs typeface="Arial"/>
              </a:defRPr>
            </a:pPr>
            <a:r>
              <a:rPr sz="1500" b="1">
                <a:solidFill>
                  <a:srgbClr val="123D5A"/>
                </a:solidFill>
                <a:latin typeface="Arial"/>
                <a:ea typeface="Arial"/>
                <a:cs typeface="Arial"/>
              </a:rPr>
              <a:t>Decision tree: primary workflow need?</a:t>
            </a:r>
          </a:p>
        </p:txBody>
      </p:sp>
      <p:cxnSp>
        <p:nvCxnSpPr>
          <p:cNvPr id="13" name="decision-root-stem">
            <a:extLst xmlns:a="http://schemas.openxmlformats.org/drawingml/2006/main">
              <a:ext uri="{FF2B5EF4-FFF2-40B4-BE49-F238E27FC236}">
                <a16:creationId xmlns:a16="http://schemas.microsoft.com/office/drawing/2014/main" id="{E0F73CDD-4EC2-4778-B4B2-50EA66DC7348}"/>
              </a:ext>
            </a:extLst>
          </p:cNvPr>
          <p:cNvCxnSpPr/>
          <p:nvPr/>
        </p:nvCxnSpPr>
        <p:spPr>
          <a:xfrm xmlns:a="http://schemas.openxmlformats.org/drawingml/2006/main">
            <a:off x="6096000" y="5391150"/>
            <a:ext cx="0" cy="142875"/>
          </a:xfrm>
          <a:prstGeom xmlns:a="http://schemas.openxmlformats.org/drawingml/2006/main" prst="straightConnector1">
            <a:avLst/>
          </a:prstGeom>
          <a:ln xmlns:a="http://schemas.openxmlformats.org/drawingml/2006/main" w="13335">
            <a:solidFill>
              <a:srgbClr val="007DBA"/>
            </a:solidFill>
          </a:ln>
        </p:spPr>
      </p:cxnSp>
      <p:cxnSp>
        <p:nvCxnSpPr>
          <p:cNvPr id="14" name="decision-branch-trunk">
            <a:extLst xmlns:a="http://schemas.openxmlformats.org/drawingml/2006/main">
              <a:ext uri="{FF2B5EF4-FFF2-40B4-BE49-F238E27FC236}">
                <a16:creationId xmlns:a16="http://schemas.microsoft.com/office/drawing/2014/main" id="{4F6471ED-080C-47F6-8711-E1E03A954214}"/>
              </a:ext>
            </a:extLst>
          </p:cNvPr>
          <p:cNvCxnSpPr/>
          <p:nvPr/>
        </p:nvCxnSpPr>
        <p:spPr>
          <a:xfrm xmlns:a="http://schemas.openxmlformats.org/drawingml/2006/main">
            <a:off x="1562100" y="5534025"/>
            <a:ext cx="9067800" cy="0"/>
          </a:xfrm>
          <a:prstGeom xmlns:a="http://schemas.openxmlformats.org/drawingml/2006/main" prst="straightConnector1">
            <a:avLst/>
          </a:prstGeom>
          <a:ln xmlns:a="http://schemas.openxmlformats.org/drawingml/2006/main" w="13335">
            <a:solidFill>
              <a:srgbClr val="007DBA"/>
            </a:solidFill>
          </a:ln>
        </p:spPr>
      </p:cxnSp>
      <p:cxnSp>
        <p:nvCxnSpPr>
          <p:cNvPr id="15" name="decision-branch-0">
            <a:extLst xmlns:a="http://schemas.openxmlformats.org/drawingml/2006/main">
              <a:ext uri="{FF2B5EF4-FFF2-40B4-BE49-F238E27FC236}">
                <a16:creationId xmlns:a16="http://schemas.microsoft.com/office/drawing/2014/main" id="{A3979582-2594-4B52-84E8-AACC0061014C}"/>
              </a:ext>
            </a:extLst>
          </p:cNvPr>
          <p:cNvCxnSpPr/>
          <p:nvPr/>
        </p:nvCxnSpPr>
        <p:spPr>
          <a:xfrm xmlns:a="http://schemas.openxmlformats.org/drawingml/2006/main">
            <a:off x="15621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6" name="decision-criterion-0">
            <a:extLst xmlns:a="http://schemas.openxmlformats.org/drawingml/2006/main">
              <a:ext uri="{FF2B5EF4-FFF2-40B4-BE49-F238E27FC236}">
                <a16:creationId xmlns:a16="http://schemas.microsoft.com/office/drawing/2014/main" id="{6E9560ED-EB42-47E8-947C-F886124AF88B}"/>
              </a:ext>
            </a:extLst>
          </p:cNvPr>
          <p:cNvSpPr>
            <a:spLocks xmlns:a="http://schemas.openxmlformats.org/drawingml/2006/main" noGrp="1"/>
          </p:cNvSpPr>
          <p:nvPr/>
        </p:nvSpPr>
        <p:spPr>
          <a:xfrm xmlns:a="http://schemas.openxmlformats.org/drawingml/2006/main">
            <a:off x="5143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Role ownership</a:t>
            </a:r>
          </a:p>
        </p:txBody>
      </p:sp>
      <p:sp>
        <p:nvSpPr>
          <p:cNvPr id="17" name="decision-framework-0">
            <a:extLst xmlns:a="http://schemas.openxmlformats.org/drawingml/2006/main">
              <a:ext uri="{FF2B5EF4-FFF2-40B4-BE49-F238E27FC236}">
                <a16:creationId xmlns:a16="http://schemas.microsoft.com/office/drawing/2014/main" id="{3EF1F331-C968-4379-B675-CDAFEDC90F20}"/>
              </a:ext>
            </a:extLst>
          </p:cNvPr>
          <p:cNvSpPr>
            <a:spLocks xmlns:a="http://schemas.openxmlformats.org/drawingml/2006/main" noGrp="1"/>
          </p:cNvSpPr>
          <p:nvPr/>
        </p:nvSpPr>
        <p:spPr>
          <a:xfrm xmlns:a="http://schemas.openxmlformats.org/drawingml/2006/main">
            <a:off x="5143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CrewAI</a:t>
            </a:r>
          </a:p>
        </p:txBody>
      </p:sp>
      <p:cxnSp>
        <p:nvCxnSpPr>
          <p:cNvPr id="18" name="decision-branch-1">
            <a:extLst xmlns:a="http://schemas.openxmlformats.org/drawingml/2006/main">
              <a:ext uri="{FF2B5EF4-FFF2-40B4-BE49-F238E27FC236}">
                <a16:creationId xmlns:a16="http://schemas.microsoft.com/office/drawing/2014/main" id="{BB40C3BA-27AA-4258-9ADE-77E47106C0E4}"/>
              </a:ext>
            </a:extLst>
          </p:cNvPr>
          <p:cNvCxnSpPr/>
          <p:nvPr/>
        </p:nvCxnSpPr>
        <p:spPr>
          <a:xfrm xmlns:a="http://schemas.openxmlformats.org/drawingml/2006/main">
            <a:off x="38290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9" name="decision-criterion-1">
            <a:extLst xmlns:a="http://schemas.openxmlformats.org/drawingml/2006/main">
              <a:ext uri="{FF2B5EF4-FFF2-40B4-BE49-F238E27FC236}">
                <a16:creationId xmlns:a16="http://schemas.microsoft.com/office/drawing/2014/main" id="{166FD040-DD4E-4E13-8C8B-48404DB1C3C1}"/>
              </a:ext>
            </a:extLst>
          </p:cNvPr>
          <p:cNvSpPr>
            <a:spLocks xmlns:a="http://schemas.openxmlformats.org/drawingml/2006/main" noGrp="1"/>
          </p:cNvSpPr>
          <p:nvPr/>
        </p:nvSpPr>
        <p:spPr>
          <a:xfrm xmlns:a="http://schemas.openxmlformats.org/drawingml/2006/main">
            <a:off x="27813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State and recovery</a:t>
            </a:r>
          </a:p>
        </p:txBody>
      </p:sp>
      <p:sp>
        <p:nvSpPr>
          <p:cNvPr id="20" name="decision-framework-1">
            <a:extLst xmlns:a="http://schemas.openxmlformats.org/drawingml/2006/main">
              <a:ext uri="{FF2B5EF4-FFF2-40B4-BE49-F238E27FC236}">
                <a16:creationId xmlns:a16="http://schemas.microsoft.com/office/drawing/2014/main" id="{B8D76024-5649-4F8A-B225-3E40D185CF39}"/>
              </a:ext>
            </a:extLst>
          </p:cNvPr>
          <p:cNvSpPr>
            <a:spLocks xmlns:a="http://schemas.openxmlformats.org/drawingml/2006/main" noGrp="1"/>
          </p:cNvSpPr>
          <p:nvPr/>
        </p:nvSpPr>
        <p:spPr>
          <a:xfrm xmlns:a="http://schemas.openxmlformats.org/drawingml/2006/main">
            <a:off x="27813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LangGraph</a:t>
            </a:r>
          </a:p>
        </p:txBody>
      </p:sp>
      <p:cxnSp>
        <p:nvCxnSpPr>
          <p:cNvPr id="21" name="decision-branch-2">
            <a:extLst xmlns:a="http://schemas.openxmlformats.org/drawingml/2006/main">
              <a:ext uri="{FF2B5EF4-FFF2-40B4-BE49-F238E27FC236}">
                <a16:creationId xmlns:a16="http://schemas.microsoft.com/office/drawing/2014/main" id="{943BB8CF-239E-4C60-8139-5CA3E1D78AD2}"/>
              </a:ext>
            </a:extLst>
          </p:cNvPr>
          <p:cNvCxnSpPr/>
          <p:nvPr/>
        </p:nvCxnSpPr>
        <p:spPr>
          <a:xfrm xmlns:a="http://schemas.openxmlformats.org/drawingml/2006/main">
            <a:off x="60960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2" name="decision-criterion-2">
            <a:extLst xmlns:a="http://schemas.openxmlformats.org/drawingml/2006/main">
              <a:ext uri="{FF2B5EF4-FFF2-40B4-BE49-F238E27FC236}">
                <a16:creationId xmlns:a16="http://schemas.microsoft.com/office/drawing/2014/main" id="{9EFDB7B5-8756-4217-9D14-4C530368159B}"/>
              </a:ext>
            </a:extLst>
          </p:cNvPr>
          <p:cNvSpPr>
            <a:spLocks xmlns:a="http://schemas.openxmlformats.org/drawingml/2006/main" noGrp="1"/>
          </p:cNvSpPr>
          <p:nvPr/>
        </p:nvSpPr>
        <p:spPr>
          <a:xfrm xmlns:a="http://schemas.openxmlformats.org/drawingml/2006/main">
            <a:off x="50482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Existing conversation</a:t>
            </a:r>
          </a:p>
        </p:txBody>
      </p:sp>
      <p:sp>
        <p:nvSpPr>
          <p:cNvPr id="23" name="decision-framework-2">
            <a:extLst xmlns:a="http://schemas.openxmlformats.org/drawingml/2006/main">
              <a:ext uri="{FF2B5EF4-FFF2-40B4-BE49-F238E27FC236}">
                <a16:creationId xmlns:a16="http://schemas.microsoft.com/office/drawing/2014/main" id="{7C37BD71-A8C5-4A35-A0B6-F5F9C45C55A1}"/>
              </a:ext>
            </a:extLst>
          </p:cNvPr>
          <p:cNvSpPr>
            <a:spLocks xmlns:a="http://schemas.openxmlformats.org/drawingml/2006/main" noGrp="1"/>
          </p:cNvSpPr>
          <p:nvPr/>
        </p:nvSpPr>
        <p:spPr>
          <a:xfrm xmlns:a="http://schemas.openxmlformats.org/drawingml/2006/main">
            <a:off x="50482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AutoGen</a:t>
            </a:r>
          </a:p>
        </p:txBody>
      </p:sp>
      <p:cxnSp>
        <p:nvCxnSpPr>
          <p:cNvPr id="24" name="decision-branch-3">
            <a:extLst xmlns:a="http://schemas.openxmlformats.org/drawingml/2006/main">
              <a:ext uri="{FF2B5EF4-FFF2-40B4-BE49-F238E27FC236}">
                <a16:creationId xmlns:a16="http://schemas.microsoft.com/office/drawing/2014/main" id="{DCC36D54-2401-4D20-AF69-6E730B5AB6AA}"/>
              </a:ext>
            </a:extLst>
          </p:cNvPr>
          <p:cNvCxnSpPr/>
          <p:nvPr/>
        </p:nvCxnSpPr>
        <p:spPr>
          <a:xfrm xmlns:a="http://schemas.openxmlformats.org/drawingml/2006/main">
            <a:off x="83629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5" name="decision-criterion-3">
            <a:extLst xmlns:a="http://schemas.openxmlformats.org/drawingml/2006/main">
              <a:ext uri="{FF2B5EF4-FFF2-40B4-BE49-F238E27FC236}">
                <a16:creationId xmlns:a16="http://schemas.microsoft.com/office/drawing/2014/main" id="{3E449AD3-7794-49E0-9188-8DC72A38EFCE}"/>
              </a:ext>
            </a:extLst>
          </p:cNvPr>
          <p:cNvSpPr>
            <a:spLocks xmlns:a="http://schemas.openxmlformats.org/drawingml/2006/main" noGrp="1"/>
          </p:cNvSpPr>
          <p:nvPr/>
        </p:nvSpPr>
        <p:spPr>
          <a:xfrm xmlns:a="http://schemas.openxmlformats.org/drawingml/2006/main">
            <a:off x="73152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Document retrieval</a:t>
            </a:r>
          </a:p>
        </p:txBody>
      </p:sp>
      <p:sp>
        <p:nvSpPr>
          <p:cNvPr id="26" name="decision-framework-3">
            <a:extLst xmlns:a="http://schemas.openxmlformats.org/drawingml/2006/main">
              <a:ext uri="{FF2B5EF4-FFF2-40B4-BE49-F238E27FC236}">
                <a16:creationId xmlns:a16="http://schemas.microsoft.com/office/drawing/2014/main" id="{D9B3BDAE-049E-4FDC-95F9-A0ABEB6202B6}"/>
              </a:ext>
            </a:extLst>
          </p:cNvPr>
          <p:cNvSpPr>
            <a:spLocks xmlns:a="http://schemas.openxmlformats.org/drawingml/2006/main" noGrp="1"/>
          </p:cNvSpPr>
          <p:nvPr/>
        </p:nvSpPr>
        <p:spPr>
          <a:xfrm xmlns:a="http://schemas.openxmlformats.org/drawingml/2006/main">
            <a:off x="73152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LlamaIndex</a:t>
            </a:r>
          </a:p>
        </p:txBody>
      </p:sp>
      <p:cxnSp>
        <p:nvCxnSpPr>
          <p:cNvPr id="27" name="decision-branch-4">
            <a:extLst xmlns:a="http://schemas.openxmlformats.org/drawingml/2006/main">
              <a:ext uri="{FF2B5EF4-FFF2-40B4-BE49-F238E27FC236}">
                <a16:creationId xmlns:a16="http://schemas.microsoft.com/office/drawing/2014/main" id="{C4C304F3-C236-4422-9A83-81A6995A8B9E}"/>
              </a:ext>
            </a:extLst>
          </p:cNvPr>
          <p:cNvCxnSpPr/>
          <p:nvPr/>
        </p:nvCxnSpPr>
        <p:spPr>
          <a:xfrm xmlns:a="http://schemas.openxmlformats.org/drawingml/2006/main">
            <a:off x="106299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8" name="decision-criterion-4">
            <a:extLst xmlns:a="http://schemas.openxmlformats.org/drawingml/2006/main">
              <a:ext uri="{FF2B5EF4-FFF2-40B4-BE49-F238E27FC236}">
                <a16:creationId xmlns:a16="http://schemas.microsoft.com/office/drawing/2014/main" id="{1E228E93-643D-417D-97A6-00B6082A169B}"/>
              </a:ext>
            </a:extLst>
          </p:cNvPr>
          <p:cNvSpPr>
            <a:spLocks xmlns:a="http://schemas.openxmlformats.org/drawingml/2006/main" noGrp="1"/>
          </p:cNvSpPr>
          <p:nvPr/>
        </p:nvSpPr>
        <p:spPr>
          <a:xfrm xmlns:a="http://schemas.openxmlformats.org/drawingml/2006/main">
            <a:off x="95821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.NET / Python</a:t>
            </a:r>
          </a:p>
        </p:txBody>
      </p:sp>
      <p:sp>
        <p:nvSpPr>
          <p:cNvPr id="29" name="decision-framework-4">
            <a:extLst xmlns:a="http://schemas.openxmlformats.org/drawingml/2006/main">
              <a:ext uri="{FF2B5EF4-FFF2-40B4-BE49-F238E27FC236}">
                <a16:creationId xmlns:a16="http://schemas.microsoft.com/office/drawing/2014/main" id="{35360DBA-E20E-424D-A7FF-46DBFDCFA86F}"/>
              </a:ext>
            </a:extLst>
          </p:cNvPr>
          <p:cNvSpPr>
            <a:spLocks xmlns:a="http://schemas.openxmlformats.org/drawingml/2006/main" noGrp="1"/>
          </p:cNvSpPr>
          <p:nvPr/>
        </p:nvSpPr>
        <p:spPr>
          <a:xfrm xmlns:a="http://schemas.openxmlformats.org/drawingml/2006/main">
            <a:off x="95821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MAF</a:t>
            </a:r>
          </a:p>
        </p:txBody>
      </p:sp>
    </p:spTree>
    <p:extLst>
      <p:ext uri="{BB962C8B-B14F-4D97-AF65-F5344CB8AC3E}">
        <p14:creationId xmlns:p14="http://schemas.microsoft.com/office/powerpoint/2010/main" val="1061113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C2E9CB2-767B-46C1-8672-A0D565852B32}"/>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E2A8B03-A01C-4B38-987C-08EEEBC63266}"/>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218FDBC2-AF1C-4332-81BF-AD61432E7E64}"/>
              </a:ext>
            </a:extLst>
          </p:cNvPr>
          <p:cNvPicPr>
            <a:picLocks xmlns:a="http://schemas.openxmlformats.org/drawingml/2006/main" noChangeAspect="1"/>
          </p:cNvPicPr>
          <p:nvPr/>
        </p:nvPicPr>
        <p:blipFill>
          <a:blip xmlns:r="http://schemas.openxmlformats.org/officeDocument/2006/relationships" xmlns:a="http://schemas.openxmlformats.org/drawingml/2006/main" r:embed="R652e0dc8223b4564"/>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9310081-CBBD-4492-83A0-69F7E3915845}"/>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C457A6A-4991-485F-8BDE-4778B397AA2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BE5BF85D-2912-4531-B00F-2F7E334692D3}"/>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Capstone: Managing Team Boundaries</a:t>
            </a:r>
          </a:p>
        </p:txBody>
      </p:sp>
      <p:sp>
        <p:nvSpPr>
          <p:cNvPr id="5" name="footer-course">
            <a:extLst xmlns:a="http://schemas.openxmlformats.org/drawingml/2006/main">
              <a:ext uri="{FF2B5EF4-FFF2-40B4-BE49-F238E27FC236}">
                <a16:creationId xmlns:a16="http://schemas.microsoft.com/office/drawing/2014/main" id="{CED961FC-B122-420A-96BE-4717331C6FC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92A4B784-26AB-4E1E-A7F5-A46D6B6E96E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11</a:t>
            </a:r>
          </a:p>
        </p:txBody>
      </p:sp>
      <p:sp>
        <p:nvSpPr>
          <p:cNvPr id="7" name="dev-team">
            <a:extLst xmlns:a="http://schemas.openxmlformats.org/drawingml/2006/main">
              <a:ext uri="{FF2B5EF4-FFF2-40B4-BE49-F238E27FC236}">
                <a16:creationId xmlns:a16="http://schemas.microsoft.com/office/drawing/2014/main" id="{FF39CFE0-7203-46AE-A162-4719A0B9A2B9}"/>
              </a:ext>
            </a:extLst>
          </p:cNvPr>
          <p:cNvSpPr>
            <a:spLocks xmlns:a="http://schemas.openxmlformats.org/drawingml/2006/main" noGrp="1"/>
          </p:cNvSpPr>
          <p:nvPr/>
        </p:nvSpPr>
        <p:spPr>
          <a:xfrm xmlns:a="http://schemas.openxmlformats.org/drawingml/2006/main">
            <a:off x="5334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dev-team-head">
            <a:extLst xmlns:a="http://schemas.openxmlformats.org/drawingml/2006/main">
              <a:ext uri="{FF2B5EF4-FFF2-40B4-BE49-F238E27FC236}">
                <a16:creationId xmlns:a16="http://schemas.microsoft.com/office/drawing/2014/main" id="{A19D387B-5C17-4383-83BA-5487E0DA4CEA}"/>
              </a:ext>
            </a:extLst>
          </p:cNvPr>
          <p:cNvSpPr>
            <a:spLocks xmlns:a="http://schemas.openxmlformats.org/drawingml/2006/main" noGrp="1"/>
          </p:cNvSpPr>
          <p:nvPr/>
        </p:nvSpPr>
        <p:spPr>
          <a:xfrm xmlns:a="http://schemas.openxmlformats.org/drawingml/2006/main">
            <a:off x="7048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Development Team</a:t>
            </a:r>
          </a:p>
        </p:txBody>
      </p:sp>
      <p:sp>
        <p:nvSpPr>
          <p:cNvPr id="9" name="dev-team-body">
            <a:extLst xmlns:a="http://schemas.openxmlformats.org/drawingml/2006/main">
              <a:ext uri="{FF2B5EF4-FFF2-40B4-BE49-F238E27FC236}">
                <a16:creationId xmlns:a16="http://schemas.microsoft.com/office/drawing/2014/main" id="{A8D4F1F8-04B0-45E3-99EC-5D58BAEF5F51}"/>
              </a:ext>
            </a:extLst>
          </p:cNvPr>
          <p:cNvSpPr>
            <a:spLocks xmlns:a="http://schemas.openxmlformats.org/drawingml/2006/main" noGrp="1"/>
          </p:cNvSpPr>
          <p:nvPr/>
        </p:nvSpPr>
        <p:spPr>
          <a:xfrm xmlns:a="http://schemas.openxmlformats.org/drawingml/2006/main">
            <a:off x="7048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Manager, Coder, QA</a:t>
            </a:r>
          </a:p>
        </p:txBody>
      </p:sp>
      <p:sp>
        <p:nvSpPr>
          <p:cNvPr id="10" name="contract-boundary">
            <a:extLst xmlns:a="http://schemas.openxmlformats.org/drawingml/2006/main">
              <a:ext uri="{FF2B5EF4-FFF2-40B4-BE49-F238E27FC236}">
                <a16:creationId xmlns:a16="http://schemas.microsoft.com/office/drawing/2014/main" id="{69769824-B8A8-4950-B8B3-182EE774B23E}"/>
              </a:ext>
            </a:extLst>
          </p:cNvPr>
          <p:cNvSpPr>
            <a:spLocks xmlns:a="http://schemas.openxmlformats.org/drawingml/2006/main" noGrp="1"/>
          </p:cNvSpPr>
          <p:nvPr/>
        </p:nvSpPr>
        <p:spPr>
          <a:xfrm xmlns:a="http://schemas.openxmlformats.org/drawingml/2006/main">
            <a:off x="447675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ntract-boundary-head">
            <a:extLst xmlns:a="http://schemas.openxmlformats.org/drawingml/2006/main">
              <a:ext uri="{FF2B5EF4-FFF2-40B4-BE49-F238E27FC236}">
                <a16:creationId xmlns:a16="http://schemas.microsoft.com/office/drawing/2014/main" id="{7990C1DA-6EBD-4C67-9D1B-D57C45CD5816}"/>
              </a:ext>
            </a:extLst>
          </p:cNvPr>
          <p:cNvSpPr>
            <a:spLocks xmlns:a="http://schemas.openxmlformats.org/drawingml/2006/main" noGrp="1"/>
          </p:cNvSpPr>
          <p:nvPr/>
        </p:nvSpPr>
        <p:spPr>
          <a:xfrm xmlns:a="http://schemas.openxmlformats.org/drawingml/2006/main">
            <a:off x="464820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Coordinator gate</a:t>
            </a:r>
          </a:p>
        </p:txBody>
      </p:sp>
      <p:sp>
        <p:nvSpPr>
          <p:cNvPr id="12" name="contract-boundary-body">
            <a:extLst xmlns:a="http://schemas.openxmlformats.org/drawingml/2006/main">
              <a:ext uri="{FF2B5EF4-FFF2-40B4-BE49-F238E27FC236}">
                <a16:creationId xmlns:a16="http://schemas.microsoft.com/office/drawing/2014/main" id="{D2DF3233-C61E-4A8D-B91B-21F3261AE322}"/>
              </a:ext>
            </a:extLst>
          </p:cNvPr>
          <p:cNvSpPr>
            <a:spLocks xmlns:a="http://schemas.openxmlformats.org/drawingml/2006/main" noGrp="1"/>
          </p:cNvSpPr>
          <p:nvPr/>
        </p:nvSpPr>
        <p:spPr>
          <a:xfrm xmlns:a="http://schemas.openxmlformats.org/drawingml/2006/main">
            <a:off x="464820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Validate DevDeliverable</a:t>
            </a:r>
          </a:p>
        </p:txBody>
      </p:sp>
      <p:sp>
        <p:nvSpPr>
          <p:cNvPr id="13" name="security-team">
            <a:extLst xmlns:a="http://schemas.openxmlformats.org/drawingml/2006/main">
              <a:ext uri="{FF2B5EF4-FFF2-40B4-BE49-F238E27FC236}">
                <a16:creationId xmlns:a16="http://schemas.microsoft.com/office/drawing/2014/main" id="{5F4DBE96-30E2-4AC5-8286-CB2F43A33561}"/>
              </a:ext>
            </a:extLst>
          </p:cNvPr>
          <p:cNvSpPr>
            <a:spLocks xmlns:a="http://schemas.openxmlformats.org/drawingml/2006/main" noGrp="1"/>
          </p:cNvSpPr>
          <p:nvPr/>
        </p:nvSpPr>
        <p:spPr>
          <a:xfrm xmlns:a="http://schemas.openxmlformats.org/drawingml/2006/main">
            <a:off x="84201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security-team-head">
            <a:extLst xmlns:a="http://schemas.openxmlformats.org/drawingml/2006/main">
              <a:ext uri="{FF2B5EF4-FFF2-40B4-BE49-F238E27FC236}">
                <a16:creationId xmlns:a16="http://schemas.microsoft.com/office/drawing/2014/main" id="{B83FBFC2-E2E2-4318-9A12-7DACDF279FAA}"/>
              </a:ext>
            </a:extLst>
          </p:cNvPr>
          <p:cNvSpPr>
            <a:spLocks xmlns:a="http://schemas.openxmlformats.org/drawingml/2006/main" noGrp="1"/>
          </p:cNvSpPr>
          <p:nvPr/>
        </p:nvSpPr>
        <p:spPr>
          <a:xfrm xmlns:a="http://schemas.openxmlformats.org/drawingml/2006/main">
            <a:off x="85915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Security &amp; Compliance</a:t>
            </a:r>
          </a:p>
        </p:txBody>
      </p:sp>
      <p:sp>
        <p:nvSpPr>
          <p:cNvPr id="15" name="security-team-body">
            <a:extLst xmlns:a="http://schemas.openxmlformats.org/drawingml/2006/main">
              <a:ext uri="{FF2B5EF4-FFF2-40B4-BE49-F238E27FC236}">
                <a16:creationId xmlns:a16="http://schemas.microsoft.com/office/drawing/2014/main" id="{B7205F61-1576-430C-AB10-C6E9E230CB6D}"/>
              </a:ext>
            </a:extLst>
          </p:cNvPr>
          <p:cNvSpPr>
            <a:spLocks xmlns:a="http://schemas.openxmlformats.org/drawingml/2006/main" noGrp="1"/>
          </p:cNvSpPr>
          <p:nvPr/>
        </p:nvSpPr>
        <p:spPr>
          <a:xfrm xmlns:a="http://schemas.openxmlformats.org/drawingml/2006/main">
            <a:off x="85915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Pen Tester, Security Manager</a:t>
            </a:r>
          </a:p>
        </p:txBody>
      </p:sp>
      <p:sp>
        <p:nvSpPr>
          <p:cNvPr id="18" name="capstone-output">
            <a:extLst xmlns:a="http://schemas.openxmlformats.org/drawingml/2006/main">
              <a:ext uri="{FF2B5EF4-FFF2-40B4-BE49-F238E27FC236}">
                <a16:creationId xmlns:a16="http://schemas.microsoft.com/office/drawing/2014/main" id="{588CB234-15F3-4543-BF1F-1F6C39FFB7A4}"/>
              </a:ext>
            </a:extLst>
          </p:cNvPr>
          <p:cNvSpPr>
            <a:spLocks xmlns:a="http://schemas.openxmlformats.org/drawingml/2006/main" noGrp="1"/>
          </p:cNvSpPr>
          <p:nvPr/>
        </p:nvSpPr>
        <p:spPr>
          <a:xfrm xmlns:a="http://schemas.openxmlformats.org/drawingml/2006/main">
            <a:off x="533400" y="37814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Your role: Workflow Coordinator between two specialist teams.</a:t>
            </a:r>
          </a:p>
        </p:txBody>
      </p:sp>
      <p:sp>
        <p:nvSpPr>
          <p:cNvPr id="19" name="capstone-edits">
            <a:extLst xmlns:a="http://schemas.openxmlformats.org/drawingml/2006/main">
              <a:ext uri="{FF2B5EF4-FFF2-40B4-BE49-F238E27FC236}">
                <a16:creationId xmlns:a16="http://schemas.microsoft.com/office/drawing/2014/main" id="{436C9F69-7BF6-4F40-8D3C-F7A2277E9860}"/>
              </a:ext>
            </a:extLst>
          </p:cNvPr>
          <p:cNvSpPr>
            <a:spLocks xmlns:a="http://schemas.openxmlformats.org/drawingml/2006/main" noGrp="1"/>
          </p:cNvSpPr>
          <p:nvPr/>
        </p:nvSpPr>
        <p:spPr>
          <a:xfrm xmlns:a="http://schemas.openxmlformats.org/drawingml/2006/main">
            <a:off x="533400" y="44577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0">
                <a:solidFill>
                  <a:srgbClr val="183D50"/>
                </a:solidFill>
                <a:latin typeface="Arial"/>
                <a:ea typeface="Arial"/>
                <a:cs typeface="Arial"/>
              </a:defRPr>
            </a:defPPr>
          </a:lstStyle>
          <a:p xmlns:a="http://schemas.openxmlformats.org/drawingml/2006/main">
            <a:pPr algn="l">
              <a:buNone/>
              <a:defRPr sz="2025" b="0">
                <a:solidFill>
                  <a:srgbClr val="183D50"/>
                </a:solidFill>
                <a:latin typeface="Arial"/>
                <a:ea typeface="Arial"/>
                <a:cs typeface="Arial"/>
              </a:defRPr>
            </a:pPr>
            <a:r>
              <a:rPr sz="2025" b="0">
                <a:solidFill>
                  <a:srgbClr val="183D50"/>
                </a:solidFill>
                <a:latin typeface="Arial"/>
                <a:ea typeface="Arial"/>
                <a:cs typeface="Arial"/>
              </a:rPr>
              <a:t>Before running, map the boundary: what must be valid before Security starts? Who scans, and who approves?</a:t>
            </a:r>
          </a:p>
        </p:txBody>
      </p:sp>
      <p:sp>
        <p:nvSpPr>
          <p:cNvPr id="20" name="capstone-mode">
            <a:extLst xmlns:a="http://schemas.openxmlformats.org/drawingml/2006/main">
              <a:ext uri="{FF2B5EF4-FFF2-40B4-BE49-F238E27FC236}">
                <a16:creationId xmlns:a16="http://schemas.microsoft.com/office/drawing/2014/main" id="{F86EFE5F-C0A6-4F32-B4BC-0CC0F7F22B62}"/>
              </a:ext>
            </a:extLst>
          </p:cNvPr>
          <p:cNvSpPr>
            <a:spLocks xmlns:a="http://schemas.openxmlformats.org/drawingml/2006/main" noGrp="1"/>
          </p:cNvSpPr>
          <p:nvPr/>
        </p:nvSpPr>
        <p:spPr>
          <a:xfrm xmlns:a="http://schemas.openxmlformats.org/drawingml/2006/main">
            <a:off x="533400" y="5772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Use the code evidence and ADR to defend the decision; the required path stays local.</a:t>
            </a:r>
          </a:p>
        </p:txBody>
      </p:sp>
      <p:sp>
        <p:nvSpPr>
          <p:cNvPr id="22" name="footer-reference">
            <a:extLst xmlns:a="http://schemas.openxmlformats.org/drawingml/2006/main">
              <a:ext uri="{FF2B5EF4-FFF2-40B4-BE49-F238E27FC236}">
                <a16:creationId xmlns:a16="http://schemas.microsoft.com/office/drawing/2014/main" id="{6311C274-D28C-46CE-A4AE-F4350B7B7BD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2eebcd9aff744c7"/>
              </a:rPr>
              <a:t>Capstone brief</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41dec5c8a164ee1"/>
              </a:rPr>
              <a:t>CrewAI tasks</a:t>
            </a:r>
          </a:p>
        </p:txBody>
      </p:sp>
    </p:spTree>
    <p:extLst>
      <p:ext uri="{BB962C8B-B14F-4D97-AF65-F5344CB8AC3E}">
        <p14:creationId xmlns:p14="http://schemas.microsoft.com/office/powerpoint/2010/main" val="109212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9977A75-37E2-440D-B08F-F5E528395E17}"/>
              </a:ext>
            </a:extLst>
          </p:cNvPr>
          <p:cNvPicPr>
            <a:picLocks xmlns:a="http://schemas.openxmlformats.org/drawingml/2006/main" noChangeAspect="1"/>
          </p:cNvPicPr>
          <p:nvPr/>
        </p:nvPicPr>
        <p:blipFill>
          <a:blip xmlns:r="http://schemas.openxmlformats.org/officeDocument/2006/relationships" xmlns:a="http://schemas.openxmlformats.org/drawingml/2006/main" r:embed="R12eb9b05d8414653"/>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071D2D21-56D5-4387-BEFE-936733C0DB4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AC388F8A-6BC1-4FF9-B054-25E15B53C5E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38DE8C63-B2B0-4B67-98E4-F15D30B31C27}"/>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Assessment: Visible Criteria and Evidence</a:t>
            </a:r>
          </a:p>
        </p:txBody>
      </p:sp>
      <p:sp>
        <p:nvSpPr>
          <p:cNvPr id="5" name="footer-course">
            <a:extLst xmlns:a="http://schemas.openxmlformats.org/drawingml/2006/main">
              <a:ext uri="{FF2B5EF4-FFF2-40B4-BE49-F238E27FC236}">
                <a16:creationId xmlns:a16="http://schemas.microsoft.com/office/drawing/2014/main" id="{B1BAA1FA-3316-4098-8BD2-721541B1694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AAEF14F7-86AD-4413-9672-2A59B37DDF3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12</a:t>
            </a:r>
          </a:p>
        </p:txBody>
      </p:sp>
      <p:graphicFrame>
        <p:nvGraphicFramePr>
          <p:cNvPr id="7" name="">
            <a:extLst xmlns:a="http://schemas.openxmlformats.org/drawingml/2006/main">
              <a:ext uri="{FF2B5EF4-FFF2-40B4-BE49-F238E27FC236}">
                <a16:creationId xmlns:a16="http://schemas.microsoft.com/office/drawing/2014/main" id="{548F8AD5-0D9D-47DA-8F6A-4C22C81F9396}"/>
              </a:ext>
            </a:extLst>
          </p:cNvPr>
          <p:cNvGraphicFramePr/>
          <p:nvPr/>
        </p:nvGraphicFramePr>
        <p:xfrm>
          <a:off xmlns:a="http://schemas.openxmlformats.org/drawingml/2006/main" x="533400" y="2038350"/>
          <a:ext xmlns:a="http://schemas.openxmlformats.org/drawingml/2006/main" cx="11125200" cy="2724150"/>
        </p:xfrm>
        <a:graphic xmlns:a="http://schemas.openxmlformats.org/drawingml/2006/main">
          <a:graphicData uri="http://schemas.openxmlformats.org/drawingml/2006/table">
            <a:tbl>
              <a:tblPr/>
              <a:tblGrid>
                <a:gridCol w="4095750"/>
                <a:gridCol w="4572000"/>
                <a:gridCol w="2457450"/>
              </a:tblGrid>
              <a:tr h="544830">
                <a:tc>
                  <a:txBody>
                    <a:bodyPr lIns="114300" tIns="76200" rIns="114300" bIns="76200" wrap="square">
                      <a:noAutofit/>
                    </a:bodyPr>
                    <a:lstStyle/>
                    <a:p>
                      <a:pPr algn="l">
                        <a:buNone/>
                      </a:pPr>
                      <a:r>
                        <a:rPr sz="1800" b="1">
                          <a:solidFill>
                            <a:srgbClr val="FFFFFF"/>
                          </a:solidFill>
                          <a:latin typeface="Arial"/>
                          <a:ea typeface="Arial"/>
                          <a:cs typeface="Arial"/>
                        </a:rPr>
                        <a:t>Component</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800" b="1">
                          <a:solidFill>
                            <a:srgbClr val="FFFFFF"/>
                          </a:solidFill>
                          <a:latin typeface="Arial"/>
                          <a:ea typeface="Arial"/>
                          <a:cs typeface="Arial"/>
                        </a:rPr>
                        <a:t>Learner evidence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wrap="square">
                      <a:noAutofit/>
                    </a:bodyPr>
                    <a:lstStyle/>
                    <a:p>
                      <a:pPr algn="l">
                        <a:buNone/>
                      </a:pPr>
                      <a:r>
                        <a:rPr sz="1800" b="1">
                          <a:solidFill>
                            <a:srgbClr val="FFFFFF"/>
                          </a:solidFill>
                          <a:latin typeface="Arial"/>
                          <a:ea typeface="Arial"/>
                          <a:cs typeface="Arial"/>
                        </a:rPr>
                        <a:t>Course marks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Three labs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Each raw /15 scales to /20; retain evidence note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60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Capstone implementation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/20 code and boundary evidence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ADR and defense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/20 risk, evidence, and next step</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wrap="square">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wrap="square">
                      <a:noAutofit/>
                    </a:bodyPr>
                    <a:lstStyle/>
                    <a:p>
                      <a:pPr algn="l">
                        <a:buNone/>
                      </a:pPr>
                      <a:r>
                        <a:rPr sz="1800" b="0">
                          <a:solidFill>
                            <a:srgbClr val="183D50"/>
                          </a:solidFill>
                          <a:latin typeface="Arial"/>
                          <a:ea typeface="Arial"/>
                          <a:cs typeface="Arial"/>
                        </a:rPr>
                        <a:t>Total</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r>
                        <a:rPr sz="1800" b="0">
                          <a:solidFill>
                            <a:srgbClr val="183D50"/>
                          </a:solidFill>
                          <a:latin typeface="Arial"/>
                          <a:ea typeface="Arial"/>
                          <a:cs typeface="Arial"/>
                        </a:rPr>
                        <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wrap="square">
                      <a:noAutofit/>
                    </a:bodyPr>
                    <a:lstStyle/>
                    <a:p>
                      <a:pPr algn="l">
                        <a:buNone/>
                      </a:pPr>
                      <a:r>
                        <a:rPr sz="1800" b="0">
                          <a:solidFill>
                            <a:srgbClr val="183D50"/>
                          </a:solidFill>
                          <a:latin typeface="Arial"/>
                          <a:ea typeface="Arial"/>
                          <a:cs typeface="Arial"/>
                        </a:rPr>
                        <a:t>100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validation-proof">
            <a:extLst xmlns:a="http://schemas.openxmlformats.org/drawingml/2006/main">
              <a:ext uri="{FF2B5EF4-FFF2-40B4-BE49-F238E27FC236}">
                <a16:creationId xmlns:a16="http://schemas.microsoft.com/office/drawing/2014/main" id="{8F930BF4-A988-41C2-A92E-2A82C32550C5}"/>
              </a:ext>
            </a:extLst>
          </p:cNvPr>
          <p:cNvSpPr>
            <a:spLocks xmlns:a="http://schemas.openxmlformats.org/drawingml/2006/main" noGrp="1"/>
          </p:cNvSpPr>
          <p:nvPr/>
        </p:nvSpPr>
        <p:spPr>
          <a:xfrm xmlns:a="http://schemas.openxmlformats.org/drawingml/2006/main">
            <a:off x="533400" y="50958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Scale each lab: raw score × 20 ÷ 15 → course /20.</a:t>
            </a:r>
          </a:p>
        </p:txBody>
      </p:sp>
      <p:sp>
        <p:nvSpPr>
          <p:cNvPr id="9" name="validation-limit">
            <a:extLst xmlns:a="http://schemas.openxmlformats.org/drawingml/2006/main">
              <a:ext uri="{FF2B5EF4-FFF2-40B4-BE49-F238E27FC236}">
                <a16:creationId xmlns:a16="http://schemas.microsoft.com/office/drawing/2014/main" id="{4B18B856-52A0-4A96-B073-41D0433D37C0}"/>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0">
                <a:solidFill>
                  <a:srgbClr val="446579"/>
                </a:solidFill>
                <a:latin typeface="Arial"/>
                <a:ea typeface="Arial"/>
                <a:cs typeface="Arial"/>
              </a:defRPr>
            </a:def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Formative discussion adds no marks; scores cover checked fixtures only.</a:t>
            </a:r>
          </a:p>
        </p:txBody>
      </p:sp>
      <p:sp>
        <p:nvSpPr>
          <p:cNvPr id="11" name="footer-reference">
            <a:extLst xmlns:a="http://schemas.openxmlformats.org/drawingml/2006/main">
              <a:ext uri="{FF2B5EF4-FFF2-40B4-BE49-F238E27FC236}">
                <a16:creationId xmlns:a16="http://schemas.microsoft.com/office/drawing/2014/main" id="{B7E58389-3D21-48A4-A5FB-D26E5ADF0567}"/>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d7eefe8735a4ac7"/>
              </a:rPr>
              <a:t>Assessment and submission</a:t>
            </a:r>
          </a:p>
        </p:txBody>
      </p:sp>
    </p:spTree>
    <p:extLst>
      <p:ext uri="{BB962C8B-B14F-4D97-AF65-F5344CB8AC3E}">
        <p14:creationId xmlns:p14="http://schemas.microsoft.com/office/powerpoint/2010/main" val="14064890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9AB425D-61F8-4AD1-800E-6A70EDEC9D37}"/>
              </a:ext>
            </a:extLst>
          </p:cNvPr>
          <p:cNvPicPr>
            <a:picLocks xmlns:a="http://schemas.openxmlformats.org/drawingml/2006/main" noChangeAspect="1"/>
          </p:cNvPicPr>
          <p:nvPr/>
        </p:nvPicPr>
        <p:blipFill>
          <a:blip xmlns:r="http://schemas.openxmlformats.org/officeDocument/2006/relationships" xmlns:a="http://schemas.openxmlformats.org/drawingml/2006/main" r:embed="R7b0d5fcfc3114f5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3FDF072-4746-41A7-A4D8-376AD6B1F343}"/>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98C1F3-1B95-4BF7-BE77-83CFEFCF3FB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DE87B81C-1239-4BB0-BC63-30CD38D0173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Broader Framework Ecosystem</a:t>
            </a:r>
          </a:p>
        </p:txBody>
      </p:sp>
      <p:sp>
        <p:nvSpPr>
          <p:cNvPr id="5" name="footer-course">
            <a:extLst xmlns:a="http://schemas.openxmlformats.org/drawingml/2006/main">
              <a:ext uri="{FF2B5EF4-FFF2-40B4-BE49-F238E27FC236}">
                <a16:creationId xmlns:a16="http://schemas.microsoft.com/office/drawing/2014/main" id="{DC426805-3817-4C7F-8F99-1E8D69194A8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A076E01E-B92D-4BD6-B045-949BE7DD897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13</a:t>
            </a:r>
          </a:p>
        </p:txBody>
      </p:sp>
      <p:graphicFrame>
        <p:nvGraphicFramePr>
          <p:cNvPr id="7" name="">
            <a:extLst xmlns:a="http://schemas.openxmlformats.org/drawingml/2006/main">
              <a:ext uri="{FF2B5EF4-FFF2-40B4-BE49-F238E27FC236}">
                <a16:creationId xmlns:a16="http://schemas.microsoft.com/office/drawing/2014/main" id="{80664B22-F53D-454D-8EEF-7D5D10DED272}"/>
              </a:ext>
            </a:extLst>
          </p:cNvPr>
          <p:cNvGraphicFramePr/>
          <p:nvPr/>
        </p:nvGraphicFramePr>
        <p:xfrm>
          <a:off xmlns:a="http://schemas.openxmlformats.org/drawingml/2006/main" x="533400" y="2000250"/>
          <a:ext xmlns:a="http://schemas.openxmlformats.org/drawingml/2006/main" cx="11125200" cy="3886200"/>
        </p:xfrm>
        <a:graphic xmlns:a="http://schemas.openxmlformats.org/drawingml/2006/main">
          <a:graphicData uri="http://schemas.openxmlformats.org/drawingml/2006/table">
            <a:tbl>
              <a:tblPr/>
              <a:tblGrid>
                <a:gridCol w="3381375"/>
                <a:gridCol w="7743825"/>
              </a:tblGrid>
              <a:tr h="485775">
                <a:tc>
                  <a:txBody>
                    <a:bodyPr lIns="114300" tIns="76200" rIns="114300" bIns="76200">
                      <a:noAutofit/>
                    </a:bodyPr>
                    <a:lstStyle/>
                    <a:p>
                      <a:pPr algn="l">
                        <a:buNone/>
                      </a:pPr>
                      <a:r>
                        <a:rPr sz="1575" b="1">
                          <a:solidFill>
                            <a:srgbClr val="FFFFFF"/>
                          </a:solidFill>
                          <a:latin typeface="Arial"/>
                          <a:ea typeface="Arial"/>
                          <a:cs typeface="Arial"/>
                        </a:rPr>
                        <a:t>Option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575" b="1">
                          <a:solidFill>
                            <a:srgbClr val="FFFFFF"/>
                          </a:solidFill>
                          <a:latin typeface="Arial"/>
                          <a:ea typeface="Arial"/>
                          <a:cs typeface="Arial"/>
                        </a:rPr>
                        <a:t>Architecture or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Microsoft Agent Framework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Agents plus explicit workflows; successor to AutoGen/SK.</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Google ADK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Agent hierarchy, shared state, and workflow routing.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Claude Agent SDK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Tool loop with sessions, hooks, and subagents.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MetaGPT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Software roles and SOP-guided artifact handoffs.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Pydantic 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Typed Python agents and validated tools/outputs.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n8n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Visual automation with AI agents and service/tool nodes.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OpenClaw</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Self-hosted assistant gateway and routed agent workspaces.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objective-map-link">
            <a:extLst xmlns:a="http://schemas.openxmlformats.org/drawingml/2006/main">
              <a:ext uri="{FF2B5EF4-FFF2-40B4-BE49-F238E27FC236}">
                <a16:creationId xmlns:a16="http://schemas.microsoft.com/office/drawing/2014/main" id="{FC0496DE-2383-4BE6-A377-83C5F5268883}"/>
              </a:ext>
            </a:extLst>
          </p:cNvPr>
          <p:cNvSpPr>
            <a:spLocks xmlns:a="http://schemas.openxmlformats.org/drawingml/2006/main" noGrp="1"/>
          </p:cNvSpPr>
          <p:nvPr/>
        </p:nvSpPr>
        <p:spPr>
          <a:xfrm xmlns:a="http://schemas.openxmlformats.org/drawingml/2006/main">
            <a:off x="533400" y="60960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hlinkClick xmlns:r="http://schemas.openxmlformats.org/officeDocument/2006/relationships" r:id="Rbde9fff1012b4eab"/>
              </a:rPr>
              <a:t>Reference only.</a:t>
            </a:r>
            <a:r>
              <a:rPr sz="1500" b="0">
                <a:solidFill>
                  <a:srgbClr val="446579"/>
                </a:solidFill>
                <a:latin typeface="Arial"/>
                <a:ea typeface="Arial"/>
                <a:cs typeface="Arial"/>
              </a:rPr>
              <a:t> Configure permissions, isolation, and evidence checks for the application.</a:t>
            </a:r>
          </a:p>
        </p:txBody>
      </p:sp>
      <p:sp>
        <p:nvSpPr>
          <p:cNvPr id="10" name="footer-reference">
            <a:extLst xmlns:a="http://schemas.openxmlformats.org/drawingml/2006/main">
              <a:ext uri="{FF2B5EF4-FFF2-40B4-BE49-F238E27FC236}">
                <a16:creationId xmlns:a16="http://schemas.microsoft.com/office/drawing/2014/main" id="{B521F650-59DC-4511-A3A7-EF662F64F16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359cefaccbe4682"/>
              </a:rPr>
              <a:t>Ecosystem comparison and official documentation</a:t>
            </a:r>
          </a:p>
        </p:txBody>
      </p:sp>
    </p:spTree>
    <p:extLst>
      <p:ext uri="{BB962C8B-B14F-4D97-AF65-F5344CB8AC3E}">
        <p14:creationId xmlns:p14="http://schemas.microsoft.com/office/powerpoint/2010/main" val="21133538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F78A6196-5C0D-4713-B34E-F1C3BC96FFBC}"/>
              </a:ext>
            </a:extLst>
          </p:cNvPr>
          <p:cNvPicPr>
            <a:picLocks xmlns:a="http://schemas.openxmlformats.org/drawingml/2006/main" noChangeAspect="1"/>
          </p:cNvPicPr>
          <p:nvPr/>
        </p:nvPicPr>
        <p:blipFill>
          <a:blip xmlns:r="http://schemas.openxmlformats.org/officeDocument/2006/relationships" xmlns:a="http://schemas.openxmlformats.org/drawingml/2006/main" r:embed="R9c131e1abdfe4cdc"/>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E137F8C-CFDA-4A4E-A8CB-0901CD2ED16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5E8C021-C21E-4219-A832-484FBCC7F4E8}"/>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111EA400-069A-4CFE-ACF9-A962ACE0FA8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Reflect, Transfer, Continue</a:t>
            </a:r>
          </a:p>
        </p:txBody>
      </p:sp>
      <p:sp>
        <p:nvSpPr>
          <p:cNvPr id="5" name="footer-course">
            <a:extLst xmlns:a="http://schemas.openxmlformats.org/drawingml/2006/main">
              <a:ext uri="{FF2B5EF4-FFF2-40B4-BE49-F238E27FC236}">
                <a16:creationId xmlns:a16="http://schemas.microsoft.com/office/drawing/2014/main" id="{CDD96845-D24A-4A40-97A9-4C40ECAA713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defRPr sz="1125" b="0">
                <a:solidFill>
                  <a:srgbClr val="446579"/>
                </a:solidFill>
                <a:latin typeface="Arial"/>
                <a:ea typeface="Arial"/>
                <a:cs typeface="Arial"/>
              </a:defRPr>
            </a:lvl1pPr>
            <a:lvl2pPr algn="l">
              <a:defRPr sz="1125" b="0">
                <a:solidFill>
                  <a:srgbClr val="446579"/>
                </a:solidFill>
                <a:latin typeface="Arial"/>
                <a:ea typeface="Arial"/>
                <a:cs typeface="Arial"/>
              </a:defRPr>
            </a:lvl2pPr>
            <a:lvl3pPr algn="l">
              <a:defRPr sz="1125" b="0">
                <a:solidFill>
                  <a:srgbClr val="446579"/>
                </a:solidFill>
                <a:latin typeface="Arial"/>
                <a:ea typeface="Arial"/>
                <a:cs typeface="Arial"/>
              </a:defRPr>
            </a:lvl3pPr>
            <a:lvl4pPr algn="l">
              <a:defRPr sz="1125" b="0">
                <a:solidFill>
                  <a:srgbClr val="446579"/>
                </a:solidFill>
                <a:latin typeface="Arial"/>
                <a:ea typeface="Arial"/>
                <a:cs typeface="Arial"/>
              </a:defRPr>
            </a:lvl4pPr>
            <a:lvl5pPr algn="l">
              <a:defRPr sz="1125" b="0">
                <a:solidFill>
                  <a:srgbClr val="446579"/>
                </a:solidFill>
                <a:latin typeface="Arial"/>
                <a:ea typeface="Arial"/>
                <a:cs typeface="Arial"/>
              </a:defRPr>
            </a:lvl5pPr>
            <a:lvl6pPr algn="l">
              <a:defRPr sz="1125" b="0">
                <a:solidFill>
                  <a:srgbClr val="446579"/>
                </a:solidFill>
                <a:latin typeface="Arial"/>
                <a:ea typeface="Arial"/>
                <a:cs typeface="Arial"/>
              </a:defRPr>
            </a:lvl6pPr>
            <a:lvl7pPr algn="l">
              <a:defRPr sz="1125" b="0">
                <a:solidFill>
                  <a:srgbClr val="446579"/>
                </a:solidFill>
                <a:latin typeface="Arial"/>
                <a:ea typeface="Arial"/>
                <a:cs typeface="Arial"/>
              </a:defRPr>
            </a:lvl7pPr>
            <a:lvl8pPr algn="l">
              <a:defRPr sz="1125" b="0">
                <a:solidFill>
                  <a:srgbClr val="446579"/>
                </a:solidFill>
                <a:latin typeface="Arial"/>
                <a:ea typeface="Arial"/>
                <a:cs typeface="Arial"/>
              </a:defRPr>
            </a:lvl8pPr>
            <a:lvl9pPr algn="l">
              <a:defRPr sz="1125" b="0">
                <a:solidFill>
                  <a:srgbClr val="446579"/>
                </a:solidFill>
                <a:latin typeface="Arial"/>
                <a:ea typeface="Arial"/>
                <a:cs typeface="Arial"/>
              </a:defRPr>
            </a:lvl9pPr>
          </a:lstStyle>
          <a:p xmlns:a="http://schemas.openxmlformats.org/drawingml/2006/main">
            <a:pPr algn="l">
              <a:defRPr sz="1125" b="0">
                <a:solidFill>
                  <a:srgbClr val="446579"/>
                </a:solidFill>
                <a:latin typeface="Arial"/>
                <a:ea typeface="Arial"/>
                <a:cs typeface="Arial"/>
              </a:defRPr>
            </a:pPr>
            <a:r>
              <a:rPr sz="1125" u="sng">
                <a:solidFill>
                  <a:srgbClr val="446579"/>
                </a:solidFill>
                <a:hlinkClick xmlns:r="http://schemas.openxmlformats.org/officeDocument/2006/relationships" r:id="rIdLearnerNav1"/>
              </a:rPr>
              <a:t>Slide index</a:t>
            </a:r>
            <a:r>
              <a:rPr sz="1125">
                <a:solidFill>
                  <a:srgbClr val="446579"/>
                </a:solidFill>
              </a:rPr>
              <a:t>    </a:t>
            </a:r>
            <a:r>
              <a:rPr sz="1125" u="sng">
                <a:solidFill>
                  <a:srgbClr val="446579"/>
                </a:solidFill>
                <a:hlinkClick xmlns:r="http://schemas.openxmlformats.org/officeDocument/2006/relationships" r:id="rIdLearnerNav2" action="ppaction://hlinksldjump"/>
              </a:rPr>
              <a:t>Practice map</a:t>
            </a:r>
          </a:p>
        </p:txBody>
      </p:sp>
      <p:sp>
        <p:nvSpPr>
          <p:cNvPr id="6" name="footer-number">
            <a:extLst xmlns:a="http://schemas.openxmlformats.org/drawingml/2006/main">
              <a:ext uri="{FF2B5EF4-FFF2-40B4-BE49-F238E27FC236}">
                <a16:creationId xmlns:a16="http://schemas.microsoft.com/office/drawing/2014/main" id="{91971944-FC01-40EF-9990-BC01246E68B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14</a:t>
            </a:r>
          </a:p>
        </p:txBody>
      </p:sp>
      <p:sp>
        <p:nvSpPr>
          <p:cNvPr id="7" name="completion-number-01">
            <a:extLst xmlns:a="http://schemas.openxmlformats.org/drawingml/2006/main">
              <a:ext uri="{FF2B5EF4-FFF2-40B4-BE49-F238E27FC236}">
                <a16:creationId xmlns:a16="http://schemas.microsoft.com/office/drawing/2014/main" id="{6D639D92-E4F5-4930-BB68-4B5932CDE4D7}"/>
              </a:ext>
            </a:extLst>
          </p:cNvPr>
          <p:cNvSpPr>
            <a:spLocks xmlns:a="http://schemas.openxmlformats.org/drawingml/2006/main" noGrp="1"/>
          </p:cNvSpPr>
          <p:nvPr/>
        </p:nvSpPr>
        <p:spPr>
          <a:xfrm xmlns:a="http://schemas.openxmlformats.org/drawingml/2006/main">
            <a:off x="533400" y="20764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01</a:t>
            </a:r>
          </a:p>
        </p:txBody>
      </p:sp>
      <p:sp>
        <p:nvSpPr>
          <p:cNvPr id="8" name="completion-head-01">
            <a:extLst xmlns:a="http://schemas.openxmlformats.org/drawingml/2006/main">
              <a:ext uri="{FF2B5EF4-FFF2-40B4-BE49-F238E27FC236}">
                <a16:creationId xmlns:a16="http://schemas.microsoft.com/office/drawing/2014/main" id="{9362BA74-D6E2-49E5-B93C-0033DE2BE223}"/>
              </a:ext>
            </a:extLst>
          </p:cNvPr>
          <p:cNvSpPr>
            <a:spLocks xmlns:a="http://schemas.openxmlformats.org/drawingml/2006/main" noGrp="1"/>
          </p:cNvSpPr>
          <p:nvPr/>
        </p:nvSpPr>
        <p:spPr>
          <a:xfrm xmlns:a="http://schemas.openxmlformats.org/drawingml/2006/main">
            <a:off x="1476375" y="20764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Notice</a:t>
            </a:r>
          </a:p>
        </p:txBody>
      </p:sp>
      <p:sp>
        <p:nvSpPr>
          <p:cNvPr id="9" name="completion-body-01">
            <a:extLst xmlns:a="http://schemas.openxmlformats.org/drawingml/2006/main">
              <a:ext uri="{FF2B5EF4-FFF2-40B4-BE49-F238E27FC236}">
                <a16:creationId xmlns:a16="http://schemas.microsoft.com/office/drawing/2014/main" id="{DC40E424-CB04-43C3-98D8-A08A346AE31B}"/>
              </a:ext>
            </a:extLst>
          </p:cNvPr>
          <p:cNvSpPr>
            <a:spLocks xmlns:a="http://schemas.openxmlformats.org/drawingml/2006/main" noGrp="1"/>
          </p:cNvSpPr>
          <p:nvPr/>
        </p:nvSpPr>
        <p:spPr>
          <a:xfrm xmlns:a="http://schemas.openxmlformats.org/drawingml/2006/main">
            <a:off x="4476750" y="207645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Which expectation changed after you inspected the evidence?</a:t>
            </a:r>
          </a:p>
        </p:txBody>
      </p:sp>
      <p:sp>
        <p:nvSpPr>
          <p:cNvPr id="10" name="completion-number-02">
            <a:extLst xmlns:a="http://schemas.openxmlformats.org/drawingml/2006/main">
              <a:ext uri="{FF2B5EF4-FFF2-40B4-BE49-F238E27FC236}">
                <a16:creationId xmlns:a16="http://schemas.microsoft.com/office/drawing/2014/main" id="{1064B8B9-3014-4421-B4A2-FBEFB008E90B}"/>
              </a:ext>
            </a:extLst>
          </p:cNvPr>
          <p:cNvSpPr>
            <a:spLocks xmlns:a="http://schemas.openxmlformats.org/drawingml/2006/main" noGrp="1"/>
          </p:cNvSpPr>
          <p:nvPr/>
        </p:nvSpPr>
        <p:spPr>
          <a:xfrm xmlns:a="http://schemas.openxmlformats.org/drawingml/2006/main">
            <a:off x="533400" y="2867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02</a:t>
            </a:r>
          </a:p>
        </p:txBody>
      </p:sp>
      <p:sp>
        <p:nvSpPr>
          <p:cNvPr id="11" name="completion-head-02">
            <a:extLst xmlns:a="http://schemas.openxmlformats.org/drawingml/2006/main">
              <a:ext uri="{FF2B5EF4-FFF2-40B4-BE49-F238E27FC236}">
                <a16:creationId xmlns:a16="http://schemas.microsoft.com/office/drawing/2014/main" id="{FE02F104-5CB6-4D4A-A7B4-DEBAEA6B2F71}"/>
              </a:ext>
            </a:extLst>
          </p:cNvPr>
          <p:cNvSpPr>
            <a:spLocks xmlns:a="http://schemas.openxmlformats.org/drawingml/2006/main" noGrp="1"/>
          </p:cNvSpPr>
          <p:nvPr/>
        </p:nvSpPr>
        <p:spPr>
          <a:xfrm xmlns:a="http://schemas.openxmlformats.org/drawingml/2006/main">
            <a:off x="1476375" y="28670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Evidence</a:t>
            </a:r>
          </a:p>
        </p:txBody>
      </p:sp>
      <p:sp>
        <p:nvSpPr>
          <p:cNvPr id="12" name="completion-body-02">
            <a:extLst xmlns:a="http://schemas.openxmlformats.org/drawingml/2006/main">
              <a:ext uri="{FF2B5EF4-FFF2-40B4-BE49-F238E27FC236}">
                <a16:creationId xmlns:a16="http://schemas.microsoft.com/office/drawing/2014/main" id="{DE7D9E7B-9576-469D-A8D7-DBE02E01B937}"/>
              </a:ext>
            </a:extLst>
          </p:cNvPr>
          <p:cNvSpPr>
            <a:spLocks xmlns:a="http://schemas.openxmlformats.org/drawingml/2006/main" noGrp="1"/>
          </p:cNvSpPr>
          <p:nvPr/>
        </p:nvSpPr>
        <p:spPr>
          <a:xfrm xmlns:a="http://schemas.openxmlformats.org/drawingml/2006/main">
            <a:off x="4476750" y="286702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Which control held? Point to the trace, rejected input, or grader.</a:t>
            </a:r>
          </a:p>
        </p:txBody>
      </p:sp>
      <p:sp>
        <p:nvSpPr>
          <p:cNvPr id="13" name="completion-number-03">
            <a:extLst xmlns:a="http://schemas.openxmlformats.org/drawingml/2006/main">
              <a:ext uri="{FF2B5EF4-FFF2-40B4-BE49-F238E27FC236}">
                <a16:creationId xmlns:a16="http://schemas.microsoft.com/office/drawing/2014/main" id="{064AC16E-7EDB-44D9-9FB4-AB827C818477}"/>
              </a:ext>
            </a:extLst>
          </p:cNvPr>
          <p:cNvSpPr>
            <a:spLocks xmlns:a="http://schemas.openxmlformats.org/drawingml/2006/main" noGrp="1"/>
          </p:cNvSpPr>
          <p:nvPr/>
        </p:nvSpPr>
        <p:spPr>
          <a:xfrm xmlns:a="http://schemas.openxmlformats.org/drawingml/2006/main">
            <a:off x="533400" y="36576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03</a:t>
            </a:r>
          </a:p>
        </p:txBody>
      </p:sp>
      <p:sp>
        <p:nvSpPr>
          <p:cNvPr id="14" name="completion-head-03">
            <a:extLst xmlns:a="http://schemas.openxmlformats.org/drawingml/2006/main">
              <a:ext uri="{FF2B5EF4-FFF2-40B4-BE49-F238E27FC236}">
                <a16:creationId xmlns:a16="http://schemas.microsoft.com/office/drawing/2014/main" id="{A345BC39-ADF1-4E64-B3C5-1B9FE2953443}"/>
              </a:ext>
            </a:extLst>
          </p:cNvPr>
          <p:cNvSpPr>
            <a:spLocks xmlns:a="http://schemas.openxmlformats.org/drawingml/2006/main" noGrp="1"/>
          </p:cNvSpPr>
          <p:nvPr/>
        </p:nvSpPr>
        <p:spPr>
          <a:xfrm xmlns:a="http://schemas.openxmlformats.org/drawingml/2006/main">
            <a:off x="1476375" y="3657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Limits</a:t>
            </a:r>
          </a:p>
        </p:txBody>
      </p:sp>
      <p:sp>
        <p:nvSpPr>
          <p:cNvPr id="15" name="completion-body-03">
            <a:extLst xmlns:a="http://schemas.openxmlformats.org/drawingml/2006/main">
              <a:ext uri="{FF2B5EF4-FFF2-40B4-BE49-F238E27FC236}">
                <a16:creationId xmlns:a16="http://schemas.microsoft.com/office/drawing/2014/main" id="{293D7F58-E4B6-402B-9632-972A86069DC0}"/>
              </a:ext>
            </a:extLst>
          </p:cNvPr>
          <p:cNvSpPr>
            <a:spLocks xmlns:a="http://schemas.openxmlformats.org/drawingml/2006/main" noGrp="1"/>
          </p:cNvSpPr>
          <p:nvPr/>
        </p:nvSpPr>
        <p:spPr>
          <a:xfrm xmlns:a="http://schemas.openxmlformats.org/drawingml/2006/main">
            <a:off x="4476750" y="365760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What does the check leave untested?</a:t>
            </a:r>
          </a:p>
        </p:txBody>
      </p:sp>
      <p:sp>
        <p:nvSpPr>
          <p:cNvPr id="16" name="completion-number-04">
            <a:extLst xmlns:a="http://schemas.openxmlformats.org/drawingml/2006/main">
              <a:ext uri="{FF2B5EF4-FFF2-40B4-BE49-F238E27FC236}">
                <a16:creationId xmlns:a16="http://schemas.microsoft.com/office/drawing/2014/main" id="{5F69214E-ABD3-4D91-BB63-B4EC4C54C8E1}"/>
              </a:ext>
            </a:extLst>
          </p:cNvPr>
          <p:cNvSpPr>
            <a:spLocks xmlns:a="http://schemas.openxmlformats.org/drawingml/2006/main" noGrp="1"/>
          </p:cNvSpPr>
          <p:nvPr/>
        </p:nvSpPr>
        <p:spPr>
          <a:xfrm xmlns:a="http://schemas.openxmlformats.org/drawingml/2006/main">
            <a:off x="533400" y="44481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04</a:t>
            </a:r>
          </a:p>
        </p:txBody>
      </p:sp>
      <p:sp>
        <p:nvSpPr>
          <p:cNvPr id="17" name="completion-head-04">
            <a:extLst xmlns:a="http://schemas.openxmlformats.org/drawingml/2006/main">
              <a:ext uri="{FF2B5EF4-FFF2-40B4-BE49-F238E27FC236}">
                <a16:creationId xmlns:a16="http://schemas.microsoft.com/office/drawing/2014/main" id="{0478FC3E-A5F6-47D4-9B12-BA6133BE4ECB}"/>
              </a:ext>
            </a:extLst>
          </p:cNvPr>
          <p:cNvSpPr>
            <a:spLocks xmlns:a="http://schemas.openxmlformats.org/drawingml/2006/main" noGrp="1"/>
          </p:cNvSpPr>
          <p:nvPr/>
        </p:nvSpPr>
        <p:spPr>
          <a:xfrm xmlns:a="http://schemas.openxmlformats.org/drawingml/2006/main">
            <a:off x="1476375" y="44481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Transfer</a:t>
            </a:r>
          </a:p>
        </p:txBody>
      </p:sp>
      <p:sp>
        <p:nvSpPr>
          <p:cNvPr id="18" name="completion-body-04">
            <a:extLst xmlns:a="http://schemas.openxmlformats.org/drawingml/2006/main">
              <a:ext uri="{FF2B5EF4-FFF2-40B4-BE49-F238E27FC236}">
                <a16:creationId xmlns:a16="http://schemas.microsoft.com/office/drawing/2014/main" id="{9E56D60C-8646-4C20-96AF-E471AAC3B2E3}"/>
              </a:ext>
            </a:extLst>
          </p:cNvPr>
          <p:cNvSpPr>
            <a:spLocks xmlns:a="http://schemas.openxmlformats.org/drawingml/2006/main" noGrp="1"/>
          </p:cNvSpPr>
          <p:nvPr/>
        </p:nvSpPr>
        <p:spPr>
          <a:xfrm xmlns:a="http://schemas.openxmlformats.org/drawingml/2006/main">
            <a:off x="4476750" y="444817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What next test or human decision belongs before real use?</a:t>
            </a:r>
          </a:p>
        </p:txBody>
      </p:sp>
      <p:sp>
        <p:nvSpPr>
          <p:cNvPr id="19" name="dashboard-link">
            <a:extLst xmlns:a="http://schemas.openxmlformats.org/drawingml/2006/main">
              <a:ext uri="{FF2B5EF4-FFF2-40B4-BE49-F238E27FC236}">
                <a16:creationId xmlns:a16="http://schemas.microsoft.com/office/drawing/2014/main" id="{CB136C6A-5B86-4F58-B387-62966ED5B7E7}"/>
              </a:ext>
            </a:extLst>
          </p:cNvPr>
          <p:cNvSpPr>
            <a:spLocks xmlns:a="http://schemas.openxmlformats.org/drawingml/2006/main" noGrp="1"/>
          </p:cNvSpPr>
          <p:nvPr/>
        </p:nvSpPr>
        <p:spPr>
          <a:xfrm xmlns:a="http://schemas.openxmlformats.org/drawingml/2006/main">
            <a:off x="533400" y="56769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1fb26b8317c74ef2"/>
              </a:rPr>
              <a:t>Course dashboard</a:t>
            </a:r>
          </a:p>
        </p:txBody>
      </p:sp>
      <p:sp>
        <p:nvSpPr>
          <p:cNvPr id="20" name="submission-link">
            <a:extLst xmlns:a="http://schemas.openxmlformats.org/drawingml/2006/main">
              <a:ext uri="{FF2B5EF4-FFF2-40B4-BE49-F238E27FC236}">
                <a16:creationId xmlns:a16="http://schemas.microsoft.com/office/drawing/2014/main" id="{7B41B910-FA1C-46D7-A1AE-65169C8C0BB7}"/>
              </a:ext>
            </a:extLst>
          </p:cNvPr>
          <p:cNvSpPr>
            <a:spLocks xmlns:a="http://schemas.openxmlformats.org/drawingml/2006/main" noGrp="1"/>
          </p:cNvSpPr>
          <p:nvPr/>
        </p:nvSpPr>
        <p:spPr>
          <a:xfrm xmlns:a="http://schemas.openxmlformats.org/drawingml/2006/main">
            <a:off x="6000750" y="5676900"/>
            <a:ext cx="565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2254e3c4221141a3"/>
              </a:rPr>
              <a:t>Teaching-design alignment and course references</a:t>
            </a:r>
          </a:p>
        </p:txBody>
      </p:sp>
      <p:sp>
        <p:nvSpPr>
          <p:cNvPr id="22" name="footer-reference">
            <a:extLst xmlns:a="http://schemas.openxmlformats.org/drawingml/2006/main">
              <a:ext uri="{FF2B5EF4-FFF2-40B4-BE49-F238E27FC236}">
                <a16:creationId xmlns:a16="http://schemas.microsoft.com/office/drawing/2014/main" id="{E0EBA862-14F1-4D88-874B-54AF9C2CDB5F}"/>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square">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Stanford Teaching Commons · local course-design adaptation</a:t>
            </a:r>
          </a:p>
        </p:txBody>
      </p:sp>
    </p:spTree>
    <p:extLst>
      <p:ext uri="{BB962C8B-B14F-4D97-AF65-F5344CB8AC3E}">
        <p14:creationId xmlns:p14="http://schemas.microsoft.com/office/powerpoint/2010/main" val="1287772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Managing Multi-Agent Teams: learner-centered workshop deck</dc:title>
  <dcterms:created xsi:type="dcterms:W3CDTF">2026-10-17T03:58:57.0580000Z</dcterms:created>
  <dcterms:modified xsi:type="dcterms:W3CDTF">2026-10-17T03:58:57.0580000Z</dcterms:modified>
  <dc:subject>Teaching design adapted from Stanford Teaching Commons AI Teaching Guide</dc:subject>
</coreProperties>
</file>