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862b7e96814e14" /><Relationship Type="http://schemas.openxmlformats.org/officeDocument/2006/relationships/extended-properties" Target="/docProps/app.xml" Id="R594b659b1b3d4381" /><Relationship Type="http://schemas.openxmlformats.org/officeDocument/2006/relationships/officeDocument" Target="/ppt/presentation.xml" Id="R5f192d62cb86413b" /></Relationships>
</file>

<file path=ppt/presentation.xml><?xml version="1.0" encoding="utf-8"?>
<p:presentation xmlns:p="http://schemas.openxmlformats.org/presentationml/2006/main">
  <p:sldMasterIdLst>
    <p:sldMasterId xmlns:r="http://schemas.openxmlformats.org/officeDocument/2006/relationships" id="2147483648" r:id="R73b15414465043ac"/>
  </p:sldMasterIdLst>
  <p:notesMasterIdLst>
    <p:notesMasterId xmlns:r="http://schemas.openxmlformats.org/officeDocument/2006/relationships" r:id="R49acfb75508645da"/>
  </p:notesMasterIdLst>
  <p:sldIdLst>
    <p:sldId xmlns:r="http://schemas.openxmlformats.org/officeDocument/2006/relationships" id="256" r:id="Rd4a1f47de669457e"/>
    <p:sldId xmlns:r="http://schemas.openxmlformats.org/officeDocument/2006/relationships" id="257" r:id="Rfaa16866de6e4972"/>
    <p:sldId xmlns:r="http://schemas.openxmlformats.org/officeDocument/2006/relationships" id="258" r:id="R1a002b69e77e40ae"/>
    <p:sldId xmlns:r="http://schemas.openxmlformats.org/officeDocument/2006/relationships" id="259" r:id="R534a70cddb7843cc"/>
    <p:sldId xmlns:r="http://schemas.openxmlformats.org/officeDocument/2006/relationships" id="260" r:id="R2b53f20aa063472d"/>
    <p:sldId xmlns:r="http://schemas.openxmlformats.org/officeDocument/2006/relationships" id="261" r:id="R912d9db99e334519"/>
    <p:sldId xmlns:r="http://schemas.openxmlformats.org/officeDocument/2006/relationships" id="262" r:id="Re63cebbe5064465a"/>
    <p:sldId xmlns:r="http://schemas.openxmlformats.org/officeDocument/2006/relationships" id="263" r:id="Rf1b2ad19f8234548"/>
    <p:sldId xmlns:r="http://schemas.openxmlformats.org/officeDocument/2006/relationships" id="264" r:id="Rec7278866138485e"/>
    <p:sldId xmlns:r="http://schemas.openxmlformats.org/officeDocument/2006/relationships" id="265" r:id="R69ede0a3ad904e94"/>
    <p:sldId xmlns:r="http://schemas.openxmlformats.org/officeDocument/2006/relationships" id="266" r:id="Rc4418d0256954fe7"/>
    <p:sldId xmlns:r="http://schemas.openxmlformats.org/officeDocument/2006/relationships" id="267" r:id="R371eee96bbe040c0"/>
    <p:sldId xmlns:r="http://schemas.openxmlformats.org/officeDocument/2006/relationships" id="268" r:id="Rd26a909b8cdc48ca"/>
    <p:sldId xmlns:r="http://schemas.openxmlformats.org/officeDocument/2006/relationships" id="269" r:id="R15555450a7964100"/>
    <p:sldId xmlns:r="http://schemas.openxmlformats.org/officeDocument/2006/relationships" id="270" r:id="Rae5ba5528fde45e3"/>
    <p:sldId xmlns:r="http://schemas.openxmlformats.org/officeDocument/2006/relationships" id="271" r:id="R8615120586d44761"/>
    <p:sldId xmlns:r="http://schemas.openxmlformats.org/officeDocument/2006/relationships" id="272" r:id="R5ee68e064f3b43c1"/>
    <p:sldId xmlns:r="http://schemas.openxmlformats.org/officeDocument/2006/relationships" id="273" r:id="R0a49a92f23c0451f"/>
    <p:sldId xmlns:r="http://schemas.openxmlformats.org/officeDocument/2006/relationships" id="274" r:id="R7e5dfc7a667c452e"/>
    <p:sldId xmlns:r="http://schemas.openxmlformats.org/officeDocument/2006/relationships" id="275" r:id="R3aa528baf24c4f9e"/>
    <p:sldId xmlns:r="http://schemas.openxmlformats.org/officeDocument/2006/relationships" id="276" r:id="R0612517f1a6f4ba7"/>
    <p:sldId xmlns:r="http://schemas.openxmlformats.org/officeDocument/2006/relationships" id="277" r:id="R77886be8430a4382"/>
    <p:sldId xmlns:r="http://schemas.openxmlformats.org/officeDocument/2006/relationships" id="278" r:id="Rfc2b98194a064e8b"/>
    <p:sldId xmlns:r="http://schemas.openxmlformats.org/officeDocument/2006/relationships" id="279" r:id="Red443c977fc74192"/>
    <p:sldId xmlns:r="http://schemas.openxmlformats.org/officeDocument/2006/relationships" id="280" r:id="Rc1c37b827f354847"/>
    <p:sldId xmlns:r="http://schemas.openxmlformats.org/officeDocument/2006/relationships" id="281" r:id="R5f7afe43739e4136"/>
    <p:sldId xmlns:r="http://schemas.openxmlformats.org/officeDocument/2006/relationships" id="282" r:id="R087b158e6c2b477c"/>
    <p:sldId xmlns:r="http://schemas.openxmlformats.org/officeDocument/2006/relationships" id="283" r:id="R03462618eb604c50"/>
    <p:sldId xmlns:r="http://schemas.openxmlformats.org/officeDocument/2006/relationships" id="284" r:id="R7bc141edb0434426"/>
    <p:sldId xmlns:r="http://schemas.openxmlformats.org/officeDocument/2006/relationships" id="285" r:id="R4455f2b58d674e5f"/>
    <p:sldId xmlns:r="http://schemas.openxmlformats.org/officeDocument/2006/relationships" id="286" r:id="R9a2c781bb0904e23"/>
    <p:sldId xmlns:r="http://schemas.openxmlformats.org/officeDocument/2006/relationships" id="287" r:id="R2bcaefa202ed455a"/>
    <p:sldId xmlns:r="http://schemas.openxmlformats.org/officeDocument/2006/relationships" id="288" r:id="Rcba848b6cc94487c"/>
    <p:sldId xmlns:r="http://schemas.openxmlformats.org/officeDocument/2006/relationships" id="289" r:id="Ra2193c29d0c64e87"/>
    <p:sldId xmlns:r="http://schemas.openxmlformats.org/officeDocument/2006/relationships" id="290" r:id="Rf24dd0d806c44dd7"/>
    <p:sldId xmlns:r="http://schemas.openxmlformats.org/officeDocument/2006/relationships" id="291" r:id="R2dd9766c2f54497f"/>
    <p:sldId xmlns:r="http://schemas.openxmlformats.org/officeDocument/2006/relationships" id="292" r:id="Rd98ffaa23f9a4727"/>
    <p:sldId xmlns:r="http://schemas.openxmlformats.org/officeDocument/2006/relationships" id="293" r:id="R0f782e18bb0244d0"/>
    <p:sldId xmlns:r="http://schemas.openxmlformats.org/officeDocument/2006/relationships" id="294" r:id="R0ac26b9d450940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47d96167b34a8d" /><Relationship Type="http://schemas.openxmlformats.org/officeDocument/2006/relationships/slideMaster" Target="/ppt/slideMasters/slideMaster1.xml" Id="R73b15414465043ac" /><Relationship Type="http://schemas.openxmlformats.org/officeDocument/2006/relationships/notesMaster" Target="/ppt/notesMasters/notesMaster1.xml" Id="R49acfb75508645da" /><Relationship Type="http://schemas.openxmlformats.org/officeDocument/2006/relationships/presProps" Target="/ppt/presProps.xml" Id="R9486cc8002df489c" /><Relationship Type="http://schemas.openxmlformats.org/officeDocument/2006/relationships/tableStyles" Target="/ppt/tableStyles.xml" Id="R596cba5bd2534df5" /><Relationship Type="http://schemas.openxmlformats.org/officeDocument/2006/relationships/slide" Target="/ppt/slides/slide1.xml" Id="Rd4a1f47de669457e" /><Relationship Type="http://schemas.openxmlformats.org/officeDocument/2006/relationships/slide" Target="/ppt/slides/slide2.xml" Id="Rfaa16866de6e4972" /><Relationship Type="http://schemas.openxmlformats.org/officeDocument/2006/relationships/slide" Target="/ppt/slides/slide3.xml" Id="R1a002b69e77e40ae" /><Relationship Type="http://schemas.openxmlformats.org/officeDocument/2006/relationships/slide" Target="/ppt/slides/slide4.xml" Id="R534a70cddb7843cc" /><Relationship Type="http://schemas.openxmlformats.org/officeDocument/2006/relationships/slide" Target="/ppt/slides/slide5.xml" Id="R2b53f20aa063472d" /><Relationship Type="http://schemas.openxmlformats.org/officeDocument/2006/relationships/slide" Target="/ppt/slides/slide6.xml" Id="R912d9db99e334519" /><Relationship Type="http://schemas.openxmlformats.org/officeDocument/2006/relationships/slide" Target="/ppt/slides/slide7.xml" Id="Re63cebbe5064465a" /><Relationship Type="http://schemas.openxmlformats.org/officeDocument/2006/relationships/slide" Target="/ppt/slides/slide8.xml" Id="Rf1b2ad19f8234548" /><Relationship Type="http://schemas.openxmlformats.org/officeDocument/2006/relationships/slide" Target="/ppt/slides/slide9.xml" Id="Rec7278866138485e" /><Relationship Type="http://schemas.openxmlformats.org/officeDocument/2006/relationships/slide" Target="/ppt/slides/slide10.xml" Id="R69ede0a3ad904e94" /><Relationship Type="http://schemas.openxmlformats.org/officeDocument/2006/relationships/slide" Target="/ppt/slides/slide11.xml" Id="Rc4418d0256954fe7" /><Relationship Type="http://schemas.openxmlformats.org/officeDocument/2006/relationships/slide" Target="/ppt/slides/slide12.xml" Id="R371eee96bbe040c0" /><Relationship Type="http://schemas.openxmlformats.org/officeDocument/2006/relationships/slide" Target="/ppt/slides/slide13.xml" Id="Rd26a909b8cdc48ca" /><Relationship Type="http://schemas.openxmlformats.org/officeDocument/2006/relationships/slide" Target="/ppt/slides/slide14.xml" Id="R15555450a7964100" /><Relationship Type="http://schemas.openxmlformats.org/officeDocument/2006/relationships/slide" Target="/ppt/slides/slide15.xml" Id="Rae5ba5528fde45e3" /><Relationship Type="http://schemas.openxmlformats.org/officeDocument/2006/relationships/slide" Target="/ppt/slides/slide16.xml" Id="R8615120586d44761" /><Relationship Type="http://schemas.openxmlformats.org/officeDocument/2006/relationships/slide" Target="/ppt/slides/slide17.xml" Id="R5ee68e064f3b43c1" /><Relationship Type="http://schemas.openxmlformats.org/officeDocument/2006/relationships/slide" Target="/ppt/slides/slide18.xml" Id="R0a49a92f23c0451f" /><Relationship Type="http://schemas.openxmlformats.org/officeDocument/2006/relationships/slide" Target="/ppt/slides/slide19.xml" Id="R7e5dfc7a667c452e" /><Relationship Type="http://schemas.openxmlformats.org/officeDocument/2006/relationships/slide" Target="/ppt/slides/slide20.xml" Id="R3aa528baf24c4f9e" /><Relationship Type="http://schemas.openxmlformats.org/officeDocument/2006/relationships/slide" Target="/ppt/slides/slide21.xml" Id="R0612517f1a6f4ba7" /><Relationship Type="http://schemas.openxmlformats.org/officeDocument/2006/relationships/slide" Target="/ppt/slides/slide22.xml" Id="R77886be8430a4382" /><Relationship Type="http://schemas.openxmlformats.org/officeDocument/2006/relationships/slide" Target="/ppt/slides/slide23.xml" Id="Rfc2b98194a064e8b" /><Relationship Type="http://schemas.openxmlformats.org/officeDocument/2006/relationships/slide" Target="/ppt/slides/slide24.xml" Id="Red443c977fc74192" /><Relationship Type="http://schemas.openxmlformats.org/officeDocument/2006/relationships/slide" Target="/ppt/slides/slide25.xml" Id="Rc1c37b827f354847" /><Relationship Type="http://schemas.openxmlformats.org/officeDocument/2006/relationships/slide" Target="/ppt/slides/slide26.xml" Id="R5f7afe43739e4136" /><Relationship Type="http://schemas.openxmlformats.org/officeDocument/2006/relationships/slide" Target="/ppt/slides/slide27.xml" Id="R087b158e6c2b477c" /><Relationship Type="http://schemas.openxmlformats.org/officeDocument/2006/relationships/slide" Target="/ppt/slides/slide28.xml" Id="R03462618eb604c50" /><Relationship Type="http://schemas.openxmlformats.org/officeDocument/2006/relationships/slide" Target="/ppt/slides/slide29.xml" Id="R7bc141edb0434426" /><Relationship Type="http://schemas.openxmlformats.org/officeDocument/2006/relationships/slide" Target="/ppt/slides/slide30.xml" Id="R4455f2b58d674e5f" /><Relationship Type="http://schemas.openxmlformats.org/officeDocument/2006/relationships/slide" Target="/ppt/slides/slide31.xml" Id="R9a2c781bb0904e23" /><Relationship Type="http://schemas.openxmlformats.org/officeDocument/2006/relationships/slide" Target="/ppt/slides/slide32.xml" Id="R2bcaefa202ed455a" /><Relationship Type="http://schemas.openxmlformats.org/officeDocument/2006/relationships/slide" Target="/ppt/slides/slide33.xml" Id="Rcba848b6cc94487c" /><Relationship Type="http://schemas.openxmlformats.org/officeDocument/2006/relationships/slide" Target="/ppt/slides/slide34.xml" Id="Ra2193c29d0c64e87" /><Relationship Type="http://schemas.openxmlformats.org/officeDocument/2006/relationships/slide" Target="/ppt/slides/slide35.xml" Id="Rf24dd0d806c44dd7" /><Relationship Type="http://schemas.openxmlformats.org/officeDocument/2006/relationships/slide" Target="/ppt/slides/slide36.xml" Id="R2dd9766c2f54497f" /><Relationship Type="http://schemas.openxmlformats.org/officeDocument/2006/relationships/slide" Target="/ppt/slides/slide37.xml" Id="Rd98ffaa23f9a4727" /><Relationship Type="http://schemas.openxmlformats.org/officeDocument/2006/relationships/slide" Target="/ppt/slides/slide38.xml" Id="R0f782e18bb0244d0" /><Relationship Type="http://schemas.openxmlformats.org/officeDocument/2006/relationships/slide" Target="/ppt/slides/slide39.xml" Id="R0ac26b9d450940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bdb53b375a45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904d2bb2264c8c" /><Relationship Type="http://schemas.openxmlformats.org/officeDocument/2006/relationships/notesMaster" Target="/ppt/notesMasters/notesMaster1.xml" Id="R116408be07014d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bfab5efcc445f1" /><Relationship Type="http://schemas.openxmlformats.org/officeDocument/2006/relationships/notesMaster" Target="/ppt/notesMasters/notesMaster1.xml" Id="R840349bee2914d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e754494b5640ce" /><Relationship Type="http://schemas.openxmlformats.org/officeDocument/2006/relationships/notesMaster" Target="/ppt/notesMasters/notesMaster1.xml" Id="R2e2a70778e3d48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d3d058527a4b83" /><Relationship Type="http://schemas.openxmlformats.org/officeDocument/2006/relationships/notesMaster" Target="/ppt/notesMasters/notesMaster1.xml" Id="Rd3ada2f31d8a4f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5cdecfe03744a1" /><Relationship Type="http://schemas.openxmlformats.org/officeDocument/2006/relationships/notesMaster" Target="/ppt/notesMasters/notesMaster1.xml" Id="R31682ae265ec42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d119430929417d" /><Relationship Type="http://schemas.openxmlformats.org/officeDocument/2006/relationships/notesMaster" Target="/ppt/notesMasters/notesMaster1.xml" Id="R7f407ed2167340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39e032584f43a6" /><Relationship Type="http://schemas.openxmlformats.org/officeDocument/2006/relationships/notesMaster" Target="/ppt/notesMasters/notesMaster1.xml" Id="R653b8b36d9c04b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ee7d82fdf342ad" /><Relationship Type="http://schemas.openxmlformats.org/officeDocument/2006/relationships/notesMaster" Target="/ppt/notesMasters/notesMaster1.xml" Id="Rfcb9d8c236d94c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20e18d74774ccf" /><Relationship Type="http://schemas.openxmlformats.org/officeDocument/2006/relationships/notesMaster" Target="/ppt/notesMasters/notesMaster1.xml" Id="Rdb51b87968a24a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4352574dcc467e" /><Relationship Type="http://schemas.openxmlformats.org/officeDocument/2006/relationships/notesMaster" Target="/ppt/notesMasters/notesMaster1.xml" Id="R5346c7d857ff46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ebe07d324145bc" /><Relationship Type="http://schemas.openxmlformats.org/officeDocument/2006/relationships/notesMaster" Target="/ppt/notesMasters/notesMaster1.xml" Id="Rdbb781ea80c242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e98b39d61341f3" /><Relationship Type="http://schemas.openxmlformats.org/officeDocument/2006/relationships/notesMaster" Target="/ppt/notesMasters/notesMaster1.xml" Id="Rcaa75d93be3a47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e7976b0d5bb4957" /><Relationship Type="http://schemas.openxmlformats.org/officeDocument/2006/relationships/notesMaster" Target="/ppt/notesMasters/notesMaster1.xml" Id="R429715c456d2491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3f0e419e844894" /><Relationship Type="http://schemas.openxmlformats.org/officeDocument/2006/relationships/notesMaster" Target="/ppt/notesMasters/notesMaster1.xml" Id="R80ca02a677934c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8cd4ac9b6074ac2" /><Relationship Type="http://schemas.openxmlformats.org/officeDocument/2006/relationships/notesMaster" Target="/ppt/notesMasters/notesMaster1.xml" Id="R3ae94d4e99e1411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062d2a1f7bc4c63" /><Relationship Type="http://schemas.openxmlformats.org/officeDocument/2006/relationships/notesMaster" Target="/ppt/notesMasters/notesMaster1.xml" Id="Rc28979c687444c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9479c487114416" /><Relationship Type="http://schemas.openxmlformats.org/officeDocument/2006/relationships/notesMaster" Target="/ppt/notesMasters/notesMaster1.xml" Id="R785151bd19e944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97bf952be74902" /><Relationship Type="http://schemas.openxmlformats.org/officeDocument/2006/relationships/notesMaster" Target="/ppt/notesMasters/notesMaster1.xml" Id="R3f76699b8d56415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d0bf619f1c4329" /><Relationship Type="http://schemas.openxmlformats.org/officeDocument/2006/relationships/notesMaster" Target="/ppt/notesMasters/notesMaster1.xml" Id="R4f199b800c7443e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6a162d1b65a4e45" /><Relationship Type="http://schemas.openxmlformats.org/officeDocument/2006/relationships/notesMaster" Target="/ppt/notesMasters/notesMaster1.xml" Id="Rd8f2e893029d4b1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c93535f66914cd1" /><Relationship Type="http://schemas.openxmlformats.org/officeDocument/2006/relationships/notesMaster" Target="/ppt/notesMasters/notesMaster1.xml" Id="R4b53f57822de456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8d5bdd6313b47bc" /><Relationship Type="http://schemas.openxmlformats.org/officeDocument/2006/relationships/notesMaster" Target="/ppt/notesMasters/notesMaster1.xml" Id="R7ee52e53bc504e7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5fbbb1e7ba146a4" /><Relationship Type="http://schemas.openxmlformats.org/officeDocument/2006/relationships/notesMaster" Target="/ppt/notesMasters/notesMaster1.xml" Id="R79861ecedfd14e0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02c9ed8d6fc46b6" /><Relationship Type="http://schemas.openxmlformats.org/officeDocument/2006/relationships/notesMaster" Target="/ppt/notesMasters/notesMaster1.xml" Id="Rfb109e73e51a48c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8eeaac50d1d46e8" /><Relationship Type="http://schemas.openxmlformats.org/officeDocument/2006/relationships/notesMaster" Target="/ppt/notesMasters/notesMaster1.xml" Id="R13fbab6f987b4f6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e069606f58d4583" /><Relationship Type="http://schemas.openxmlformats.org/officeDocument/2006/relationships/notesMaster" Target="/ppt/notesMasters/notesMaster1.xml" Id="R0ff310eba730425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56eb879f6334a0b" /><Relationship Type="http://schemas.openxmlformats.org/officeDocument/2006/relationships/notesMaster" Target="/ppt/notesMasters/notesMaster1.xml" Id="Rd42e4c7b608f47b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5d9198a62dd4b20" /><Relationship Type="http://schemas.openxmlformats.org/officeDocument/2006/relationships/notesMaster" Target="/ppt/notesMasters/notesMaster1.xml" Id="Re1a78015d94a499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7535c6454af4c06" /><Relationship Type="http://schemas.openxmlformats.org/officeDocument/2006/relationships/notesMaster" Target="/ppt/notesMasters/notesMaster1.xml" Id="R9de514b14c4c486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98a6a91ec62418a" /><Relationship Type="http://schemas.openxmlformats.org/officeDocument/2006/relationships/notesMaster" Target="/ppt/notesMasters/notesMaster1.xml" Id="R0b72ad13d1854ee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9453e4395334bdd" /><Relationship Type="http://schemas.openxmlformats.org/officeDocument/2006/relationships/notesMaster" Target="/ppt/notesMasters/notesMaster1.xml" Id="R6245ae6eb85244c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9cc019984be4af4" /><Relationship Type="http://schemas.openxmlformats.org/officeDocument/2006/relationships/notesMaster" Target="/ppt/notesMasters/notesMaster1.xml" Id="R33ddc7ec9c614b2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c3f4121a1bd4656" /><Relationship Type="http://schemas.openxmlformats.org/officeDocument/2006/relationships/notesMaster" Target="/ppt/notesMasters/notesMaster1.xml" Id="Rf7d55a9558694f5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6b7d10022b1405a" /><Relationship Type="http://schemas.openxmlformats.org/officeDocument/2006/relationships/notesMaster" Target="/ppt/notesMasters/notesMaster1.xml" Id="R345e90abdd474d5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fd8ae569f624f47" /><Relationship Type="http://schemas.openxmlformats.org/officeDocument/2006/relationships/notesMaster" Target="/ppt/notesMasters/notesMaster1.xml" Id="R05eb3d94c80d4cb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3d7fb8f29734dc3" /><Relationship Type="http://schemas.openxmlformats.org/officeDocument/2006/relationships/notesMaster" Target="/ppt/notesMasters/notesMaster1.xml" Id="Rd9be2f62f11b49c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bb02e367b014f29" /><Relationship Type="http://schemas.openxmlformats.org/officeDocument/2006/relationships/notesMaster" Target="/ppt/notesMasters/notesMaster1.xml" Id="R6800becfa875408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9d6bdb0815f4051" /><Relationship Type="http://schemas.openxmlformats.org/officeDocument/2006/relationships/notesMaster" Target="/ppt/notesMasters/notesMaster1.xml" Id="Rdaa887aadfa94c3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09d56aa7c7b480e" /><Relationship Type="http://schemas.openxmlformats.org/officeDocument/2006/relationships/notesMaster" Target="/ppt/notesMasters/notesMaster1.xml" Id="R11b8b3cad58749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gives learners three primary research entry points. It does not claim that the papers prove this exact course architecture or guarantee safety.</a:t>
            </a:r>
          </a:p>
          <a:p xmlns:a="http://schemas.openxmlformats.org/drawingml/2006/main">
            <a:r>
              <a:t/>
            </a:r>
          </a:p>
          <a:p xmlns:a="http://schemas.openxmlformats.org/drawingml/2006/main">
            <a:r>
              <a:t>MetaGPT (ICLR 2024) describes encoding standardized operating procedures into prompt sequences and dividing work among specialized roles. We use that as motivation for explicit contracts and stages, not as evidence that Pydantic specifically is required.</a:t>
            </a:r>
          </a:p>
          <a:p xmlns:a="http://schemas.openxmlformats.org/drawingml/2006/main">
            <a:r>
              <a:t>Source: https://proceedings.iclr.cc/paper_files/paper/2024/hash/6507b115562bb0a305f1958ccc87355a-Abstract-Conference.html</a:t>
            </a:r>
          </a:p>
          <a:p xmlns:a="http://schemas.openxmlformats.org/drawingml/2006/main">
            <a:r>
              <a:t/>
            </a:r>
          </a:p>
          <a:p xmlns:a="http://schemas.openxmlformats.org/drawingml/2006/main">
            <a:r>
              <a:t>Reflexion (NeurIPS 2023) uses verbal feedback and an episodic memory buffer across later trials. It does not prescribe our maximum of three retries. The initial attempt plus three retries and escalation on the fourth failure are explicit course reliability policies.</a:t>
            </a:r>
          </a:p>
          <a:p xmlns:a="http://schemas.openxmlformats.org/drawingml/2006/main">
            <a:r>
              <a:t>Source: https://papers.nips.cc/paper_files/paper/2023/hash/1b44b878bb782e6954cd888628510e90-Abstract-Conference.html</a:t>
            </a:r>
          </a:p>
          <a:p xmlns:a="http://schemas.openxmlformats.org/drawingml/2006/main">
            <a:r>
              <a:t/>
            </a:r>
          </a:p>
          <a:p xmlns:a="http://schemas.openxmlformats.org/drawingml/2006/main">
            <a:r>
              <a:t>ChatDev (ACL 2024) describes specialized software-development agents and a chat chain. The course Manager/Coder/QA arrangement is an adaptation; it is not presented as ChatDev’s exact topology.</a:t>
            </a:r>
          </a:p>
          <a:p xmlns:a="http://schemas.openxmlformats.org/drawingml/2006/main">
            <a:r>
              <a:t>Source: https://aclanthology.org/2024.acl-long.810/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d51db1379d4c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1b8616f74044dd" /><Relationship Type="http://schemas.openxmlformats.org/officeDocument/2006/relationships/slideLayout" Target="/ppt/slideLayouts/slideLayout1.xml" Id="Re1bc0109cfc648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bc0109cfc648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f5796ba9484fc5" /><Relationship Type="http://schemas.openxmlformats.org/officeDocument/2006/relationships/notesSlide" Target="/ppt/notesSlides/notesSlide1.xml" Id="R7bc1e484c83b4c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027b5e688b4b48" /><Relationship Type="http://schemas.openxmlformats.org/officeDocument/2006/relationships/notesSlide" Target="/ppt/notesSlides/notesSlide2.xml" Id="R6ac3d6b8a1cb4d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9124678011419f" /><Relationship Type="http://schemas.openxmlformats.org/officeDocument/2006/relationships/notesSlide" Target="/ppt/notesSlides/notesSlide3.xml" Id="Ra0a5597c79bb46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cd3a9e58644f59" /><Relationship Type="http://schemas.openxmlformats.org/officeDocument/2006/relationships/notesSlide" Target="/ppt/notesSlides/notesSlide4.xml" Id="Re154073832a849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5fda0427524360" /><Relationship Type="http://schemas.openxmlformats.org/officeDocument/2006/relationships/hyperlink" Target="https://proceedings.iclr.cc/paper_files/paper/2024/hash/6507b115562bb0a305f1958ccc87355a-Abstract-Conference.html" TargetMode="External" Id="Rf8d5b89f0d4e4552" /><Relationship Type="http://schemas.openxmlformats.org/officeDocument/2006/relationships/hyperlink" Target="https://papers.nips.cc/paper_files/paper/2023/hash/1b44b878bb782e6954cd888628510e90-Abstract-Conference.html" TargetMode="External" Id="R58ec9744b2264df7" /><Relationship Type="http://schemas.openxmlformats.org/officeDocument/2006/relationships/hyperlink" Target="https://aclanthology.org/2024.acl-long.810/" TargetMode="External" Id="Ra3106f9197c34483" /><Relationship Type="http://schemas.openxmlformats.org/officeDocument/2006/relationships/notesSlide" Target="/ppt/notesSlides/notesSlide5.xml" Id="Re7c4f48edad14a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301d2c3b6b469b" /><Relationship Type="http://schemas.openxmlformats.org/officeDocument/2006/relationships/notesSlide" Target="/ppt/notesSlides/notesSlide6.xml" Id="R19cdee0e848046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4bf2ad21f7406b" /><Relationship Type="http://schemas.openxmlformats.org/officeDocument/2006/relationships/notesSlide" Target="/ppt/notesSlides/notesSlide7.xml" Id="Ra2d7ef0ef50d48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6021a928c14cf1" /><Relationship Type="http://schemas.openxmlformats.org/officeDocument/2006/relationships/notesSlide" Target="/ppt/notesSlides/notesSlide8.xml" Id="R3f7e1faf8b5e42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40d27428b3434b" /><Relationship Type="http://schemas.openxmlformats.org/officeDocument/2006/relationships/notesSlide" Target="/ppt/notesSlides/notesSlide9.xml" Id="R1ba40130ab4340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da715e73c8e4ad2" /><Relationship Type="http://schemas.openxmlformats.org/officeDocument/2006/relationships/notesSlide" Target="/ppt/notesSlides/notesSlide10.xml" Id="R75f4179dc7da49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9bc34ddca947cc" /><Relationship Type="http://schemas.openxmlformats.org/officeDocument/2006/relationships/notesSlide" Target="/ppt/notesSlides/notesSlide11.xml" Id="R4d97135c102e4e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4cb5c463ee4453d" /><Relationship Type="http://schemas.openxmlformats.org/officeDocument/2006/relationships/notesSlide" Target="/ppt/notesSlides/notesSlide12.xml" Id="R94256def229945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864f2901f14207" /><Relationship Type="http://schemas.openxmlformats.org/officeDocument/2006/relationships/notesSlide" Target="/ppt/notesSlides/notesSlide13.xml" Id="Rc9faa1b0922d4f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f14616b24644d04" /><Relationship Type="http://schemas.openxmlformats.org/officeDocument/2006/relationships/notesSlide" Target="/ppt/notesSlides/notesSlide14.xml" Id="Ree214ba0303149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f3acd59be894ba8" /><Relationship Type="http://schemas.openxmlformats.org/officeDocument/2006/relationships/notesSlide" Target="/ppt/notesSlides/notesSlide15.xml" Id="R5c6040a73eab478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0f3168f34484bd0" /><Relationship Type="http://schemas.openxmlformats.org/officeDocument/2006/relationships/notesSlide" Target="/ppt/notesSlides/notesSlide16.xml" Id="R7e641520ebd44d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d1f9a1773e34643" /><Relationship Type="http://schemas.openxmlformats.org/officeDocument/2006/relationships/notesSlide" Target="/ppt/notesSlides/notesSlide17.xml" Id="Rc2cf8b146e7e491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67470429bf54de2" /><Relationship Type="http://schemas.openxmlformats.org/officeDocument/2006/relationships/notesSlide" Target="/ppt/notesSlides/notesSlide18.xml" Id="R7e08fe1644204a7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d8908e588db4649" /><Relationship Type="http://schemas.openxmlformats.org/officeDocument/2006/relationships/notesSlide" Target="/ppt/notesSlides/notesSlide19.xml" Id="R776d0223654c440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248b8c7840c4961" /><Relationship Type="http://schemas.openxmlformats.org/officeDocument/2006/relationships/notesSlide" Target="/ppt/notesSlides/notesSlide20.xml" Id="R2140fe09e8e2433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c8814a7e6844a25" /><Relationship Type="http://schemas.openxmlformats.org/officeDocument/2006/relationships/notesSlide" Target="/ppt/notesSlides/notesSlide21.xml" Id="R2c60175443a747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e3b6f87dcab4d0d" /><Relationship Type="http://schemas.openxmlformats.org/officeDocument/2006/relationships/notesSlide" Target="/ppt/notesSlides/notesSlide22.xml" Id="Rad538f246e26449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faf3bfb95d64306" /><Relationship Type="http://schemas.openxmlformats.org/officeDocument/2006/relationships/notesSlide" Target="/ppt/notesSlides/notesSlide23.xml" Id="Rd4a0f71d14af40e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aacf6e479624d6b" /><Relationship Type="http://schemas.openxmlformats.org/officeDocument/2006/relationships/notesSlide" Target="/ppt/notesSlides/notesSlide24.xml" Id="Ra0b75a33cfd1464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2067b581af647f5" /><Relationship Type="http://schemas.openxmlformats.org/officeDocument/2006/relationships/notesSlide" Target="/ppt/notesSlides/notesSlide25.xml" Id="Rb4ecd29be8a044b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ac4e83e10294fc0" /><Relationship Type="http://schemas.openxmlformats.org/officeDocument/2006/relationships/notesSlide" Target="/ppt/notesSlides/notesSlide26.xml" Id="R7808f7401b8e455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6fbc8214371422c" /><Relationship Type="http://schemas.openxmlformats.org/officeDocument/2006/relationships/notesSlide" Target="/ppt/notesSlides/notesSlide27.xml" Id="R8a98092a75f44e4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10b6231a6a446b4" /><Relationship Type="http://schemas.openxmlformats.org/officeDocument/2006/relationships/notesSlide" Target="/ppt/notesSlides/notesSlide28.xml" Id="R3e2e106c5bd14f8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701730fd44c428f" /><Relationship Type="http://schemas.openxmlformats.org/officeDocument/2006/relationships/notesSlide" Target="/ppt/notesSlides/notesSlide29.xml" Id="Rf6948ef17cac48b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5d7e53b0a434f3a" /><Relationship Type="http://schemas.openxmlformats.org/officeDocument/2006/relationships/notesSlide" Target="/ppt/notesSlides/notesSlide30.xml" Id="Re5463ca7794f49b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7658af2272e47af" /><Relationship Type="http://schemas.openxmlformats.org/officeDocument/2006/relationships/notesSlide" Target="/ppt/notesSlides/notesSlide31.xml" Id="R4ab5b0291add447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852212529784417" /><Relationship Type="http://schemas.openxmlformats.org/officeDocument/2006/relationships/notesSlide" Target="/ppt/notesSlides/notesSlide32.xml" Id="R95b7e5cf9e8a492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949dea9f7744ac6" /><Relationship Type="http://schemas.openxmlformats.org/officeDocument/2006/relationships/notesSlide" Target="/ppt/notesSlides/notesSlide33.xml" Id="Rdf188905164540b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b1879f5bc51489c" /><Relationship Type="http://schemas.openxmlformats.org/officeDocument/2006/relationships/notesSlide" Target="/ppt/notesSlides/notesSlide34.xml" Id="Ra9c454696836433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6b056725e9f43cc" /><Relationship Type="http://schemas.openxmlformats.org/officeDocument/2006/relationships/notesSlide" Target="/ppt/notesSlides/notesSlide35.xml" Id="R0549e7a8f43d430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81a9e91d0184d67" /><Relationship Type="http://schemas.openxmlformats.org/officeDocument/2006/relationships/notesSlide" Target="/ppt/notesSlides/notesSlide36.xml" Id="R0363e4ef94b546d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e5a7bbb2b724cd1" /><Relationship Type="http://schemas.openxmlformats.org/officeDocument/2006/relationships/notesSlide" Target="/ppt/notesSlides/notesSlide37.xml" Id="Rd099b4a6876b49b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6e09f1f2cc848b9" /><Relationship Type="http://schemas.openxmlformats.org/officeDocument/2006/relationships/notesSlide" Target="/ppt/notesSlides/notesSlide38.xml" Id="R324b8f525a4b434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d1d1a36e3a940cc" /><Relationship Type="http://schemas.openxmlformats.org/officeDocument/2006/relationships/notesSlide" Target="/ppt/notesSlides/notesSlide39.xml" Id="R94795e01d82f4c0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A1BE27-9E90-4E97-8E7A-95106EEE94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A434013B-ECBE-4359-ACC6-BAB8D4CDA25B}"/>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A427CB98-4EBE-4772-8DC3-8175F9842CE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AE37AAA6-8DC7-4EA9-A7EA-94FEFBEDC8E2}"/>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F79249E4-67F9-4EE9-9CBA-481B36101AD2}"/>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4F4A34C5-E2D2-44C0-90A1-8C855E2327AA}"/>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Critical Assets — How They Fit</a:t>
            </a:r>
          </a:p>
        </p:txBody>
      </p:sp>
      <p:sp>
        <p:nvSpPr>
          <p:cNvPr id="7" name="">
            <a:extLst xmlns:a="http://schemas.openxmlformats.org/drawingml/2006/main">
              <a:ext uri="{FF2B5EF4-FFF2-40B4-BE49-F238E27FC236}">
                <a16:creationId xmlns:a16="http://schemas.microsoft.com/office/drawing/2014/main" id="{BBAD9E86-6BF4-4665-B4CB-F6817FC58612}"/>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CrewAI</a:t>
            </a:r>
          </a:p>
        </p:txBody>
      </p:sp>
      <p:sp>
        <p:nvSpPr>
          <p:cNvPr id="8" name="">
            <a:extLst xmlns:a="http://schemas.openxmlformats.org/drawingml/2006/main">
              <a:ext uri="{FF2B5EF4-FFF2-40B4-BE49-F238E27FC236}">
                <a16:creationId xmlns:a16="http://schemas.microsoft.com/office/drawing/2014/main" id="{C8F1FEBA-E4A7-4DBC-8E7E-F346B9AAC8AA}"/>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01</a:t>
            </a:r>
          </a:p>
        </p:txBody>
      </p:sp>
      <p:sp>
        <p:nvSpPr>
          <p:cNvPr id="9" name="">
            <a:extLst xmlns:a="http://schemas.openxmlformats.org/drawingml/2006/main">
              <a:ext uri="{FF2B5EF4-FFF2-40B4-BE49-F238E27FC236}">
                <a16:creationId xmlns:a16="http://schemas.microsoft.com/office/drawing/2014/main" id="{1F265314-03B3-4AB8-A713-580430BF54E9}"/>
              </a:ext>
            </a:extLst>
          </p:cNvPr>
          <p:cNvSpPr>
            <a:spLocks xmlns:a="http://schemas.openxmlformats.org/drawingml/2006/main" noGrp="1"/>
          </p:cNvSpPr>
          <p:nvPr/>
        </p:nvSpPr>
        <p:spPr>
          <a:xfrm xmlns:a="http://schemas.openxmlformats.org/drawingml/2006/main">
            <a:off x="552450" y="1181100"/>
            <a:ext cx="7810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550">
                <a:solidFill>
                  <a:srgbClr val="FFFFFF"/>
                </a:solidFill>
              </a:defRPr>
            </a:pPr>
            <a:r>
              <a:rPr sz="5550">
                <a:solidFill>
                  <a:srgbClr val="FFFFFF"/>
                </a:solidFill>
              </a:rPr>
              <a:t>Managing</a:t>
            </a:r>
          </a:p>
          <a:p xmlns:a="http://schemas.openxmlformats.org/drawingml/2006/main">
            <a:pPr>
              <a:buNone/>
              <a:defRPr sz="5550">
                <a:solidFill>
                  <a:srgbClr val="FFFFFF"/>
                </a:solidFill>
              </a:defRPr>
            </a:pPr>
            <a:r>
              <a:rPr sz="5550">
                <a:solidFill>
                  <a:srgbClr val="FFFFFF"/>
                </a:solidFill>
              </a:rPr>
              <a:t>Multi-Agent Teams</a:t>
            </a:r>
          </a:p>
        </p:txBody>
      </p:sp>
      <p:sp>
        <p:nvSpPr>
          <p:cNvPr id="10" name="">
            <a:extLst xmlns:a="http://schemas.openxmlformats.org/drawingml/2006/main">
              <a:ext uri="{FF2B5EF4-FFF2-40B4-BE49-F238E27FC236}">
                <a16:creationId xmlns:a16="http://schemas.microsoft.com/office/drawing/2014/main" id="{95242C68-4089-4681-9640-D3FA1A3E9B07}"/>
              </a:ext>
            </a:extLst>
          </p:cNvPr>
          <p:cNvSpPr>
            <a:spLocks xmlns:a="http://schemas.openxmlformats.org/drawingml/2006/main" noGrp="1"/>
          </p:cNvSpPr>
          <p:nvPr/>
        </p:nvSpPr>
        <p:spPr>
          <a:xfrm xmlns:a="http://schemas.openxmlformats.org/drawingml/2006/main">
            <a:off x="552450" y="37909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BFC2FF"/>
                </a:solidFill>
              </a:defRPr>
            </a:pPr>
            <a:r>
              <a:rPr sz="1500">
                <a:solidFill>
                  <a:srgbClr val="BFC2FF"/>
                </a:solidFill>
              </a:rPr>
              <a:t>Agentic AI  ·  Vibe Coding  ·  System Governance  ·  Pydantic  ·  MCP</a:t>
            </a:r>
          </a:p>
        </p:txBody>
      </p:sp>
      <p:sp>
        <p:nvSpPr>
          <p:cNvPr id="11" name="">
            <a:extLst xmlns:a="http://schemas.openxmlformats.org/drawingml/2006/main">
              <a:ext uri="{FF2B5EF4-FFF2-40B4-BE49-F238E27FC236}">
                <a16:creationId xmlns:a16="http://schemas.microsoft.com/office/drawing/2014/main" id="{A02B8579-3B47-4458-BB7C-4E09F96B8BF9}"/>
              </a:ext>
            </a:extLst>
          </p:cNvPr>
          <p:cNvSpPr>
            <a:spLocks xmlns:a="http://schemas.openxmlformats.org/drawingml/2006/main" noGrp="1"/>
          </p:cNvSpPr>
          <p:nvPr/>
        </p:nvSpPr>
        <p:spPr>
          <a:xfrm xmlns:a="http://schemas.openxmlformats.org/drawingml/2006/main">
            <a:off x="552450" y="43243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BFC2FF"/>
                </a:solidFill>
              </a:defRPr>
            </a:pPr>
            <a:r>
              <a:rPr sz="1275">
                <a:solidFill>
                  <a:srgbClr val="BFC2FF"/>
                </a:solidFill>
              </a:rPr>
              <a:t>6 Modules  ·  Build. Break. Fix. Govern.</a:t>
            </a:r>
          </a:p>
        </p:txBody>
      </p:sp>
    </p:spTree>
    <p:extLst>
      <p:ext uri="{BB962C8B-B14F-4D97-AF65-F5344CB8AC3E}">
        <p14:creationId xmlns:p14="http://schemas.microsoft.com/office/powerpoint/2010/main" val="17790522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52E3449-A84E-4406-950A-3C849ED97C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5A3F4A1-8C01-4E2B-BA4B-903B3F42EC7B}"/>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A7288622-FE2D-4F1A-AD05-EE511704AB52}"/>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08B9414E-4CCE-4EF8-9CC8-8493C8FC53A5}"/>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FDF7890-52AE-4C73-81F4-70C601029335}"/>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472F96C9-F749-4758-9DB9-510A6D448AA1}"/>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47B2039-1EBD-4717-B84F-0AE4942947B7}"/>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Course philosophy</a:t>
            </a:r>
          </a:p>
        </p:txBody>
      </p:sp>
      <p:sp>
        <p:nvSpPr>
          <p:cNvPr id="8" name="">
            <a:extLst xmlns:a="http://schemas.openxmlformats.org/drawingml/2006/main">
              <a:ext uri="{FF2B5EF4-FFF2-40B4-BE49-F238E27FC236}">
                <a16:creationId xmlns:a16="http://schemas.microsoft.com/office/drawing/2014/main" id="{7822050B-70A7-4E84-9B61-9D04E5E91815}"/>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02</a:t>
            </a:r>
          </a:p>
        </p:txBody>
      </p:sp>
      <p:sp>
        <p:nvSpPr>
          <p:cNvPr id="9" name="">
            <a:extLst xmlns:a="http://schemas.openxmlformats.org/drawingml/2006/main">
              <a:ext uri="{FF2B5EF4-FFF2-40B4-BE49-F238E27FC236}">
                <a16:creationId xmlns:a16="http://schemas.microsoft.com/office/drawing/2014/main" id="{B32AF953-37B7-4F2B-AABD-6D60BB5B3E5F}"/>
              </a:ext>
            </a:extLst>
          </p:cNvPr>
          <p:cNvSpPr>
            <a:spLocks xmlns:a="http://schemas.openxmlformats.org/drawingml/2006/main" noGrp="1"/>
          </p:cNvSpPr>
          <p:nvPr/>
        </p:nvSpPr>
        <p:spPr>
          <a:xfrm xmlns:a="http://schemas.openxmlformats.org/drawingml/2006/main">
            <a:off x="2571750" y="2190750"/>
            <a:ext cx="7239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a:solidFill>
                  <a:srgbClr val="FFFFFF"/>
                </a:solidFill>
              </a:defRPr>
            </a:pPr>
            <a:r>
              <a:rPr sz="2850">
                <a:solidFill>
                  <a:srgbClr val="FFFFFF"/>
                </a:solidFill>
              </a:rPr>
              <a:t>Build the governance shell first.</a:t>
            </a:r>
          </a:p>
          <a:p xmlns:a="http://schemas.openxmlformats.org/drawingml/2006/main">
            <a:pPr algn="ctr">
              <a:buNone/>
              <a:defRPr sz="2850">
                <a:solidFill>
                  <a:srgbClr val="FFFFFF"/>
                </a:solidFill>
              </a:defRPr>
            </a:pPr>
            <a:r>
              <a:rPr sz="2850">
                <a:solidFill>
                  <a:srgbClr val="FFFFFF"/>
                </a:solidFill>
              </a:rPr>
              <a:t>Then connect real agents and frameworks.</a:t>
            </a:r>
          </a:p>
          <a:p xmlns:a="http://schemas.openxmlformats.org/drawingml/2006/main">
            <a:pPr algn="ctr">
              <a:buNone/>
              <a:defRPr sz="2850">
                <a:solidFill>
                  <a:srgbClr val="FFFFFF"/>
                </a:solidFill>
              </a:defRPr>
            </a:pPr>
            <a:r>
              <a:rPr sz="2850">
                <a:solidFill>
                  <a:srgbClr val="FFFFFF"/>
                </a:solidFill>
              </a:rPr>
              <a:t>That is how production learning sticks.</a:t>
            </a:r>
          </a:p>
        </p:txBody>
      </p:sp>
      <p:sp>
        <p:nvSpPr>
          <p:cNvPr id="10" name="">
            <a:extLst xmlns:a="http://schemas.openxmlformats.org/drawingml/2006/main">
              <a:ext uri="{FF2B5EF4-FFF2-40B4-BE49-F238E27FC236}">
                <a16:creationId xmlns:a16="http://schemas.microsoft.com/office/drawing/2014/main" id="{ABF7CE82-18E3-4DE8-990B-0DA9AC420E72}"/>
              </a:ext>
            </a:extLst>
          </p:cNvPr>
          <p:cNvSpPr>
            <a:spLocks xmlns:a="http://schemas.openxmlformats.org/drawingml/2006/main" noGrp="1"/>
          </p:cNvSpPr>
          <p:nvPr/>
        </p:nvSpPr>
        <p:spPr>
          <a:xfrm xmlns:a="http://schemas.openxmlformats.org/drawingml/2006/main">
            <a:off x="4648200" y="4476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BFC2FF"/>
                </a:solidFill>
              </a:defRPr>
            </a:pPr>
            <a:r>
              <a:rPr sz="1350">
                <a:solidFill>
                  <a:srgbClr val="BFC2FF"/>
                </a:solidFill>
              </a:rPr>
              <a:t>Course principle</a:t>
            </a:r>
          </a:p>
        </p:txBody>
      </p:sp>
    </p:spTree>
    <p:extLst>
      <p:ext uri="{BB962C8B-B14F-4D97-AF65-F5344CB8AC3E}">
        <p14:creationId xmlns:p14="http://schemas.microsoft.com/office/powerpoint/2010/main" val="75204138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171F24DB-9456-43AF-8541-4B32F7F891A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A517982-41FD-4F27-9A73-50577A0DB2A5}"/>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C267E318-7A0A-45C4-97B7-EAD9F3D528A4}"/>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DF2303D-A32D-402C-8790-A649242F97B8}"/>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E9D97C9-140C-4011-9354-2C212CC84242}"/>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E11A5F6B-6300-414B-91B8-C82CAE32C033}"/>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A4BB3B4A-CDAE-48CC-9A14-7E9E5B4B714D}"/>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repository setup + notebook manifest</a:t>
            </a:r>
          </a:p>
        </p:txBody>
      </p:sp>
      <p:sp>
        <p:nvSpPr>
          <p:cNvPr id="8" name="">
            <a:extLst xmlns:a="http://schemas.openxmlformats.org/drawingml/2006/main">
              <a:ext uri="{FF2B5EF4-FFF2-40B4-BE49-F238E27FC236}">
                <a16:creationId xmlns:a16="http://schemas.microsoft.com/office/drawing/2014/main" id="{2FA1E6E8-024D-471C-8012-E3E76DC11A24}"/>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03</a:t>
            </a:r>
          </a:p>
        </p:txBody>
      </p:sp>
      <p:sp>
        <p:nvSpPr>
          <p:cNvPr id="9" name="">
            <a:extLst xmlns:a="http://schemas.openxmlformats.org/drawingml/2006/main">
              <a:ext uri="{FF2B5EF4-FFF2-40B4-BE49-F238E27FC236}">
                <a16:creationId xmlns:a16="http://schemas.microsoft.com/office/drawing/2014/main" id="{4AAD81B6-7059-48CA-B25D-DED4E767B9FF}"/>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Day 1 · Learner Setup</a:t>
            </a:r>
          </a:p>
        </p:txBody>
      </p:sp>
      <p:sp>
        <p:nvSpPr>
          <p:cNvPr id="10" name="">
            <a:extLst xmlns:a="http://schemas.openxmlformats.org/drawingml/2006/main">
              <a:ext uri="{FF2B5EF4-FFF2-40B4-BE49-F238E27FC236}">
                <a16:creationId xmlns:a16="http://schemas.microsoft.com/office/drawing/2014/main" id="{D2285211-7F3E-457C-A18D-1AC20690E9E0}"/>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From GitHub to JupyterLab</a:t>
            </a:r>
          </a:p>
        </p:txBody>
      </p:sp>
      <p:sp>
        <p:nvSpPr>
          <p:cNvPr id="11" name="editable diagram card">
            <a:extLst xmlns:a="http://schemas.openxmlformats.org/drawingml/2006/main">
              <a:ext uri="{FF2B5EF4-FFF2-40B4-BE49-F238E27FC236}">
                <a16:creationId xmlns:a16="http://schemas.microsoft.com/office/drawing/2014/main" id="{2D559B6B-49E0-4CF5-87AB-78F7835CB111}"/>
              </a:ext>
            </a:extLst>
          </p:cNvPr>
          <p:cNvSpPr>
            <a:spLocks xmlns:a="http://schemas.openxmlformats.org/drawingml/2006/main" noGrp="1"/>
          </p:cNvSpPr>
          <p:nvPr/>
        </p:nvSpPr>
        <p:spPr>
          <a:xfrm xmlns:a="http://schemas.openxmlformats.org/drawingml/2006/main">
            <a:off x="495300" y="1714500"/>
            <a:ext cx="3095625"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12" name="">
            <a:extLst xmlns:a="http://schemas.openxmlformats.org/drawingml/2006/main">
              <a:ext uri="{FF2B5EF4-FFF2-40B4-BE49-F238E27FC236}">
                <a16:creationId xmlns:a16="http://schemas.microsoft.com/office/drawing/2014/main" id="{D6FE6AED-615D-4E54-9A7A-1D94C55704E5}"/>
              </a:ext>
            </a:extLst>
          </p:cNvPr>
          <p:cNvSpPr>
            <a:spLocks xmlns:a="http://schemas.openxmlformats.org/drawingml/2006/main" noGrp="1"/>
          </p:cNvSpPr>
          <p:nvPr/>
        </p:nvSpPr>
        <p:spPr>
          <a:xfrm xmlns:a="http://schemas.openxmlformats.org/drawingml/2006/main">
            <a:off x="609600" y="1800225"/>
            <a:ext cx="28670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1 · GET THE REPOSITORY</a:t>
            </a:r>
          </a:p>
        </p:txBody>
      </p:sp>
      <p:sp>
        <p:nvSpPr>
          <p:cNvPr id="13" name="">
            <a:extLst xmlns:a="http://schemas.openxmlformats.org/drawingml/2006/main">
              <a:ext uri="{FF2B5EF4-FFF2-40B4-BE49-F238E27FC236}">
                <a16:creationId xmlns:a16="http://schemas.microsoft.com/office/drawing/2014/main" id="{0DFB907D-D12F-4BAB-8576-3FFDE3113290}"/>
              </a:ext>
            </a:extLst>
          </p:cNvPr>
          <p:cNvSpPr>
            <a:spLocks xmlns:a="http://schemas.openxmlformats.org/drawingml/2006/main" noGrp="1"/>
          </p:cNvSpPr>
          <p:nvPr/>
        </p:nvSpPr>
        <p:spPr>
          <a:xfrm xmlns:a="http://schemas.openxmlformats.org/drawingml/2006/main">
            <a:off x="619125" y="2152650"/>
            <a:ext cx="28479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Git clone or download the ZIP</a:t>
            </a:r>
          </a:p>
        </p:txBody>
      </p:sp>
      <p:sp>
        <p:nvSpPr>
          <p:cNvPr id="14" name="">
            <a:extLst xmlns:a="http://schemas.openxmlformats.org/drawingml/2006/main">
              <a:ext uri="{FF2B5EF4-FFF2-40B4-BE49-F238E27FC236}">
                <a16:creationId xmlns:a16="http://schemas.microsoft.com/office/drawing/2014/main" id="{37004284-56A4-4E73-95A8-BA7F932704DD}"/>
              </a:ext>
            </a:extLst>
          </p:cNvPr>
          <p:cNvSpPr>
            <a:spLocks xmlns:a="http://schemas.openxmlformats.org/drawingml/2006/main" noGrp="1"/>
          </p:cNvSpPr>
          <p:nvPr/>
        </p:nvSpPr>
        <p:spPr>
          <a:xfrm xmlns:a="http://schemas.openxmlformats.org/drawingml/2006/main">
            <a:off x="3638550" y="2000250"/>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2325" b="1">
                <a:solidFill>
                  <a:srgbClr val="F04B25"/>
                </a:solidFill>
                <a:latin typeface="Calibri"/>
                <a:ea typeface="Calibri"/>
                <a:cs typeface="Calibri"/>
              </a:defRPr>
            </a:pPr>
            <a:r>
              <a:rPr sz="2325" b="1">
                <a:solidFill>
                  <a:srgbClr val="F04B25"/>
                </a:solidFill>
                <a:latin typeface="Calibri"/>
                <a:ea typeface="Calibri"/>
                <a:cs typeface="Calibri"/>
              </a:rPr>
              <a:t>→</a:t>
            </a:r>
          </a:p>
        </p:txBody>
      </p:sp>
      <p:sp>
        <p:nvSpPr>
          <p:cNvPr id="15" name="editable diagram card">
            <a:extLst xmlns:a="http://schemas.openxmlformats.org/drawingml/2006/main">
              <a:ext uri="{FF2B5EF4-FFF2-40B4-BE49-F238E27FC236}">
                <a16:creationId xmlns:a16="http://schemas.microsoft.com/office/drawing/2014/main" id="{62A8F773-8F6C-4A70-AB4B-26E14DD4CDDF}"/>
              </a:ext>
            </a:extLst>
          </p:cNvPr>
          <p:cNvSpPr>
            <a:spLocks xmlns:a="http://schemas.openxmlformats.org/drawingml/2006/main" noGrp="1"/>
          </p:cNvSpPr>
          <p:nvPr/>
        </p:nvSpPr>
        <p:spPr>
          <a:xfrm xmlns:a="http://schemas.openxmlformats.org/drawingml/2006/main">
            <a:off x="4076700" y="1714500"/>
            <a:ext cx="37147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16" name="">
            <a:extLst xmlns:a="http://schemas.openxmlformats.org/drawingml/2006/main">
              <a:ext uri="{FF2B5EF4-FFF2-40B4-BE49-F238E27FC236}">
                <a16:creationId xmlns:a16="http://schemas.microsoft.com/office/drawing/2014/main" id="{0CD20BAA-DC2C-43ED-8BD2-5F66B1DCC773}"/>
              </a:ext>
            </a:extLst>
          </p:cNvPr>
          <p:cNvSpPr>
            <a:spLocks xmlns:a="http://schemas.openxmlformats.org/drawingml/2006/main" noGrp="1"/>
          </p:cNvSpPr>
          <p:nvPr/>
        </p:nvSpPr>
        <p:spPr>
          <a:xfrm xmlns:a="http://schemas.openxmlformats.org/drawingml/2006/main">
            <a:off x="4191000" y="1800225"/>
            <a:ext cx="3486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2 · SET UP LOCALLY</a:t>
            </a:r>
          </a:p>
        </p:txBody>
      </p:sp>
      <p:sp>
        <p:nvSpPr>
          <p:cNvPr id="17" name="">
            <a:extLst xmlns:a="http://schemas.openxmlformats.org/drawingml/2006/main">
              <a:ext uri="{FF2B5EF4-FFF2-40B4-BE49-F238E27FC236}">
                <a16:creationId xmlns:a16="http://schemas.microsoft.com/office/drawing/2014/main" id="{1C4A7D5A-5BCC-4727-85BA-5CDCEE09484D}"/>
              </a:ext>
            </a:extLst>
          </p:cNvPr>
          <p:cNvSpPr>
            <a:spLocks xmlns:a="http://schemas.openxmlformats.org/drawingml/2006/main" noGrp="1"/>
          </p:cNvSpPr>
          <p:nvPr/>
        </p:nvSpPr>
        <p:spPr>
          <a:xfrm xmlns:a="http://schemas.openxmlformats.org/drawingml/2006/main">
            <a:off x="4200525" y="2124075"/>
            <a:ext cx="3467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Create and activate a Python venv</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Install requirements.txt</a:t>
            </a:r>
          </a:p>
        </p:txBody>
      </p:sp>
      <p:sp>
        <p:nvSpPr>
          <p:cNvPr id="18" name="">
            <a:extLst xmlns:a="http://schemas.openxmlformats.org/drawingml/2006/main">
              <a:ext uri="{FF2B5EF4-FFF2-40B4-BE49-F238E27FC236}">
                <a16:creationId xmlns:a16="http://schemas.microsoft.com/office/drawing/2014/main" id="{F9EC517E-DC17-43D7-B18E-B1942560C5F1}"/>
              </a:ext>
            </a:extLst>
          </p:cNvPr>
          <p:cNvSpPr>
            <a:spLocks xmlns:a="http://schemas.openxmlformats.org/drawingml/2006/main" noGrp="1"/>
          </p:cNvSpPr>
          <p:nvPr/>
        </p:nvSpPr>
        <p:spPr>
          <a:xfrm xmlns:a="http://schemas.openxmlformats.org/drawingml/2006/main">
            <a:off x="7839075" y="2000250"/>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2325" b="1">
                <a:solidFill>
                  <a:srgbClr val="F04B25"/>
                </a:solidFill>
                <a:latin typeface="Calibri"/>
                <a:ea typeface="Calibri"/>
                <a:cs typeface="Calibri"/>
              </a:defRPr>
            </a:pPr>
            <a:r>
              <a:rPr sz="2325" b="1">
                <a:solidFill>
                  <a:srgbClr val="F04B25"/>
                </a:solidFill>
                <a:latin typeface="Calibri"/>
                <a:ea typeface="Calibri"/>
                <a:cs typeface="Calibri"/>
              </a:rPr>
              <a:t>→</a:t>
            </a:r>
          </a:p>
        </p:txBody>
      </p:sp>
      <p:sp>
        <p:nvSpPr>
          <p:cNvPr id="19" name="editable diagram card">
            <a:extLst xmlns:a="http://schemas.openxmlformats.org/drawingml/2006/main">
              <a:ext uri="{FF2B5EF4-FFF2-40B4-BE49-F238E27FC236}">
                <a16:creationId xmlns:a16="http://schemas.microsoft.com/office/drawing/2014/main" id="{98EDA754-6A1F-4C0E-93E6-3690123468C1}"/>
              </a:ext>
            </a:extLst>
          </p:cNvPr>
          <p:cNvSpPr>
            <a:spLocks xmlns:a="http://schemas.openxmlformats.org/drawingml/2006/main" noGrp="1"/>
          </p:cNvSpPr>
          <p:nvPr/>
        </p:nvSpPr>
        <p:spPr>
          <a:xfrm xmlns:a="http://schemas.openxmlformats.org/drawingml/2006/main">
            <a:off x="8277225" y="1714500"/>
            <a:ext cx="3419475"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20" name="">
            <a:extLst xmlns:a="http://schemas.openxmlformats.org/drawingml/2006/main">
              <a:ext uri="{FF2B5EF4-FFF2-40B4-BE49-F238E27FC236}">
                <a16:creationId xmlns:a16="http://schemas.microsoft.com/office/drawing/2014/main" id="{62BCB413-21A4-481C-A274-6DAC75126F96}"/>
              </a:ext>
            </a:extLst>
          </p:cNvPr>
          <p:cNvSpPr>
            <a:spLocks xmlns:a="http://schemas.openxmlformats.org/drawingml/2006/main" noGrp="1"/>
          </p:cNvSpPr>
          <p:nvPr/>
        </p:nvSpPr>
        <p:spPr>
          <a:xfrm xmlns:a="http://schemas.openxmlformats.org/drawingml/2006/main">
            <a:off x="8391525" y="1800225"/>
            <a:ext cx="3190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3 · OPEN JUPYTERLAB</a:t>
            </a:r>
          </a:p>
        </p:txBody>
      </p:sp>
      <p:sp>
        <p:nvSpPr>
          <p:cNvPr id="21" name="">
            <a:extLst xmlns:a="http://schemas.openxmlformats.org/drawingml/2006/main">
              <a:ext uri="{FF2B5EF4-FFF2-40B4-BE49-F238E27FC236}">
                <a16:creationId xmlns:a16="http://schemas.microsoft.com/office/drawing/2014/main" id="{F934DC23-2B63-449E-ACCA-8A73C63A5118}"/>
              </a:ext>
            </a:extLst>
          </p:cNvPr>
          <p:cNvSpPr>
            <a:spLocks xmlns:a="http://schemas.openxmlformats.org/drawingml/2006/main" noGrp="1"/>
          </p:cNvSpPr>
          <p:nvPr/>
        </p:nvSpPr>
        <p:spPr>
          <a:xfrm xmlns:a="http://schemas.openxmlformats.org/drawingml/2006/main">
            <a:off x="8401050" y="2152650"/>
            <a:ext cx="31718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Start at 00_sandbox_preflight.ipynb</a:t>
            </a:r>
          </a:p>
        </p:txBody>
      </p:sp>
      <p:sp>
        <p:nvSpPr>
          <p:cNvPr id="22" name="">
            <a:extLst xmlns:a="http://schemas.openxmlformats.org/drawingml/2006/main">
              <a:ext uri="{FF2B5EF4-FFF2-40B4-BE49-F238E27FC236}">
                <a16:creationId xmlns:a16="http://schemas.microsoft.com/office/drawing/2014/main" id="{2D9F7BD1-9B92-4EB2-B618-3777F42FAAB5}"/>
              </a:ext>
            </a:extLst>
          </p:cNvPr>
          <p:cNvSpPr>
            <a:spLocks xmlns:a="http://schemas.openxmlformats.org/drawingml/2006/main" noGrp="1"/>
          </p:cNvSpPr>
          <p:nvPr/>
        </p:nvSpPr>
        <p:spPr>
          <a:xfrm xmlns:a="http://schemas.openxmlformats.org/drawingml/2006/main">
            <a:off x="495300" y="3019425"/>
            <a:ext cx="1120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350" b="1">
                <a:solidFill>
                  <a:srgbClr val="D8DBFF"/>
                </a:solidFill>
                <a:latin typeface="Calibri"/>
                <a:ea typeface="Calibri"/>
                <a:cs typeface="Calibri"/>
              </a:defRPr>
            </a:pPr>
            <a:r>
              <a:rPr sz="1350" b="1">
                <a:solidFill>
                  <a:srgbClr val="D8DBFF"/>
                </a:solidFill>
                <a:latin typeface="Calibri"/>
                <a:ea typeface="Calibri"/>
                <a:cs typeface="Calibri"/>
              </a:rPr>
              <a:t>CORE PRACTICE SEQUENCE</a:t>
            </a:r>
          </a:p>
        </p:txBody>
      </p:sp>
      <p:sp>
        <p:nvSpPr>
          <p:cNvPr id="23" name="editable diagram card">
            <a:extLst xmlns:a="http://schemas.openxmlformats.org/drawingml/2006/main">
              <a:ext uri="{FF2B5EF4-FFF2-40B4-BE49-F238E27FC236}">
                <a16:creationId xmlns:a16="http://schemas.microsoft.com/office/drawing/2014/main" id="{3960B22D-759C-46B9-AC7C-76DCEB5F2C6E}"/>
              </a:ext>
            </a:extLst>
          </p:cNvPr>
          <p:cNvSpPr>
            <a:spLocks xmlns:a="http://schemas.openxmlformats.org/drawingml/2006/main" noGrp="1"/>
          </p:cNvSpPr>
          <p:nvPr/>
        </p:nvSpPr>
        <p:spPr>
          <a:xfrm xmlns:a="http://schemas.openxmlformats.org/drawingml/2006/main">
            <a:off x="495300" y="3390900"/>
            <a:ext cx="26479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24" name="">
            <a:extLst xmlns:a="http://schemas.openxmlformats.org/drawingml/2006/main">
              <a:ext uri="{FF2B5EF4-FFF2-40B4-BE49-F238E27FC236}">
                <a16:creationId xmlns:a16="http://schemas.microsoft.com/office/drawing/2014/main" id="{8243A48C-9D89-4815-A6C7-428AD71C5C66}"/>
              </a:ext>
            </a:extLst>
          </p:cNvPr>
          <p:cNvSpPr>
            <a:spLocks xmlns:a="http://schemas.openxmlformats.org/drawingml/2006/main" noGrp="1"/>
          </p:cNvSpPr>
          <p:nvPr/>
        </p:nvSpPr>
        <p:spPr>
          <a:xfrm xmlns:a="http://schemas.openxmlformats.org/drawingml/2006/main">
            <a:off x="609600" y="3476625"/>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NB3 · TOOL GATE</a:t>
            </a:r>
          </a:p>
        </p:txBody>
      </p:sp>
      <p:sp>
        <p:nvSpPr>
          <p:cNvPr id="25" name="">
            <a:extLst xmlns:a="http://schemas.openxmlformats.org/drawingml/2006/main">
              <a:ext uri="{FF2B5EF4-FFF2-40B4-BE49-F238E27FC236}">
                <a16:creationId xmlns:a16="http://schemas.microsoft.com/office/drawing/2014/main" id="{8F407FC9-9D47-48EB-AB99-A1ABB55FD318}"/>
              </a:ext>
            </a:extLst>
          </p:cNvPr>
          <p:cNvSpPr>
            <a:spLocks xmlns:a="http://schemas.openxmlformats.org/drawingml/2006/main" noGrp="1"/>
          </p:cNvSpPr>
          <p:nvPr/>
        </p:nvSpPr>
        <p:spPr>
          <a:xfrm xmlns:a="http://schemas.openxmlformats.org/drawingml/2006/main">
            <a:off x="619125" y="38004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Block unsafe or unauthorized calls</a:t>
            </a:r>
          </a:p>
        </p:txBody>
      </p:sp>
      <p:sp>
        <p:nvSpPr>
          <p:cNvPr id="26" name="">
            <a:extLst xmlns:a="http://schemas.openxmlformats.org/drawingml/2006/main">
              <a:ext uri="{FF2B5EF4-FFF2-40B4-BE49-F238E27FC236}">
                <a16:creationId xmlns:a16="http://schemas.microsoft.com/office/drawing/2014/main" id="{686517D2-C14F-4CEF-80BF-9160E12CC37C}"/>
              </a:ext>
            </a:extLst>
          </p:cNvPr>
          <p:cNvSpPr>
            <a:spLocks xmlns:a="http://schemas.openxmlformats.org/drawingml/2006/main" noGrp="1"/>
          </p:cNvSpPr>
          <p:nvPr/>
        </p:nvSpPr>
        <p:spPr>
          <a:xfrm xmlns:a="http://schemas.openxmlformats.org/drawingml/2006/main">
            <a:off x="3152775" y="3705225"/>
            <a:ext cx="247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6020"/>
          </a:bodyPr>
          <a:lstStyle xmlns:a="http://schemas.openxmlformats.org/drawingml/2006/main"/>
          <a:p xmlns:a="http://schemas.openxmlformats.org/drawingml/2006/main">
            <a:pPr algn="ctr">
              <a:buNone/>
              <a:defRPr sz="1725" b="1">
                <a:solidFill>
                  <a:srgbClr val="F04B25"/>
                </a:solidFill>
                <a:latin typeface="Calibri"/>
                <a:ea typeface="Calibri"/>
                <a:cs typeface="Calibri"/>
              </a:defRPr>
            </a:pPr>
            <a:r>
              <a:rPr sz="1725" b="1">
                <a:solidFill>
                  <a:srgbClr val="F04B25"/>
                </a:solidFill>
                <a:latin typeface="Calibri"/>
                <a:ea typeface="Calibri"/>
                <a:cs typeface="Calibri"/>
              </a:rPr>
              <a:t>→</a:t>
            </a:r>
          </a:p>
        </p:txBody>
      </p:sp>
      <p:sp>
        <p:nvSpPr>
          <p:cNvPr id="27" name="editable diagram card">
            <a:extLst xmlns:a="http://schemas.openxmlformats.org/drawingml/2006/main">
              <a:ext uri="{FF2B5EF4-FFF2-40B4-BE49-F238E27FC236}">
                <a16:creationId xmlns:a16="http://schemas.microsoft.com/office/drawing/2014/main" id="{8D4B89E5-1596-4725-9FFA-291E66220DF1}"/>
              </a:ext>
            </a:extLst>
          </p:cNvPr>
          <p:cNvSpPr>
            <a:spLocks xmlns:a="http://schemas.openxmlformats.org/drawingml/2006/main" noGrp="1"/>
          </p:cNvSpPr>
          <p:nvPr/>
        </p:nvSpPr>
        <p:spPr>
          <a:xfrm xmlns:a="http://schemas.openxmlformats.org/drawingml/2006/main">
            <a:off x="3409950" y="3390900"/>
            <a:ext cx="26479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28" name="">
            <a:extLst xmlns:a="http://schemas.openxmlformats.org/drawingml/2006/main">
              <a:ext uri="{FF2B5EF4-FFF2-40B4-BE49-F238E27FC236}">
                <a16:creationId xmlns:a16="http://schemas.microsoft.com/office/drawing/2014/main" id="{5D87DD2F-B403-4662-A82A-35C0E50315D1}"/>
              </a:ext>
            </a:extLst>
          </p:cNvPr>
          <p:cNvSpPr>
            <a:spLocks xmlns:a="http://schemas.openxmlformats.org/drawingml/2006/main" noGrp="1"/>
          </p:cNvSpPr>
          <p:nvPr/>
        </p:nvSpPr>
        <p:spPr>
          <a:xfrm xmlns:a="http://schemas.openxmlformats.org/drawingml/2006/main">
            <a:off x="3524250" y="3476625"/>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NB4 · CONTRACTS</a:t>
            </a:r>
          </a:p>
        </p:txBody>
      </p:sp>
      <p:sp>
        <p:nvSpPr>
          <p:cNvPr id="29" name="">
            <a:extLst xmlns:a="http://schemas.openxmlformats.org/drawingml/2006/main">
              <a:ext uri="{FF2B5EF4-FFF2-40B4-BE49-F238E27FC236}">
                <a16:creationId xmlns:a16="http://schemas.microsoft.com/office/drawing/2014/main" id="{EA3EA6DC-A867-4037-84C9-4E85A667C738}"/>
              </a:ext>
            </a:extLst>
          </p:cNvPr>
          <p:cNvSpPr>
            <a:spLocks xmlns:a="http://schemas.openxmlformats.org/drawingml/2006/main" noGrp="1"/>
          </p:cNvSpPr>
          <p:nvPr/>
        </p:nvSpPr>
        <p:spPr>
          <a:xfrm xmlns:a="http://schemas.openxmlformats.org/drawingml/2006/main">
            <a:off x="3533775" y="38004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Reject invalid agent handoffs</a:t>
            </a:r>
          </a:p>
        </p:txBody>
      </p:sp>
      <p:sp>
        <p:nvSpPr>
          <p:cNvPr id="30" name="">
            <a:extLst xmlns:a="http://schemas.openxmlformats.org/drawingml/2006/main">
              <a:ext uri="{FF2B5EF4-FFF2-40B4-BE49-F238E27FC236}">
                <a16:creationId xmlns:a16="http://schemas.microsoft.com/office/drawing/2014/main" id="{2DD18DA2-EA4A-4E97-947A-7D3EAAE2F02C}"/>
              </a:ext>
            </a:extLst>
          </p:cNvPr>
          <p:cNvSpPr>
            <a:spLocks xmlns:a="http://schemas.openxmlformats.org/drawingml/2006/main" noGrp="1"/>
          </p:cNvSpPr>
          <p:nvPr/>
        </p:nvSpPr>
        <p:spPr>
          <a:xfrm xmlns:a="http://schemas.openxmlformats.org/drawingml/2006/main">
            <a:off x="6067425" y="3705225"/>
            <a:ext cx="247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6020"/>
          </a:bodyPr>
          <a:lstStyle xmlns:a="http://schemas.openxmlformats.org/drawingml/2006/main"/>
          <a:p xmlns:a="http://schemas.openxmlformats.org/drawingml/2006/main">
            <a:pPr algn="ctr">
              <a:buNone/>
              <a:defRPr sz="1725" b="1">
                <a:solidFill>
                  <a:srgbClr val="F04B25"/>
                </a:solidFill>
                <a:latin typeface="Calibri"/>
                <a:ea typeface="Calibri"/>
                <a:cs typeface="Calibri"/>
              </a:defRPr>
            </a:pPr>
            <a:r>
              <a:rPr sz="1725" b="1">
                <a:solidFill>
                  <a:srgbClr val="F04B25"/>
                </a:solidFill>
                <a:latin typeface="Calibri"/>
                <a:ea typeface="Calibri"/>
                <a:cs typeface="Calibri"/>
              </a:rPr>
              <a:t>→</a:t>
            </a:r>
          </a:p>
        </p:txBody>
      </p:sp>
      <p:sp>
        <p:nvSpPr>
          <p:cNvPr id="31" name="editable diagram card">
            <a:extLst xmlns:a="http://schemas.openxmlformats.org/drawingml/2006/main">
              <a:ext uri="{FF2B5EF4-FFF2-40B4-BE49-F238E27FC236}">
                <a16:creationId xmlns:a16="http://schemas.microsoft.com/office/drawing/2014/main" id="{7F791B48-279D-43A9-891F-F37828F7CEEB}"/>
              </a:ext>
            </a:extLst>
          </p:cNvPr>
          <p:cNvSpPr>
            <a:spLocks xmlns:a="http://schemas.openxmlformats.org/drawingml/2006/main" noGrp="1"/>
          </p:cNvSpPr>
          <p:nvPr/>
        </p:nvSpPr>
        <p:spPr>
          <a:xfrm xmlns:a="http://schemas.openxmlformats.org/drawingml/2006/main">
            <a:off x="6324600" y="3390900"/>
            <a:ext cx="26479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32" name="">
            <a:extLst xmlns:a="http://schemas.openxmlformats.org/drawingml/2006/main">
              <a:ext uri="{FF2B5EF4-FFF2-40B4-BE49-F238E27FC236}">
                <a16:creationId xmlns:a16="http://schemas.microsoft.com/office/drawing/2014/main" id="{1657A0ED-5938-45D2-A4D4-5C1F3121AF6E}"/>
              </a:ext>
            </a:extLst>
          </p:cNvPr>
          <p:cNvSpPr>
            <a:spLocks xmlns:a="http://schemas.openxmlformats.org/drawingml/2006/main" noGrp="1"/>
          </p:cNvSpPr>
          <p:nvPr/>
        </p:nvSpPr>
        <p:spPr>
          <a:xfrm xmlns:a="http://schemas.openxmlformats.org/drawingml/2006/main">
            <a:off x="6438900" y="3476625"/>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NB5 · SELF-REPAIR</a:t>
            </a:r>
          </a:p>
        </p:txBody>
      </p:sp>
      <p:sp>
        <p:nvSpPr>
          <p:cNvPr id="33" name="">
            <a:extLst xmlns:a="http://schemas.openxmlformats.org/drawingml/2006/main">
              <a:ext uri="{FF2B5EF4-FFF2-40B4-BE49-F238E27FC236}">
                <a16:creationId xmlns:a16="http://schemas.microsoft.com/office/drawing/2014/main" id="{8A42D0A8-A982-47F1-AA28-3404CF251984}"/>
              </a:ext>
            </a:extLst>
          </p:cNvPr>
          <p:cNvSpPr>
            <a:spLocks xmlns:a="http://schemas.openxmlformats.org/drawingml/2006/main" noGrp="1"/>
          </p:cNvSpPr>
          <p:nvPr/>
        </p:nvSpPr>
        <p:spPr>
          <a:xfrm xmlns:a="http://schemas.openxmlformats.org/drawingml/2006/main">
            <a:off x="6448425" y="38004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Limit retries; escalate unresolved work</a:t>
            </a:r>
          </a:p>
        </p:txBody>
      </p:sp>
      <p:sp>
        <p:nvSpPr>
          <p:cNvPr id="34" name="">
            <a:extLst xmlns:a="http://schemas.openxmlformats.org/drawingml/2006/main">
              <a:ext uri="{FF2B5EF4-FFF2-40B4-BE49-F238E27FC236}">
                <a16:creationId xmlns:a16="http://schemas.microsoft.com/office/drawing/2014/main" id="{146AEA52-9E46-4249-9377-63735DB0B5B3}"/>
              </a:ext>
            </a:extLst>
          </p:cNvPr>
          <p:cNvSpPr>
            <a:spLocks xmlns:a="http://schemas.openxmlformats.org/drawingml/2006/main" noGrp="1"/>
          </p:cNvSpPr>
          <p:nvPr/>
        </p:nvSpPr>
        <p:spPr>
          <a:xfrm xmlns:a="http://schemas.openxmlformats.org/drawingml/2006/main">
            <a:off x="8982075" y="3705225"/>
            <a:ext cx="247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6020"/>
          </a:bodyPr>
          <a:lstStyle xmlns:a="http://schemas.openxmlformats.org/drawingml/2006/main"/>
          <a:p xmlns:a="http://schemas.openxmlformats.org/drawingml/2006/main">
            <a:pPr algn="ctr">
              <a:buNone/>
              <a:defRPr sz="1725" b="1">
                <a:solidFill>
                  <a:srgbClr val="F04B25"/>
                </a:solidFill>
                <a:latin typeface="Calibri"/>
                <a:ea typeface="Calibri"/>
                <a:cs typeface="Calibri"/>
              </a:defRPr>
            </a:pPr>
            <a:r>
              <a:rPr sz="1725" b="1">
                <a:solidFill>
                  <a:srgbClr val="F04B25"/>
                </a:solidFill>
                <a:latin typeface="Calibri"/>
                <a:ea typeface="Calibri"/>
                <a:cs typeface="Calibri"/>
              </a:rPr>
              <a:t>→</a:t>
            </a:r>
          </a:p>
        </p:txBody>
      </p:sp>
      <p:sp>
        <p:nvSpPr>
          <p:cNvPr id="35" name="editable diagram card">
            <a:extLst xmlns:a="http://schemas.openxmlformats.org/drawingml/2006/main">
              <a:ext uri="{FF2B5EF4-FFF2-40B4-BE49-F238E27FC236}">
                <a16:creationId xmlns:a16="http://schemas.microsoft.com/office/drawing/2014/main" id="{249C7F6A-835E-4D47-8D00-3FB9A7C44478}"/>
              </a:ext>
            </a:extLst>
          </p:cNvPr>
          <p:cNvSpPr>
            <a:spLocks xmlns:a="http://schemas.openxmlformats.org/drawingml/2006/main" noGrp="1"/>
          </p:cNvSpPr>
          <p:nvPr/>
        </p:nvSpPr>
        <p:spPr>
          <a:xfrm xmlns:a="http://schemas.openxmlformats.org/drawingml/2006/main">
            <a:off x="9239250" y="3390900"/>
            <a:ext cx="24574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36" name="">
            <a:extLst xmlns:a="http://schemas.openxmlformats.org/drawingml/2006/main">
              <a:ext uri="{FF2B5EF4-FFF2-40B4-BE49-F238E27FC236}">
                <a16:creationId xmlns:a16="http://schemas.microsoft.com/office/drawing/2014/main" id="{D1ECDF34-5314-4B1A-861B-7728D14A8F32}"/>
              </a:ext>
            </a:extLst>
          </p:cNvPr>
          <p:cNvSpPr>
            <a:spLocks xmlns:a="http://schemas.openxmlformats.org/drawingml/2006/main" noGrp="1"/>
          </p:cNvSpPr>
          <p:nvPr/>
        </p:nvSpPr>
        <p:spPr>
          <a:xfrm xmlns:a="http://schemas.openxmlformats.org/drawingml/2006/main">
            <a:off x="9353550" y="3476625"/>
            <a:ext cx="2228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CREWAI BRIDGE</a:t>
            </a:r>
          </a:p>
        </p:txBody>
      </p:sp>
      <p:sp>
        <p:nvSpPr>
          <p:cNvPr id="37" name="">
            <a:extLst xmlns:a="http://schemas.openxmlformats.org/drawingml/2006/main">
              <a:ext uri="{FF2B5EF4-FFF2-40B4-BE49-F238E27FC236}">
                <a16:creationId xmlns:a16="http://schemas.microsoft.com/office/drawing/2014/main" id="{6B4F2E16-2CBC-4BC6-870D-2CB87166633D}"/>
              </a:ext>
            </a:extLst>
          </p:cNvPr>
          <p:cNvSpPr>
            <a:spLocks xmlns:a="http://schemas.openxmlformats.org/drawingml/2006/main" noGrp="1"/>
          </p:cNvSpPr>
          <p:nvPr/>
        </p:nvSpPr>
        <p:spPr>
          <a:xfrm xmlns:a="http://schemas.openxmlformats.org/drawingml/2006/main">
            <a:off x="9363075" y="3800475"/>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Optional framework extension</a:t>
            </a:r>
          </a:p>
        </p:txBody>
      </p:sp>
      <p:sp>
        <p:nvSpPr>
          <p:cNvPr id="38" name="">
            <a:extLst xmlns:a="http://schemas.openxmlformats.org/drawingml/2006/main">
              <a:ext uri="{FF2B5EF4-FFF2-40B4-BE49-F238E27FC236}">
                <a16:creationId xmlns:a16="http://schemas.microsoft.com/office/drawing/2014/main" id="{4C5D4AB0-12DD-46B8-9343-B2CFF89CBAEB}"/>
              </a:ext>
            </a:extLst>
          </p:cNvPr>
          <p:cNvSpPr>
            <a:spLocks xmlns:a="http://schemas.openxmlformats.org/drawingml/2006/main" noGrp="1"/>
          </p:cNvSpPr>
          <p:nvPr/>
        </p:nvSpPr>
        <p:spPr>
          <a:xfrm xmlns:a="http://schemas.openxmlformats.org/drawingml/2006/main">
            <a:off x="723900" y="47625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0">
                <a:solidFill>
                  <a:srgbClr val="FFFFFF"/>
                </a:solidFill>
                <a:latin typeface="Calibri"/>
                <a:ea typeface="Calibri"/>
                <a:cs typeface="Calibri"/>
              </a:defRPr>
            </a:pPr>
            <a:r>
              <a:rPr sz="1275" b="0">
                <a:solidFill>
                  <a:srgbClr val="FFFFFF"/>
                </a:solidFill>
                <a:latin typeface="Calibri"/>
                <a:ea typeface="Calibri"/>
                <a:cs typeface="Calibri"/>
              </a:rPr>
              <a:t>The required Jupyter labs do not need Groq or an API key. A first-time package install may need internet.</a:t>
            </a:r>
          </a:p>
        </p:txBody>
      </p:sp>
      <p:sp>
        <p:nvSpPr>
          <p:cNvPr id="39" name="">
            <a:extLst xmlns:a="http://schemas.openxmlformats.org/drawingml/2006/main">
              <a:ext uri="{FF2B5EF4-FFF2-40B4-BE49-F238E27FC236}">
                <a16:creationId xmlns:a16="http://schemas.microsoft.com/office/drawing/2014/main" id="{03A8BAB3-0F62-4CC7-9789-6235B0F52186}"/>
              </a:ext>
            </a:extLst>
          </p:cNvPr>
          <p:cNvSpPr>
            <a:spLocks xmlns:a="http://schemas.openxmlformats.org/drawingml/2006/main" noGrp="1"/>
          </p:cNvSpPr>
          <p:nvPr/>
        </p:nvSpPr>
        <p:spPr>
          <a:xfrm xmlns:a="http://schemas.openxmlformats.org/drawingml/2006/main">
            <a:off x="723900" y="5172075"/>
            <a:ext cx="10744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25" b="0">
                <a:solidFill>
                  <a:srgbClr val="BFC5FF"/>
                </a:solidFill>
                <a:latin typeface="Calibri"/>
                <a:ea typeface="Calibri"/>
                <a:cs typeface="Calibri"/>
              </a:defRPr>
            </a:pPr>
            <a:r>
              <a:rPr sz="1125" b="0">
                <a:solidFill>
                  <a:srgbClr val="BFC5FF"/>
                </a:solidFill>
                <a:latin typeface="Calibri"/>
                <a:ea typeface="Calibri"/>
                <a:cs typeface="Calibri"/>
              </a:rPr>
              <a:t>Live-model examples are optional; the current live cells use the OpenAI client, not a configured Groq client.</a:t>
            </a:r>
          </a:p>
        </p:txBody>
      </p:sp>
    </p:spTree>
    <p:extLst>
      <p:ext uri="{BB962C8B-B14F-4D97-AF65-F5344CB8AC3E}">
        <p14:creationId xmlns:p14="http://schemas.microsoft.com/office/powerpoint/2010/main" val="140710352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5A67C6E-B29F-4D34-9E9C-0702470664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A86E768-3875-4BA3-8325-6F263BFB2533}"/>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0A49B056-44C9-4C27-8405-DED6418D2CC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2875647-0DD1-471B-BF1F-34CA348206F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9F2CDED-8469-474C-8D11-EBBD7BECCA6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13754E2-4A75-4C68-8B93-61E78C4AE632}"/>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53B7A62-AD34-4C2F-BA94-8A1C30F8716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Module map + ChatDev</a:t>
            </a:r>
          </a:p>
        </p:txBody>
      </p:sp>
      <p:sp>
        <p:nvSpPr>
          <p:cNvPr id="8" name="">
            <a:extLst xmlns:a="http://schemas.openxmlformats.org/drawingml/2006/main">
              <a:ext uri="{FF2B5EF4-FFF2-40B4-BE49-F238E27FC236}">
                <a16:creationId xmlns:a16="http://schemas.microsoft.com/office/drawing/2014/main" id="{DCBD132F-E211-47E0-B9B4-B24E36539367}"/>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04</a:t>
            </a:r>
          </a:p>
        </p:txBody>
      </p:sp>
      <p:sp>
        <p:nvSpPr>
          <p:cNvPr id="9" name="">
            <a:extLst xmlns:a="http://schemas.openxmlformats.org/drawingml/2006/main">
              <a:ext uri="{FF2B5EF4-FFF2-40B4-BE49-F238E27FC236}">
                <a16:creationId xmlns:a16="http://schemas.microsoft.com/office/drawing/2014/main" id="{273E7084-A780-4D0F-9FF9-919D68E95DD9}"/>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Course Overview</a:t>
            </a:r>
          </a:p>
        </p:txBody>
      </p:sp>
      <p:sp>
        <p:nvSpPr>
          <p:cNvPr id="10" name="">
            <a:extLst xmlns:a="http://schemas.openxmlformats.org/drawingml/2006/main">
              <a:ext uri="{FF2B5EF4-FFF2-40B4-BE49-F238E27FC236}">
                <a16:creationId xmlns:a16="http://schemas.microsoft.com/office/drawing/2014/main" id="{E57FD916-D9C8-4C4E-8322-D4B6E3B919B2}"/>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Six modules, one production path.</a:t>
            </a:r>
          </a:p>
        </p:txBody>
      </p:sp>
      <p:sp>
        <p:nvSpPr>
          <p:cNvPr id="11" name="">
            <a:extLst xmlns:a="http://schemas.openxmlformats.org/drawingml/2006/main">
              <a:ext uri="{FF2B5EF4-FFF2-40B4-BE49-F238E27FC236}">
                <a16:creationId xmlns:a16="http://schemas.microsoft.com/office/drawing/2014/main" id="{8B97F107-4BC6-4FA8-BBEC-265BA9B8DD80}"/>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AC434DCE-A122-43CB-88D6-E83BD9866DEB}"/>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1   Foundations &amp; Vibe Coding</a:t>
            </a:r>
          </a:p>
        </p:txBody>
      </p:sp>
      <p:sp>
        <p:nvSpPr>
          <p:cNvPr id="13" name="">
            <a:extLst xmlns:a="http://schemas.openxmlformats.org/drawingml/2006/main">
              <a:ext uri="{FF2B5EF4-FFF2-40B4-BE49-F238E27FC236}">
                <a16:creationId xmlns:a16="http://schemas.microsoft.com/office/drawing/2014/main" id="{68CD0EF1-5951-494F-A3E3-38FE8F57989D}"/>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39BA6EA9-8E06-488B-8C6E-F59138798A67}"/>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2   TeamLog &amp; Theory of Mind</a:t>
            </a:r>
          </a:p>
        </p:txBody>
      </p:sp>
      <p:sp>
        <p:nvSpPr>
          <p:cNvPr id="15" name="">
            <a:extLst xmlns:a="http://schemas.openxmlformats.org/drawingml/2006/main">
              <a:ext uri="{FF2B5EF4-FFF2-40B4-BE49-F238E27FC236}">
                <a16:creationId xmlns:a16="http://schemas.microsoft.com/office/drawing/2014/main" id="{D0FD4B1B-38C5-43DE-9E44-6F17A862A8B9}"/>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0D522DCC-F613-43C3-BA8B-A1F2B026E1B3}"/>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3   Agentic RAG &amp; MCP</a:t>
            </a:r>
          </a:p>
        </p:txBody>
      </p:sp>
      <p:sp>
        <p:nvSpPr>
          <p:cNvPr id="17" name="">
            <a:extLst xmlns:a="http://schemas.openxmlformats.org/drawingml/2006/main">
              <a:ext uri="{FF2B5EF4-FFF2-40B4-BE49-F238E27FC236}">
                <a16:creationId xmlns:a16="http://schemas.microsoft.com/office/drawing/2014/main" id="{EFD76759-D82C-4F14-837B-F4DA7D7E3067}"/>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35A1DA34-13FC-4A27-B6E5-C32927C0658A}"/>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4   Pydantic AI &amp; Type Safety</a:t>
            </a:r>
          </a:p>
        </p:txBody>
      </p:sp>
      <p:sp>
        <p:nvSpPr>
          <p:cNvPr id="19" name="">
            <a:extLst xmlns:a="http://schemas.openxmlformats.org/drawingml/2006/main">
              <a:ext uri="{FF2B5EF4-FFF2-40B4-BE49-F238E27FC236}">
                <a16:creationId xmlns:a16="http://schemas.microsoft.com/office/drawing/2014/main" id="{460AF994-BFC9-4E55-A601-EDB95DC31523}"/>
              </a:ext>
            </a:extLst>
          </p:cNvPr>
          <p:cNvSpPr>
            <a:spLocks xmlns:a="http://schemas.openxmlformats.org/drawingml/2006/main" noGrp="1"/>
          </p:cNvSpPr>
          <p:nvPr/>
        </p:nvSpPr>
        <p:spPr>
          <a:xfrm xmlns:a="http://schemas.openxmlformats.org/drawingml/2006/main">
            <a:off x="781050" y="3505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20" name="">
            <a:extLst xmlns:a="http://schemas.openxmlformats.org/drawingml/2006/main">
              <a:ext uri="{FF2B5EF4-FFF2-40B4-BE49-F238E27FC236}">
                <a16:creationId xmlns:a16="http://schemas.microsoft.com/office/drawing/2014/main" id="{4BB3594B-9303-4880-8A9D-1DDF142A41C2}"/>
              </a:ext>
            </a:extLst>
          </p:cNvPr>
          <p:cNvSpPr>
            <a:spLocks xmlns:a="http://schemas.openxmlformats.org/drawingml/2006/main" noGrp="1"/>
          </p:cNvSpPr>
          <p:nvPr/>
        </p:nvSpPr>
        <p:spPr>
          <a:xfrm xmlns:a="http://schemas.openxmlformats.org/drawingml/2006/main">
            <a:off x="1085850" y="35052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5   Fugu Routing &amp; ChatDev Self-Repair</a:t>
            </a:r>
          </a:p>
        </p:txBody>
      </p:sp>
      <p:sp>
        <p:nvSpPr>
          <p:cNvPr id="21" name="">
            <a:extLst xmlns:a="http://schemas.openxmlformats.org/drawingml/2006/main">
              <a:ext uri="{FF2B5EF4-FFF2-40B4-BE49-F238E27FC236}">
                <a16:creationId xmlns:a16="http://schemas.microsoft.com/office/drawing/2014/main" id="{50C809F8-97D7-4C25-8EA0-E658CF4DEDC0}"/>
              </a:ext>
            </a:extLst>
          </p:cNvPr>
          <p:cNvSpPr>
            <a:spLocks xmlns:a="http://schemas.openxmlformats.org/drawingml/2006/main" noGrp="1"/>
          </p:cNvSpPr>
          <p:nvPr/>
        </p:nvSpPr>
        <p:spPr>
          <a:xfrm xmlns:a="http://schemas.openxmlformats.org/drawingml/2006/main">
            <a:off x="781050" y="39433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22" name="">
            <a:extLst xmlns:a="http://schemas.openxmlformats.org/drawingml/2006/main">
              <a:ext uri="{FF2B5EF4-FFF2-40B4-BE49-F238E27FC236}">
                <a16:creationId xmlns:a16="http://schemas.microsoft.com/office/drawing/2014/main" id="{F30C632C-1CDA-4711-84EE-BAAF23C6F1FD}"/>
              </a:ext>
            </a:extLst>
          </p:cNvPr>
          <p:cNvSpPr>
            <a:spLocks xmlns:a="http://schemas.openxmlformats.org/drawingml/2006/main" noGrp="1"/>
          </p:cNvSpPr>
          <p:nvPr/>
        </p:nvSpPr>
        <p:spPr>
          <a:xfrm xmlns:a="http://schemas.openxmlformats.org/drawingml/2006/main">
            <a:off x="1085850" y="39433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6   Internet of Agents &amp; Zero Trust</a:t>
            </a:r>
          </a:p>
        </p:txBody>
      </p:sp>
      <p:sp>
        <p:nvSpPr>
          <p:cNvPr id="23" name="">
            <a:extLst xmlns:a="http://schemas.openxmlformats.org/drawingml/2006/main">
              <a:ext uri="{FF2B5EF4-FFF2-40B4-BE49-F238E27FC236}">
                <a16:creationId xmlns:a16="http://schemas.microsoft.com/office/drawing/2014/main" id="{5E708542-F3A2-4A6B-82E7-243C71074A5D}"/>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Governance before autonomy.</a:t>
            </a:r>
          </a:p>
        </p:txBody>
      </p:sp>
      <p:sp>
        <p:nvSpPr>
          <p:cNvPr id="24" name="">
            <a:extLst xmlns:a="http://schemas.openxmlformats.org/drawingml/2006/main">
              <a:ext uri="{FF2B5EF4-FFF2-40B4-BE49-F238E27FC236}">
                <a16:creationId xmlns:a16="http://schemas.microsoft.com/office/drawing/2014/main" id="{92582D8C-7A9D-438A-BD6A-BA409ADF3BE7}"/>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109564121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6" name="Academic Foundation blue canvas">
            <a:extLst xmlns:a="http://schemas.openxmlformats.org/drawingml/2006/main">
              <a:ext uri="{FF2B5EF4-FFF2-40B4-BE49-F238E27FC236}">
                <a16:creationId xmlns:a16="http://schemas.microsoft.com/office/drawing/2014/main" id="{CCBA1206-648E-4BC2-8630-E752DCCA4F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D2FC4"/>
          </a:solidFill>
          <a:ln xmlns:a="http://schemas.openxmlformats.org/drawingml/2006/main" w="0">
            <a:noFill/>
            <a:prstDash val="solid"/>
          </a:ln>
        </p:spPr>
      </p:sp>
      <p:sp>
        <p:nvSpPr>
          <p:cNvPr id="2" name="Academic Foundation masthead">
            <a:extLst xmlns:a="http://schemas.openxmlformats.org/drawingml/2006/main">
              <a:ext uri="{FF2B5EF4-FFF2-40B4-BE49-F238E27FC236}">
                <a16:creationId xmlns:a16="http://schemas.microsoft.com/office/drawing/2014/main" id="{8EF887DE-248C-41F4-9E90-C4136FD9ACFB}"/>
              </a:ext>
            </a:extLst>
          </p:cNvPr>
          <p:cNvSpPr>
            <a:spLocks xmlns:a="http://schemas.openxmlformats.org/drawingml/2006/main" noGrp="1"/>
          </p:cNvSpPr>
          <p:nvPr/>
        </p:nvSpPr>
        <p:spPr>
          <a:xfrm xmlns:a="http://schemas.openxmlformats.org/drawingml/2006/main">
            <a:off x="0" y="0"/>
            <a:ext cx="12192000" cy="381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Academic Foundation footer band">
            <a:extLst xmlns:a="http://schemas.openxmlformats.org/drawingml/2006/main">
              <a:ext uri="{FF2B5EF4-FFF2-40B4-BE49-F238E27FC236}">
                <a16:creationId xmlns:a16="http://schemas.microsoft.com/office/drawing/2014/main" id="{A7D2C99C-888B-496F-BD6D-DB8991CB149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noFill/>
            <a:prstDash val="solid"/>
          </a:ln>
        </p:spPr>
      </p:sp>
      <p:sp>
        <p:nvSpPr>
          <p:cNvPr id="4" name="Organization header left">
            <a:extLst xmlns:a="http://schemas.openxmlformats.org/drawingml/2006/main">
              <a:ext uri="{FF2B5EF4-FFF2-40B4-BE49-F238E27FC236}">
                <a16:creationId xmlns:a16="http://schemas.microsoft.com/office/drawing/2014/main" id="{94EDF8E5-1779-418E-8829-EE405A5941BF}"/>
              </a:ext>
            </a:extLst>
          </p:cNvPr>
          <p:cNvSpPr>
            <a:spLocks xmlns:a="http://schemas.openxmlformats.org/drawingml/2006/main" noGrp="1"/>
          </p:cNvSpPr>
          <p:nvPr/>
        </p:nvSpPr>
        <p:spPr>
          <a:xfrm xmlns:a="http://schemas.openxmlformats.org/drawingml/2006/main">
            <a:off x="323850" y="571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0">
                <a:solidFill>
                  <a:srgbClr val="555555"/>
                </a:solidFill>
                <a:latin typeface="Calibri"/>
                <a:ea typeface="Calibri"/>
                <a:cs typeface="Calibri"/>
              </a:defRPr>
            </a:pPr>
            <a:r>
              <a:rPr sz="1050" b="0">
                <a:solidFill>
                  <a:srgbClr val="555555"/>
                </a:solidFill>
                <a:latin typeface="Calibri"/>
                <a:ea typeface="Calibri"/>
                <a:cs typeface="Calibri"/>
              </a:rPr>
              <a:t>frontier tech leaders</a:t>
            </a:r>
          </a:p>
        </p:txBody>
      </p:sp>
      <p:sp>
        <p:nvSpPr>
          <p:cNvPr id="5" name="Organization header right">
            <a:extLst xmlns:a="http://schemas.openxmlformats.org/drawingml/2006/main">
              <a:ext uri="{FF2B5EF4-FFF2-40B4-BE49-F238E27FC236}">
                <a16:creationId xmlns:a16="http://schemas.microsoft.com/office/drawing/2014/main" id="{5C80F2DE-C4B9-4BAA-A32B-347E23DCD4D5}"/>
              </a:ext>
            </a:extLst>
          </p:cNvPr>
          <p:cNvSpPr>
            <a:spLocks xmlns:a="http://schemas.openxmlformats.org/drawingml/2006/main" noGrp="1"/>
          </p:cNvSpPr>
          <p:nvPr/>
        </p:nvSpPr>
        <p:spPr>
          <a:xfrm xmlns:a="http://schemas.openxmlformats.org/drawingml/2006/main">
            <a:off x="6572250" y="57150"/>
            <a:ext cx="529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00" b="0">
                <a:solidFill>
                  <a:srgbClr val="555555"/>
                </a:solidFill>
                <a:latin typeface="Calibri"/>
                <a:ea typeface="Calibri"/>
                <a:cs typeface="Calibri"/>
              </a:defRPr>
            </a:pPr>
            <a:r>
              <a:rPr sz="900" b="0">
                <a:solidFill>
                  <a:srgbClr val="555555"/>
                </a:solidFill>
                <a:latin typeface="Calibri"/>
                <a:ea typeface="Calibri"/>
                <a:cs typeface="Calibri"/>
              </a:rPr>
              <a:t>SDG AI Lab  ·  UN Technology  ·  ICPSD  ·  UNDP</a:t>
            </a:r>
          </a:p>
        </p:txBody>
      </p:sp>
      <p:sp>
        <p:nvSpPr>
          <p:cNvPr id="6" name="Slide section label">
            <a:extLst xmlns:a="http://schemas.openxmlformats.org/drawingml/2006/main">
              <a:ext uri="{FF2B5EF4-FFF2-40B4-BE49-F238E27FC236}">
                <a16:creationId xmlns:a16="http://schemas.microsoft.com/office/drawing/2014/main" id="{3894B2F0-0FD4-4A5E-8FF3-50DA7E4C480F}"/>
              </a:ext>
            </a:extLst>
          </p:cNvPr>
          <p:cNvSpPr>
            <a:spLocks xmlns:a="http://schemas.openxmlformats.org/drawingml/2006/main" noGrp="1"/>
          </p:cNvSpPr>
          <p:nvPr/>
        </p:nvSpPr>
        <p:spPr>
          <a:xfrm xmlns:a="http://schemas.openxmlformats.org/drawingml/2006/main">
            <a:off x="581025" y="5143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0">
                <a:solidFill>
                  <a:srgbClr val="BFC2FF"/>
                </a:solidFill>
                <a:latin typeface="Calibri"/>
                <a:ea typeface="Calibri"/>
                <a:cs typeface="Calibri"/>
              </a:defRPr>
            </a:pPr>
            <a:r>
              <a:rPr sz="1050" b="0">
                <a:solidFill>
                  <a:srgbClr val="BFC2FF"/>
                </a:solidFill>
                <a:latin typeface="Calibri"/>
                <a:ea typeface="Calibri"/>
                <a:cs typeface="Calibri"/>
              </a:rPr>
              <a:t>Research foundation</a:t>
            </a:r>
          </a:p>
        </p:txBody>
      </p:sp>
      <p:sp>
        <p:nvSpPr>
          <p:cNvPr id="7" name="Academic Foundation title">
            <a:extLst xmlns:a="http://schemas.openxmlformats.org/drawingml/2006/main">
              <a:ext uri="{FF2B5EF4-FFF2-40B4-BE49-F238E27FC236}">
                <a16:creationId xmlns:a16="http://schemas.microsoft.com/office/drawing/2014/main" id="{5DDED4B7-9109-4614-B8F3-332505D63CF7}"/>
              </a:ext>
            </a:extLst>
          </p:cNvPr>
          <p:cNvSpPr>
            <a:spLocks xmlns:a="http://schemas.openxmlformats.org/drawingml/2006/main" noGrp="1"/>
          </p:cNvSpPr>
          <p:nvPr/>
        </p:nvSpPr>
        <p:spPr>
          <a:xfrm xmlns:a="http://schemas.openxmlformats.org/drawingml/2006/main">
            <a:off x="581025" y="809625"/>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3225" b="0">
                <a:solidFill>
                  <a:srgbClr val="FFFFFF"/>
                </a:solidFill>
                <a:latin typeface="Calibri"/>
                <a:ea typeface="Calibri"/>
                <a:cs typeface="Calibri"/>
              </a:defRPr>
            </a:pPr>
            <a:r>
              <a:rPr sz="3225" b="0">
                <a:solidFill>
                  <a:srgbClr val="FFFFFF"/>
                </a:solidFill>
                <a:latin typeface="Calibri"/>
                <a:ea typeface="Calibri"/>
                <a:cs typeface="Calibri"/>
              </a:rPr>
              <a:t>The Academic Foundation</a:t>
            </a:r>
          </a:p>
        </p:txBody>
      </p:sp>
      <p:sp>
        <p:nvSpPr>
          <p:cNvPr id="8" name="Paper 1 accent">
            <a:extLst xmlns:a="http://schemas.openxmlformats.org/drawingml/2006/main">
              <a:ext uri="{FF2B5EF4-FFF2-40B4-BE49-F238E27FC236}">
                <a16:creationId xmlns:a16="http://schemas.microsoft.com/office/drawing/2014/main" id="{5EE5CD6F-57EE-48C9-B741-ADFD7A2C1094}"/>
              </a:ext>
            </a:extLst>
          </p:cNvPr>
          <p:cNvSpPr>
            <a:spLocks xmlns:a="http://schemas.openxmlformats.org/drawingml/2006/main" noGrp="1"/>
          </p:cNvSpPr>
          <p:nvPr/>
        </p:nvSpPr>
        <p:spPr>
          <a:xfrm xmlns:a="http://schemas.openxmlformats.org/drawingml/2006/main">
            <a:off x="742950" y="1771650"/>
            <a:ext cx="38100" cy="838200"/>
          </a:xfrm>
          <a:prstGeom xmlns:a="http://schemas.openxmlformats.org/drawingml/2006/main" prst="rect">
            <a:avLst/>
          </a:prstGeom>
          <a:solidFill xmlns:a="http://schemas.openxmlformats.org/drawingml/2006/main">
            <a:srgbClr val="FF3B30"/>
          </a:solidFill>
          <a:ln xmlns:a="http://schemas.openxmlformats.org/drawingml/2006/main" w="0">
            <a:noFill/>
            <a:prstDash val="solid"/>
          </a:ln>
        </p:spPr>
      </p:sp>
      <p:sp>
        <p:nvSpPr>
          <p:cNvPr id="9" name="Paper 1 venue">
            <a:extLst xmlns:a="http://schemas.openxmlformats.org/drawingml/2006/main">
              <a:ext uri="{FF2B5EF4-FFF2-40B4-BE49-F238E27FC236}">
                <a16:creationId xmlns:a16="http://schemas.microsoft.com/office/drawing/2014/main" id="{F8609939-1694-45BF-9419-B180A088ADF2}"/>
              </a:ext>
            </a:extLst>
          </p:cNvPr>
          <p:cNvSpPr>
            <a:spLocks xmlns:a="http://schemas.openxmlformats.org/drawingml/2006/main" noGrp="1"/>
          </p:cNvSpPr>
          <p:nvPr/>
        </p:nvSpPr>
        <p:spPr>
          <a:xfrm xmlns:a="http://schemas.openxmlformats.org/drawingml/2006/main">
            <a:off x="1009650" y="16954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BFC2FF"/>
                </a:solidFill>
                <a:latin typeface="Calibri"/>
                <a:ea typeface="Calibri"/>
                <a:cs typeface="Calibri"/>
              </a:defRPr>
            </a:pPr>
            <a:r>
              <a:rPr sz="975" b="1">
                <a:solidFill>
                  <a:srgbClr val="BFC2FF"/>
                </a:solidFill>
                <a:latin typeface="Calibri"/>
                <a:ea typeface="Calibri"/>
                <a:cs typeface="Calibri"/>
              </a:rPr>
              <a:t>01  ·  ICLR 2024</a:t>
            </a:r>
          </a:p>
        </p:txBody>
      </p:sp>
      <p:sp>
        <p:nvSpPr>
          <p:cNvPr id="10" name="Paper 1 title">
            <a:extLst xmlns:a="http://schemas.openxmlformats.org/drawingml/2006/main">
              <a:ext uri="{FF2B5EF4-FFF2-40B4-BE49-F238E27FC236}">
                <a16:creationId xmlns:a16="http://schemas.microsoft.com/office/drawing/2014/main" id="{CD535912-540C-4533-8102-592AC566BDE2}"/>
              </a:ext>
            </a:extLst>
          </p:cNvPr>
          <p:cNvSpPr>
            <a:spLocks xmlns:a="http://schemas.openxmlformats.org/drawingml/2006/main" noGrp="1"/>
          </p:cNvSpPr>
          <p:nvPr/>
        </p:nvSpPr>
        <p:spPr>
          <a:xfrm xmlns:a="http://schemas.openxmlformats.org/drawingml/2006/main">
            <a:off x="1009650" y="191452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FFFFFF"/>
                </a:solidFill>
                <a:latin typeface="Calibri"/>
                <a:ea typeface="Calibri"/>
                <a:cs typeface="Calibri"/>
              </a:defRPr>
            </a:pPr>
            <a:r>
              <a:rPr sz="1875" b="0">
                <a:solidFill>
                  <a:srgbClr val="FFFFFF"/>
                </a:solidFill>
                <a:latin typeface="Calibri"/>
                <a:ea typeface="Calibri"/>
                <a:cs typeface="Calibri"/>
                <a:hlinkClick xmlns:r="http://schemas.openxmlformats.org/officeDocument/2006/relationships" r:id="Rf8d5b89f0d4e4552"/>
              </a:rPr>
              <a:t>MetaGPT: Meta Programming for A Multi-Agent Collaborative Framework</a:t>
            </a:r>
          </a:p>
        </p:txBody>
      </p:sp>
      <p:sp>
        <p:nvSpPr>
          <p:cNvPr id="11" name="Paper 1 course mapping">
            <a:extLst xmlns:a="http://schemas.openxmlformats.org/drawingml/2006/main">
              <a:ext uri="{FF2B5EF4-FFF2-40B4-BE49-F238E27FC236}">
                <a16:creationId xmlns:a16="http://schemas.microsoft.com/office/drawing/2014/main" id="{91196709-C736-47DF-A171-E2D1CFD643AD}"/>
              </a:ext>
            </a:extLst>
          </p:cNvPr>
          <p:cNvSpPr>
            <a:spLocks xmlns:a="http://schemas.openxmlformats.org/drawingml/2006/main" noGrp="1"/>
          </p:cNvSpPr>
          <p:nvPr/>
        </p:nvSpPr>
        <p:spPr>
          <a:xfrm xmlns:a="http://schemas.openxmlformats.org/drawingml/2006/main">
            <a:off x="1009650" y="22764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FFFFFF"/>
                </a:solidFill>
                <a:latin typeface="Calibri"/>
                <a:ea typeface="Calibri"/>
                <a:cs typeface="Calibri"/>
              </a:defRPr>
            </a:pPr>
            <a:r>
              <a:rPr sz="1275" b="0">
                <a:solidFill>
                  <a:srgbClr val="FFFFFF"/>
                </a:solidFill>
                <a:latin typeface="Calibri"/>
                <a:ea typeface="Calibri"/>
                <a:cs typeface="Calibri"/>
              </a:rPr>
              <a:t>Standardized procedures and role-specific stages inform our workflow contracts.</a:t>
            </a:r>
          </a:p>
        </p:txBody>
      </p:sp>
      <p:sp>
        <p:nvSpPr>
          <p:cNvPr id="12" name="Paper separator 1">
            <a:extLst xmlns:a="http://schemas.openxmlformats.org/drawingml/2006/main">
              <a:ext uri="{FF2B5EF4-FFF2-40B4-BE49-F238E27FC236}">
                <a16:creationId xmlns:a16="http://schemas.microsoft.com/office/drawing/2014/main" id="{678282A5-6DE4-4C16-A828-A43FF8A94066}"/>
              </a:ext>
            </a:extLst>
          </p:cNvPr>
          <p:cNvSpPr>
            <a:spLocks xmlns:a="http://schemas.openxmlformats.org/drawingml/2006/main" noGrp="1"/>
          </p:cNvSpPr>
          <p:nvPr/>
        </p:nvSpPr>
        <p:spPr>
          <a:xfrm xmlns:a="http://schemas.openxmlformats.org/drawingml/2006/main">
            <a:off x="1009650" y="2762250"/>
            <a:ext cx="10382250" cy="9525"/>
          </a:xfrm>
          <a:prstGeom xmlns:a="http://schemas.openxmlformats.org/drawingml/2006/main" prst="rect">
            <a:avLst/>
          </a:prstGeom>
          <a:solidFill xmlns:a="http://schemas.openxmlformats.org/drawingml/2006/main">
            <a:srgbClr val="555FE0"/>
          </a:solidFill>
          <a:ln xmlns:a="http://schemas.openxmlformats.org/drawingml/2006/main" w="0">
            <a:noFill/>
            <a:prstDash val="solid"/>
          </a:ln>
        </p:spPr>
      </p:sp>
      <p:sp>
        <p:nvSpPr>
          <p:cNvPr id="13" name="Paper 2 accent">
            <a:extLst xmlns:a="http://schemas.openxmlformats.org/drawingml/2006/main">
              <a:ext uri="{FF2B5EF4-FFF2-40B4-BE49-F238E27FC236}">
                <a16:creationId xmlns:a16="http://schemas.microsoft.com/office/drawing/2014/main" id="{B7F471E5-E3BA-4AA2-B84E-9C0B8DD30D80}"/>
              </a:ext>
            </a:extLst>
          </p:cNvPr>
          <p:cNvSpPr>
            <a:spLocks xmlns:a="http://schemas.openxmlformats.org/drawingml/2006/main" noGrp="1"/>
          </p:cNvSpPr>
          <p:nvPr/>
        </p:nvSpPr>
        <p:spPr>
          <a:xfrm xmlns:a="http://schemas.openxmlformats.org/drawingml/2006/main">
            <a:off x="742950" y="3019425"/>
            <a:ext cx="38100" cy="838200"/>
          </a:xfrm>
          <a:prstGeom xmlns:a="http://schemas.openxmlformats.org/drawingml/2006/main" prst="rect">
            <a:avLst/>
          </a:prstGeom>
          <a:solidFill xmlns:a="http://schemas.openxmlformats.org/drawingml/2006/main">
            <a:srgbClr val="FF3B30"/>
          </a:solidFill>
          <a:ln xmlns:a="http://schemas.openxmlformats.org/drawingml/2006/main" w="0">
            <a:noFill/>
            <a:prstDash val="solid"/>
          </a:ln>
        </p:spPr>
      </p:sp>
      <p:sp>
        <p:nvSpPr>
          <p:cNvPr id="14" name="Paper 2 venue">
            <a:extLst xmlns:a="http://schemas.openxmlformats.org/drawingml/2006/main">
              <a:ext uri="{FF2B5EF4-FFF2-40B4-BE49-F238E27FC236}">
                <a16:creationId xmlns:a16="http://schemas.microsoft.com/office/drawing/2014/main" id="{F28E2BF0-B59E-4073-BBCA-39C99C0B999E}"/>
              </a:ext>
            </a:extLst>
          </p:cNvPr>
          <p:cNvSpPr>
            <a:spLocks xmlns:a="http://schemas.openxmlformats.org/drawingml/2006/main" noGrp="1"/>
          </p:cNvSpPr>
          <p:nvPr/>
        </p:nvSpPr>
        <p:spPr>
          <a:xfrm xmlns:a="http://schemas.openxmlformats.org/drawingml/2006/main">
            <a:off x="1009650" y="29432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BFC2FF"/>
                </a:solidFill>
                <a:latin typeface="Calibri"/>
                <a:ea typeface="Calibri"/>
                <a:cs typeface="Calibri"/>
              </a:defRPr>
            </a:pPr>
            <a:r>
              <a:rPr sz="975" b="1">
                <a:solidFill>
                  <a:srgbClr val="BFC2FF"/>
                </a:solidFill>
                <a:latin typeface="Calibri"/>
                <a:ea typeface="Calibri"/>
                <a:cs typeface="Calibri"/>
              </a:rPr>
              <a:t>02  ·  NeurIPS 2023</a:t>
            </a:r>
          </a:p>
        </p:txBody>
      </p:sp>
      <p:sp>
        <p:nvSpPr>
          <p:cNvPr id="15" name="Paper 2 title">
            <a:extLst xmlns:a="http://schemas.openxmlformats.org/drawingml/2006/main">
              <a:ext uri="{FF2B5EF4-FFF2-40B4-BE49-F238E27FC236}">
                <a16:creationId xmlns:a16="http://schemas.microsoft.com/office/drawing/2014/main" id="{663D2100-98EC-4045-9010-CDEDC488019F}"/>
              </a:ext>
            </a:extLst>
          </p:cNvPr>
          <p:cNvSpPr>
            <a:spLocks xmlns:a="http://schemas.openxmlformats.org/drawingml/2006/main" noGrp="1"/>
          </p:cNvSpPr>
          <p:nvPr/>
        </p:nvSpPr>
        <p:spPr>
          <a:xfrm xmlns:a="http://schemas.openxmlformats.org/drawingml/2006/main">
            <a:off x="1009650" y="3162300"/>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FFFFFF"/>
                </a:solidFill>
                <a:latin typeface="Calibri"/>
                <a:ea typeface="Calibri"/>
                <a:cs typeface="Calibri"/>
              </a:defRPr>
            </a:pPr>
            <a:r>
              <a:rPr sz="1875" b="0">
                <a:solidFill>
                  <a:srgbClr val="FFFFFF"/>
                </a:solidFill>
                <a:latin typeface="Calibri"/>
                <a:ea typeface="Calibri"/>
                <a:cs typeface="Calibri"/>
                <a:hlinkClick xmlns:r="http://schemas.openxmlformats.org/officeDocument/2006/relationships" r:id="R58ec9744b2264df7"/>
              </a:rPr>
              <a:t>Reflexion: Language Agents with Verbal Reinforcement Learning</a:t>
            </a:r>
          </a:p>
        </p:txBody>
      </p:sp>
      <p:sp>
        <p:nvSpPr>
          <p:cNvPr id="16" name="Paper 2 course mapping">
            <a:extLst xmlns:a="http://schemas.openxmlformats.org/drawingml/2006/main">
              <a:ext uri="{FF2B5EF4-FFF2-40B4-BE49-F238E27FC236}">
                <a16:creationId xmlns:a16="http://schemas.microsoft.com/office/drawing/2014/main" id="{11357B81-915F-4D01-B769-AEF96732A849}"/>
              </a:ext>
            </a:extLst>
          </p:cNvPr>
          <p:cNvSpPr>
            <a:spLocks xmlns:a="http://schemas.openxmlformats.org/drawingml/2006/main" noGrp="1"/>
          </p:cNvSpPr>
          <p:nvPr/>
        </p:nvSpPr>
        <p:spPr>
          <a:xfrm xmlns:a="http://schemas.openxmlformats.org/drawingml/2006/main">
            <a:off x="1009650" y="35242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FFFFFF"/>
                </a:solidFill>
                <a:latin typeface="Calibri"/>
                <a:ea typeface="Calibri"/>
                <a:cs typeface="Calibri"/>
              </a:defRPr>
            </a:pPr>
            <a:r>
              <a:rPr sz="1275" b="0">
                <a:solidFill>
                  <a:srgbClr val="FFFFFF"/>
                </a:solidFill>
                <a:latin typeface="Calibri"/>
                <a:ea typeface="Calibri"/>
                <a:cs typeface="Calibri"/>
              </a:rPr>
              <a:t>Verbal feedback and episodic memory inform later attempts; our retry cap is a course policy.</a:t>
            </a:r>
          </a:p>
        </p:txBody>
      </p:sp>
      <p:sp>
        <p:nvSpPr>
          <p:cNvPr id="17" name="Paper separator 2">
            <a:extLst xmlns:a="http://schemas.openxmlformats.org/drawingml/2006/main">
              <a:ext uri="{FF2B5EF4-FFF2-40B4-BE49-F238E27FC236}">
                <a16:creationId xmlns:a16="http://schemas.microsoft.com/office/drawing/2014/main" id="{7589CD03-F356-486D-8385-22947D7A0758}"/>
              </a:ext>
            </a:extLst>
          </p:cNvPr>
          <p:cNvSpPr>
            <a:spLocks xmlns:a="http://schemas.openxmlformats.org/drawingml/2006/main" noGrp="1"/>
          </p:cNvSpPr>
          <p:nvPr/>
        </p:nvSpPr>
        <p:spPr>
          <a:xfrm xmlns:a="http://schemas.openxmlformats.org/drawingml/2006/main">
            <a:off x="1009650" y="4010025"/>
            <a:ext cx="10382250" cy="9525"/>
          </a:xfrm>
          <a:prstGeom xmlns:a="http://schemas.openxmlformats.org/drawingml/2006/main" prst="rect">
            <a:avLst/>
          </a:prstGeom>
          <a:solidFill xmlns:a="http://schemas.openxmlformats.org/drawingml/2006/main">
            <a:srgbClr val="555FE0"/>
          </a:solidFill>
          <a:ln xmlns:a="http://schemas.openxmlformats.org/drawingml/2006/main" w="0">
            <a:noFill/>
            <a:prstDash val="solid"/>
          </a:ln>
        </p:spPr>
      </p:sp>
      <p:sp>
        <p:nvSpPr>
          <p:cNvPr id="18" name="Paper 3 accent">
            <a:extLst xmlns:a="http://schemas.openxmlformats.org/drawingml/2006/main">
              <a:ext uri="{FF2B5EF4-FFF2-40B4-BE49-F238E27FC236}">
                <a16:creationId xmlns:a16="http://schemas.microsoft.com/office/drawing/2014/main" id="{F6442503-76D5-4D63-AA2C-FDF3D925F25E}"/>
              </a:ext>
            </a:extLst>
          </p:cNvPr>
          <p:cNvSpPr>
            <a:spLocks xmlns:a="http://schemas.openxmlformats.org/drawingml/2006/main" noGrp="1"/>
          </p:cNvSpPr>
          <p:nvPr/>
        </p:nvSpPr>
        <p:spPr>
          <a:xfrm xmlns:a="http://schemas.openxmlformats.org/drawingml/2006/main">
            <a:off x="742950" y="4267200"/>
            <a:ext cx="38100" cy="838200"/>
          </a:xfrm>
          <a:prstGeom xmlns:a="http://schemas.openxmlformats.org/drawingml/2006/main" prst="rect">
            <a:avLst/>
          </a:prstGeom>
          <a:solidFill xmlns:a="http://schemas.openxmlformats.org/drawingml/2006/main">
            <a:srgbClr val="FF3B30"/>
          </a:solidFill>
          <a:ln xmlns:a="http://schemas.openxmlformats.org/drawingml/2006/main" w="0">
            <a:noFill/>
            <a:prstDash val="solid"/>
          </a:ln>
        </p:spPr>
      </p:sp>
      <p:sp>
        <p:nvSpPr>
          <p:cNvPr id="19" name="Paper 3 venue">
            <a:extLst xmlns:a="http://schemas.openxmlformats.org/drawingml/2006/main">
              <a:ext uri="{FF2B5EF4-FFF2-40B4-BE49-F238E27FC236}">
                <a16:creationId xmlns:a16="http://schemas.microsoft.com/office/drawing/2014/main" id="{D27488B0-ADD2-4B23-A649-17FD46291597}"/>
              </a:ext>
            </a:extLst>
          </p:cNvPr>
          <p:cNvSpPr>
            <a:spLocks xmlns:a="http://schemas.openxmlformats.org/drawingml/2006/main" noGrp="1"/>
          </p:cNvSpPr>
          <p:nvPr/>
        </p:nvSpPr>
        <p:spPr>
          <a:xfrm xmlns:a="http://schemas.openxmlformats.org/drawingml/2006/main">
            <a:off x="1009650" y="41910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BFC2FF"/>
                </a:solidFill>
                <a:latin typeface="Calibri"/>
                <a:ea typeface="Calibri"/>
                <a:cs typeface="Calibri"/>
              </a:defRPr>
            </a:pPr>
            <a:r>
              <a:rPr sz="975" b="1">
                <a:solidFill>
                  <a:srgbClr val="BFC2FF"/>
                </a:solidFill>
                <a:latin typeface="Calibri"/>
                <a:ea typeface="Calibri"/>
                <a:cs typeface="Calibri"/>
              </a:rPr>
              <a:t>03  ·  ACL 2024</a:t>
            </a:r>
          </a:p>
        </p:txBody>
      </p:sp>
      <p:sp>
        <p:nvSpPr>
          <p:cNvPr id="20" name="Paper 3 title">
            <a:extLst xmlns:a="http://schemas.openxmlformats.org/drawingml/2006/main">
              <a:ext uri="{FF2B5EF4-FFF2-40B4-BE49-F238E27FC236}">
                <a16:creationId xmlns:a16="http://schemas.microsoft.com/office/drawing/2014/main" id="{1C6349D3-F6FB-42EB-9A2F-4C435FB0E333}"/>
              </a:ext>
            </a:extLst>
          </p:cNvPr>
          <p:cNvSpPr>
            <a:spLocks xmlns:a="http://schemas.openxmlformats.org/drawingml/2006/main" noGrp="1"/>
          </p:cNvSpPr>
          <p:nvPr/>
        </p:nvSpPr>
        <p:spPr>
          <a:xfrm xmlns:a="http://schemas.openxmlformats.org/drawingml/2006/main">
            <a:off x="1009650" y="4410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FFFFFF"/>
                </a:solidFill>
                <a:latin typeface="Calibri"/>
                <a:ea typeface="Calibri"/>
                <a:cs typeface="Calibri"/>
              </a:defRPr>
            </a:pPr>
            <a:r>
              <a:rPr sz="1875" b="0">
                <a:solidFill>
                  <a:srgbClr val="FFFFFF"/>
                </a:solidFill>
                <a:latin typeface="Calibri"/>
                <a:ea typeface="Calibri"/>
                <a:cs typeface="Calibri"/>
                <a:hlinkClick xmlns:r="http://schemas.openxmlformats.org/officeDocument/2006/relationships" r:id="Ra3106f9197c34483"/>
              </a:rPr>
              <a:t>ChatDev: Communicative Agents for Software Development</a:t>
            </a:r>
          </a:p>
        </p:txBody>
      </p:sp>
      <p:sp>
        <p:nvSpPr>
          <p:cNvPr id="21" name="Paper 3 course mapping">
            <a:extLst xmlns:a="http://schemas.openxmlformats.org/drawingml/2006/main">
              <a:ext uri="{FF2B5EF4-FFF2-40B4-BE49-F238E27FC236}">
                <a16:creationId xmlns:a16="http://schemas.microsoft.com/office/drawing/2014/main" id="{14BAAB73-F18A-4E80-A81A-FC5E08719065}"/>
              </a:ext>
            </a:extLst>
          </p:cNvPr>
          <p:cNvSpPr>
            <a:spLocks xmlns:a="http://schemas.openxmlformats.org/drawingml/2006/main" noGrp="1"/>
          </p:cNvSpPr>
          <p:nvPr/>
        </p:nvSpPr>
        <p:spPr>
          <a:xfrm xmlns:a="http://schemas.openxmlformats.org/drawingml/2006/main">
            <a:off x="1009650" y="47720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FFFFFF"/>
                </a:solidFill>
                <a:latin typeface="Calibri"/>
                <a:ea typeface="Calibri"/>
                <a:cs typeface="Calibri"/>
              </a:defRPr>
            </a:pPr>
            <a:r>
              <a:rPr sz="1275" b="0">
                <a:solidFill>
                  <a:srgbClr val="FFFFFF"/>
                </a:solidFill>
                <a:latin typeface="Calibri"/>
                <a:ea typeface="Calibri"/>
                <a:cs typeface="Calibri"/>
              </a:rPr>
              <a:t>Specialized roles and communication across software phases inform the capstone design.</a:t>
            </a:r>
          </a:p>
        </p:txBody>
      </p:sp>
      <p:sp>
        <p:nvSpPr>
          <p:cNvPr id="22" name="Research-to-practice note">
            <a:extLst xmlns:a="http://schemas.openxmlformats.org/drawingml/2006/main">
              <a:ext uri="{FF2B5EF4-FFF2-40B4-BE49-F238E27FC236}">
                <a16:creationId xmlns:a16="http://schemas.microsoft.com/office/drawing/2014/main" id="{AEB65532-E41D-4675-B05F-BFB32057677B}"/>
              </a:ext>
            </a:extLst>
          </p:cNvPr>
          <p:cNvSpPr>
            <a:spLocks xmlns:a="http://schemas.openxmlformats.org/drawingml/2006/main" noGrp="1"/>
          </p:cNvSpPr>
          <p:nvPr/>
        </p:nvSpPr>
        <p:spPr>
          <a:xfrm xmlns:a="http://schemas.openxmlformats.org/drawingml/2006/main">
            <a:off x="857250" y="54673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Calibri"/>
                <a:ea typeface="Calibri"/>
                <a:cs typeface="Calibri"/>
              </a:defRPr>
            </a:pPr>
            <a:r>
              <a:rPr sz="1275" b="1">
                <a:solidFill>
                  <a:srgbClr val="FFFFFF"/>
                </a:solidFill>
                <a:latin typeface="Calibri"/>
                <a:ea typeface="Calibri"/>
                <a:cs typeface="Calibri"/>
              </a:rPr>
              <a:t>Schemas, tool permissions, a three-retry ceiling, and human escalation are course policies inspired by this work.</a:t>
            </a:r>
          </a:p>
        </p:txBody>
      </p:sp>
      <p:sp>
        <p:nvSpPr>
          <p:cNvPr id="23" name="Footer organization">
            <a:extLst xmlns:a="http://schemas.openxmlformats.org/drawingml/2006/main">
              <a:ext uri="{FF2B5EF4-FFF2-40B4-BE49-F238E27FC236}">
                <a16:creationId xmlns:a16="http://schemas.microsoft.com/office/drawing/2014/main" id="{C68E9F0F-C693-43D9-B192-73D31F5267B0}"/>
              </a:ext>
            </a:extLst>
          </p:cNvPr>
          <p:cNvSpPr>
            <a:spLocks xmlns:a="http://schemas.openxmlformats.org/drawingml/2006/main" noGrp="1"/>
          </p:cNvSpPr>
          <p:nvPr/>
        </p:nvSpPr>
        <p:spPr>
          <a:xfrm xmlns:a="http://schemas.openxmlformats.org/drawingml/2006/main">
            <a:off x="323850" y="654367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00" b="0">
                <a:solidFill>
                  <a:srgbClr val="BFC2FF"/>
                </a:solidFill>
                <a:latin typeface="Calibri"/>
                <a:ea typeface="Calibri"/>
                <a:cs typeface="Calibri"/>
              </a:defRPr>
            </a:pPr>
            <a:r>
              <a:rPr sz="900" b="0">
                <a:solidFill>
                  <a:srgbClr val="BFC2FF"/>
                </a:solidFill>
                <a:latin typeface="Calibri"/>
                <a:ea typeface="Calibri"/>
                <a:cs typeface="Calibri"/>
              </a:rPr>
              <a:t>SDG AI Lab  ·  UN Technology  ·  ICPSD  ·  UNDP</a:t>
            </a:r>
          </a:p>
        </p:txBody>
      </p:sp>
      <p:sp>
        <p:nvSpPr>
          <p:cNvPr id="24" name="Slide citation">
            <a:extLst xmlns:a="http://schemas.openxmlformats.org/drawingml/2006/main">
              <a:ext uri="{FF2B5EF4-FFF2-40B4-BE49-F238E27FC236}">
                <a16:creationId xmlns:a16="http://schemas.microsoft.com/office/drawing/2014/main" id="{B91511AE-18A5-4C05-A474-51CB63DC70DA}"/>
              </a:ext>
            </a:extLst>
          </p:cNvPr>
          <p:cNvSpPr>
            <a:spLocks xmlns:a="http://schemas.openxmlformats.org/drawingml/2006/main" noGrp="1"/>
          </p:cNvSpPr>
          <p:nvPr/>
        </p:nvSpPr>
        <p:spPr>
          <a:xfrm xmlns:a="http://schemas.openxmlformats.org/drawingml/2006/main">
            <a:off x="8001000" y="6153150"/>
            <a:ext cx="3257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750" b="0">
                <a:solidFill>
                  <a:srgbClr val="BFC2FF"/>
                </a:solidFill>
                <a:latin typeface="Calibri"/>
                <a:ea typeface="Calibri"/>
                <a:cs typeface="Calibri"/>
              </a:defRPr>
            </a:pPr>
            <a:r>
              <a:rPr sz="750" b="0">
                <a:solidFill>
                  <a:srgbClr val="BFC2FF"/>
                </a:solidFill>
                <a:latin typeface="Calibri"/>
                <a:ea typeface="Calibri"/>
                <a:cs typeface="Calibri"/>
              </a:rPr>
              <a:t>Sources: Hong et al. · Shinn et al. · Qian et al.</a:t>
            </a:r>
          </a:p>
        </p:txBody>
      </p:sp>
      <p:sp>
        <p:nvSpPr>
          <p:cNvPr id="25" name="Slide number">
            <a:extLst xmlns:a="http://schemas.openxmlformats.org/drawingml/2006/main">
              <a:ext uri="{FF2B5EF4-FFF2-40B4-BE49-F238E27FC236}">
                <a16:creationId xmlns:a16="http://schemas.microsoft.com/office/drawing/2014/main" id="{BB1E67B2-2AA1-459B-9266-B8E4CD09F47C}"/>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FFFFFF"/>
                </a:solidFill>
                <a:latin typeface="Calibri"/>
                <a:ea typeface="Calibri"/>
                <a:cs typeface="Calibri"/>
              </a:defRPr>
            </a:pPr>
            <a:r>
              <a:rPr sz="975" b="0">
                <a:solidFill>
                  <a:srgbClr val="FFFFFF"/>
                </a:solidFill>
                <a:latin typeface="Calibri"/>
                <a:ea typeface="Calibri"/>
                <a:cs typeface="Calibri"/>
              </a:rPr>
              <a:t>05</a:t>
            </a:r>
          </a:p>
        </p:txBody>
      </p:sp>
    </p:spTree>
    <p:extLst>
      <p:ext uri="{BB962C8B-B14F-4D97-AF65-F5344CB8AC3E}">
        <p14:creationId xmlns:p14="http://schemas.microsoft.com/office/powerpoint/2010/main" val="113377950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F1D5862-11E1-4300-BD85-5BB963959D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62F00B6-F28E-4D12-B96D-7FB0072A1510}"/>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7337A76-A0BB-4907-B714-A14107C28B2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2AE64746-1C31-477E-A1E2-7A47429FF96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699DA2AE-93E5-4118-9301-C66E38A142D9}"/>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34ADB8C3-A47A-4ABA-8374-C76DA72F3D39}"/>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4C308CF3-B77A-4F24-8E02-9D7A39CAB860}"/>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AutoGen</a:t>
            </a:r>
          </a:p>
        </p:txBody>
      </p:sp>
      <p:sp>
        <p:nvSpPr>
          <p:cNvPr id="8" name="">
            <a:extLst xmlns:a="http://schemas.openxmlformats.org/drawingml/2006/main">
              <a:ext uri="{FF2B5EF4-FFF2-40B4-BE49-F238E27FC236}">
                <a16:creationId xmlns:a16="http://schemas.microsoft.com/office/drawing/2014/main" id="{DBB4D94D-6C6D-4C85-9C52-1F1A8EED96E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06</a:t>
            </a:r>
          </a:p>
        </p:txBody>
      </p:sp>
      <p:sp>
        <p:nvSpPr>
          <p:cNvPr id="9" name="">
            <a:extLst xmlns:a="http://schemas.openxmlformats.org/drawingml/2006/main">
              <a:ext uri="{FF2B5EF4-FFF2-40B4-BE49-F238E27FC236}">
                <a16:creationId xmlns:a16="http://schemas.microsoft.com/office/drawing/2014/main" id="{931EBF3C-3660-4611-943D-A461E3EE3308}"/>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01</a:t>
            </a:r>
          </a:p>
        </p:txBody>
      </p:sp>
      <p:sp>
        <p:nvSpPr>
          <p:cNvPr id="10" name="">
            <a:extLst xmlns:a="http://schemas.openxmlformats.org/drawingml/2006/main">
              <a:ext uri="{FF2B5EF4-FFF2-40B4-BE49-F238E27FC236}">
                <a16:creationId xmlns:a16="http://schemas.microsoft.com/office/drawing/2014/main" id="{D56177DF-487C-4B41-9136-D35EB0C1C9A3}"/>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Module 1 → Foundations &amp; Vibe Coding</a:t>
            </a:r>
          </a:p>
        </p:txBody>
      </p:sp>
      <p:sp>
        <p:nvSpPr>
          <p:cNvPr id="11" name="">
            <a:extLst xmlns:a="http://schemas.openxmlformats.org/drawingml/2006/main">
              <a:ext uri="{FF2B5EF4-FFF2-40B4-BE49-F238E27FC236}">
                <a16:creationId xmlns:a16="http://schemas.microsoft.com/office/drawing/2014/main" id="{DF3FD22D-0A41-4127-8430-5D30D3C2D1BE}"/>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From isolated prompting to managed AI teams</a:t>
            </a:r>
          </a:p>
        </p:txBody>
      </p:sp>
      <p:sp>
        <p:nvSpPr>
          <p:cNvPr id="12" name="">
            <a:extLst xmlns:a="http://schemas.openxmlformats.org/drawingml/2006/main">
              <a:ext uri="{FF2B5EF4-FFF2-40B4-BE49-F238E27FC236}">
                <a16:creationId xmlns:a16="http://schemas.microsoft.com/office/drawing/2014/main" id="{0145E94D-4087-43CB-996A-79D529C0D98C}"/>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9A41ADAC-E5F7-4484-BCCD-14293EC05DCE}"/>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Goal: move from isolated prompts to governed handoffs.</a:t>
            </a:r>
          </a:p>
        </p:txBody>
      </p:sp>
    </p:spTree>
    <p:extLst>
      <p:ext uri="{BB962C8B-B14F-4D97-AF65-F5344CB8AC3E}">
        <p14:creationId xmlns:p14="http://schemas.microsoft.com/office/powerpoint/2010/main" val="177701272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42568F6-1199-4375-B01E-EE410F795E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6D54C1BC-4A5B-469A-AEB1-45870292CE36}"/>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A89A6017-8EF5-4AF5-87CF-180C2C6A0C5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4D2F626B-E23D-403C-A160-C84CCE5543C7}"/>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A7C7C2B2-A9AD-44CE-AE06-5BF5EE15D0C9}"/>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A1808503-4830-48CF-9570-54498C6D245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AAAA5C7F-6DF4-4F30-9207-4910F146D3D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Vibe Coding</a:t>
            </a:r>
          </a:p>
        </p:txBody>
      </p:sp>
      <p:sp>
        <p:nvSpPr>
          <p:cNvPr id="8" name="">
            <a:extLst xmlns:a="http://schemas.openxmlformats.org/drawingml/2006/main">
              <a:ext uri="{FF2B5EF4-FFF2-40B4-BE49-F238E27FC236}">
                <a16:creationId xmlns:a16="http://schemas.microsoft.com/office/drawing/2014/main" id="{E3296F5F-6C05-4336-91AD-DAE5422C48E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07</a:t>
            </a:r>
          </a:p>
        </p:txBody>
      </p:sp>
      <p:sp>
        <p:nvSpPr>
          <p:cNvPr id="9" name="">
            <a:extLst xmlns:a="http://schemas.openxmlformats.org/drawingml/2006/main">
              <a:ext uri="{FF2B5EF4-FFF2-40B4-BE49-F238E27FC236}">
                <a16:creationId xmlns:a16="http://schemas.microsoft.com/office/drawing/2014/main" id="{5495B916-7A3E-466E-A5DA-D4150FCB46F5}"/>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1 · Foundations &amp; Vibe Coding</a:t>
            </a:r>
          </a:p>
        </p:txBody>
      </p:sp>
      <p:sp>
        <p:nvSpPr>
          <p:cNvPr id="10" name="">
            <a:extLst xmlns:a="http://schemas.openxmlformats.org/drawingml/2006/main">
              <a:ext uri="{FF2B5EF4-FFF2-40B4-BE49-F238E27FC236}">
                <a16:creationId xmlns:a16="http://schemas.microsoft.com/office/drawing/2014/main" id="{BE74AF00-E8E3-45B6-BA14-ABDD7E007918}"/>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The Single-Agent Ceiling</a:t>
            </a:r>
          </a:p>
        </p:txBody>
      </p:sp>
      <p:sp>
        <p:nvSpPr>
          <p:cNvPr id="11" name="">
            <a:extLst xmlns:a="http://schemas.openxmlformats.org/drawingml/2006/main">
              <a:ext uri="{FF2B5EF4-FFF2-40B4-BE49-F238E27FC236}">
                <a16:creationId xmlns:a16="http://schemas.microsoft.com/office/drawing/2014/main" id="{7D5B1BD8-4EDE-437D-BEEF-5912C1B84EC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80874694-3372-4393-B7D8-45FCB49D5F0E}"/>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Problem: one model must plan, code, test, and review itself.</a:t>
            </a:r>
          </a:p>
        </p:txBody>
      </p:sp>
      <p:sp>
        <p:nvSpPr>
          <p:cNvPr id="13" name="">
            <a:extLst xmlns:a="http://schemas.openxmlformats.org/drawingml/2006/main">
              <a:ext uri="{FF2B5EF4-FFF2-40B4-BE49-F238E27FC236}">
                <a16:creationId xmlns:a16="http://schemas.microsoft.com/office/drawing/2014/main" id="{6D5AEF5F-BC38-42A1-83E8-95C4EC4E59A7}"/>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FF8EDC78-D4F1-49E2-AECE-C72887DBBB93}"/>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Result: brittle outputs, hidden assumptions, no accountability.</a:t>
            </a:r>
          </a:p>
        </p:txBody>
      </p:sp>
      <p:sp>
        <p:nvSpPr>
          <p:cNvPr id="15" name="">
            <a:extLst xmlns:a="http://schemas.openxmlformats.org/drawingml/2006/main">
              <a:ext uri="{FF2B5EF4-FFF2-40B4-BE49-F238E27FC236}">
                <a16:creationId xmlns:a16="http://schemas.microsoft.com/office/drawing/2014/main" id="{8F2B3E08-1954-4CB5-A1E5-48F687523F4B}"/>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D291A862-5932-41AD-908E-EFFD58672837}"/>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Vibe coding is not casual prompting at scale.</a:t>
            </a:r>
          </a:p>
        </p:txBody>
      </p:sp>
      <p:sp>
        <p:nvSpPr>
          <p:cNvPr id="17" name="">
            <a:extLst xmlns:a="http://schemas.openxmlformats.org/drawingml/2006/main">
              <a:ext uri="{FF2B5EF4-FFF2-40B4-BE49-F238E27FC236}">
                <a16:creationId xmlns:a16="http://schemas.microsoft.com/office/drawing/2014/main" id="{D3F1F789-8332-4630-8A12-7A0D2033B43B}"/>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A4C07328-7981-4C3D-B09B-DE0A0A659FB7}"/>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It is intent-driven software creation with roles, artifacts, and gates.</a:t>
            </a:r>
          </a:p>
        </p:txBody>
      </p:sp>
      <p:sp>
        <p:nvSpPr>
          <p:cNvPr id="19" name="">
            <a:extLst xmlns:a="http://schemas.openxmlformats.org/drawingml/2006/main">
              <a:ext uri="{FF2B5EF4-FFF2-40B4-BE49-F238E27FC236}">
                <a16:creationId xmlns:a16="http://schemas.microsoft.com/office/drawing/2014/main" id="{4F7D2017-FFE3-4EC7-9008-267745D58B07}"/>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First skill: managing delegation, not building a swarm.</a:t>
            </a:r>
          </a:p>
        </p:txBody>
      </p:sp>
      <p:sp>
        <p:nvSpPr>
          <p:cNvPr id="20" name="">
            <a:extLst xmlns:a="http://schemas.openxmlformats.org/drawingml/2006/main">
              <a:ext uri="{FF2B5EF4-FFF2-40B4-BE49-F238E27FC236}">
                <a16:creationId xmlns:a16="http://schemas.microsoft.com/office/drawing/2014/main" id="{335D0603-2CE8-495F-9B4C-0509E193C490}"/>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77520231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C4227B5-A06B-411C-8E59-C048C87D83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F63D607-C325-4D25-86A8-F43B497FA698}"/>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E14EA56D-A2ED-49DA-B3FE-F6F40DA92EA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0574E39A-DFBE-417C-86E0-C7777635F87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BAF05266-9CFD-42CE-873E-3EBE09F0DD26}"/>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D0DCE272-1DBD-4ADD-B606-4AEAAFB82AF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1137619C-E2E2-4379-8069-7104CE714BC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CrewAI processes</a:t>
            </a:r>
          </a:p>
        </p:txBody>
      </p:sp>
      <p:sp>
        <p:nvSpPr>
          <p:cNvPr id="8" name="">
            <a:extLst xmlns:a="http://schemas.openxmlformats.org/drawingml/2006/main">
              <a:ext uri="{FF2B5EF4-FFF2-40B4-BE49-F238E27FC236}">
                <a16:creationId xmlns:a16="http://schemas.microsoft.com/office/drawing/2014/main" id="{B1CC8D7D-A46E-4C4C-93D4-9B4D97C2146D}"/>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08</a:t>
            </a:r>
          </a:p>
        </p:txBody>
      </p:sp>
      <p:sp>
        <p:nvSpPr>
          <p:cNvPr id="9" name="">
            <a:extLst xmlns:a="http://schemas.openxmlformats.org/drawingml/2006/main">
              <a:ext uri="{FF2B5EF4-FFF2-40B4-BE49-F238E27FC236}">
                <a16:creationId xmlns:a16="http://schemas.microsoft.com/office/drawing/2014/main" id="{DD25CF91-5E92-4AFE-BA22-B641014A1A29}"/>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1 · Foundations &amp; Vibe Coding</a:t>
            </a:r>
          </a:p>
        </p:txBody>
      </p:sp>
      <p:sp>
        <p:nvSpPr>
          <p:cNvPr id="10" name="">
            <a:extLst xmlns:a="http://schemas.openxmlformats.org/drawingml/2006/main">
              <a:ext uri="{FF2B5EF4-FFF2-40B4-BE49-F238E27FC236}">
                <a16:creationId xmlns:a16="http://schemas.microsoft.com/office/drawing/2014/main" id="{14BAE38E-20F7-4355-A50D-5AFCDF25D048}"/>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CrewAI Processes: Sequential vs Hierarchical</a:t>
            </a:r>
          </a:p>
        </p:txBody>
      </p:sp>
      <p:sp>
        <p:nvSpPr>
          <p:cNvPr id="11" name="">
            <a:extLst xmlns:a="http://schemas.openxmlformats.org/drawingml/2006/main">
              <a:ext uri="{FF2B5EF4-FFF2-40B4-BE49-F238E27FC236}">
                <a16:creationId xmlns:a16="http://schemas.microsoft.com/office/drawing/2014/main" id="{A684CA99-DBB4-4BD3-A5CA-9CE6A6C13ABA}"/>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8CF4926E-C6FF-4EC2-B5B1-F989D3FCC53F}"/>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E233BA45-DB72-485E-A028-38F01B29C802}"/>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Sequential</a:t>
            </a:r>
          </a:p>
        </p:txBody>
      </p:sp>
      <p:sp>
        <p:nvSpPr>
          <p:cNvPr id="14" name="">
            <a:extLst xmlns:a="http://schemas.openxmlformats.org/drawingml/2006/main">
              <a:ext uri="{FF2B5EF4-FFF2-40B4-BE49-F238E27FC236}">
                <a16:creationId xmlns:a16="http://schemas.microsoft.com/office/drawing/2014/main" id="{D6866DB0-6F13-4B03-B0C7-6AA03C5F40AD}"/>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Hierarchical</a:t>
            </a:r>
          </a:p>
        </p:txBody>
      </p:sp>
      <p:sp>
        <p:nvSpPr>
          <p:cNvPr id="15" name="">
            <a:extLst xmlns:a="http://schemas.openxmlformats.org/drawingml/2006/main">
              <a:ext uri="{FF2B5EF4-FFF2-40B4-BE49-F238E27FC236}">
                <a16:creationId xmlns:a16="http://schemas.microsoft.com/office/drawing/2014/main" id="{FD41D0B8-A6F4-4322-89E8-CBB065241B28}"/>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601E47CE-AAAC-4EE7-A246-FE08A38E55D9}"/>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CrewAI: Process.sequential</a:t>
            </a:r>
          </a:p>
        </p:txBody>
      </p:sp>
      <p:sp>
        <p:nvSpPr>
          <p:cNvPr id="17" name="">
            <a:extLst xmlns:a="http://schemas.openxmlformats.org/drawingml/2006/main">
              <a:ext uri="{FF2B5EF4-FFF2-40B4-BE49-F238E27FC236}">
                <a16:creationId xmlns:a16="http://schemas.microsoft.com/office/drawing/2014/main" id="{317EB42D-E64C-4CBE-9662-E9841E861A90}"/>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92BCEEB2-A95B-43E9-AAC6-1BCBE931262E}"/>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Tasks run in order</a:t>
            </a:r>
          </a:p>
        </p:txBody>
      </p:sp>
      <p:sp>
        <p:nvSpPr>
          <p:cNvPr id="19" name="">
            <a:extLst xmlns:a="http://schemas.openxmlformats.org/drawingml/2006/main">
              <a:ext uri="{FF2B5EF4-FFF2-40B4-BE49-F238E27FC236}">
                <a16:creationId xmlns:a16="http://schemas.microsoft.com/office/drawing/2014/main" id="{FD1AAF28-1115-4F4A-9D38-99E91AE9354D}"/>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F918D668-538F-4F7A-998E-FB7181E3A55A}"/>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Best for fixed pipelines</a:t>
            </a:r>
          </a:p>
        </p:txBody>
      </p:sp>
      <p:sp>
        <p:nvSpPr>
          <p:cNvPr id="21" name="">
            <a:extLst xmlns:a="http://schemas.openxmlformats.org/drawingml/2006/main">
              <a:ext uri="{FF2B5EF4-FFF2-40B4-BE49-F238E27FC236}">
                <a16:creationId xmlns:a16="http://schemas.microsoft.com/office/drawing/2014/main" id="{10C078BD-69D7-4D42-9423-F120CB9C3EAF}"/>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368F73B9-7F8A-477A-AAB9-5D8F032E1A51}"/>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Transparent, easy to test</a:t>
            </a:r>
          </a:p>
        </p:txBody>
      </p:sp>
      <p:sp>
        <p:nvSpPr>
          <p:cNvPr id="23" name="">
            <a:extLst xmlns:a="http://schemas.openxmlformats.org/drawingml/2006/main">
              <a:ext uri="{FF2B5EF4-FFF2-40B4-BE49-F238E27FC236}">
                <a16:creationId xmlns:a16="http://schemas.microsoft.com/office/drawing/2014/main" id="{A737E7D4-B795-4450-8321-1F77E0A6FF52}"/>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07981C01-1682-42AA-B65F-6D2E5266A3B8}"/>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CrewAI: Process.hierarchical</a:t>
            </a:r>
          </a:p>
        </p:txBody>
      </p:sp>
      <p:sp>
        <p:nvSpPr>
          <p:cNvPr id="25" name="">
            <a:extLst xmlns:a="http://schemas.openxmlformats.org/drawingml/2006/main">
              <a:ext uri="{FF2B5EF4-FFF2-40B4-BE49-F238E27FC236}">
                <a16:creationId xmlns:a16="http://schemas.microsoft.com/office/drawing/2014/main" id="{50DDDDFF-F234-4DA2-B04C-BFAC2602F8B4}"/>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C81C8A2C-5B45-46C6-824A-124680F8E988}"/>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Manager coordinates agents</a:t>
            </a:r>
          </a:p>
        </p:txBody>
      </p:sp>
      <p:sp>
        <p:nvSpPr>
          <p:cNvPr id="27" name="">
            <a:extLst xmlns:a="http://schemas.openxmlformats.org/drawingml/2006/main">
              <a:ext uri="{FF2B5EF4-FFF2-40B4-BE49-F238E27FC236}">
                <a16:creationId xmlns:a16="http://schemas.microsoft.com/office/drawing/2014/main" id="{47379A8A-1D9C-4156-9589-AAFB88144169}"/>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BBE33C73-31B6-40B8-A932-1AB8B7C9DDE5}"/>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Best for dynamic delegation</a:t>
            </a:r>
          </a:p>
        </p:txBody>
      </p:sp>
      <p:sp>
        <p:nvSpPr>
          <p:cNvPr id="29" name="">
            <a:extLst xmlns:a="http://schemas.openxmlformats.org/drawingml/2006/main">
              <a:ext uri="{FF2B5EF4-FFF2-40B4-BE49-F238E27FC236}">
                <a16:creationId xmlns:a16="http://schemas.microsoft.com/office/drawing/2014/main" id="{45091DBE-3464-4443-802E-E8C984F0ACC6}"/>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68F37731-B239-4A05-A21D-C1BF7976618E}"/>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Flexible, harder to debug</a:t>
            </a:r>
          </a:p>
        </p:txBody>
      </p:sp>
      <p:sp>
        <p:nvSpPr>
          <p:cNvPr id="31" name="">
            <a:extLst xmlns:a="http://schemas.openxmlformats.org/drawingml/2006/main">
              <a:ext uri="{FF2B5EF4-FFF2-40B4-BE49-F238E27FC236}">
                <a16:creationId xmlns:a16="http://schemas.microsoft.com/office/drawing/2014/main" id="{8F59BCAE-25E2-41A4-92AF-9E0FD0F6D45B}"/>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CrewAI is used here as the production-framework comparison, not a replacement for governance.</a:t>
            </a:r>
          </a:p>
        </p:txBody>
      </p:sp>
    </p:spTree>
    <p:extLst>
      <p:ext uri="{BB962C8B-B14F-4D97-AF65-F5344CB8AC3E}">
        <p14:creationId xmlns:p14="http://schemas.microsoft.com/office/powerpoint/2010/main" val="108525569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47E7B67-843F-438F-A135-A196513446C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E5460D7-0510-443B-A6A0-0BCF89231EB8}"/>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2F0F3808-584B-49F2-9AA7-CB1A572FAD8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8D90D3E6-AC5D-4D4E-963F-DB63F7FEDE30}"/>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resources/README.md: papers, videos, cited schemas.</a:t>
            </a:r>
          </a:p>
        </p:txBody>
      </p:sp>
      <p:sp>
        <p:nvSpPr>
          <p:cNvPr id="5" name="">
            <a:extLst xmlns:a="http://schemas.openxmlformats.org/drawingml/2006/main">
              <a:ext uri="{FF2B5EF4-FFF2-40B4-BE49-F238E27FC236}">
                <a16:creationId xmlns:a16="http://schemas.microsoft.com/office/drawing/2014/main" id="{EEC947B6-DC0A-4EC1-92AD-E464BF1F428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A9B3FE96-B943-496C-BBC4-47875F057A54}"/>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28AD390E-50ED-492C-927F-8C655A773E04}"/>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CrewAI + course governance</a:t>
            </a:r>
          </a:p>
        </p:txBody>
      </p:sp>
      <p:sp>
        <p:nvSpPr>
          <p:cNvPr id="8" name="">
            <a:extLst xmlns:a="http://schemas.openxmlformats.org/drawingml/2006/main">
              <a:ext uri="{FF2B5EF4-FFF2-40B4-BE49-F238E27FC236}">
                <a16:creationId xmlns:a16="http://schemas.microsoft.com/office/drawing/2014/main" id="{39775550-F3F5-4374-B437-FE9DC218853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09</a:t>
            </a:r>
          </a:p>
        </p:txBody>
      </p:sp>
      <p:sp>
        <p:nvSpPr>
          <p:cNvPr id="9" name="">
            <a:extLst xmlns:a="http://schemas.openxmlformats.org/drawingml/2006/main">
              <a:ext uri="{FF2B5EF4-FFF2-40B4-BE49-F238E27FC236}">
                <a16:creationId xmlns:a16="http://schemas.microsoft.com/office/drawing/2014/main" id="{670CA90A-36F2-409F-8C18-2FFF57F09A00}"/>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1 · Foundations &amp; Vibe Coding</a:t>
            </a:r>
          </a:p>
        </p:txBody>
      </p:sp>
      <p:sp>
        <p:nvSpPr>
          <p:cNvPr id="10" name="">
            <a:extLst xmlns:a="http://schemas.openxmlformats.org/drawingml/2006/main">
              <a:ext uri="{FF2B5EF4-FFF2-40B4-BE49-F238E27FC236}">
                <a16:creationId xmlns:a16="http://schemas.microsoft.com/office/drawing/2014/main" id="{34860CB0-5F8D-4A3B-886D-EEF2734F5E85}"/>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Five Production Failure Modes</a:t>
            </a:r>
          </a:p>
        </p:txBody>
      </p:sp>
      <p:sp>
        <p:nvSpPr>
          <p:cNvPr id="11" name="">
            <a:extLst xmlns:a="http://schemas.openxmlformats.org/drawingml/2006/main">
              <a:ext uri="{FF2B5EF4-FFF2-40B4-BE49-F238E27FC236}">
                <a16:creationId xmlns:a16="http://schemas.microsoft.com/office/drawing/2014/main" id="{B6A03124-AA62-4FD0-99FB-718A3549F21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1E7EFE7F-9295-43A2-AD8F-BD699B1195A7}"/>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Role confusion — agent does too many things.</a:t>
            </a:r>
          </a:p>
        </p:txBody>
      </p:sp>
      <p:sp>
        <p:nvSpPr>
          <p:cNvPr id="13" name="">
            <a:extLst xmlns:a="http://schemas.openxmlformats.org/drawingml/2006/main">
              <a:ext uri="{FF2B5EF4-FFF2-40B4-BE49-F238E27FC236}">
                <a16:creationId xmlns:a16="http://schemas.microsoft.com/office/drawing/2014/main" id="{0C9D36CD-2FDE-419B-8FF9-1BA5447A08A9}"/>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87ABD720-6B54-4140-9DFC-0BB970B070E1}"/>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Context loss — downstream agent never received upstream output.</a:t>
            </a:r>
          </a:p>
        </p:txBody>
      </p:sp>
      <p:sp>
        <p:nvSpPr>
          <p:cNvPr id="15" name="">
            <a:extLst xmlns:a="http://schemas.openxmlformats.org/drawingml/2006/main">
              <a:ext uri="{FF2B5EF4-FFF2-40B4-BE49-F238E27FC236}">
                <a16:creationId xmlns:a16="http://schemas.microsoft.com/office/drawing/2014/main" id="{7AC56163-F091-4DBC-97DE-DC49C87D025B}"/>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A23AE8F7-6D73-40B7-9DC5-2999B4854799}"/>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Tool overreach — agent calls tools it should not have.</a:t>
            </a:r>
          </a:p>
        </p:txBody>
      </p:sp>
      <p:sp>
        <p:nvSpPr>
          <p:cNvPr id="17" name="">
            <a:extLst xmlns:a="http://schemas.openxmlformats.org/drawingml/2006/main">
              <a:ext uri="{FF2B5EF4-FFF2-40B4-BE49-F238E27FC236}">
                <a16:creationId xmlns:a16="http://schemas.microsoft.com/office/drawing/2014/main" id="{747BA76F-CB01-44E1-96A0-98C20462C606}"/>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823FFF13-1A07-4178-90B6-844953126E62}"/>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No done criteria — agent never knows when to stop.</a:t>
            </a:r>
          </a:p>
        </p:txBody>
      </p:sp>
      <p:sp>
        <p:nvSpPr>
          <p:cNvPr id="19" name="">
            <a:extLst xmlns:a="http://schemas.openxmlformats.org/drawingml/2006/main">
              <a:ext uri="{FF2B5EF4-FFF2-40B4-BE49-F238E27FC236}">
                <a16:creationId xmlns:a16="http://schemas.microsoft.com/office/drawing/2014/main" id="{50852B91-F8E3-4AA2-96D3-19FE4A2FA006}"/>
              </a:ext>
            </a:extLst>
          </p:cNvPr>
          <p:cNvSpPr>
            <a:spLocks xmlns:a="http://schemas.openxmlformats.org/drawingml/2006/main" noGrp="1"/>
          </p:cNvSpPr>
          <p:nvPr/>
        </p:nvSpPr>
        <p:spPr>
          <a:xfrm xmlns:a="http://schemas.openxmlformats.org/drawingml/2006/main">
            <a:off x="781050" y="3505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20" name="">
            <a:extLst xmlns:a="http://schemas.openxmlformats.org/drawingml/2006/main">
              <a:ext uri="{FF2B5EF4-FFF2-40B4-BE49-F238E27FC236}">
                <a16:creationId xmlns:a16="http://schemas.microsoft.com/office/drawing/2014/main" id="{0BCD88EF-BBB0-42D3-A085-2AEE09FFE492}"/>
              </a:ext>
            </a:extLst>
          </p:cNvPr>
          <p:cNvSpPr>
            <a:spLocks xmlns:a="http://schemas.openxmlformats.org/drawingml/2006/main" noGrp="1"/>
          </p:cNvSpPr>
          <p:nvPr/>
        </p:nvSpPr>
        <p:spPr>
          <a:xfrm xmlns:a="http://schemas.openxmlformats.org/drawingml/2006/main">
            <a:off x="1085850" y="35052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No escalation path — failure loops silently instead of surfacing.</a:t>
            </a:r>
          </a:p>
        </p:txBody>
      </p:sp>
      <p:sp>
        <p:nvSpPr>
          <p:cNvPr id="21" name="">
            <a:extLst xmlns:a="http://schemas.openxmlformats.org/drawingml/2006/main">
              <a:ext uri="{FF2B5EF4-FFF2-40B4-BE49-F238E27FC236}">
                <a16:creationId xmlns:a16="http://schemas.microsoft.com/office/drawing/2014/main" id="{4A34453B-9EF3-4CE9-9BB2-258B9519B241}"/>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Boring is safe.</a:t>
            </a:r>
          </a:p>
        </p:txBody>
      </p:sp>
      <p:sp>
        <p:nvSpPr>
          <p:cNvPr id="22" name="">
            <a:extLst xmlns:a="http://schemas.openxmlformats.org/drawingml/2006/main">
              <a:ext uri="{FF2B5EF4-FFF2-40B4-BE49-F238E27FC236}">
                <a16:creationId xmlns:a16="http://schemas.microsoft.com/office/drawing/2014/main" id="{E73D7BCA-CA46-458A-A9F7-D2FD97D23F5B}"/>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163031017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562CADB-14E9-4557-ABAE-5C2859E51A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7FCCFB6-0E1B-4990-8E14-6880D3BED5D6}"/>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AF8217B-DA16-420D-B77C-58435923F66D}"/>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9343BD4-76C2-4D80-81D9-762A65CB4AB1}"/>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4176EFE1-E543-460A-AC5C-CB52BE9B6EED}"/>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F6A22A4-E498-46EC-8001-F14675738D94}"/>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058BF85-7096-4723-9257-69CD1010BA5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delegation</a:t>
            </a:r>
          </a:p>
        </p:txBody>
      </p:sp>
      <p:sp>
        <p:nvSpPr>
          <p:cNvPr id="8" name="">
            <a:extLst xmlns:a="http://schemas.openxmlformats.org/drawingml/2006/main">
              <a:ext uri="{FF2B5EF4-FFF2-40B4-BE49-F238E27FC236}">
                <a16:creationId xmlns:a16="http://schemas.microsoft.com/office/drawing/2014/main" id="{A45D8926-AF49-4E33-B930-07902C22AFB4}"/>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10</a:t>
            </a:r>
          </a:p>
        </p:txBody>
      </p:sp>
      <p:sp>
        <p:nvSpPr>
          <p:cNvPr id="9" name="">
            <a:extLst xmlns:a="http://schemas.openxmlformats.org/drawingml/2006/main">
              <a:ext uri="{FF2B5EF4-FFF2-40B4-BE49-F238E27FC236}">
                <a16:creationId xmlns:a16="http://schemas.microsoft.com/office/drawing/2014/main" id="{9F0F5FFD-3496-4ABD-A6F6-BA6A2C4782A7}"/>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1 · Foundations &amp; Vibe Coding</a:t>
            </a:r>
          </a:p>
        </p:txBody>
      </p:sp>
      <p:sp>
        <p:nvSpPr>
          <p:cNvPr id="10" name="">
            <a:extLst xmlns:a="http://schemas.openxmlformats.org/drawingml/2006/main">
              <a:ext uri="{FF2B5EF4-FFF2-40B4-BE49-F238E27FC236}">
                <a16:creationId xmlns:a16="http://schemas.microsoft.com/office/drawing/2014/main" id="{2E2C5CEE-6512-4D49-B9CF-018F624BFC93}"/>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41E6D4DD-F2B5-4CBA-9760-2603C54D4D64}"/>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C629BF13-C1E5-4898-B9FB-13E805D6981B}"/>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The first skill is not</a:t>
            </a:r>
          </a:p>
        </p:txBody>
      </p:sp>
      <p:sp>
        <p:nvSpPr>
          <p:cNvPr id="13" name="">
            <a:extLst xmlns:a="http://schemas.openxmlformats.org/drawingml/2006/main">
              <a:ext uri="{FF2B5EF4-FFF2-40B4-BE49-F238E27FC236}">
                <a16:creationId xmlns:a16="http://schemas.microsoft.com/office/drawing/2014/main" id="{8C94E664-0184-4F7C-8E77-106231516A98}"/>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building a swarm.</a:t>
            </a:r>
          </a:p>
        </p:txBody>
      </p:sp>
      <p:sp>
        <p:nvSpPr>
          <p:cNvPr id="14" name="">
            <a:extLst xmlns:a="http://schemas.openxmlformats.org/drawingml/2006/main">
              <a:ext uri="{FF2B5EF4-FFF2-40B4-BE49-F238E27FC236}">
                <a16:creationId xmlns:a16="http://schemas.microsoft.com/office/drawing/2014/main" id="{53BF86D7-567C-4B03-ADEE-A5C03DD798A0}"/>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It is managing delegation.</a:t>
            </a:r>
          </a:p>
        </p:txBody>
      </p:sp>
    </p:spTree>
    <p:extLst>
      <p:ext uri="{BB962C8B-B14F-4D97-AF65-F5344CB8AC3E}">
        <p14:creationId xmlns:p14="http://schemas.microsoft.com/office/powerpoint/2010/main" val="37043211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BDB6ECC-11BE-43BB-BE08-21538E3C18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88A1BE2A-503E-419D-920E-6F4D7A68471C}"/>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80F1DB71-D90C-41FA-99FB-15AB2278ACF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3DCFDAD5-A344-49B1-8483-32579AA9AD4F}"/>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D8E01800-E2F7-469B-87B5-0DEB71B3E740}"/>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0B335CDC-9C6D-4AE4-ABAC-88EDDEAC52F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6E1C72A-642C-45AF-9298-81BF01EE842D}"/>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TeamLog + ToM</a:t>
            </a:r>
          </a:p>
        </p:txBody>
      </p:sp>
      <p:sp>
        <p:nvSpPr>
          <p:cNvPr id="8" name="">
            <a:extLst xmlns:a="http://schemas.openxmlformats.org/drawingml/2006/main">
              <a:ext uri="{FF2B5EF4-FFF2-40B4-BE49-F238E27FC236}">
                <a16:creationId xmlns:a16="http://schemas.microsoft.com/office/drawing/2014/main" id="{073A6F74-49A8-45E9-A91B-5B9E61644C6A}"/>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11</a:t>
            </a:r>
          </a:p>
        </p:txBody>
      </p:sp>
      <p:sp>
        <p:nvSpPr>
          <p:cNvPr id="9" name="">
            <a:extLst xmlns:a="http://schemas.openxmlformats.org/drawingml/2006/main">
              <a:ext uri="{FF2B5EF4-FFF2-40B4-BE49-F238E27FC236}">
                <a16:creationId xmlns:a16="http://schemas.microsoft.com/office/drawing/2014/main" id="{09B85BFE-90FA-47DC-A238-2472C94CE6E2}"/>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02</a:t>
            </a:r>
          </a:p>
        </p:txBody>
      </p:sp>
      <p:sp>
        <p:nvSpPr>
          <p:cNvPr id="10" name="">
            <a:extLst xmlns:a="http://schemas.openxmlformats.org/drawingml/2006/main">
              <a:ext uri="{FF2B5EF4-FFF2-40B4-BE49-F238E27FC236}">
                <a16:creationId xmlns:a16="http://schemas.microsoft.com/office/drawing/2014/main" id="{5F8469F3-6A4E-49AE-B484-AAD5A3862A2E}"/>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TeamLog &amp;</a:t>
            </a:r>
          </a:p>
          <a:p xmlns:a="http://schemas.openxmlformats.org/drawingml/2006/main">
            <a:pPr>
              <a:buNone/>
              <a:defRPr sz="3600">
                <a:solidFill>
                  <a:srgbClr val="FFFFFF"/>
                </a:solidFill>
              </a:defRPr>
            </a:pPr>
            <a:r>
              <a:rPr sz="3600">
                <a:solidFill>
                  <a:srgbClr val="FFFFFF"/>
                </a:solidFill>
              </a:rPr>
              <a:t>Theory of Mind</a:t>
            </a:r>
          </a:p>
        </p:txBody>
      </p:sp>
      <p:sp>
        <p:nvSpPr>
          <p:cNvPr id="11" name="">
            <a:extLst xmlns:a="http://schemas.openxmlformats.org/drawingml/2006/main">
              <a:ext uri="{FF2B5EF4-FFF2-40B4-BE49-F238E27FC236}">
                <a16:creationId xmlns:a16="http://schemas.microsoft.com/office/drawing/2014/main" id="{AAAC3616-9726-463A-9240-0085C66C4914}"/>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Alignment as shared commitments and retrievable state</a:t>
            </a:r>
          </a:p>
        </p:txBody>
      </p:sp>
      <p:sp>
        <p:nvSpPr>
          <p:cNvPr id="12" name="">
            <a:extLst xmlns:a="http://schemas.openxmlformats.org/drawingml/2006/main">
              <a:ext uri="{FF2B5EF4-FFF2-40B4-BE49-F238E27FC236}">
                <a16:creationId xmlns:a16="http://schemas.microsoft.com/office/drawing/2014/main" id="{EFF9076A-8E78-4FD0-A5E9-3FAE0A85C737}"/>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DBE49762-BBCE-433D-9401-E0B4C8A334D6}"/>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Foundations  →  Memory &amp; Mind  →  RAG &amp; MCP  →  Type Safety  →  Routing &amp; Repair  →  Zero Trust</a:t>
            </a:r>
          </a:p>
        </p:txBody>
      </p:sp>
    </p:spTree>
    <p:extLst>
      <p:ext uri="{BB962C8B-B14F-4D97-AF65-F5344CB8AC3E}">
        <p14:creationId xmlns:p14="http://schemas.microsoft.com/office/powerpoint/2010/main" val="108189399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54923C8-1E47-4826-B764-7DF00ABDB4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75350067-B680-4F7D-BF4C-74E2CF07EEE9}"/>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EEE44CDA-A547-4B73-B84D-5F1D6DF116AC}"/>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2330DA7-69AA-4D9A-AACE-B15F0D820B04}"/>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EFE30668-B6E6-43FA-B9F7-F777A1FE561A}"/>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DD64E297-E672-47CC-A4CE-D25303403F8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D26CCA33-5921-4929-9177-2C4ACCA395B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TeamLog + ToM</a:t>
            </a:r>
          </a:p>
        </p:txBody>
      </p:sp>
      <p:sp>
        <p:nvSpPr>
          <p:cNvPr id="8" name="">
            <a:extLst xmlns:a="http://schemas.openxmlformats.org/drawingml/2006/main">
              <a:ext uri="{FF2B5EF4-FFF2-40B4-BE49-F238E27FC236}">
                <a16:creationId xmlns:a16="http://schemas.microsoft.com/office/drawing/2014/main" id="{5C8C4E34-1B41-4072-8097-4B01044C2D2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12</a:t>
            </a:r>
          </a:p>
        </p:txBody>
      </p:sp>
      <p:sp>
        <p:nvSpPr>
          <p:cNvPr id="9" name="">
            <a:extLst xmlns:a="http://schemas.openxmlformats.org/drawingml/2006/main">
              <a:ext uri="{FF2B5EF4-FFF2-40B4-BE49-F238E27FC236}">
                <a16:creationId xmlns:a16="http://schemas.microsoft.com/office/drawing/2014/main" id="{4912BC8D-2A27-421D-AED7-F5F20997170D}"/>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2 · TeamLog &amp; Theory of Mind</a:t>
            </a:r>
          </a:p>
        </p:txBody>
      </p:sp>
      <p:sp>
        <p:nvSpPr>
          <p:cNvPr id="10" name="">
            <a:extLst xmlns:a="http://schemas.openxmlformats.org/drawingml/2006/main">
              <a:ext uri="{FF2B5EF4-FFF2-40B4-BE49-F238E27FC236}">
                <a16:creationId xmlns:a16="http://schemas.microsoft.com/office/drawing/2014/main" id="{A6AA6F8B-94CD-457A-ADE9-D37B9E020F24}"/>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Why Agent Teams Misalign</a:t>
            </a:r>
          </a:p>
        </p:txBody>
      </p:sp>
      <p:sp>
        <p:nvSpPr>
          <p:cNvPr id="11" name="">
            <a:extLst xmlns:a="http://schemas.openxmlformats.org/drawingml/2006/main">
              <a:ext uri="{FF2B5EF4-FFF2-40B4-BE49-F238E27FC236}">
                <a16:creationId xmlns:a16="http://schemas.microsoft.com/office/drawing/2014/main" id="{645CC9CD-02CC-4142-B953-7BF1AC08B135}"/>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10733EAD-CE78-4BED-A533-D3E416DCD3C9}"/>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Hidden constraints disappear between turns.</a:t>
            </a:r>
          </a:p>
        </p:txBody>
      </p:sp>
      <p:sp>
        <p:nvSpPr>
          <p:cNvPr id="13" name="">
            <a:extLst xmlns:a="http://schemas.openxmlformats.org/drawingml/2006/main">
              <a:ext uri="{FF2B5EF4-FFF2-40B4-BE49-F238E27FC236}">
                <a16:creationId xmlns:a16="http://schemas.microsoft.com/office/drawing/2014/main" id="{CD0FF6D7-1370-4A24-A0E5-202E5FAEEFDC}"/>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710DB5A2-60E7-40BB-B34D-B6A9E02B93CE}"/>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 local agent satisfies its task while violating the global mission.</a:t>
            </a:r>
          </a:p>
        </p:txBody>
      </p:sp>
      <p:sp>
        <p:nvSpPr>
          <p:cNvPr id="15" name="">
            <a:extLst xmlns:a="http://schemas.openxmlformats.org/drawingml/2006/main">
              <a:ext uri="{FF2B5EF4-FFF2-40B4-BE49-F238E27FC236}">
                <a16:creationId xmlns:a16="http://schemas.microsoft.com/office/drawing/2014/main" id="{333B1BE8-EBEC-4E6A-A563-3EF38B931608}"/>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3989CB8F-96EA-4EDA-892A-ACE132CDD142}"/>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Long workflows erase context: the coder forgets the PM's constraint.</a:t>
            </a:r>
          </a:p>
        </p:txBody>
      </p:sp>
      <p:sp>
        <p:nvSpPr>
          <p:cNvPr id="17" name="">
            <a:extLst xmlns:a="http://schemas.openxmlformats.org/drawingml/2006/main">
              <a:ext uri="{FF2B5EF4-FFF2-40B4-BE49-F238E27FC236}">
                <a16:creationId xmlns:a16="http://schemas.microsoft.com/office/drawing/2014/main" id="{4F7166F6-14EC-480F-8DBE-85CA54776AA1}"/>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34AF888A-AD1D-4F8B-AA52-0E051A05143E}"/>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Memory is governed data, not a prompt dump.</a:t>
            </a:r>
          </a:p>
        </p:txBody>
      </p:sp>
      <p:sp>
        <p:nvSpPr>
          <p:cNvPr id="19" name="">
            <a:extLst xmlns:a="http://schemas.openxmlformats.org/drawingml/2006/main">
              <a:ext uri="{FF2B5EF4-FFF2-40B4-BE49-F238E27FC236}">
                <a16:creationId xmlns:a16="http://schemas.microsoft.com/office/drawing/2014/main" id="{15035253-993C-40EA-BC5B-F27F1A81BF70}"/>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Alignment is a data architecture problem.</a:t>
            </a:r>
          </a:p>
        </p:txBody>
      </p:sp>
      <p:sp>
        <p:nvSpPr>
          <p:cNvPr id="20" name="">
            <a:extLst xmlns:a="http://schemas.openxmlformats.org/drawingml/2006/main">
              <a:ext uri="{FF2B5EF4-FFF2-40B4-BE49-F238E27FC236}">
                <a16:creationId xmlns:a16="http://schemas.microsoft.com/office/drawing/2014/main" id="{B5382FCE-3744-4D41-836E-E969237BF8AF}"/>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60535139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7903ADB-50E1-4094-A723-D1076DEC3A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A9B0AC7B-B1E2-44FF-A3B8-76A551B8DCD5}"/>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F06B8857-C412-460E-A32E-A50FE8B3033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E148F97-DC07-4D1F-A91E-BF3CB0EB89A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48795364-ED49-4336-B978-D4C1E613485B}"/>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7AF86FC6-2D16-4515-A952-CEE79F0929EA}"/>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FC3A46D6-8FCE-42DC-BFD9-5F5F874C3F28}"/>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TeamLog + ToM</a:t>
            </a:r>
          </a:p>
        </p:txBody>
      </p:sp>
      <p:sp>
        <p:nvSpPr>
          <p:cNvPr id="8" name="">
            <a:extLst xmlns:a="http://schemas.openxmlformats.org/drawingml/2006/main">
              <a:ext uri="{FF2B5EF4-FFF2-40B4-BE49-F238E27FC236}">
                <a16:creationId xmlns:a16="http://schemas.microsoft.com/office/drawing/2014/main" id="{1A1A2701-1E9C-4F24-A159-C25AD0DE5246}"/>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13</a:t>
            </a:r>
          </a:p>
        </p:txBody>
      </p:sp>
      <p:sp>
        <p:nvSpPr>
          <p:cNvPr id="9" name="">
            <a:extLst xmlns:a="http://schemas.openxmlformats.org/drawingml/2006/main">
              <a:ext uri="{FF2B5EF4-FFF2-40B4-BE49-F238E27FC236}">
                <a16:creationId xmlns:a16="http://schemas.microsoft.com/office/drawing/2014/main" id="{08314FC8-ECBC-4258-BC07-A7C1BAC405C9}"/>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2 · TeamLog &amp; Theory of Mind</a:t>
            </a:r>
          </a:p>
        </p:txBody>
      </p:sp>
      <p:sp>
        <p:nvSpPr>
          <p:cNvPr id="10" name="">
            <a:extLst xmlns:a="http://schemas.openxmlformats.org/drawingml/2006/main">
              <a:ext uri="{FF2B5EF4-FFF2-40B4-BE49-F238E27FC236}">
                <a16:creationId xmlns:a16="http://schemas.microsoft.com/office/drawing/2014/main" id="{6EE9A948-295D-43AE-B330-B3794607DFDE}"/>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Two Patterns to Learn</a:t>
            </a:r>
          </a:p>
        </p:txBody>
      </p:sp>
      <p:sp>
        <p:nvSpPr>
          <p:cNvPr id="11" name="">
            <a:extLst xmlns:a="http://schemas.openxmlformats.org/drawingml/2006/main">
              <a:ext uri="{FF2B5EF4-FFF2-40B4-BE49-F238E27FC236}">
                <a16:creationId xmlns:a16="http://schemas.microsoft.com/office/drawing/2014/main" id="{141BD7C5-142A-4632-AD60-64EC1B060C75}"/>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9947208D-09A5-489F-A968-D2D308C054EA}"/>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08EF8CDC-6FBF-420A-AF88-453AF41E2828}"/>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TeamLog</a:t>
            </a:r>
          </a:p>
        </p:txBody>
      </p:sp>
      <p:sp>
        <p:nvSpPr>
          <p:cNvPr id="14" name="">
            <a:extLst xmlns:a="http://schemas.openxmlformats.org/drawingml/2006/main">
              <a:ext uri="{FF2B5EF4-FFF2-40B4-BE49-F238E27FC236}">
                <a16:creationId xmlns:a16="http://schemas.microsoft.com/office/drawing/2014/main" id="{A20C3417-43BE-4292-BA9C-2B01FD6D1DF1}"/>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Theory of Mind</a:t>
            </a:r>
          </a:p>
        </p:txBody>
      </p:sp>
      <p:sp>
        <p:nvSpPr>
          <p:cNvPr id="15" name="">
            <a:extLst xmlns:a="http://schemas.openxmlformats.org/drawingml/2006/main">
              <a:ext uri="{FF2B5EF4-FFF2-40B4-BE49-F238E27FC236}">
                <a16:creationId xmlns:a16="http://schemas.microsoft.com/office/drawing/2014/main" id="{059E0254-93C3-42F4-A5E6-34C0358A6E79}"/>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DE6F0169-BCF5-426B-9204-747EC48E9190}"/>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Who owns the promise?</a:t>
            </a:r>
          </a:p>
        </p:txBody>
      </p:sp>
      <p:sp>
        <p:nvSpPr>
          <p:cNvPr id="17" name="">
            <a:extLst xmlns:a="http://schemas.openxmlformats.org/drawingml/2006/main">
              <a:ext uri="{FF2B5EF4-FFF2-40B4-BE49-F238E27FC236}">
                <a16:creationId xmlns:a16="http://schemas.microsoft.com/office/drawing/2014/main" id="{6DC51DE1-531D-48C9-9067-DCBC7A8D589C}"/>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81C075F9-2150-42E9-A725-4DE6A8958F4F}"/>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Who can see it?</a:t>
            </a:r>
          </a:p>
        </p:txBody>
      </p:sp>
      <p:sp>
        <p:nvSpPr>
          <p:cNvPr id="19" name="">
            <a:extLst xmlns:a="http://schemas.openxmlformats.org/drawingml/2006/main">
              <a:ext uri="{FF2B5EF4-FFF2-40B4-BE49-F238E27FC236}">
                <a16:creationId xmlns:a16="http://schemas.microsoft.com/office/drawing/2014/main" id="{F5C4AF29-97D9-49C2-8511-F6B6D6B92392}"/>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FB2F401A-CCAC-4DE3-9CE2-E267049B8804}"/>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What must be true before done?</a:t>
            </a:r>
          </a:p>
        </p:txBody>
      </p:sp>
      <p:sp>
        <p:nvSpPr>
          <p:cNvPr id="21" name="">
            <a:extLst xmlns:a="http://schemas.openxmlformats.org/drawingml/2006/main">
              <a:ext uri="{FF2B5EF4-FFF2-40B4-BE49-F238E27FC236}">
                <a16:creationId xmlns:a16="http://schemas.microsoft.com/office/drawing/2014/main" id="{19D366B8-5D17-46E4-A5E4-10906BFAED55}"/>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E2903214-C025-4576-B10F-E47E4981F51C}"/>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Commitments override local goals</a:t>
            </a:r>
          </a:p>
        </p:txBody>
      </p:sp>
      <p:sp>
        <p:nvSpPr>
          <p:cNvPr id="23" name="">
            <a:extLst xmlns:a="http://schemas.openxmlformats.org/drawingml/2006/main">
              <a:ext uri="{FF2B5EF4-FFF2-40B4-BE49-F238E27FC236}">
                <a16:creationId xmlns:a16="http://schemas.microsoft.com/office/drawing/2014/main" id="{48DC8878-D2C2-42E0-9C7A-1BCD60D45E75}"/>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D74B85B5-7175-4F73-A54D-549E63A1BBEC}"/>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What does each teammate know?</a:t>
            </a:r>
          </a:p>
        </p:txBody>
      </p:sp>
      <p:sp>
        <p:nvSpPr>
          <p:cNvPr id="25" name="">
            <a:extLst xmlns:a="http://schemas.openxmlformats.org/drawingml/2006/main">
              <a:ext uri="{FF2B5EF4-FFF2-40B4-BE49-F238E27FC236}">
                <a16:creationId xmlns:a16="http://schemas.microsoft.com/office/drawing/2014/main" id="{1CF93AFF-4E67-4C3B-9BE8-41E8C2A66C33}"/>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1B5D1BDE-2722-4CE3-95A8-081E40450220}"/>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What are they missing?</a:t>
            </a:r>
          </a:p>
        </p:txBody>
      </p:sp>
      <p:sp>
        <p:nvSpPr>
          <p:cNvPr id="27" name="">
            <a:extLst xmlns:a="http://schemas.openxmlformats.org/drawingml/2006/main">
              <a:ext uri="{FF2B5EF4-FFF2-40B4-BE49-F238E27FC236}">
                <a16:creationId xmlns:a16="http://schemas.microsoft.com/office/drawing/2014/main" id="{A179D9D9-D0FF-4F4F-87B5-56FDD155AEEA}"/>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23A5A77E-B33A-4927-B70D-79535183CFA2}"/>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What should stay hidden?</a:t>
            </a:r>
          </a:p>
        </p:txBody>
      </p:sp>
      <p:sp>
        <p:nvSpPr>
          <p:cNvPr id="29" name="">
            <a:extLst xmlns:a="http://schemas.openxmlformats.org/drawingml/2006/main">
              <a:ext uri="{FF2B5EF4-FFF2-40B4-BE49-F238E27FC236}">
                <a16:creationId xmlns:a16="http://schemas.microsoft.com/office/drawing/2014/main" id="{0F8045D6-445A-4119-B265-2F46FCAE6228}"/>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CC0B4930-65F8-4704-A909-73525C3E6074}"/>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Memory = role-filtered retrieval</a:t>
            </a:r>
          </a:p>
        </p:txBody>
      </p:sp>
      <p:sp>
        <p:nvSpPr>
          <p:cNvPr id="31" name="">
            <a:extLst xmlns:a="http://schemas.openxmlformats.org/drawingml/2006/main">
              <a:ext uri="{FF2B5EF4-FFF2-40B4-BE49-F238E27FC236}">
                <a16:creationId xmlns:a16="http://schemas.microsoft.com/office/drawing/2014/main" id="{442F9A7C-172F-4300-B682-24189EF1721E}"/>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Shared does not mean open.</a:t>
            </a:r>
          </a:p>
        </p:txBody>
      </p:sp>
    </p:spTree>
    <p:extLst>
      <p:ext uri="{BB962C8B-B14F-4D97-AF65-F5344CB8AC3E}">
        <p14:creationId xmlns:p14="http://schemas.microsoft.com/office/powerpoint/2010/main" val="66342746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209BDE5-BDF9-41F1-B6D8-1261734B3C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E7FD51BD-AC6C-4334-A8A0-98F861186082}"/>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3FF33602-2872-4AFA-B11F-3C56DA7B2478}"/>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444A1A7-D6E8-427B-92B9-0B8B3F69FB54}"/>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D9FC6B9B-6D64-40C7-BC4B-C37DF04F406A}"/>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7E7937F-118C-4256-9525-D45C663D0A56}"/>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576CD11-3D29-40B7-999A-269FBC2B0DAF}"/>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Agentic RAG</a:t>
            </a:r>
          </a:p>
        </p:txBody>
      </p:sp>
      <p:sp>
        <p:nvSpPr>
          <p:cNvPr id="8" name="">
            <a:extLst xmlns:a="http://schemas.openxmlformats.org/drawingml/2006/main">
              <a:ext uri="{FF2B5EF4-FFF2-40B4-BE49-F238E27FC236}">
                <a16:creationId xmlns:a16="http://schemas.microsoft.com/office/drawing/2014/main" id="{80EE8708-19D8-4EBB-BA09-79FA6189B6A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14</a:t>
            </a:r>
          </a:p>
        </p:txBody>
      </p:sp>
      <p:sp>
        <p:nvSpPr>
          <p:cNvPr id="9" name="">
            <a:extLst xmlns:a="http://schemas.openxmlformats.org/drawingml/2006/main">
              <a:ext uri="{FF2B5EF4-FFF2-40B4-BE49-F238E27FC236}">
                <a16:creationId xmlns:a16="http://schemas.microsoft.com/office/drawing/2014/main" id="{499B7478-B722-4DB2-8FB5-296B100A0CD6}"/>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2 · TeamLog &amp; Theory of Mind</a:t>
            </a:r>
          </a:p>
        </p:txBody>
      </p:sp>
      <p:sp>
        <p:nvSpPr>
          <p:cNvPr id="10" name="">
            <a:extLst xmlns:a="http://schemas.openxmlformats.org/drawingml/2006/main">
              <a:ext uri="{FF2B5EF4-FFF2-40B4-BE49-F238E27FC236}">
                <a16:creationId xmlns:a16="http://schemas.microsoft.com/office/drawing/2014/main" id="{8FAD87B0-25D1-4615-BF26-8F54EBC5CCFE}"/>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The Hidden Constraint Pattern</a:t>
            </a:r>
          </a:p>
        </p:txBody>
      </p:sp>
      <p:sp>
        <p:nvSpPr>
          <p:cNvPr id="11" name="">
            <a:extLst xmlns:a="http://schemas.openxmlformats.org/drawingml/2006/main">
              <a:ext uri="{FF2B5EF4-FFF2-40B4-BE49-F238E27FC236}">
                <a16:creationId xmlns:a16="http://schemas.microsoft.com/office/drawing/2014/main" id="{4A463B63-4B42-4B7D-BA84-5DDCD56C526B}"/>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6CAD5E12-546C-4B36-81A1-7AB860C267E9}"/>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PM records: Use PostgreSQL for persistent storage.</a:t>
            </a:r>
          </a:p>
        </p:txBody>
      </p:sp>
      <p:sp>
        <p:nvSpPr>
          <p:cNvPr id="13" name="">
            <a:extLst xmlns:a="http://schemas.openxmlformats.org/drawingml/2006/main">
              <a:ext uri="{FF2B5EF4-FFF2-40B4-BE49-F238E27FC236}">
                <a16:creationId xmlns:a16="http://schemas.microsoft.com/office/drawing/2014/main" id="{9821EEE3-2B05-490B-A87B-B338D820A56D}"/>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3A44CBC7-F8E6-4372-A2B9-B4BB6614F4D7}"/>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Coder prompt omits it under context-window pressure.</a:t>
            </a:r>
          </a:p>
        </p:txBody>
      </p:sp>
      <p:sp>
        <p:nvSpPr>
          <p:cNvPr id="15" name="">
            <a:extLst xmlns:a="http://schemas.openxmlformats.org/drawingml/2006/main">
              <a:ext uri="{FF2B5EF4-FFF2-40B4-BE49-F238E27FC236}">
                <a16:creationId xmlns:a16="http://schemas.microsoft.com/office/drawing/2014/main" id="{23590355-7D75-4019-AE11-4A5FB49BEC64}"/>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8B8DAB6A-E8F2-48DB-831C-B549F50646F7}"/>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Coder queries memory, retrieves the constraint, honors it.</a:t>
            </a:r>
          </a:p>
        </p:txBody>
      </p:sp>
      <p:sp>
        <p:nvSpPr>
          <p:cNvPr id="17" name="">
            <a:extLst xmlns:a="http://schemas.openxmlformats.org/drawingml/2006/main">
              <a:ext uri="{FF2B5EF4-FFF2-40B4-BE49-F238E27FC236}">
                <a16:creationId xmlns:a16="http://schemas.microsoft.com/office/drawing/2014/main" id="{8617F4BB-456F-4251-8C8C-43A912744A2B}"/>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91CE3BFB-D0B8-44A7-970E-48F4DD946C89}"/>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Security password records are not returned to the coder.</a:t>
            </a:r>
          </a:p>
        </p:txBody>
      </p:sp>
      <p:sp>
        <p:nvSpPr>
          <p:cNvPr id="19" name="">
            <a:extLst xmlns:a="http://schemas.openxmlformats.org/drawingml/2006/main">
              <a:ext uri="{FF2B5EF4-FFF2-40B4-BE49-F238E27FC236}">
                <a16:creationId xmlns:a16="http://schemas.microsoft.com/office/drawing/2014/main" id="{5A270BE1-2483-4C47-92BA-867B33F1BB04}"/>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Need-to-know is a data architecture rule.</a:t>
            </a:r>
          </a:p>
        </p:txBody>
      </p:sp>
      <p:sp>
        <p:nvSpPr>
          <p:cNvPr id="20" name="">
            <a:extLst xmlns:a="http://schemas.openxmlformats.org/drawingml/2006/main">
              <a:ext uri="{FF2B5EF4-FFF2-40B4-BE49-F238E27FC236}">
                <a16:creationId xmlns:a16="http://schemas.microsoft.com/office/drawing/2014/main" id="{7733A8C7-4F1E-4A8C-8039-B2E2A76E43D8}"/>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36008938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3D06F09-0439-47E4-91CD-8E8B6F1A97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8D82DAE-0179-49DE-8C9D-86127AEC14B7}"/>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B1A31D7F-85DB-4256-A941-FB3892CCACA4}"/>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012D6B7-705E-4C3D-AD11-DE45F73099CF}"/>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D28971C8-E51C-48DA-B2A2-56DD88B91DA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32827543-11D0-405B-8B14-00C9154F902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B7139860-A04F-44DE-902F-9070E92435D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TeamLog + memory</a:t>
            </a:r>
          </a:p>
        </p:txBody>
      </p:sp>
      <p:sp>
        <p:nvSpPr>
          <p:cNvPr id="8" name="">
            <a:extLst xmlns:a="http://schemas.openxmlformats.org/drawingml/2006/main">
              <a:ext uri="{FF2B5EF4-FFF2-40B4-BE49-F238E27FC236}">
                <a16:creationId xmlns:a16="http://schemas.microsoft.com/office/drawing/2014/main" id="{29FA7EFB-A4DC-42BD-95FF-0577852E6DE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15</a:t>
            </a:r>
          </a:p>
        </p:txBody>
      </p:sp>
      <p:sp>
        <p:nvSpPr>
          <p:cNvPr id="9" name="">
            <a:extLst xmlns:a="http://schemas.openxmlformats.org/drawingml/2006/main">
              <a:ext uri="{FF2B5EF4-FFF2-40B4-BE49-F238E27FC236}">
                <a16:creationId xmlns:a16="http://schemas.microsoft.com/office/drawing/2014/main" id="{233143FF-38CA-4D87-9059-E2F4998A5A73}"/>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2 · TeamLog &amp; Theory of Mind</a:t>
            </a:r>
          </a:p>
        </p:txBody>
      </p:sp>
      <p:sp>
        <p:nvSpPr>
          <p:cNvPr id="10" name="">
            <a:extLst xmlns:a="http://schemas.openxmlformats.org/drawingml/2006/main">
              <a:ext uri="{FF2B5EF4-FFF2-40B4-BE49-F238E27FC236}">
                <a16:creationId xmlns:a16="http://schemas.microsoft.com/office/drawing/2014/main" id="{920B52AA-0AEA-4C75-8853-D2E9BF0A5069}"/>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7C64057C-309D-491A-827A-50D09F1828A6}"/>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42243311-68C7-4D28-8DFB-3671280C33DF}"/>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Alignment is a</a:t>
            </a:r>
          </a:p>
        </p:txBody>
      </p:sp>
      <p:sp>
        <p:nvSpPr>
          <p:cNvPr id="13" name="">
            <a:extLst xmlns:a="http://schemas.openxmlformats.org/drawingml/2006/main">
              <a:ext uri="{FF2B5EF4-FFF2-40B4-BE49-F238E27FC236}">
                <a16:creationId xmlns:a16="http://schemas.microsoft.com/office/drawing/2014/main" id="{2CCAD060-7029-4CB6-B2EE-1BBDAAB0F9A5}"/>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data architecture problem,</a:t>
            </a:r>
          </a:p>
        </p:txBody>
      </p:sp>
      <p:sp>
        <p:nvSpPr>
          <p:cNvPr id="14" name="">
            <a:extLst xmlns:a="http://schemas.openxmlformats.org/drawingml/2006/main">
              <a:ext uri="{FF2B5EF4-FFF2-40B4-BE49-F238E27FC236}">
                <a16:creationId xmlns:a16="http://schemas.microsoft.com/office/drawing/2014/main" id="{4C43B785-C705-4045-A85F-15B61943C73C}"/>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not only prompting.</a:t>
            </a:r>
          </a:p>
        </p:txBody>
      </p:sp>
    </p:spTree>
    <p:extLst>
      <p:ext uri="{BB962C8B-B14F-4D97-AF65-F5344CB8AC3E}">
        <p14:creationId xmlns:p14="http://schemas.microsoft.com/office/powerpoint/2010/main" val="116744702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897AEF2-DCC7-4703-940A-C6F176C5EE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F16A02F-F963-4E74-BC54-B73DAFFB62AD}"/>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7B70B35-59D0-43A8-99F0-4D3E4FE2052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93283147-EF44-4BDB-A79E-68B0020C4ACA}"/>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F1922296-9151-4B3D-B1AA-138C5D3A57B8}"/>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18292FE-08E3-4CDC-8EC9-2DF3E896A513}"/>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4AD1C7BB-327B-435A-8B1D-1172134903AD}"/>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 RAG</a:t>
            </a:r>
          </a:p>
        </p:txBody>
      </p:sp>
      <p:sp>
        <p:nvSpPr>
          <p:cNvPr id="8" name="">
            <a:extLst xmlns:a="http://schemas.openxmlformats.org/drawingml/2006/main">
              <a:ext uri="{FF2B5EF4-FFF2-40B4-BE49-F238E27FC236}">
                <a16:creationId xmlns:a16="http://schemas.microsoft.com/office/drawing/2014/main" id="{59933767-3F35-4769-8D66-D6951A62F5F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16</a:t>
            </a:r>
          </a:p>
        </p:txBody>
      </p:sp>
      <p:sp>
        <p:nvSpPr>
          <p:cNvPr id="9" name="">
            <a:extLst xmlns:a="http://schemas.openxmlformats.org/drawingml/2006/main">
              <a:ext uri="{FF2B5EF4-FFF2-40B4-BE49-F238E27FC236}">
                <a16:creationId xmlns:a16="http://schemas.microsoft.com/office/drawing/2014/main" id="{1A9E4605-21DE-45D9-94F4-14C958B0F246}"/>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03</a:t>
            </a:r>
          </a:p>
        </p:txBody>
      </p:sp>
      <p:sp>
        <p:nvSpPr>
          <p:cNvPr id="10" name="">
            <a:extLst xmlns:a="http://schemas.openxmlformats.org/drawingml/2006/main">
              <a:ext uri="{FF2B5EF4-FFF2-40B4-BE49-F238E27FC236}">
                <a16:creationId xmlns:a16="http://schemas.microsoft.com/office/drawing/2014/main" id="{6786BA43-F050-4908-9865-621F4FB7EFAF}"/>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Agentic RAG</a:t>
            </a:r>
          </a:p>
          <a:p xmlns:a="http://schemas.openxmlformats.org/drawingml/2006/main">
            <a:pPr>
              <a:buNone/>
              <a:defRPr sz="3600">
                <a:solidFill>
                  <a:srgbClr val="FFFFFF"/>
                </a:solidFill>
              </a:defRPr>
            </a:pPr>
            <a:r>
              <a:rPr sz="3600">
                <a:solidFill>
                  <a:srgbClr val="FFFFFF"/>
                </a:solidFill>
              </a:rPr>
              <a:t>&amp; MCP</a:t>
            </a:r>
          </a:p>
        </p:txBody>
      </p:sp>
      <p:sp>
        <p:nvSpPr>
          <p:cNvPr id="11" name="">
            <a:extLst xmlns:a="http://schemas.openxmlformats.org/drawingml/2006/main">
              <a:ext uri="{FF2B5EF4-FFF2-40B4-BE49-F238E27FC236}">
                <a16:creationId xmlns:a16="http://schemas.microsoft.com/office/drawing/2014/main" id="{35C0F7B3-34DA-4DE8-BF6B-A8D29EFCFC16}"/>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The governed nervous system for tools, memory, and access</a:t>
            </a:r>
          </a:p>
        </p:txBody>
      </p:sp>
      <p:sp>
        <p:nvSpPr>
          <p:cNvPr id="12" name="">
            <a:extLst xmlns:a="http://schemas.openxmlformats.org/drawingml/2006/main">
              <a:ext uri="{FF2B5EF4-FFF2-40B4-BE49-F238E27FC236}">
                <a16:creationId xmlns:a16="http://schemas.microsoft.com/office/drawing/2014/main" id="{332799F5-B4BB-4D46-88E3-2B8F37B50FC7}"/>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76E066B9-A3E7-4EC3-AD8E-DB938243FA4B}"/>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assignment_syllabus.md: numbered assignments and Homework A-G.</a:t>
            </a:r>
          </a:p>
        </p:txBody>
      </p:sp>
    </p:spTree>
    <p:extLst>
      <p:ext uri="{BB962C8B-B14F-4D97-AF65-F5344CB8AC3E}">
        <p14:creationId xmlns:p14="http://schemas.microsoft.com/office/powerpoint/2010/main" val="52168515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10A14A4-1F68-40AB-B3C3-8A75A6213B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39A2447E-EFB8-4BD0-BE65-1535AC955845}"/>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2E7B588-9114-4A50-A73A-D17DD7A9BE70}"/>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87E269D9-BBDF-47FE-BA22-431F1EC5C920}"/>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D0D21ADD-9A6C-4E9A-BF64-BD0114C55AAA}"/>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F4EAA7EF-5D40-4F44-8C83-BA32D7134FC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94628277-212F-4967-AE00-E2B2135F1E11}"/>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 Agentic RAG</a:t>
            </a:r>
          </a:p>
        </p:txBody>
      </p:sp>
      <p:sp>
        <p:nvSpPr>
          <p:cNvPr id="8" name="">
            <a:extLst xmlns:a="http://schemas.openxmlformats.org/drawingml/2006/main">
              <a:ext uri="{FF2B5EF4-FFF2-40B4-BE49-F238E27FC236}">
                <a16:creationId xmlns:a16="http://schemas.microsoft.com/office/drawing/2014/main" id="{F86AE94F-9DC9-499E-A4F8-80F7BAEEC3B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17</a:t>
            </a:r>
          </a:p>
        </p:txBody>
      </p:sp>
      <p:sp>
        <p:nvSpPr>
          <p:cNvPr id="9" name="">
            <a:extLst xmlns:a="http://schemas.openxmlformats.org/drawingml/2006/main">
              <a:ext uri="{FF2B5EF4-FFF2-40B4-BE49-F238E27FC236}">
                <a16:creationId xmlns:a16="http://schemas.microsoft.com/office/drawing/2014/main" id="{123EFB90-0F69-4222-A579-2C62316102D6}"/>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3 · Agentic RAG &amp; MCP</a:t>
            </a:r>
          </a:p>
        </p:txBody>
      </p:sp>
      <p:sp>
        <p:nvSpPr>
          <p:cNvPr id="10" name="">
            <a:extLst xmlns:a="http://schemas.openxmlformats.org/drawingml/2006/main">
              <a:ext uri="{FF2B5EF4-FFF2-40B4-BE49-F238E27FC236}">
                <a16:creationId xmlns:a16="http://schemas.microsoft.com/office/drawing/2014/main" id="{55879645-4AB1-4F14-8CF3-EC319AB34809}"/>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The Access Problem</a:t>
            </a:r>
          </a:p>
        </p:txBody>
      </p:sp>
      <p:sp>
        <p:nvSpPr>
          <p:cNvPr id="11" name="">
            <a:extLst xmlns:a="http://schemas.openxmlformats.org/drawingml/2006/main">
              <a:ext uri="{FF2B5EF4-FFF2-40B4-BE49-F238E27FC236}">
                <a16:creationId xmlns:a16="http://schemas.microsoft.com/office/drawing/2014/main" id="{AD22924B-2997-4DFE-9E21-8F6D1FD78FA0}"/>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30737916-2338-475B-B2D1-1C824CB736FB}"/>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Agents need code, tickets, docs, databases, and tests.</a:t>
            </a:r>
          </a:p>
        </p:txBody>
      </p:sp>
      <p:sp>
        <p:nvSpPr>
          <p:cNvPr id="13" name="">
            <a:extLst xmlns:a="http://schemas.openxmlformats.org/drawingml/2006/main">
              <a:ext uri="{FF2B5EF4-FFF2-40B4-BE49-F238E27FC236}">
                <a16:creationId xmlns:a16="http://schemas.microsoft.com/office/drawing/2014/main" id="{0290CC4E-90D5-42E4-A5AC-82A2A7F426E1}"/>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8FE8C4A1-961B-47AF-A002-F064A0636E81}"/>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Direct access creates security and reliability risk.</a:t>
            </a:r>
          </a:p>
        </p:txBody>
      </p:sp>
      <p:sp>
        <p:nvSpPr>
          <p:cNvPr id="15" name="">
            <a:extLst xmlns:a="http://schemas.openxmlformats.org/drawingml/2006/main">
              <a:ext uri="{FF2B5EF4-FFF2-40B4-BE49-F238E27FC236}">
                <a16:creationId xmlns:a16="http://schemas.microsoft.com/office/drawing/2014/main" id="{3B9332D5-3104-4EBC-AECF-910653C12FD5}"/>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B0BA56EA-DAC0-47DE-A287-278D4B15FE4D}"/>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Agentic RAG: agents choose sources, inspect evidence, decide next step.</a:t>
            </a:r>
          </a:p>
        </p:txBody>
      </p:sp>
      <p:sp>
        <p:nvSpPr>
          <p:cNvPr id="17" name="">
            <a:extLst xmlns:a="http://schemas.openxmlformats.org/drawingml/2006/main">
              <a:ext uri="{FF2B5EF4-FFF2-40B4-BE49-F238E27FC236}">
                <a16:creationId xmlns:a16="http://schemas.microsoft.com/office/drawing/2014/main" id="{60B76989-B60B-4852-935F-C9A31216C0A3}"/>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76264BD6-1947-4B32-83E3-3D3B7F520EC6}"/>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MCP: a standard interface between agents and external tools.</a:t>
            </a:r>
          </a:p>
        </p:txBody>
      </p:sp>
      <p:sp>
        <p:nvSpPr>
          <p:cNvPr id="19" name="">
            <a:extLst xmlns:a="http://schemas.openxmlformats.org/drawingml/2006/main">
              <a:ext uri="{FF2B5EF4-FFF2-40B4-BE49-F238E27FC236}">
                <a16:creationId xmlns:a16="http://schemas.microsoft.com/office/drawing/2014/main" id="{A04EAC2C-7AF3-4381-949C-E9F88EDF23ED}"/>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RAG gives context. MCP gives action. Policy decides.</a:t>
            </a:r>
          </a:p>
        </p:txBody>
      </p:sp>
      <p:sp>
        <p:nvSpPr>
          <p:cNvPr id="20" name="">
            <a:extLst xmlns:a="http://schemas.openxmlformats.org/drawingml/2006/main">
              <a:ext uri="{FF2B5EF4-FFF2-40B4-BE49-F238E27FC236}">
                <a16:creationId xmlns:a16="http://schemas.microsoft.com/office/drawing/2014/main" id="{A18B519C-F52A-4D69-8C55-3A1B52787031}"/>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211293923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702C50A-090F-443B-856F-430A9035E22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3029038-4B10-44EE-B950-6ABB42D3AC16}"/>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EB86177-E7A8-460A-BB04-2BF43237FF33}"/>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6FF057B7-0678-4745-BB73-4DFF7DBD6775}"/>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254D5F30-BEE7-4919-80CA-560A2B9F062D}"/>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E8A342D6-3E59-4C85-ACC0-794759F2C66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62842FB-5307-42C2-8213-EBDA17EB95F2}"/>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protocol</a:t>
            </a:r>
          </a:p>
        </p:txBody>
      </p:sp>
      <p:sp>
        <p:nvSpPr>
          <p:cNvPr id="8" name="">
            <a:extLst xmlns:a="http://schemas.openxmlformats.org/drawingml/2006/main">
              <a:ext uri="{FF2B5EF4-FFF2-40B4-BE49-F238E27FC236}">
                <a16:creationId xmlns:a16="http://schemas.microsoft.com/office/drawing/2014/main" id="{29F8C665-AFCC-420C-A54C-28C75793C880}"/>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18</a:t>
            </a:r>
          </a:p>
        </p:txBody>
      </p:sp>
      <p:sp>
        <p:nvSpPr>
          <p:cNvPr id="9" name="">
            <a:extLst xmlns:a="http://schemas.openxmlformats.org/drawingml/2006/main">
              <a:ext uri="{FF2B5EF4-FFF2-40B4-BE49-F238E27FC236}">
                <a16:creationId xmlns:a16="http://schemas.microsoft.com/office/drawing/2014/main" id="{DB023AB0-FC5D-4FB7-9C41-045942294278}"/>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3 · Agentic RAG &amp; MCP</a:t>
            </a:r>
          </a:p>
        </p:txBody>
      </p:sp>
      <p:sp>
        <p:nvSpPr>
          <p:cNvPr id="10" name="">
            <a:extLst xmlns:a="http://schemas.openxmlformats.org/drawingml/2006/main">
              <a:ext uri="{FF2B5EF4-FFF2-40B4-BE49-F238E27FC236}">
                <a16:creationId xmlns:a16="http://schemas.microsoft.com/office/drawing/2014/main" id="{45D525E4-66BA-48BA-9BC2-95EFB8162FEB}"/>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RAG vs MCP — What Each Does</a:t>
            </a:r>
          </a:p>
        </p:txBody>
      </p:sp>
      <p:sp>
        <p:nvSpPr>
          <p:cNvPr id="11" name="">
            <a:extLst xmlns:a="http://schemas.openxmlformats.org/drawingml/2006/main">
              <a:ext uri="{FF2B5EF4-FFF2-40B4-BE49-F238E27FC236}">
                <a16:creationId xmlns:a16="http://schemas.microsoft.com/office/drawing/2014/main" id="{1E06C389-FFE8-445C-9B54-F71A679A62DA}"/>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EEB50E37-6818-4E52-A204-5DA35AF2B8AC}"/>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504426B1-F28D-4E2F-AEDD-0BC678453276}"/>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Agentic RAG</a:t>
            </a:r>
          </a:p>
        </p:txBody>
      </p:sp>
      <p:sp>
        <p:nvSpPr>
          <p:cNvPr id="14" name="">
            <a:extLst xmlns:a="http://schemas.openxmlformats.org/drawingml/2006/main">
              <a:ext uri="{FF2B5EF4-FFF2-40B4-BE49-F238E27FC236}">
                <a16:creationId xmlns:a16="http://schemas.microsoft.com/office/drawing/2014/main" id="{3EFB563B-DB93-4A4B-93EE-16F90B2AB2A7}"/>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MCP Gateway</a:t>
            </a:r>
          </a:p>
        </p:txBody>
      </p:sp>
      <p:sp>
        <p:nvSpPr>
          <p:cNvPr id="15" name="">
            <a:extLst xmlns:a="http://schemas.openxmlformats.org/drawingml/2006/main">
              <a:ext uri="{FF2B5EF4-FFF2-40B4-BE49-F238E27FC236}">
                <a16:creationId xmlns:a16="http://schemas.microsoft.com/office/drawing/2014/main" id="{2D55BBB9-972D-481D-92A9-0D9F1099382E}"/>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2E99A6D0-BCDE-40B6-8475-B591AEBD765E}"/>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Retrieve from shared memory</a:t>
            </a:r>
          </a:p>
        </p:txBody>
      </p:sp>
      <p:sp>
        <p:nvSpPr>
          <p:cNvPr id="17" name="">
            <a:extLst xmlns:a="http://schemas.openxmlformats.org/drawingml/2006/main">
              <a:ext uri="{FF2B5EF4-FFF2-40B4-BE49-F238E27FC236}">
                <a16:creationId xmlns:a16="http://schemas.microsoft.com/office/drawing/2014/main" id="{CEA44D84-DFB5-4CFC-A44F-708C58F36496}"/>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789611D7-25A5-49A6-9C49-C9DBEF583402}"/>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Filter by role and sensitivity</a:t>
            </a:r>
          </a:p>
        </p:txBody>
      </p:sp>
      <p:sp>
        <p:nvSpPr>
          <p:cNvPr id="19" name="">
            <a:extLst xmlns:a="http://schemas.openxmlformats.org/drawingml/2006/main">
              <a:ext uri="{FF2B5EF4-FFF2-40B4-BE49-F238E27FC236}">
                <a16:creationId xmlns:a16="http://schemas.microsoft.com/office/drawing/2014/main" id="{A977E76C-413D-4C8E-BD66-F15E9BD14084}"/>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972F9F06-54D8-4F33-9045-DCB522140FFC}"/>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Inspect evidence</a:t>
            </a:r>
          </a:p>
        </p:txBody>
      </p:sp>
      <p:sp>
        <p:nvSpPr>
          <p:cNvPr id="21" name="">
            <a:extLst xmlns:a="http://schemas.openxmlformats.org/drawingml/2006/main">
              <a:ext uri="{FF2B5EF4-FFF2-40B4-BE49-F238E27FC236}">
                <a16:creationId xmlns:a16="http://schemas.microsoft.com/office/drawing/2014/main" id="{7AAA9241-FD59-4225-A077-E993CF150A25}"/>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A88574D1-F60D-43A6-877F-5F1C6CE49B51}"/>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Govern context as input</a:t>
            </a:r>
          </a:p>
        </p:txBody>
      </p:sp>
      <p:sp>
        <p:nvSpPr>
          <p:cNvPr id="23" name="">
            <a:extLst xmlns:a="http://schemas.openxmlformats.org/drawingml/2006/main">
              <a:ext uri="{FF2B5EF4-FFF2-40B4-BE49-F238E27FC236}">
                <a16:creationId xmlns:a16="http://schemas.microsoft.com/office/drawing/2014/main" id="{20E639DB-333F-4A34-B041-2EF7EB46468B}"/>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599DC679-721B-40E4-A5C5-EAE80AC07160}"/>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Standard tool discovery</a:t>
            </a:r>
          </a:p>
        </p:txBody>
      </p:sp>
      <p:sp>
        <p:nvSpPr>
          <p:cNvPr id="25" name="">
            <a:extLst xmlns:a="http://schemas.openxmlformats.org/drawingml/2006/main">
              <a:ext uri="{FF2B5EF4-FFF2-40B4-BE49-F238E27FC236}">
                <a16:creationId xmlns:a16="http://schemas.microsoft.com/office/drawing/2014/main" id="{C5CD2234-3E6A-40CA-B78B-85CABCB9A460}"/>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C728B5BB-A885-49C1-B419-3CCB6EDA910B}"/>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Identity + tool + args + sensitivity</a:t>
            </a:r>
          </a:p>
        </p:txBody>
      </p:sp>
      <p:sp>
        <p:nvSpPr>
          <p:cNvPr id="27" name="">
            <a:extLst xmlns:a="http://schemas.openxmlformats.org/drawingml/2006/main">
              <a:ext uri="{FF2B5EF4-FFF2-40B4-BE49-F238E27FC236}">
                <a16:creationId xmlns:a16="http://schemas.microsoft.com/office/drawing/2014/main" id="{DC5953E8-73EC-4A32-AA78-E4430177162F}"/>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2328C5FE-3BA2-4CFB-8614-8E93DB31ABC2}"/>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Policy decides</a:t>
            </a:r>
          </a:p>
        </p:txBody>
      </p:sp>
      <p:sp>
        <p:nvSpPr>
          <p:cNvPr id="29" name="">
            <a:extLst xmlns:a="http://schemas.openxmlformats.org/drawingml/2006/main">
              <a:ext uri="{FF2B5EF4-FFF2-40B4-BE49-F238E27FC236}">
                <a16:creationId xmlns:a16="http://schemas.microsoft.com/office/drawing/2014/main" id="{B58D09A2-C3D5-4922-8FF4-547CB136FB26}"/>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4F99EE5D-9D30-4076-91FA-FE4DEF285818}"/>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Audit every invocation</a:t>
            </a:r>
          </a:p>
        </p:txBody>
      </p:sp>
      <p:sp>
        <p:nvSpPr>
          <p:cNvPr id="31" name="">
            <a:extLst xmlns:a="http://schemas.openxmlformats.org/drawingml/2006/main">
              <a:ext uri="{FF2B5EF4-FFF2-40B4-BE49-F238E27FC236}">
                <a16:creationId xmlns:a16="http://schemas.microsoft.com/office/drawing/2014/main" id="{B13FC5D2-1AB0-4E4F-A8DD-58CDCD341EDE}"/>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The nervous system must be standardized before it is powerful.</a:t>
            </a:r>
          </a:p>
        </p:txBody>
      </p:sp>
    </p:spTree>
    <p:extLst>
      <p:ext uri="{BB962C8B-B14F-4D97-AF65-F5344CB8AC3E}">
        <p14:creationId xmlns:p14="http://schemas.microsoft.com/office/powerpoint/2010/main" val="21891166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A39CABB-A942-42C0-8F35-B69BDDBD02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E5E8D83-EAA6-4455-91C1-0A074B0368E4}"/>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D619AC2B-AEA1-4A83-9E7A-4D35C970CEC6}"/>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22EED25-CA36-434B-A8E9-F0B7AEC708D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FBC322AA-25E6-4BA5-9EF6-D13F31604376}"/>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A9CFA0A1-B58F-4926-8135-02FDBEF22B31}"/>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4EE5357D-B354-452C-9D99-857D186212B5}"/>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security</a:t>
            </a:r>
          </a:p>
        </p:txBody>
      </p:sp>
      <p:sp>
        <p:nvSpPr>
          <p:cNvPr id="8" name="">
            <a:extLst xmlns:a="http://schemas.openxmlformats.org/drawingml/2006/main">
              <a:ext uri="{FF2B5EF4-FFF2-40B4-BE49-F238E27FC236}">
                <a16:creationId xmlns:a16="http://schemas.microsoft.com/office/drawing/2014/main" id="{25E6D284-217A-4221-B2F7-0B2683FB1CD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19</a:t>
            </a:r>
          </a:p>
        </p:txBody>
      </p:sp>
      <p:sp>
        <p:nvSpPr>
          <p:cNvPr id="9" name="">
            <a:extLst xmlns:a="http://schemas.openxmlformats.org/drawingml/2006/main">
              <a:ext uri="{FF2B5EF4-FFF2-40B4-BE49-F238E27FC236}">
                <a16:creationId xmlns:a16="http://schemas.microsoft.com/office/drawing/2014/main" id="{89ACE716-9B5D-4155-9574-F374E6AFC91C}"/>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3 · Agentic RAG &amp; MCP</a:t>
            </a:r>
          </a:p>
        </p:txBody>
      </p:sp>
      <p:sp>
        <p:nvSpPr>
          <p:cNvPr id="10" name="">
            <a:extLst xmlns:a="http://schemas.openxmlformats.org/drawingml/2006/main">
              <a:ext uri="{FF2B5EF4-FFF2-40B4-BE49-F238E27FC236}">
                <a16:creationId xmlns:a16="http://schemas.microsoft.com/office/drawing/2014/main" id="{48D07297-4534-487E-99E7-FE061E7C75A1}"/>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Zero-Trust Tool Boundary</a:t>
            </a:r>
          </a:p>
        </p:txBody>
      </p:sp>
      <p:sp>
        <p:nvSpPr>
          <p:cNvPr id="11" name="">
            <a:extLst xmlns:a="http://schemas.openxmlformats.org/drawingml/2006/main">
              <a:ext uri="{FF2B5EF4-FFF2-40B4-BE49-F238E27FC236}">
                <a16:creationId xmlns:a16="http://schemas.microsoft.com/office/drawing/2014/main" id="{2B6B421D-BDCA-4F88-A43F-709B2ACA4CE1}"/>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FC348B22-1CE6-4D76-91AC-EC46DC9395F4}"/>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Do not ask: does the model want this tool?</a:t>
            </a:r>
          </a:p>
        </p:txBody>
      </p:sp>
      <p:sp>
        <p:nvSpPr>
          <p:cNvPr id="13" name="">
            <a:extLst xmlns:a="http://schemas.openxmlformats.org/drawingml/2006/main">
              <a:ext uri="{FF2B5EF4-FFF2-40B4-BE49-F238E27FC236}">
                <a16:creationId xmlns:a16="http://schemas.microsoft.com/office/drawing/2014/main" id="{C486AE07-37BA-4B8E-AE9D-E11B6CA69DCD}"/>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AD56FD42-E57C-4870-AF2B-204594696D0E}"/>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Ask: does policy allow this identity to use this tool for this data?</a:t>
            </a:r>
          </a:p>
        </p:txBody>
      </p:sp>
      <p:sp>
        <p:nvSpPr>
          <p:cNvPr id="15" name="">
            <a:extLst xmlns:a="http://schemas.openxmlformats.org/drawingml/2006/main">
              <a:ext uri="{FF2B5EF4-FFF2-40B4-BE49-F238E27FC236}">
                <a16:creationId xmlns:a16="http://schemas.microsoft.com/office/drawing/2014/main" id="{576E5ABC-72A4-4F68-A619-98C248541711}"/>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EFE4F111-1C40-4039-AF75-0469F68D0279}"/>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Flow: Agent → ToolRequest → Policy Gate → MCP Server → ToolResult.</a:t>
            </a:r>
          </a:p>
        </p:txBody>
      </p:sp>
      <p:sp>
        <p:nvSpPr>
          <p:cNvPr id="17" name="">
            <a:extLst xmlns:a="http://schemas.openxmlformats.org/drawingml/2006/main">
              <a:ext uri="{FF2B5EF4-FFF2-40B4-BE49-F238E27FC236}">
                <a16:creationId xmlns:a16="http://schemas.microsoft.com/office/drawing/2014/main" id="{28F467B1-E810-4DEE-B784-249E0F152B63}"/>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CCCA52CC-72DF-4012-A132-3FA591B4EAE7}"/>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Threats: prompt injection, tool overreach, context leakage, stale permissions.</a:t>
            </a:r>
          </a:p>
        </p:txBody>
      </p:sp>
      <p:sp>
        <p:nvSpPr>
          <p:cNvPr id="19" name="">
            <a:extLst xmlns:a="http://schemas.openxmlformats.org/drawingml/2006/main">
              <a:ext uri="{FF2B5EF4-FFF2-40B4-BE49-F238E27FC236}">
                <a16:creationId xmlns:a16="http://schemas.microsoft.com/office/drawing/2014/main" id="{9CCF5669-0D12-4DC7-9010-CF6F3484A3F4}"/>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The tool gateway is the bouncer.</a:t>
            </a:r>
          </a:p>
        </p:txBody>
      </p:sp>
      <p:sp>
        <p:nvSpPr>
          <p:cNvPr id="20" name="">
            <a:extLst xmlns:a="http://schemas.openxmlformats.org/drawingml/2006/main">
              <a:ext uri="{FF2B5EF4-FFF2-40B4-BE49-F238E27FC236}">
                <a16:creationId xmlns:a16="http://schemas.microsoft.com/office/drawing/2014/main" id="{C6B85E72-E09C-49B5-B25B-A4012F3DD9FA}"/>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988131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ACE18CF-8221-4115-A865-1BB01690A1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20F78BC-570A-4D65-8D0F-C5F7B4EE69A3}"/>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FDCFAD0A-50D8-403A-9082-6926F7DBD0C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02E0ADE-5B95-4A61-A537-FF5BAA5EAD81}"/>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2037E989-AC28-4DA4-B6C3-FD8483AE1F96}"/>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173E833-B080-48F1-8F19-9A69825D5C4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65674373-1EE6-454D-987B-15406A3B29B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governance</a:t>
            </a:r>
          </a:p>
        </p:txBody>
      </p:sp>
      <p:sp>
        <p:nvSpPr>
          <p:cNvPr id="8" name="">
            <a:extLst xmlns:a="http://schemas.openxmlformats.org/drawingml/2006/main">
              <a:ext uri="{FF2B5EF4-FFF2-40B4-BE49-F238E27FC236}">
                <a16:creationId xmlns:a16="http://schemas.microsoft.com/office/drawing/2014/main" id="{71515212-2386-4118-8D81-6B0E13F1D33E}"/>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20</a:t>
            </a:r>
          </a:p>
        </p:txBody>
      </p:sp>
      <p:sp>
        <p:nvSpPr>
          <p:cNvPr id="9" name="">
            <a:extLst xmlns:a="http://schemas.openxmlformats.org/drawingml/2006/main">
              <a:ext uri="{FF2B5EF4-FFF2-40B4-BE49-F238E27FC236}">
                <a16:creationId xmlns:a16="http://schemas.microsoft.com/office/drawing/2014/main" id="{C95CA44F-9F83-4744-951C-C422D3931087}"/>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3 · Agentic RAG &amp; MCP</a:t>
            </a:r>
          </a:p>
        </p:txBody>
      </p:sp>
      <p:sp>
        <p:nvSpPr>
          <p:cNvPr id="10" name="">
            <a:extLst xmlns:a="http://schemas.openxmlformats.org/drawingml/2006/main">
              <a:ext uri="{FF2B5EF4-FFF2-40B4-BE49-F238E27FC236}">
                <a16:creationId xmlns:a16="http://schemas.microsoft.com/office/drawing/2014/main" id="{4A5EECEA-F035-4A84-A0D9-62A7B2A484C0}"/>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625109E7-32B4-4C73-92E1-38D5AEDF01A3}"/>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A60D908B-E779-4357-86AA-AFD2230048ED}"/>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The nervous system must be</a:t>
            </a:r>
          </a:p>
        </p:txBody>
      </p:sp>
      <p:sp>
        <p:nvSpPr>
          <p:cNvPr id="13" name="">
            <a:extLst xmlns:a="http://schemas.openxmlformats.org/drawingml/2006/main">
              <a:ext uri="{FF2B5EF4-FFF2-40B4-BE49-F238E27FC236}">
                <a16:creationId xmlns:a16="http://schemas.microsoft.com/office/drawing/2014/main" id="{D20D2C13-97C4-4EA6-B38F-B443187D8360}"/>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standardized and governed</a:t>
            </a:r>
          </a:p>
        </p:txBody>
      </p:sp>
      <p:sp>
        <p:nvSpPr>
          <p:cNvPr id="14" name="">
            <a:extLst xmlns:a="http://schemas.openxmlformats.org/drawingml/2006/main">
              <a:ext uri="{FF2B5EF4-FFF2-40B4-BE49-F238E27FC236}">
                <a16:creationId xmlns:a16="http://schemas.microsoft.com/office/drawing/2014/main" id="{CF701A02-9FB2-4CF8-9E80-A1402B113DD9}"/>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before it is powerful.</a:t>
            </a:r>
          </a:p>
        </p:txBody>
      </p:sp>
    </p:spTree>
    <p:extLst>
      <p:ext uri="{BB962C8B-B14F-4D97-AF65-F5344CB8AC3E}">
        <p14:creationId xmlns:p14="http://schemas.microsoft.com/office/powerpoint/2010/main" val="191895219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70D8293-2FD1-4ADB-98AE-4A7393B700F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36AE987-652D-4E33-AA85-F9F591E9527A}"/>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6E24309F-9476-4F3A-820B-F765FFF552D4}"/>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C295CFBE-0798-485A-AB61-D50A69B0154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BCE211E7-04E4-48FE-A61A-6F33E1AA6AF2}"/>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F2BD9FA2-10CC-4762-973C-0E9A8260BBC1}"/>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B2C61D1A-DCD7-4AF8-A91E-755CCCEB9992}"/>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Pydantic AI</a:t>
            </a:r>
          </a:p>
        </p:txBody>
      </p:sp>
      <p:sp>
        <p:nvSpPr>
          <p:cNvPr id="8" name="">
            <a:extLst xmlns:a="http://schemas.openxmlformats.org/drawingml/2006/main">
              <a:ext uri="{FF2B5EF4-FFF2-40B4-BE49-F238E27FC236}">
                <a16:creationId xmlns:a16="http://schemas.microsoft.com/office/drawing/2014/main" id="{38D0E538-3121-41FC-98C1-87E7FCE3B74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21</a:t>
            </a:r>
          </a:p>
        </p:txBody>
      </p:sp>
      <p:sp>
        <p:nvSpPr>
          <p:cNvPr id="9" name="">
            <a:extLst xmlns:a="http://schemas.openxmlformats.org/drawingml/2006/main">
              <a:ext uri="{FF2B5EF4-FFF2-40B4-BE49-F238E27FC236}">
                <a16:creationId xmlns:a16="http://schemas.microsoft.com/office/drawing/2014/main" id="{9F6FC6A3-2E7C-4EEF-837C-2C0F36B284FA}"/>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04</a:t>
            </a:r>
          </a:p>
        </p:txBody>
      </p:sp>
      <p:sp>
        <p:nvSpPr>
          <p:cNvPr id="10" name="">
            <a:extLst xmlns:a="http://schemas.openxmlformats.org/drawingml/2006/main">
              <a:ext uri="{FF2B5EF4-FFF2-40B4-BE49-F238E27FC236}">
                <a16:creationId xmlns:a16="http://schemas.microsoft.com/office/drawing/2014/main" id="{8BF9837A-2551-4359-A503-21D940D4037E}"/>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Pydantic AI</a:t>
            </a:r>
          </a:p>
          <a:p xmlns:a="http://schemas.openxmlformats.org/drawingml/2006/main">
            <a:pPr>
              <a:buNone/>
              <a:defRPr sz="3600">
                <a:solidFill>
                  <a:srgbClr val="FFFFFF"/>
                </a:solidFill>
              </a:defRPr>
            </a:pPr>
            <a:r>
              <a:rPr sz="3600">
                <a:solidFill>
                  <a:srgbClr val="FFFFFF"/>
                </a:solidFill>
              </a:rPr>
              <a:t>&amp; Type Safety</a:t>
            </a:r>
          </a:p>
        </p:txBody>
      </p:sp>
      <p:sp>
        <p:nvSpPr>
          <p:cNvPr id="11" name="">
            <a:extLst xmlns:a="http://schemas.openxmlformats.org/drawingml/2006/main">
              <a:ext uri="{FF2B5EF4-FFF2-40B4-BE49-F238E27FC236}">
                <a16:creationId xmlns:a16="http://schemas.microsoft.com/office/drawing/2014/main" id="{E752C0DC-8666-49D6-BF8D-7CF476D2F568}"/>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Typed contracts for production delegation</a:t>
            </a:r>
          </a:p>
        </p:txBody>
      </p:sp>
      <p:sp>
        <p:nvSpPr>
          <p:cNvPr id="12" name="">
            <a:extLst xmlns:a="http://schemas.openxmlformats.org/drawingml/2006/main">
              <a:ext uri="{FF2B5EF4-FFF2-40B4-BE49-F238E27FC236}">
                <a16:creationId xmlns:a16="http://schemas.microsoft.com/office/drawing/2014/main" id="{B7220C31-BEF3-4F54-BCD7-BBD9C7F07DF5}"/>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4CB43421-036C-4F0A-941F-68002020680C}"/>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Foundations  →  Memory &amp; Mind  →  RAG &amp; MCP  →  Type Safety  →  Routing &amp; Repair  →  Zero Trust</a:t>
            </a:r>
          </a:p>
        </p:txBody>
      </p:sp>
    </p:spTree>
    <p:extLst>
      <p:ext uri="{BB962C8B-B14F-4D97-AF65-F5344CB8AC3E}">
        <p14:creationId xmlns:p14="http://schemas.microsoft.com/office/powerpoint/2010/main" val="60839722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3890B41-C06B-454A-A4AB-314F747ECF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37E6E53-C3FD-4ECF-90FB-344FBE2831C0}"/>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84AB9772-6FB8-449B-9682-8EF6382A102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AF76ADAE-A88E-444B-966B-754DC1E085B4}"/>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1D98F57-A87C-4190-92C9-BD03F05F035C}"/>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D2423887-27AC-466D-ADCF-113F8B78C73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6186326-66F8-49CF-B08E-D4BFBCD2176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Pydantic AI</a:t>
            </a:r>
          </a:p>
        </p:txBody>
      </p:sp>
      <p:sp>
        <p:nvSpPr>
          <p:cNvPr id="8" name="">
            <a:extLst xmlns:a="http://schemas.openxmlformats.org/drawingml/2006/main">
              <a:ext uri="{FF2B5EF4-FFF2-40B4-BE49-F238E27FC236}">
                <a16:creationId xmlns:a16="http://schemas.microsoft.com/office/drawing/2014/main" id="{7AB618FE-0169-4AB9-92D2-B1DDAC87B5AA}"/>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22</a:t>
            </a:r>
          </a:p>
        </p:txBody>
      </p:sp>
      <p:sp>
        <p:nvSpPr>
          <p:cNvPr id="9" name="">
            <a:extLst xmlns:a="http://schemas.openxmlformats.org/drawingml/2006/main">
              <a:ext uri="{FF2B5EF4-FFF2-40B4-BE49-F238E27FC236}">
                <a16:creationId xmlns:a16="http://schemas.microsoft.com/office/drawing/2014/main" id="{06ACE5F9-1A9C-4423-A621-E0AB471A5DD5}"/>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4 · Pydantic AI &amp; Type Safety</a:t>
            </a:r>
          </a:p>
        </p:txBody>
      </p:sp>
      <p:sp>
        <p:nvSpPr>
          <p:cNvPr id="10" name="">
            <a:extLst xmlns:a="http://schemas.openxmlformats.org/drawingml/2006/main">
              <a:ext uri="{FF2B5EF4-FFF2-40B4-BE49-F238E27FC236}">
                <a16:creationId xmlns:a16="http://schemas.microsoft.com/office/drawing/2014/main" id="{D3F11E0D-46CB-4E80-997B-0312491EF3AB}"/>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Why Raw Text Breaks</a:t>
            </a:r>
          </a:p>
        </p:txBody>
      </p:sp>
      <p:sp>
        <p:nvSpPr>
          <p:cNvPr id="11" name="">
            <a:extLst xmlns:a="http://schemas.openxmlformats.org/drawingml/2006/main">
              <a:ext uri="{FF2B5EF4-FFF2-40B4-BE49-F238E27FC236}">
                <a16:creationId xmlns:a16="http://schemas.microsoft.com/office/drawing/2014/main" id="{2C6CDDDB-FAD2-4B8C-8202-667B1BBE49D7}"/>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5F2D8AC5-F427-4866-A617-96F9D6D0D92A}"/>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Raw LLM output is flexible; production systems need reliable fields.</a:t>
            </a:r>
          </a:p>
        </p:txBody>
      </p:sp>
      <p:sp>
        <p:nvSpPr>
          <p:cNvPr id="13" name="">
            <a:extLst xmlns:a="http://schemas.openxmlformats.org/drawingml/2006/main">
              <a:ext uri="{FF2B5EF4-FFF2-40B4-BE49-F238E27FC236}">
                <a16:creationId xmlns:a16="http://schemas.microsoft.com/office/drawing/2014/main" id="{937981A4-D55E-4907-8D96-F425AF312F26}"/>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EF495104-97A1-47DA-BD55-9DEA56A14067}"/>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PM emits TaskSpec. Coder emits CodePatch. QA emits TestResult.</a:t>
            </a:r>
          </a:p>
        </p:txBody>
      </p:sp>
      <p:sp>
        <p:nvSpPr>
          <p:cNvPr id="15" name="">
            <a:extLst xmlns:a="http://schemas.openxmlformats.org/drawingml/2006/main">
              <a:ext uri="{FF2B5EF4-FFF2-40B4-BE49-F238E27FC236}">
                <a16:creationId xmlns:a16="http://schemas.microsoft.com/office/drawing/2014/main" id="{3B400C55-86E5-4501-829A-03D627872B79}"/>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12511E57-443C-450F-872D-435C549289A2}"/>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Pydantic is the customs checkpoint: valid artifacts cross.</a:t>
            </a:r>
          </a:p>
        </p:txBody>
      </p:sp>
      <p:sp>
        <p:nvSpPr>
          <p:cNvPr id="17" name="">
            <a:extLst xmlns:a="http://schemas.openxmlformats.org/drawingml/2006/main">
              <a:ext uri="{FF2B5EF4-FFF2-40B4-BE49-F238E27FC236}">
                <a16:creationId xmlns:a16="http://schemas.microsoft.com/office/drawing/2014/main" id="{FB851C19-E7A1-4266-80CD-4C075AABDC1E}"/>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B9C296A3-B20E-46E0-9B7E-E23DB53B0845}"/>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Validation errors become structured feedback for repair.</a:t>
            </a:r>
          </a:p>
        </p:txBody>
      </p:sp>
      <p:sp>
        <p:nvSpPr>
          <p:cNvPr id="19" name="">
            <a:extLst xmlns:a="http://schemas.openxmlformats.org/drawingml/2006/main">
              <a:ext uri="{FF2B5EF4-FFF2-40B4-BE49-F238E27FC236}">
                <a16:creationId xmlns:a16="http://schemas.microsoft.com/office/drawing/2014/main" id="{366C3C4D-B0FD-406C-8AA0-FFBA82843A06}"/>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Schema drift is silent. Pydantic makes it loud.</a:t>
            </a:r>
          </a:p>
        </p:txBody>
      </p:sp>
      <p:sp>
        <p:nvSpPr>
          <p:cNvPr id="20" name="">
            <a:extLst xmlns:a="http://schemas.openxmlformats.org/drawingml/2006/main">
              <a:ext uri="{FF2B5EF4-FFF2-40B4-BE49-F238E27FC236}">
                <a16:creationId xmlns:a16="http://schemas.microsoft.com/office/drawing/2014/main" id="{105A36A7-1C7C-40CA-B8DC-1A0A23E94486}"/>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45814466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5E795D5-E65D-4D3B-8A13-D6CC3433A1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BCD3388-E700-4142-8764-366DD256C8D0}"/>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B7ED282E-A88D-4E47-8672-EA3A111D7A6F}"/>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E1C051CD-834B-4F1B-810B-D6EF109096A7}"/>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FFF855C-FC4B-49E9-AD0C-76E0022FA035}"/>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09455D0B-3C68-44F1-8ACF-49E2FF9B28C3}"/>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A55223A-0FE2-4C77-B4E4-0F27C8322BE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Pydantic validators</a:t>
            </a:r>
          </a:p>
        </p:txBody>
      </p:sp>
      <p:sp>
        <p:nvSpPr>
          <p:cNvPr id="8" name="">
            <a:extLst xmlns:a="http://schemas.openxmlformats.org/drawingml/2006/main">
              <a:ext uri="{FF2B5EF4-FFF2-40B4-BE49-F238E27FC236}">
                <a16:creationId xmlns:a16="http://schemas.microsoft.com/office/drawing/2014/main" id="{72E0150C-5692-4537-A610-B9D40303F0B9}"/>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23</a:t>
            </a:r>
          </a:p>
        </p:txBody>
      </p:sp>
      <p:sp>
        <p:nvSpPr>
          <p:cNvPr id="9" name="">
            <a:extLst xmlns:a="http://schemas.openxmlformats.org/drawingml/2006/main">
              <a:ext uri="{FF2B5EF4-FFF2-40B4-BE49-F238E27FC236}">
                <a16:creationId xmlns:a16="http://schemas.microsoft.com/office/drawing/2014/main" id="{D58BF40E-B3E5-4F1A-B513-7E1E67AD355B}"/>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4 · Pydantic AI &amp; Type Safety</a:t>
            </a:r>
          </a:p>
        </p:txBody>
      </p:sp>
      <p:sp>
        <p:nvSpPr>
          <p:cNvPr id="10" name="">
            <a:extLst xmlns:a="http://schemas.openxmlformats.org/drawingml/2006/main">
              <a:ext uri="{FF2B5EF4-FFF2-40B4-BE49-F238E27FC236}">
                <a16:creationId xmlns:a16="http://schemas.microsoft.com/office/drawing/2014/main" id="{CF6A45D5-B707-4B28-9D87-BA0FAA3EAC8C}"/>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Strict Schema Rules</a:t>
            </a:r>
          </a:p>
        </p:txBody>
      </p:sp>
      <p:sp>
        <p:nvSpPr>
          <p:cNvPr id="11" name="">
            <a:extLst xmlns:a="http://schemas.openxmlformats.org/drawingml/2006/main">
              <a:ext uri="{FF2B5EF4-FFF2-40B4-BE49-F238E27FC236}">
                <a16:creationId xmlns:a16="http://schemas.microsoft.com/office/drawing/2014/main" id="{6743AD79-AB70-4153-AC8F-BD2E14ACA87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EA884D83-9043-4581-BDB4-0C7D7A89F009}"/>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Use extra='forbid' to reject hallucinated fields.</a:t>
            </a:r>
          </a:p>
        </p:txBody>
      </p:sp>
      <p:sp>
        <p:nvSpPr>
          <p:cNvPr id="13" name="">
            <a:extLst xmlns:a="http://schemas.openxmlformats.org/drawingml/2006/main">
              <a:ext uri="{FF2B5EF4-FFF2-40B4-BE49-F238E27FC236}">
                <a16:creationId xmlns:a16="http://schemas.microsoft.com/office/drawing/2014/main" id="{EF426944-F73F-4BDF-87A7-B10ABF839710}"/>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56C850C6-01FC-46AE-BAF4-D38A1484857D}"/>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Validate field lengths and constrain enums.</a:t>
            </a:r>
          </a:p>
        </p:txBody>
      </p:sp>
      <p:sp>
        <p:nvSpPr>
          <p:cNvPr id="15" name="">
            <a:extLst xmlns:a="http://schemas.openxmlformats.org/drawingml/2006/main">
              <a:ext uri="{FF2B5EF4-FFF2-40B4-BE49-F238E27FC236}">
                <a16:creationId xmlns:a16="http://schemas.microsoft.com/office/drawing/2014/main" id="{60D95727-779B-4B52-8DBA-70AA274187BF}"/>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0238801D-0ACD-4C07-BB60-E87367197D42}"/>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Reject unsafe file paths before they reach the filesystem.</a:t>
            </a:r>
          </a:p>
        </p:txBody>
      </p:sp>
      <p:sp>
        <p:nvSpPr>
          <p:cNvPr id="17" name="">
            <a:extLst xmlns:a="http://schemas.openxmlformats.org/drawingml/2006/main">
              <a:ext uri="{FF2B5EF4-FFF2-40B4-BE49-F238E27FC236}">
                <a16:creationId xmlns:a16="http://schemas.microsoft.com/office/drawing/2014/main" id="{14DBB736-8FB1-4E83-81AF-1692647ECBD3}"/>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B5C19778-1C92-4A78-877F-11D26DFEC155}"/>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Test valid inputs, invalid inputs, empty lists, extra fields, unsafe paths.</a:t>
            </a:r>
          </a:p>
        </p:txBody>
      </p:sp>
      <p:sp>
        <p:nvSpPr>
          <p:cNvPr id="19" name="">
            <a:extLst xmlns:a="http://schemas.openxmlformats.org/drawingml/2006/main">
              <a:ext uri="{FF2B5EF4-FFF2-40B4-BE49-F238E27FC236}">
                <a16:creationId xmlns:a16="http://schemas.microsoft.com/office/drawing/2014/main" id="{ECD6EA94-598A-436A-A5EE-7DE4742C2B44}"/>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Test contracts as rigorously as code.</a:t>
            </a:r>
          </a:p>
        </p:txBody>
      </p:sp>
      <p:sp>
        <p:nvSpPr>
          <p:cNvPr id="20" name="">
            <a:extLst xmlns:a="http://schemas.openxmlformats.org/drawingml/2006/main">
              <a:ext uri="{FF2B5EF4-FFF2-40B4-BE49-F238E27FC236}">
                <a16:creationId xmlns:a16="http://schemas.microsoft.com/office/drawing/2014/main" id="{24E35836-23C5-46E3-84E9-6F4866582EEC}"/>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79873385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BD4D387-198E-4826-9B5D-BE8C3B58AE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80988A83-FA35-4FE7-AC42-B97E9FCE6AF9}"/>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1145CEA2-7A7C-4863-9846-04ED4A7D9B90}"/>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B600959-DFEF-488A-82C2-484D41A1F002}"/>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A736BD4E-ACA1-4ADB-B90D-CEAE4604AEBF}"/>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CC639543-00D9-43B1-9332-8A23D767772D}"/>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F03DD6F6-6C65-484B-9429-50614E7E047B}"/>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Type-safe delegation</a:t>
            </a:r>
          </a:p>
        </p:txBody>
      </p:sp>
      <p:sp>
        <p:nvSpPr>
          <p:cNvPr id="8" name="">
            <a:extLst xmlns:a="http://schemas.openxmlformats.org/drawingml/2006/main">
              <a:ext uri="{FF2B5EF4-FFF2-40B4-BE49-F238E27FC236}">
                <a16:creationId xmlns:a16="http://schemas.microsoft.com/office/drawing/2014/main" id="{A9514A70-D9BA-4497-BF99-B55BE7F0E01B}"/>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24</a:t>
            </a:r>
          </a:p>
        </p:txBody>
      </p:sp>
      <p:sp>
        <p:nvSpPr>
          <p:cNvPr id="9" name="">
            <a:extLst xmlns:a="http://schemas.openxmlformats.org/drawingml/2006/main">
              <a:ext uri="{FF2B5EF4-FFF2-40B4-BE49-F238E27FC236}">
                <a16:creationId xmlns:a16="http://schemas.microsoft.com/office/drawing/2014/main" id="{F60B6BFB-96A1-4EF7-B359-2A61E0996D28}"/>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4 · Pydantic AI &amp; Type Safety</a:t>
            </a:r>
          </a:p>
        </p:txBody>
      </p:sp>
      <p:sp>
        <p:nvSpPr>
          <p:cNvPr id="10" name="">
            <a:extLst xmlns:a="http://schemas.openxmlformats.org/drawingml/2006/main">
              <a:ext uri="{FF2B5EF4-FFF2-40B4-BE49-F238E27FC236}">
                <a16:creationId xmlns:a16="http://schemas.microsoft.com/office/drawing/2014/main" id="{8999C29B-830F-46D7-9741-710DCED24351}"/>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1C9E5824-A59D-4142-9FE9-9862C1D2CCBD}"/>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FD3F5ACB-F03F-43AD-875F-4A12502CD0C3}"/>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Type safety is how</a:t>
            </a:r>
          </a:p>
        </p:txBody>
      </p:sp>
      <p:sp>
        <p:nvSpPr>
          <p:cNvPr id="13" name="">
            <a:extLst xmlns:a="http://schemas.openxmlformats.org/drawingml/2006/main">
              <a:ext uri="{FF2B5EF4-FFF2-40B4-BE49-F238E27FC236}">
                <a16:creationId xmlns:a16="http://schemas.microsoft.com/office/drawing/2014/main" id="{B7AF4566-BA3F-44CE-88D1-CF147F63FC05}"/>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agent conversation becomes</a:t>
            </a:r>
          </a:p>
        </p:txBody>
      </p:sp>
      <p:sp>
        <p:nvSpPr>
          <p:cNvPr id="14" name="">
            <a:extLst xmlns:a="http://schemas.openxmlformats.org/drawingml/2006/main">
              <a:ext uri="{FF2B5EF4-FFF2-40B4-BE49-F238E27FC236}">
                <a16:creationId xmlns:a16="http://schemas.microsoft.com/office/drawing/2014/main" id="{984A122E-3ED7-466E-931D-A84965BBE4BE}"/>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software architecture.</a:t>
            </a:r>
          </a:p>
        </p:txBody>
      </p:sp>
    </p:spTree>
    <p:extLst>
      <p:ext uri="{BB962C8B-B14F-4D97-AF65-F5344CB8AC3E}">
        <p14:creationId xmlns:p14="http://schemas.microsoft.com/office/powerpoint/2010/main" val="127329689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4E2F56B-E751-456A-BC32-3B64A7FB8D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35AF5893-E49D-4F3E-8FED-BB2C5833A37D}"/>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590E2311-5FD8-4DA4-AFEA-B541433191F0}"/>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489EF0E3-5F70-4150-9A65-B67D94FA3A93}"/>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347602FE-315B-4D24-A9E5-734EC84F519E}"/>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B37E757F-D5E3-4650-A035-AB33CD68575A}"/>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9CAD2A1E-A4E7-4886-BAD4-465F6D6AAAA0}"/>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Fugu</a:t>
            </a:r>
          </a:p>
        </p:txBody>
      </p:sp>
      <p:sp>
        <p:nvSpPr>
          <p:cNvPr id="8" name="">
            <a:extLst xmlns:a="http://schemas.openxmlformats.org/drawingml/2006/main">
              <a:ext uri="{FF2B5EF4-FFF2-40B4-BE49-F238E27FC236}">
                <a16:creationId xmlns:a16="http://schemas.microsoft.com/office/drawing/2014/main" id="{75A6ACB7-7018-4A6D-AA75-81BC26F60A21}"/>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25</a:t>
            </a:r>
          </a:p>
        </p:txBody>
      </p:sp>
      <p:sp>
        <p:nvSpPr>
          <p:cNvPr id="9" name="">
            <a:extLst xmlns:a="http://schemas.openxmlformats.org/drawingml/2006/main">
              <a:ext uri="{FF2B5EF4-FFF2-40B4-BE49-F238E27FC236}">
                <a16:creationId xmlns:a16="http://schemas.microsoft.com/office/drawing/2014/main" id="{FF002C4C-6DBF-4641-9F50-FD51C21277E5}"/>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05</a:t>
            </a:r>
          </a:p>
        </p:txBody>
      </p:sp>
      <p:sp>
        <p:nvSpPr>
          <p:cNvPr id="10" name="">
            <a:extLst xmlns:a="http://schemas.openxmlformats.org/drawingml/2006/main">
              <a:ext uri="{FF2B5EF4-FFF2-40B4-BE49-F238E27FC236}">
                <a16:creationId xmlns:a16="http://schemas.microsoft.com/office/drawing/2014/main" id="{EDC007C1-F420-4747-9DF7-32541F69CEA1}"/>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Fugu Routing &amp;</a:t>
            </a:r>
          </a:p>
          <a:p xmlns:a="http://schemas.openxmlformats.org/drawingml/2006/main">
            <a:pPr>
              <a:buNone/>
              <a:defRPr sz="3600">
                <a:solidFill>
                  <a:srgbClr val="FFFFFF"/>
                </a:solidFill>
              </a:defRPr>
            </a:pPr>
            <a:r>
              <a:rPr sz="3600">
                <a:solidFill>
                  <a:srgbClr val="FFFFFF"/>
                </a:solidFill>
              </a:rPr>
              <a:t>ChatDev Self-Repair</a:t>
            </a:r>
          </a:p>
        </p:txBody>
      </p:sp>
      <p:sp>
        <p:nvSpPr>
          <p:cNvPr id="11" name="">
            <a:extLst xmlns:a="http://schemas.openxmlformats.org/drawingml/2006/main">
              <a:ext uri="{FF2B5EF4-FFF2-40B4-BE49-F238E27FC236}">
                <a16:creationId xmlns:a16="http://schemas.microsoft.com/office/drawing/2014/main" id="{3F113FE4-6C94-4155-A23C-BF9B1B1805E1}"/>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Dynamic routing, bounded correction, and recovery loops</a:t>
            </a:r>
          </a:p>
        </p:txBody>
      </p:sp>
      <p:sp>
        <p:nvSpPr>
          <p:cNvPr id="12" name="">
            <a:extLst xmlns:a="http://schemas.openxmlformats.org/drawingml/2006/main">
              <a:ext uri="{FF2B5EF4-FFF2-40B4-BE49-F238E27FC236}">
                <a16:creationId xmlns:a16="http://schemas.microsoft.com/office/drawing/2014/main" id="{1E35F63A-7FF3-40D0-B23F-2C2192540283}"/>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512C84A2-26AC-4547-AAD7-EF119D358CA8}"/>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Foundations  →  Memory &amp; Mind  →  RAG &amp; MCP  →  Type Safety  →  Routing &amp; Repair  →  Zero Trust</a:t>
            </a:r>
          </a:p>
        </p:txBody>
      </p:sp>
    </p:spTree>
    <p:extLst>
      <p:ext uri="{BB962C8B-B14F-4D97-AF65-F5344CB8AC3E}">
        <p14:creationId xmlns:p14="http://schemas.microsoft.com/office/powerpoint/2010/main" val="205156460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40B7E35-F126-4EE9-9C73-0C88C48B7A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DEB0657-E7FA-45D0-9E18-C1A55D86CB97}"/>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ED0A6854-1D08-4650-AF2F-66E3B22A31DC}"/>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CE778451-5915-4ACA-8123-AB3DD96EA3AA}"/>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622477C2-C824-4DDC-ABE8-BE53380BDD00}"/>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AE3055BC-16AC-45F9-841D-EB07CA1CD3C9}"/>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96F91636-B669-41F7-988F-C62C6261D78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Fugu</a:t>
            </a:r>
          </a:p>
        </p:txBody>
      </p:sp>
      <p:sp>
        <p:nvSpPr>
          <p:cNvPr id="8" name="">
            <a:extLst xmlns:a="http://schemas.openxmlformats.org/drawingml/2006/main">
              <a:ext uri="{FF2B5EF4-FFF2-40B4-BE49-F238E27FC236}">
                <a16:creationId xmlns:a16="http://schemas.microsoft.com/office/drawing/2014/main" id="{9664A87C-70C4-4D2D-8B27-797A7E0D7BE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26</a:t>
            </a:r>
          </a:p>
        </p:txBody>
      </p:sp>
      <p:sp>
        <p:nvSpPr>
          <p:cNvPr id="9" name="">
            <a:extLst xmlns:a="http://schemas.openxmlformats.org/drawingml/2006/main">
              <a:ext uri="{FF2B5EF4-FFF2-40B4-BE49-F238E27FC236}">
                <a16:creationId xmlns:a16="http://schemas.microsoft.com/office/drawing/2014/main" id="{11325C41-F106-4B5C-AE6A-4172E74F9DE5}"/>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5 · Fugu Routing &amp; ChatDev Self-Repair</a:t>
            </a:r>
          </a:p>
        </p:txBody>
      </p:sp>
      <p:sp>
        <p:nvSpPr>
          <p:cNvPr id="10" name="">
            <a:extLst xmlns:a="http://schemas.openxmlformats.org/drawingml/2006/main">
              <a:ext uri="{FF2B5EF4-FFF2-40B4-BE49-F238E27FC236}">
                <a16:creationId xmlns:a16="http://schemas.microsoft.com/office/drawing/2014/main" id="{9C871E43-A9C5-43AA-94F6-B6577C0E5925}"/>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Two Reflexes Every Team Needs</a:t>
            </a:r>
          </a:p>
        </p:txBody>
      </p:sp>
      <p:sp>
        <p:nvSpPr>
          <p:cNvPr id="11" name="">
            <a:extLst xmlns:a="http://schemas.openxmlformats.org/drawingml/2006/main">
              <a:ext uri="{FF2B5EF4-FFF2-40B4-BE49-F238E27FC236}">
                <a16:creationId xmlns:a16="http://schemas.microsoft.com/office/drawing/2014/main" id="{826D3A2E-1896-4E30-A1D2-285B42DB51AA}"/>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1BF8D65D-179C-4CF2-A5BB-F1EA01F75CDE}"/>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9EB1613A-408C-4AD8-BEA4-B11F9F735D5B}"/>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Fugu Routing</a:t>
            </a:r>
          </a:p>
        </p:txBody>
      </p:sp>
      <p:sp>
        <p:nvSpPr>
          <p:cNvPr id="14" name="">
            <a:extLst xmlns:a="http://schemas.openxmlformats.org/drawingml/2006/main">
              <a:ext uri="{FF2B5EF4-FFF2-40B4-BE49-F238E27FC236}">
                <a16:creationId xmlns:a16="http://schemas.microsoft.com/office/drawing/2014/main" id="{3C35DB1C-9348-47B6-BD4B-CBF4BEC6949A}"/>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ChatDev Repair</a:t>
            </a:r>
          </a:p>
        </p:txBody>
      </p:sp>
      <p:sp>
        <p:nvSpPr>
          <p:cNvPr id="15" name="">
            <a:extLst xmlns:a="http://schemas.openxmlformats.org/drawingml/2006/main">
              <a:ext uri="{FF2B5EF4-FFF2-40B4-BE49-F238E27FC236}">
                <a16:creationId xmlns:a16="http://schemas.microsoft.com/office/drawing/2014/main" id="{F6F99881-96D2-4B1E-8405-90E53AC9460C}"/>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D3614B83-865A-498E-905E-CF1C07CB1504}"/>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Simple task → fast, cheap worker</a:t>
            </a:r>
          </a:p>
        </p:txBody>
      </p:sp>
      <p:sp>
        <p:nvSpPr>
          <p:cNvPr id="17" name="">
            <a:extLst xmlns:a="http://schemas.openxmlformats.org/drawingml/2006/main">
              <a:ext uri="{FF2B5EF4-FFF2-40B4-BE49-F238E27FC236}">
                <a16:creationId xmlns:a16="http://schemas.microsoft.com/office/drawing/2014/main" id="{BFD8B473-D40F-4CDD-844C-65873DFFC392}"/>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2B10C21E-7110-4D47-A788-50FC981BD6BB}"/>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Complex task → deeper, slower worker</a:t>
            </a:r>
          </a:p>
        </p:txBody>
      </p:sp>
      <p:sp>
        <p:nvSpPr>
          <p:cNvPr id="19" name="">
            <a:extLst xmlns:a="http://schemas.openxmlformats.org/drawingml/2006/main">
              <a:ext uri="{FF2B5EF4-FFF2-40B4-BE49-F238E27FC236}">
                <a16:creationId xmlns:a16="http://schemas.microsoft.com/office/drawing/2014/main" id="{A2161092-8A68-4D39-B2C5-3C84F98B2D07}"/>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E514A025-179E-4A75-99BE-8B06C53444D1}"/>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Signals: complexity, risk, cost, latency</a:t>
            </a:r>
          </a:p>
        </p:txBody>
      </p:sp>
      <p:sp>
        <p:nvSpPr>
          <p:cNvPr id="21" name="">
            <a:extLst xmlns:a="http://schemas.openxmlformats.org/drawingml/2006/main">
              <a:ext uri="{FF2B5EF4-FFF2-40B4-BE49-F238E27FC236}">
                <a16:creationId xmlns:a16="http://schemas.microsoft.com/office/drawing/2014/main" id="{C20D54A9-FDD3-40F5-B49C-7EF794EEBF21}"/>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BDD386D6-5A1E-4B5B-95A8-6B47BF65B456}"/>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Log every route decision</a:t>
            </a:r>
          </a:p>
        </p:txBody>
      </p:sp>
      <p:sp>
        <p:nvSpPr>
          <p:cNvPr id="23" name="">
            <a:extLst xmlns:a="http://schemas.openxmlformats.org/drawingml/2006/main">
              <a:ext uri="{FF2B5EF4-FFF2-40B4-BE49-F238E27FC236}">
                <a16:creationId xmlns:a16="http://schemas.microsoft.com/office/drawing/2014/main" id="{11827119-B8CB-4A9C-BF40-C088B22473E2}"/>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950246D4-F6B8-41E3-902F-89CCF7FBF225}"/>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Developer writes, tester fails</a:t>
            </a:r>
          </a:p>
        </p:txBody>
      </p:sp>
      <p:sp>
        <p:nvSpPr>
          <p:cNvPr id="25" name="">
            <a:extLst xmlns:a="http://schemas.openxmlformats.org/drawingml/2006/main">
              <a:ext uri="{FF2B5EF4-FFF2-40B4-BE49-F238E27FC236}">
                <a16:creationId xmlns:a16="http://schemas.microsoft.com/office/drawing/2014/main" id="{0F0A3046-A272-4493-8C12-19CDD23E8F6F}"/>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3F72912F-1A0C-409D-B8E7-D50DB5553F8D}"/>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Reviewer sends evidence</a:t>
            </a:r>
          </a:p>
        </p:txBody>
      </p:sp>
      <p:sp>
        <p:nvSpPr>
          <p:cNvPr id="27" name="">
            <a:extLst xmlns:a="http://schemas.openxmlformats.org/drawingml/2006/main">
              <a:ext uri="{FF2B5EF4-FFF2-40B4-BE49-F238E27FC236}">
                <a16:creationId xmlns:a16="http://schemas.microsoft.com/office/drawing/2014/main" id="{89AC802F-EA49-45A6-BFF8-9950D3967D4D}"/>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405B3B8A-D53A-4D63-9C34-4DEADD5DF7B6}"/>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Developer repairs with context</a:t>
            </a:r>
          </a:p>
        </p:txBody>
      </p:sp>
      <p:sp>
        <p:nvSpPr>
          <p:cNvPr id="29" name="">
            <a:extLst xmlns:a="http://schemas.openxmlformats.org/drawingml/2006/main">
              <a:ext uri="{FF2B5EF4-FFF2-40B4-BE49-F238E27FC236}">
                <a16:creationId xmlns:a16="http://schemas.microsoft.com/office/drawing/2014/main" id="{8306DDE9-88F4-43F5-A14E-E7092297F592}"/>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A651CE8C-7B18-4E8F-8712-0E1E122CB36F}"/>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Max repairs: 2, then escalate</a:t>
            </a:r>
          </a:p>
        </p:txBody>
      </p:sp>
      <p:sp>
        <p:nvSpPr>
          <p:cNvPr id="31" name="">
            <a:extLst xmlns:a="http://schemas.openxmlformats.org/drawingml/2006/main">
              <a:ext uri="{FF2B5EF4-FFF2-40B4-BE49-F238E27FC236}">
                <a16:creationId xmlns:a16="http://schemas.microsoft.com/office/drawing/2014/main" id="{370BADCD-0268-446D-8297-F81437C48EAA}"/>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Reflexes make teams resilient only when bounded.</a:t>
            </a:r>
          </a:p>
        </p:txBody>
      </p:sp>
    </p:spTree>
    <p:extLst>
      <p:ext uri="{BB962C8B-B14F-4D97-AF65-F5344CB8AC3E}">
        <p14:creationId xmlns:p14="http://schemas.microsoft.com/office/powerpoint/2010/main" val="149355387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0F68580-D47F-45CD-8497-39CAC827CA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5CFF4CB4-90D8-46B9-8B00-1E1AA932A188}"/>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C3AE5493-D35E-4E17-910C-5B4B98D4C7E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DB47E4B-2D86-4CC9-819E-73351712B8AA}"/>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3CB4F25-452C-40B4-81E3-0BFAC0EE59D9}"/>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63449946-1605-4982-8773-71BE07B51895}"/>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B63B2665-75BA-40A7-86A0-88FBFAA058FC}"/>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self-repair</a:t>
            </a:r>
          </a:p>
        </p:txBody>
      </p:sp>
      <p:sp>
        <p:nvSpPr>
          <p:cNvPr id="8" name="">
            <a:extLst xmlns:a="http://schemas.openxmlformats.org/drawingml/2006/main">
              <a:ext uri="{FF2B5EF4-FFF2-40B4-BE49-F238E27FC236}">
                <a16:creationId xmlns:a16="http://schemas.microsoft.com/office/drawing/2014/main" id="{13200B70-83F4-4497-8149-921BDBF6764A}"/>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27</a:t>
            </a:r>
          </a:p>
        </p:txBody>
      </p:sp>
      <p:sp>
        <p:nvSpPr>
          <p:cNvPr id="9" name="">
            <a:extLst xmlns:a="http://schemas.openxmlformats.org/drawingml/2006/main">
              <a:ext uri="{FF2B5EF4-FFF2-40B4-BE49-F238E27FC236}">
                <a16:creationId xmlns:a16="http://schemas.microsoft.com/office/drawing/2014/main" id="{F8FAB8E6-1F73-4E1E-B1B5-9CB4AC794EA5}"/>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5 · Fugu Routing &amp; ChatDev Self-Repair</a:t>
            </a:r>
          </a:p>
        </p:txBody>
      </p:sp>
      <p:sp>
        <p:nvSpPr>
          <p:cNvPr id="10" name="">
            <a:extLst xmlns:a="http://schemas.openxmlformats.org/drawingml/2006/main">
              <a:ext uri="{FF2B5EF4-FFF2-40B4-BE49-F238E27FC236}">
                <a16:creationId xmlns:a16="http://schemas.microsoft.com/office/drawing/2014/main" id="{C9F8BDCE-8915-4F56-AF39-07F36E639231}"/>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The Bounded Repair Loop</a:t>
            </a:r>
          </a:p>
        </p:txBody>
      </p:sp>
      <p:sp>
        <p:nvSpPr>
          <p:cNvPr id="11" name="">
            <a:extLst xmlns:a="http://schemas.openxmlformats.org/drawingml/2006/main">
              <a:ext uri="{FF2B5EF4-FFF2-40B4-BE49-F238E27FC236}">
                <a16:creationId xmlns:a16="http://schemas.microsoft.com/office/drawing/2014/main" id="{2760DA14-FBDC-457C-AD9B-1C9B3750E2E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7C11B69B-D4CB-44B7-84AB-86BD11726CD4}"/>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Flow: Task → Router → Coder → QA → Reviewer → Repair Memory → Coder.</a:t>
            </a:r>
          </a:p>
        </p:txBody>
      </p:sp>
      <p:sp>
        <p:nvSpPr>
          <p:cNvPr id="13" name="">
            <a:extLst xmlns:a="http://schemas.openxmlformats.org/drawingml/2006/main">
              <a:ext uri="{FF2B5EF4-FFF2-40B4-BE49-F238E27FC236}">
                <a16:creationId xmlns:a16="http://schemas.microsoft.com/office/drawing/2014/main" id="{0EACD489-7F46-4906-A4E8-407B5BBE52BC}"/>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D76F412E-BB51-4AD6-B96A-A28DC32B1ABD}"/>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Store failing test, error log, expected behavior, prior patch rationale.</a:t>
            </a:r>
          </a:p>
        </p:txBody>
      </p:sp>
      <p:sp>
        <p:nvSpPr>
          <p:cNvPr id="15" name="">
            <a:extLst xmlns:a="http://schemas.openxmlformats.org/drawingml/2006/main">
              <a:ext uri="{FF2B5EF4-FFF2-40B4-BE49-F238E27FC236}">
                <a16:creationId xmlns:a16="http://schemas.microsoft.com/office/drawing/2014/main" id="{5F72F3F6-4541-446E-A139-5C30F549B810}"/>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3B26AD67-5CB9-4D6E-BB5E-C201BA412376}"/>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Budget: Research 2, Writing 2, Evaluation 1, Manager 0.</a:t>
            </a:r>
          </a:p>
        </p:txBody>
      </p:sp>
      <p:sp>
        <p:nvSpPr>
          <p:cNvPr id="17" name="">
            <a:extLst xmlns:a="http://schemas.openxmlformats.org/drawingml/2006/main">
              <a:ext uri="{FF2B5EF4-FFF2-40B4-BE49-F238E27FC236}">
                <a16:creationId xmlns:a16="http://schemas.microsoft.com/office/drawing/2014/main" id="{17478B65-3C2D-4F90-A772-0EAF455C1F40}"/>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07386E46-C930-45AD-9181-614BFDAF5D9E}"/>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On exceed: ESCALATED_TO_HUMAN, never silent failure.</a:t>
            </a:r>
          </a:p>
        </p:txBody>
      </p:sp>
      <p:sp>
        <p:nvSpPr>
          <p:cNvPr id="19" name="">
            <a:extLst xmlns:a="http://schemas.openxmlformats.org/drawingml/2006/main">
              <a:ext uri="{FF2B5EF4-FFF2-40B4-BE49-F238E27FC236}">
                <a16:creationId xmlns:a16="http://schemas.microsoft.com/office/drawing/2014/main" id="{5DEC169C-7A4D-4CB1-B0A3-E9B7F0753497}"/>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The repair loop must have an exit.</a:t>
            </a:r>
          </a:p>
        </p:txBody>
      </p:sp>
      <p:sp>
        <p:nvSpPr>
          <p:cNvPr id="20" name="">
            <a:extLst xmlns:a="http://schemas.openxmlformats.org/drawingml/2006/main">
              <a:ext uri="{FF2B5EF4-FFF2-40B4-BE49-F238E27FC236}">
                <a16:creationId xmlns:a16="http://schemas.microsoft.com/office/drawing/2014/main" id="{0462F2CB-C7DB-4A6C-A621-5FF26D4F130A}"/>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53188312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6B64729-4E43-4B6D-908B-B13D0FF04E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AC1D025-CC97-4592-80F0-EF878BD76EDD}"/>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D632AD97-D79B-4A8F-9622-608AB83B1D02}"/>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FC1C1A9-4DC5-4F85-8F0A-611A08C26FC0}"/>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E0E96ACB-6C59-4FFA-B433-B67EE12985F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21E5C793-9626-48BA-B7A6-D5437A78877D}"/>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6AB5AFA0-4019-40D1-9B64-301EA1FF43AB}"/>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bounded repair</a:t>
            </a:r>
          </a:p>
        </p:txBody>
      </p:sp>
      <p:sp>
        <p:nvSpPr>
          <p:cNvPr id="8" name="">
            <a:extLst xmlns:a="http://schemas.openxmlformats.org/drawingml/2006/main">
              <a:ext uri="{FF2B5EF4-FFF2-40B4-BE49-F238E27FC236}">
                <a16:creationId xmlns:a16="http://schemas.microsoft.com/office/drawing/2014/main" id="{F1946E7C-BD66-4359-A296-5A3374009BCE}"/>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28</a:t>
            </a:r>
          </a:p>
        </p:txBody>
      </p:sp>
      <p:sp>
        <p:nvSpPr>
          <p:cNvPr id="9" name="">
            <a:extLst xmlns:a="http://schemas.openxmlformats.org/drawingml/2006/main">
              <a:ext uri="{FF2B5EF4-FFF2-40B4-BE49-F238E27FC236}">
                <a16:creationId xmlns:a16="http://schemas.microsoft.com/office/drawing/2014/main" id="{FBB5FC12-71EA-456D-B969-E10C08B5B9AB}"/>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5 · Fugu Routing &amp; ChatDev Self-Repair</a:t>
            </a:r>
          </a:p>
        </p:txBody>
      </p:sp>
      <p:sp>
        <p:nvSpPr>
          <p:cNvPr id="10" name="">
            <a:extLst xmlns:a="http://schemas.openxmlformats.org/drawingml/2006/main">
              <a:ext uri="{FF2B5EF4-FFF2-40B4-BE49-F238E27FC236}">
                <a16:creationId xmlns:a16="http://schemas.microsoft.com/office/drawing/2014/main" id="{81851E94-B59D-485E-9508-6E2BB58F8449}"/>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D191792E-54D2-4D54-8064-B0B50486033E}"/>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B6BB48B4-7B5E-4283-9C77-8320033740A2}"/>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Reflexes make agent teams</a:t>
            </a:r>
          </a:p>
        </p:txBody>
      </p:sp>
      <p:sp>
        <p:nvSpPr>
          <p:cNvPr id="13" name="">
            <a:extLst xmlns:a="http://schemas.openxmlformats.org/drawingml/2006/main">
              <a:ext uri="{FF2B5EF4-FFF2-40B4-BE49-F238E27FC236}">
                <a16:creationId xmlns:a16="http://schemas.microsoft.com/office/drawing/2014/main" id="{D2D82359-EC1A-4220-8429-D13BAA6FCE7E}"/>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resilient,</a:t>
            </a:r>
          </a:p>
        </p:txBody>
      </p:sp>
      <p:sp>
        <p:nvSpPr>
          <p:cNvPr id="14" name="">
            <a:extLst xmlns:a="http://schemas.openxmlformats.org/drawingml/2006/main">
              <a:ext uri="{FF2B5EF4-FFF2-40B4-BE49-F238E27FC236}">
                <a16:creationId xmlns:a16="http://schemas.microsoft.com/office/drawing/2014/main" id="{355F3C35-0C2E-4886-B10B-3D9C55B2CC00}"/>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only when bounded.</a:t>
            </a:r>
          </a:p>
        </p:txBody>
      </p:sp>
    </p:spTree>
    <p:extLst>
      <p:ext uri="{BB962C8B-B14F-4D97-AF65-F5344CB8AC3E}">
        <p14:creationId xmlns:p14="http://schemas.microsoft.com/office/powerpoint/2010/main" val="23318082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312051E-D82C-4F97-8304-7FDBCAB125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BECB99A-5E0D-4348-B88E-E0131166338C}"/>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562D9B58-B732-4099-94A2-D6C2CCD44DB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D3FA64E9-BFD8-479B-8E22-37D84939D071}"/>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AB9682FE-01C2-43E7-96C4-7A7A51932A08}"/>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BE757348-B166-4454-BAD1-C5E89B4E4FEB}"/>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8BFF16F-83EB-49CC-A95E-08CABF06F092}"/>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IoA + Zero Trust</a:t>
            </a:r>
          </a:p>
        </p:txBody>
      </p:sp>
      <p:sp>
        <p:nvSpPr>
          <p:cNvPr id="8" name="">
            <a:extLst xmlns:a="http://schemas.openxmlformats.org/drawingml/2006/main">
              <a:ext uri="{FF2B5EF4-FFF2-40B4-BE49-F238E27FC236}">
                <a16:creationId xmlns:a16="http://schemas.microsoft.com/office/drawing/2014/main" id="{CF89BDBF-8053-4A68-A42E-D8CF6E779A0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29</a:t>
            </a:r>
          </a:p>
        </p:txBody>
      </p:sp>
      <p:sp>
        <p:nvSpPr>
          <p:cNvPr id="9" name="">
            <a:extLst xmlns:a="http://schemas.openxmlformats.org/drawingml/2006/main">
              <a:ext uri="{FF2B5EF4-FFF2-40B4-BE49-F238E27FC236}">
                <a16:creationId xmlns:a16="http://schemas.microsoft.com/office/drawing/2014/main" id="{7E13F3C7-CFF9-4F02-A459-292C507515CD}"/>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06</a:t>
            </a:r>
          </a:p>
        </p:txBody>
      </p:sp>
      <p:sp>
        <p:nvSpPr>
          <p:cNvPr id="10" name="">
            <a:extLst xmlns:a="http://schemas.openxmlformats.org/drawingml/2006/main">
              <a:ext uri="{FF2B5EF4-FFF2-40B4-BE49-F238E27FC236}">
                <a16:creationId xmlns:a16="http://schemas.microsoft.com/office/drawing/2014/main" id="{16FC39F5-BABF-40A6-A312-CD3750111125}"/>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Internet of Agents</a:t>
            </a:r>
          </a:p>
          <a:p xmlns:a="http://schemas.openxmlformats.org/drawingml/2006/main">
            <a:pPr>
              <a:buNone/>
              <a:defRPr sz="3600">
                <a:solidFill>
                  <a:srgbClr val="FFFFFF"/>
                </a:solidFill>
              </a:defRPr>
            </a:pPr>
            <a:r>
              <a:rPr sz="3600">
                <a:solidFill>
                  <a:srgbClr val="FFFFFF"/>
                </a:solidFill>
              </a:rPr>
              <a:t>&amp; Zero Trust</a:t>
            </a:r>
          </a:p>
        </p:txBody>
      </p:sp>
      <p:sp>
        <p:nvSpPr>
          <p:cNvPr id="11" name="">
            <a:extLst xmlns:a="http://schemas.openxmlformats.org/drawingml/2006/main">
              <a:ext uri="{FF2B5EF4-FFF2-40B4-BE49-F238E27FC236}">
                <a16:creationId xmlns:a16="http://schemas.microsoft.com/office/drawing/2014/main" id="{D65B0090-551E-4BDC-B9C0-65E75A73D66C}"/>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Enterprise-scale interoperability and governance</a:t>
            </a:r>
          </a:p>
        </p:txBody>
      </p:sp>
      <p:sp>
        <p:nvSpPr>
          <p:cNvPr id="12" name="">
            <a:extLst xmlns:a="http://schemas.openxmlformats.org/drawingml/2006/main">
              <a:ext uri="{FF2B5EF4-FFF2-40B4-BE49-F238E27FC236}">
                <a16:creationId xmlns:a16="http://schemas.microsoft.com/office/drawing/2014/main" id="{F2E9A046-41E0-4D0E-B1B7-ED8B760BF13B}"/>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866AB8AE-90ED-41D0-87C6-40C08E918DC7}"/>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Foundations  →  Memory &amp; Mind  →  RAG &amp; MCP  →  Type Safety  →  Routing &amp; Repair  →  Zero Trust</a:t>
            </a:r>
          </a:p>
        </p:txBody>
      </p:sp>
    </p:spTree>
    <p:extLst>
      <p:ext uri="{BB962C8B-B14F-4D97-AF65-F5344CB8AC3E}">
        <p14:creationId xmlns:p14="http://schemas.microsoft.com/office/powerpoint/2010/main" val="163701859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E2B5FD1-E7CB-4D2D-ADC9-D488E24F62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C48B850-E666-4A4D-B4D0-C6810F6D988B}"/>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B575715F-BB73-446F-A4E4-303D7E3DBAF8}"/>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E3D5FD1-DEC8-4CB5-86BA-CD1D3FA1B6ED}"/>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956D706-3AA7-4EA8-922D-CBEBDCD9E98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3898806C-DE72-4F29-9D7E-C673CC50C69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6F20257-1C15-4538-A1A3-D92BCF57392B}"/>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Cisco IoA</a:t>
            </a:r>
          </a:p>
        </p:txBody>
      </p:sp>
      <p:sp>
        <p:nvSpPr>
          <p:cNvPr id="8" name="">
            <a:extLst xmlns:a="http://schemas.openxmlformats.org/drawingml/2006/main">
              <a:ext uri="{FF2B5EF4-FFF2-40B4-BE49-F238E27FC236}">
                <a16:creationId xmlns:a16="http://schemas.microsoft.com/office/drawing/2014/main" id="{90841D45-6DD6-4F34-A3AB-CE9AD08EF8FB}"/>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30</a:t>
            </a:r>
          </a:p>
        </p:txBody>
      </p:sp>
      <p:sp>
        <p:nvSpPr>
          <p:cNvPr id="9" name="">
            <a:extLst xmlns:a="http://schemas.openxmlformats.org/drawingml/2006/main">
              <a:ext uri="{FF2B5EF4-FFF2-40B4-BE49-F238E27FC236}">
                <a16:creationId xmlns:a16="http://schemas.microsoft.com/office/drawing/2014/main" id="{0F864291-3AEC-4692-B6A0-EBFC68DE7E66}"/>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6 · Internet of Agents &amp; Zero Trust</a:t>
            </a:r>
          </a:p>
        </p:txBody>
      </p:sp>
      <p:sp>
        <p:nvSpPr>
          <p:cNvPr id="10" name="">
            <a:extLst xmlns:a="http://schemas.openxmlformats.org/drawingml/2006/main">
              <a:ext uri="{FF2B5EF4-FFF2-40B4-BE49-F238E27FC236}">
                <a16:creationId xmlns:a16="http://schemas.microsoft.com/office/drawing/2014/main" id="{BBC775E9-A93B-45E8-998E-6C50F3869BA5}"/>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From Local Team to Ecosystem</a:t>
            </a:r>
          </a:p>
        </p:txBody>
      </p:sp>
      <p:sp>
        <p:nvSpPr>
          <p:cNvPr id="11" name="">
            <a:extLst xmlns:a="http://schemas.openxmlformats.org/drawingml/2006/main">
              <a:ext uri="{FF2B5EF4-FFF2-40B4-BE49-F238E27FC236}">
                <a16:creationId xmlns:a16="http://schemas.microsoft.com/office/drawing/2014/main" id="{1F1753B4-3AD4-48B4-A4C9-2599D80B93B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0F74822E-2763-421C-B53C-F1014FFFE864}"/>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Enterprise agents collaborate across teams, vendors, and tools.</a:t>
            </a:r>
          </a:p>
        </p:txBody>
      </p:sp>
      <p:sp>
        <p:nvSpPr>
          <p:cNvPr id="13" name="">
            <a:extLst xmlns:a="http://schemas.openxmlformats.org/drawingml/2006/main">
              <a:ext uri="{FF2B5EF4-FFF2-40B4-BE49-F238E27FC236}">
                <a16:creationId xmlns:a16="http://schemas.microsoft.com/office/drawing/2014/main" id="{C6CF77DC-2B3F-4867-98A3-10BBF9131556}"/>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D0C14656-BE2F-42DD-AEC4-60D384AEE7FE}"/>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Every agent needs organization, role, trust tier, identity.</a:t>
            </a:r>
          </a:p>
        </p:txBody>
      </p:sp>
      <p:sp>
        <p:nvSpPr>
          <p:cNvPr id="15" name="">
            <a:extLst xmlns:a="http://schemas.openxmlformats.org/drawingml/2006/main">
              <a:ext uri="{FF2B5EF4-FFF2-40B4-BE49-F238E27FC236}">
                <a16:creationId xmlns:a16="http://schemas.microsoft.com/office/drawing/2014/main" id="{08DF6367-6659-4A4F-AEC6-44CD4DE74F70}"/>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50617127-4CE3-4345-900F-FF76632FCE2E}"/>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A2A messages need schemas, provenance, and policy-aware routing.</a:t>
            </a:r>
          </a:p>
        </p:txBody>
      </p:sp>
      <p:sp>
        <p:nvSpPr>
          <p:cNvPr id="17" name="">
            <a:extLst xmlns:a="http://schemas.openxmlformats.org/drawingml/2006/main">
              <a:ext uri="{FF2B5EF4-FFF2-40B4-BE49-F238E27FC236}">
                <a16:creationId xmlns:a16="http://schemas.microsoft.com/office/drawing/2014/main" id="{34044CEE-8F43-410C-A7DB-B3293701AE94}"/>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98ED2F93-F77D-4815-BA65-455BD159FEB0}"/>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Governance matrix: agents × tools × data classes × message types.</a:t>
            </a:r>
          </a:p>
        </p:txBody>
      </p:sp>
      <p:sp>
        <p:nvSpPr>
          <p:cNvPr id="19" name="">
            <a:extLst xmlns:a="http://schemas.openxmlformats.org/drawingml/2006/main">
              <a:ext uri="{FF2B5EF4-FFF2-40B4-BE49-F238E27FC236}">
                <a16:creationId xmlns:a16="http://schemas.microsoft.com/office/drawing/2014/main" id="{0768C298-F3E5-4F8D-BC05-19B96322424E}"/>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Enterprise multi-agent AI is a governed network.</a:t>
            </a:r>
          </a:p>
        </p:txBody>
      </p:sp>
      <p:sp>
        <p:nvSpPr>
          <p:cNvPr id="20" name="">
            <a:extLst xmlns:a="http://schemas.openxmlformats.org/drawingml/2006/main">
              <a:ext uri="{FF2B5EF4-FFF2-40B4-BE49-F238E27FC236}">
                <a16:creationId xmlns:a16="http://schemas.microsoft.com/office/drawing/2014/main" id="{99EAAFEF-9CD2-4115-8396-AC8E0E4E1B00}"/>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104244266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5530343-9393-4DE8-9084-9364346037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25F3A8D-1A25-4366-BAAD-46FCE5153179}"/>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F7E87D4D-F40A-42FB-8A40-44C7FFC236E8}"/>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63C85403-86E1-44FE-B7A8-8672303C83F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EEC3EBCA-A2F2-4907-88F1-C020224498D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9024ADDB-0E84-4823-819F-D22AA8C3AACF}"/>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41CB83E-9B12-4282-B196-C92202E558DE}"/>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OWASP + A2A</a:t>
            </a:r>
          </a:p>
        </p:txBody>
      </p:sp>
      <p:sp>
        <p:nvSpPr>
          <p:cNvPr id="8" name="">
            <a:extLst xmlns:a="http://schemas.openxmlformats.org/drawingml/2006/main">
              <a:ext uri="{FF2B5EF4-FFF2-40B4-BE49-F238E27FC236}">
                <a16:creationId xmlns:a16="http://schemas.microsoft.com/office/drawing/2014/main" id="{AB328B23-F1A8-4C82-B554-B70FBCEBEF8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31</a:t>
            </a:r>
          </a:p>
        </p:txBody>
      </p:sp>
      <p:sp>
        <p:nvSpPr>
          <p:cNvPr id="9" name="">
            <a:extLst xmlns:a="http://schemas.openxmlformats.org/drawingml/2006/main">
              <a:ext uri="{FF2B5EF4-FFF2-40B4-BE49-F238E27FC236}">
                <a16:creationId xmlns:a16="http://schemas.microsoft.com/office/drawing/2014/main" id="{02760B9C-095B-4682-893D-A2B9948BB2ED}"/>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6 · Internet of Agents &amp; Zero Trust</a:t>
            </a:r>
          </a:p>
        </p:txBody>
      </p:sp>
      <p:sp>
        <p:nvSpPr>
          <p:cNvPr id="10" name="">
            <a:extLst xmlns:a="http://schemas.openxmlformats.org/drawingml/2006/main">
              <a:ext uri="{FF2B5EF4-FFF2-40B4-BE49-F238E27FC236}">
                <a16:creationId xmlns:a16="http://schemas.microsoft.com/office/drawing/2014/main" id="{91836EFE-B8BE-4DFE-B1B8-350003A99337}"/>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Threat Model &amp; Controls</a:t>
            </a:r>
          </a:p>
        </p:txBody>
      </p:sp>
      <p:sp>
        <p:nvSpPr>
          <p:cNvPr id="11" name="">
            <a:extLst xmlns:a="http://schemas.openxmlformats.org/drawingml/2006/main">
              <a:ext uri="{FF2B5EF4-FFF2-40B4-BE49-F238E27FC236}">
                <a16:creationId xmlns:a16="http://schemas.microsoft.com/office/drawing/2014/main" id="{0DF89095-ED0A-4616-810B-459A5FD7B92D}"/>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B1D5E6A2-0CCC-427A-9B5D-512CDAE5973A}"/>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5A4DABA2-B3C4-4618-BF14-BF5683CCB15F}"/>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What Can Go Wrong</a:t>
            </a:r>
          </a:p>
        </p:txBody>
      </p:sp>
      <p:sp>
        <p:nvSpPr>
          <p:cNvPr id="14" name="">
            <a:extLst xmlns:a="http://schemas.openxmlformats.org/drawingml/2006/main">
              <a:ext uri="{FF2B5EF4-FFF2-40B4-BE49-F238E27FC236}">
                <a16:creationId xmlns:a16="http://schemas.microsoft.com/office/drawing/2014/main" id="{2CBC60DA-479D-4828-9D13-BA481C4A2C15}"/>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Governance Controls</a:t>
            </a:r>
          </a:p>
        </p:txBody>
      </p:sp>
      <p:sp>
        <p:nvSpPr>
          <p:cNvPr id="15" name="">
            <a:extLst xmlns:a="http://schemas.openxmlformats.org/drawingml/2006/main">
              <a:ext uri="{FF2B5EF4-FFF2-40B4-BE49-F238E27FC236}">
                <a16:creationId xmlns:a16="http://schemas.microsoft.com/office/drawing/2014/main" id="{338458B0-3817-4AE6-9299-8908311E508D}"/>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9C3A1F7B-AB32-4C7C-BD77-BA3EBEFDD9FC}"/>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Prompt injection from payload</a:t>
            </a:r>
          </a:p>
        </p:txBody>
      </p:sp>
      <p:sp>
        <p:nvSpPr>
          <p:cNvPr id="17" name="">
            <a:extLst xmlns:a="http://schemas.openxmlformats.org/drawingml/2006/main">
              <a:ext uri="{FF2B5EF4-FFF2-40B4-BE49-F238E27FC236}">
                <a16:creationId xmlns:a16="http://schemas.microsoft.com/office/drawing/2014/main" id="{82EB1A25-55B7-4023-BF7D-5D0A90962AED}"/>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B6134335-3529-4969-BFF8-633DD4D9A650}"/>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Tool misuse by impersonated agent</a:t>
            </a:r>
          </a:p>
        </p:txBody>
      </p:sp>
      <p:sp>
        <p:nvSpPr>
          <p:cNvPr id="19" name="">
            <a:extLst xmlns:a="http://schemas.openxmlformats.org/drawingml/2006/main">
              <a:ext uri="{FF2B5EF4-FFF2-40B4-BE49-F238E27FC236}">
                <a16:creationId xmlns:a16="http://schemas.microsoft.com/office/drawing/2014/main" id="{3A56AE5C-40A4-4BF1-93C7-BB598CEA9DD8}"/>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8FC2C073-498C-4ACD-AD95-E7EC022533A7}"/>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Context exfiltration across orgs</a:t>
            </a:r>
          </a:p>
        </p:txBody>
      </p:sp>
      <p:sp>
        <p:nvSpPr>
          <p:cNvPr id="21" name="">
            <a:extLst xmlns:a="http://schemas.openxmlformats.org/drawingml/2006/main">
              <a:ext uri="{FF2B5EF4-FFF2-40B4-BE49-F238E27FC236}">
                <a16:creationId xmlns:a16="http://schemas.microsoft.com/office/drawing/2014/main" id="{4ED8F6BE-0C39-4B75-BB8C-C5E7C1D3ECC5}"/>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4F954B16-F7C7-4EF4-8F3F-39755344CB90}"/>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Unbounded agent-to-agent delegation</a:t>
            </a:r>
          </a:p>
        </p:txBody>
      </p:sp>
      <p:sp>
        <p:nvSpPr>
          <p:cNvPr id="23" name="">
            <a:extLst xmlns:a="http://schemas.openxmlformats.org/drawingml/2006/main">
              <a:ext uri="{FF2B5EF4-FFF2-40B4-BE49-F238E27FC236}">
                <a16:creationId xmlns:a16="http://schemas.microsoft.com/office/drawing/2014/main" id="{DA7889BC-3259-49ED-B932-43595C7C02FD}"/>
              </a:ext>
            </a:extLst>
          </p:cNvPr>
          <p:cNvSpPr>
            <a:spLocks xmlns:a="http://schemas.openxmlformats.org/drawingml/2006/main" noGrp="1"/>
          </p:cNvSpPr>
          <p:nvPr/>
        </p:nvSpPr>
        <p:spPr>
          <a:xfrm xmlns:a="http://schemas.openxmlformats.org/drawingml/2006/main">
            <a:off x="800100" y="4286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2793EB92-D041-41B7-AA70-99A19AAB2F8D}"/>
              </a:ext>
            </a:extLst>
          </p:cNvPr>
          <p:cNvSpPr>
            <a:spLocks xmlns:a="http://schemas.openxmlformats.org/drawingml/2006/main" noGrp="1"/>
          </p:cNvSpPr>
          <p:nvPr/>
        </p:nvSpPr>
        <p:spPr>
          <a:xfrm xmlns:a="http://schemas.openxmlformats.org/drawingml/2006/main">
            <a:off x="1104900" y="42862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Stale permissions</a:t>
            </a:r>
          </a:p>
        </p:txBody>
      </p:sp>
      <p:sp>
        <p:nvSpPr>
          <p:cNvPr id="25" name="">
            <a:extLst xmlns:a="http://schemas.openxmlformats.org/drawingml/2006/main">
              <a:ext uri="{FF2B5EF4-FFF2-40B4-BE49-F238E27FC236}">
                <a16:creationId xmlns:a16="http://schemas.microsoft.com/office/drawing/2014/main" id="{84900231-8AD6-4706-9D1A-6954B20F8C5F}"/>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EC3BE6CB-E6CF-45FC-847A-669946CFFEC4}"/>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Schema checks on A2A messages</a:t>
            </a:r>
          </a:p>
        </p:txBody>
      </p:sp>
      <p:sp>
        <p:nvSpPr>
          <p:cNvPr id="27" name="">
            <a:extLst xmlns:a="http://schemas.openxmlformats.org/drawingml/2006/main">
              <a:ext uri="{FF2B5EF4-FFF2-40B4-BE49-F238E27FC236}">
                <a16:creationId xmlns:a16="http://schemas.microsoft.com/office/drawing/2014/main" id="{EAD62606-7BC2-442E-9928-0514EAC44F0F}"/>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982C71BD-7474-4A73-83CB-9F9D3BFCB647}"/>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Dead-letter denied payloads</a:t>
            </a:r>
          </a:p>
        </p:txBody>
      </p:sp>
      <p:sp>
        <p:nvSpPr>
          <p:cNvPr id="29" name="">
            <a:extLst xmlns:a="http://schemas.openxmlformats.org/drawingml/2006/main">
              <a:ext uri="{FF2B5EF4-FFF2-40B4-BE49-F238E27FC236}">
                <a16:creationId xmlns:a16="http://schemas.microsoft.com/office/drawing/2014/main" id="{C917462C-2452-4235-8908-DDF13E9B05D5}"/>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61287211-5215-40AC-8C7A-7A4636B56F05}"/>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Audit every route and tool call</a:t>
            </a:r>
          </a:p>
        </p:txBody>
      </p:sp>
      <p:sp>
        <p:nvSpPr>
          <p:cNvPr id="31" name="">
            <a:extLst xmlns:a="http://schemas.openxmlformats.org/drawingml/2006/main">
              <a:ext uri="{FF2B5EF4-FFF2-40B4-BE49-F238E27FC236}">
                <a16:creationId xmlns:a16="http://schemas.microsoft.com/office/drawing/2014/main" id="{BAE82350-C0A1-43F3-B6DE-6E989269E059}"/>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2" name="">
            <a:extLst xmlns:a="http://schemas.openxmlformats.org/drawingml/2006/main">
              <a:ext uri="{FF2B5EF4-FFF2-40B4-BE49-F238E27FC236}">
                <a16:creationId xmlns:a16="http://schemas.microsoft.com/office/drawing/2014/main" id="{5718C6A7-4A4A-48E4-9FFA-D32E097BAD7D}"/>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Trust tiers: internal, partner, public</a:t>
            </a:r>
          </a:p>
        </p:txBody>
      </p:sp>
      <p:sp>
        <p:nvSpPr>
          <p:cNvPr id="33" name="">
            <a:extLst xmlns:a="http://schemas.openxmlformats.org/drawingml/2006/main">
              <a:ext uri="{FF2B5EF4-FFF2-40B4-BE49-F238E27FC236}">
                <a16:creationId xmlns:a16="http://schemas.microsoft.com/office/drawing/2014/main" id="{F4475EFF-3802-4C12-87CE-E9884554F9E2}"/>
              </a:ext>
            </a:extLst>
          </p:cNvPr>
          <p:cNvSpPr>
            <a:spLocks xmlns:a="http://schemas.openxmlformats.org/drawingml/2006/main" noGrp="1"/>
          </p:cNvSpPr>
          <p:nvPr/>
        </p:nvSpPr>
        <p:spPr>
          <a:xfrm xmlns:a="http://schemas.openxmlformats.org/drawingml/2006/main">
            <a:off x="6629400" y="4286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4" name="">
            <a:extLst xmlns:a="http://schemas.openxmlformats.org/drawingml/2006/main">
              <a:ext uri="{FF2B5EF4-FFF2-40B4-BE49-F238E27FC236}">
                <a16:creationId xmlns:a16="http://schemas.microsoft.com/office/drawing/2014/main" id="{BED1B790-FD0F-46C9-85EC-EE158F0FF068}"/>
              </a:ext>
            </a:extLst>
          </p:cNvPr>
          <p:cNvSpPr>
            <a:spLocks xmlns:a="http://schemas.openxmlformats.org/drawingml/2006/main" noGrp="1"/>
          </p:cNvSpPr>
          <p:nvPr/>
        </p:nvSpPr>
        <p:spPr>
          <a:xfrm xmlns:a="http://schemas.openxmlformats.org/drawingml/2006/main">
            <a:off x="6934200" y="42862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No action without policy approval</a:t>
            </a:r>
          </a:p>
        </p:txBody>
      </p:sp>
      <p:sp>
        <p:nvSpPr>
          <p:cNvPr id="35" name="">
            <a:extLst xmlns:a="http://schemas.openxmlformats.org/drawingml/2006/main">
              <a:ext uri="{FF2B5EF4-FFF2-40B4-BE49-F238E27FC236}">
                <a16:creationId xmlns:a16="http://schemas.microsoft.com/office/drawing/2014/main" id="{6952BDDC-092D-4383-91BA-F8533F88018C}"/>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Log route decisions, tool calls, denials, schema failures, and repairs.</a:t>
            </a:r>
          </a:p>
        </p:txBody>
      </p:sp>
    </p:spTree>
    <p:extLst>
      <p:ext uri="{BB962C8B-B14F-4D97-AF65-F5344CB8AC3E}">
        <p14:creationId xmlns:p14="http://schemas.microsoft.com/office/powerpoint/2010/main" val="20683221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DBB4A69-B4C2-4E10-A3AA-AAA4ACD408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443A035-2CDA-4425-A2D0-C4327918A3A4}"/>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0EFE6799-F628-4696-AF40-CA251CE5C0BA}"/>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D1998F4A-43BF-46E7-9FD8-604AA544753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226B53A4-3E2F-4B4B-A9F8-2F188C0AAD9C}"/>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F45596E6-C74A-476F-AC6F-479419729344}"/>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1AF5263F-5180-4404-8419-76760BA7AF11}"/>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IoA ecosystem</a:t>
            </a:r>
          </a:p>
        </p:txBody>
      </p:sp>
      <p:sp>
        <p:nvSpPr>
          <p:cNvPr id="8" name="">
            <a:extLst xmlns:a="http://schemas.openxmlformats.org/drawingml/2006/main">
              <a:ext uri="{FF2B5EF4-FFF2-40B4-BE49-F238E27FC236}">
                <a16:creationId xmlns:a16="http://schemas.microsoft.com/office/drawing/2014/main" id="{2F3F942D-3345-49F0-A7E1-A4F59CE8457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32</a:t>
            </a:r>
          </a:p>
        </p:txBody>
      </p:sp>
      <p:sp>
        <p:nvSpPr>
          <p:cNvPr id="9" name="">
            <a:extLst xmlns:a="http://schemas.openxmlformats.org/drawingml/2006/main">
              <a:ext uri="{FF2B5EF4-FFF2-40B4-BE49-F238E27FC236}">
                <a16:creationId xmlns:a16="http://schemas.microsoft.com/office/drawing/2014/main" id="{538A217F-F861-4062-B147-3609EF4BB293}"/>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6 · Internet of Agents &amp; Zero Trust</a:t>
            </a:r>
          </a:p>
        </p:txBody>
      </p:sp>
      <p:sp>
        <p:nvSpPr>
          <p:cNvPr id="10" name="">
            <a:extLst xmlns:a="http://schemas.openxmlformats.org/drawingml/2006/main">
              <a:ext uri="{FF2B5EF4-FFF2-40B4-BE49-F238E27FC236}">
                <a16:creationId xmlns:a16="http://schemas.microsoft.com/office/drawing/2014/main" id="{C7FA0716-9AED-4176-96CE-5F2EF19F741A}"/>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D386527F-204C-49EC-B5CB-D5D0D6BC4AA2}"/>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45B243F9-0328-4966-AF2A-C719F9B38662}"/>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Enterprise multi-agent AI</a:t>
            </a:r>
          </a:p>
        </p:txBody>
      </p:sp>
      <p:sp>
        <p:nvSpPr>
          <p:cNvPr id="13" name="">
            <a:extLst xmlns:a="http://schemas.openxmlformats.org/drawingml/2006/main">
              <a:ext uri="{FF2B5EF4-FFF2-40B4-BE49-F238E27FC236}">
                <a16:creationId xmlns:a16="http://schemas.microsoft.com/office/drawing/2014/main" id="{4865FEDF-49B3-4DC6-90E3-BCDD0ECE1111}"/>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is a governed network,</a:t>
            </a:r>
          </a:p>
        </p:txBody>
      </p:sp>
      <p:sp>
        <p:nvSpPr>
          <p:cNvPr id="14" name="">
            <a:extLst xmlns:a="http://schemas.openxmlformats.org/drawingml/2006/main">
              <a:ext uri="{FF2B5EF4-FFF2-40B4-BE49-F238E27FC236}">
                <a16:creationId xmlns:a16="http://schemas.microsoft.com/office/drawing/2014/main" id="{CE8CB8E8-296C-485F-A8EE-124059EBA7F4}"/>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not a bigger chat room.</a:t>
            </a:r>
          </a:p>
        </p:txBody>
      </p:sp>
    </p:spTree>
    <p:extLst>
      <p:ext uri="{BB962C8B-B14F-4D97-AF65-F5344CB8AC3E}">
        <p14:creationId xmlns:p14="http://schemas.microsoft.com/office/powerpoint/2010/main" val="140722564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78B82B48-82B6-407F-A754-C2C02481A1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3E04BCD-6947-49AF-B3CC-ED56C7E1D05F}"/>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A2F89467-F80A-425E-A5A1-FD4E46DE79CE}"/>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65585B84-BD7D-4F4A-97A4-7233D4A4E5F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AF0E25C-55D2-4801-92C9-65223EE8B45E}"/>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3417B062-C223-42C2-B2A3-E43B416E49E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6EC29FD9-5D9F-498A-9B5C-1E610EA93201}"/>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Ex5 capstone specification</a:t>
            </a:r>
          </a:p>
        </p:txBody>
      </p:sp>
      <p:sp>
        <p:nvSpPr>
          <p:cNvPr id="8" name="">
            <a:extLst xmlns:a="http://schemas.openxmlformats.org/drawingml/2006/main">
              <a:ext uri="{FF2B5EF4-FFF2-40B4-BE49-F238E27FC236}">
                <a16:creationId xmlns:a16="http://schemas.microsoft.com/office/drawing/2014/main" id="{9D394733-D166-404C-84CC-B09929E5C5EC}"/>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33</a:t>
            </a:r>
          </a:p>
        </p:txBody>
      </p:sp>
      <p:sp>
        <p:nvSpPr>
          <p:cNvPr id="9" name="">
            <a:extLst xmlns:a="http://schemas.openxmlformats.org/drawingml/2006/main">
              <a:ext uri="{FF2B5EF4-FFF2-40B4-BE49-F238E27FC236}">
                <a16:creationId xmlns:a16="http://schemas.microsoft.com/office/drawing/2014/main" id="{62234EE4-57FF-4E13-8BB2-72DFAAF4DDF4}"/>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Capstone · Target Architecture</a:t>
            </a:r>
          </a:p>
        </p:txBody>
      </p:sp>
      <p:sp>
        <p:nvSpPr>
          <p:cNvPr id="10" name="">
            <a:extLst xmlns:a="http://schemas.openxmlformats.org/drawingml/2006/main">
              <a:ext uri="{FF2B5EF4-FFF2-40B4-BE49-F238E27FC236}">
                <a16:creationId xmlns:a16="http://schemas.microsoft.com/office/drawing/2014/main" id="{7F0C4A04-15D0-4028-AFDF-418C80992BB0}"/>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Capstone Pipeline: Virtual Software Company</a:t>
            </a:r>
          </a:p>
        </p:txBody>
      </p:sp>
      <p:sp>
        <p:nvSpPr>
          <p:cNvPr id="11" name="">
            <a:extLst xmlns:a="http://schemas.openxmlformats.org/drawingml/2006/main">
              <a:ext uri="{FF2B5EF4-FFF2-40B4-BE49-F238E27FC236}">
                <a16:creationId xmlns:a16="http://schemas.microsoft.com/office/drawing/2014/main" id="{85983521-F933-4C8A-A88A-977FA240CC81}"/>
              </a:ext>
            </a:extLst>
          </p:cNvPr>
          <p:cNvSpPr>
            <a:spLocks xmlns:a="http://schemas.openxmlformats.org/drawingml/2006/main" noGrp="1"/>
          </p:cNvSpPr>
          <p:nvPr/>
        </p:nvSpPr>
        <p:spPr>
          <a:xfrm xmlns:a="http://schemas.openxmlformats.org/drawingml/2006/main">
            <a:off x="514350" y="1600200"/>
            <a:ext cx="11163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350" b="1">
                <a:solidFill>
                  <a:srgbClr val="D8DBFF"/>
                </a:solidFill>
                <a:latin typeface="Calibri"/>
                <a:ea typeface="Calibri"/>
                <a:cs typeface="Calibri"/>
              </a:defRPr>
            </a:pPr>
            <a:r>
              <a:rPr sz="1350" b="1">
                <a:solidFill>
                  <a:srgbClr val="D8DBFF"/>
                </a:solidFill>
                <a:latin typeface="Calibri"/>
                <a:ea typeface="Calibri"/>
                <a:cs typeface="Calibri"/>
              </a:rPr>
              <a:t>RAW ISSUE / EXTERNAL REQUEST</a:t>
            </a:r>
          </a:p>
        </p:txBody>
      </p:sp>
      <p:sp>
        <p:nvSpPr>
          <p:cNvPr id="12" name="editable diagram card">
            <a:extLst xmlns:a="http://schemas.openxmlformats.org/drawingml/2006/main">
              <a:ext uri="{FF2B5EF4-FFF2-40B4-BE49-F238E27FC236}">
                <a16:creationId xmlns:a16="http://schemas.microsoft.com/office/drawing/2014/main" id="{E61AE9C4-2159-4DF9-ABE2-B58711544F18}"/>
              </a:ext>
            </a:extLst>
          </p:cNvPr>
          <p:cNvSpPr>
            <a:spLocks xmlns:a="http://schemas.openxmlformats.org/drawingml/2006/main" noGrp="1"/>
          </p:cNvSpPr>
          <p:nvPr/>
        </p:nvSpPr>
        <p:spPr>
          <a:xfrm xmlns:a="http://schemas.openxmlformats.org/drawingml/2006/main">
            <a:off x="51435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13" name="">
            <a:extLst xmlns:a="http://schemas.openxmlformats.org/drawingml/2006/main">
              <a:ext uri="{FF2B5EF4-FFF2-40B4-BE49-F238E27FC236}">
                <a16:creationId xmlns:a16="http://schemas.microsoft.com/office/drawing/2014/main" id="{18FD6CFC-579F-4969-8E9E-D53860AA2A04}"/>
              </a:ext>
            </a:extLst>
          </p:cNvPr>
          <p:cNvSpPr>
            <a:spLocks xmlns:a="http://schemas.openxmlformats.org/drawingml/2006/main" noGrp="1"/>
          </p:cNvSpPr>
          <p:nvPr/>
        </p:nvSpPr>
        <p:spPr>
          <a:xfrm xmlns:a="http://schemas.openxmlformats.org/drawingml/2006/main">
            <a:off x="62865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1 · API GATEWAY</a:t>
            </a:r>
          </a:p>
        </p:txBody>
      </p:sp>
      <p:sp>
        <p:nvSpPr>
          <p:cNvPr id="14" name="">
            <a:extLst xmlns:a="http://schemas.openxmlformats.org/drawingml/2006/main">
              <a:ext uri="{FF2B5EF4-FFF2-40B4-BE49-F238E27FC236}">
                <a16:creationId xmlns:a16="http://schemas.microsoft.com/office/drawing/2014/main" id="{95CB5965-CD90-467B-9594-DD837007F0C6}"/>
              </a:ext>
            </a:extLst>
          </p:cNvPr>
          <p:cNvSpPr>
            <a:spLocks xmlns:a="http://schemas.openxmlformats.org/drawingml/2006/main" noGrp="1"/>
          </p:cNvSpPr>
          <p:nvPr/>
        </p:nvSpPr>
        <p:spPr>
          <a:xfrm xmlns:a="http://schemas.openxmlformats.org/drawingml/2006/main">
            <a:off x="63817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Validate request</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Map identity</a:t>
            </a:r>
          </a:p>
        </p:txBody>
      </p:sp>
      <p:sp>
        <p:nvSpPr>
          <p:cNvPr id="15" name="">
            <a:extLst xmlns:a="http://schemas.openxmlformats.org/drawingml/2006/main">
              <a:ext uri="{FF2B5EF4-FFF2-40B4-BE49-F238E27FC236}">
                <a16:creationId xmlns:a16="http://schemas.microsoft.com/office/drawing/2014/main" id="{8FD39360-D498-4838-AE3B-5FCFD75897A6}"/>
              </a:ext>
            </a:extLst>
          </p:cNvPr>
          <p:cNvSpPr>
            <a:spLocks xmlns:a="http://schemas.openxmlformats.org/drawingml/2006/main" noGrp="1"/>
          </p:cNvSpPr>
          <p:nvPr/>
        </p:nvSpPr>
        <p:spPr>
          <a:xfrm xmlns:a="http://schemas.openxmlformats.org/drawingml/2006/main">
            <a:off x="209550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16" name="editable diagram card">
            <a:extLst xmlns:a="http://schemas.openxmlformats.org/drawingml/2006/main">
              <a:ext uri="{FF2B5EF4-FFF2-40B4-BE49-F238E27FC236}">
                <a16:creationId xmlns:a16="http://schemas.microsoft.com/office/drawing/2014/main" id="{DF1D7EF8-BD1C-4244-8041-91E25BEBF3BA}"/>
              </a:ext>
            </a:extLst>
          </p:cNvPr>
          <p:cNvSpPr>
            <a:spLocks xmlns:a="http://schemas.openxmlformats.org/drawingml/2006/main" noGrp="1"/>
          </p:cNvSpPr>
          <p:nvPr/>
        </p:nvSpPr>
        <p:spPr>
          <a:xfrm xmlns:a="http://schemas.openxmlformats.org/drawingml/2006/main">
            <a:off x="240030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17" name="">
            <a:extLst xmlns:a="http://schemas.openxmlformats.org/drawingml/2006/main">
              <a:ext uri="{FF2B5EF4-FFF2-40B4-BE49-F238E27FC236}">
                <a16:creationId xmlns:a16="http://schemas.microsoft.com/office/drawing/2014/main" id="{DA6EF542-1DB5-46EB-AB91-D0B63576BFAC}"/>
              </a:ext>
            </a:extLst>
          </p:cNvPr>
          <p:cNvSpPr>
            <a:spLocks xmlns:a="http://schemas.openxmlformats.org/drawingml/2006/main" noGrp="1"/>
          </p:cNvSpPr>
          <p:nvPr/>
        </p:nvSpPr>
        <p:spPr>
          <a:xfrm xmlns:a="http://schemas.openxmlformats.org/drawingml/2006/main">
            <a:off x="251460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89378"/>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2 · PM + TECH LEAD</a:t>
            </a:r>
          </a:p>
        </p:txBody>
      </p:sp>
      <p:sp>
        <p:nvSpPr>
          <p:cNvPr id="18" name="">
            <a:extLst xmlns:a="http://schemas.openxmlformats.org/drawingml/2006/main">
              <a:ext uri="{FF2B5EF4-FFF2-40B4-BE49-F238E27FC236}">
                <a16:creationId xmlns:a16="http://schemas.microsoft.com/office/drawing/2014/main" id="{8F17AAFC-2922-4EF6-8BF5-4B1429DBDDA1}"/>
              </a:ext>
            </a:extLst>
          </p:cNvPr>
          <p:cNvSpPr>
            <a:spLocks xmlns:a="http://schemas.openxmlformats.org/drawingml/2006/main" noGrp="1"/>
          </p:cNvSpPr>
          <p:nvPr/>
        </p:nvSpPr>
        <p:spPr>
          <a:xfrm xmlns:a="http://schemas.openxmlformats.org/drawingml/2006/main">
            <a:off x="252412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TaskSpec</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SubTasks</a:t>
            </a:r>
          </a:p>
        </p:txBody>
      </p:sp>
      <p:sp>
        <p:nvSpPr>
          <p:cNvPr id="19" name="">
            <a:extLst xmlns:a="http://schemas.openxmlformats.org/drawingml/2006/main">
              <a:ext uri="{FF2B5EF4-FFF2-40B4-BE49-F238E27FC236}">
                <a16:creationId xmlns:a16="http://schemas.microsoft.com/office/drawing/2014/main" id="{AF10F14E-C5D7-40F7-88AE-B47EE4141344}"/>
              </a:ext>
            </a:extLst>
          </p:cNvPr>
          <p:cNvSpPr>
            <a:spLocks xmlns:a="http://schemas.openxmlformats.org/drawingml/2006/main" noGrp="1"/>
          </p:cNvSpPr>
          <p:nvPr/>
        </p:nvSpPr>
        <p:spPr>
          <a:xfrm xmlns:a="http://schemas.openxmlformats.org/drawingml/2006/main">
            <a:off x="398145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20" name="editable diagram card">
            <a:extLst xmlns:a="http://schemas.openxmlformats.org/drawingml/2006/main">
              <a:ext uri="{FF2B5EF4-FFF2-40B4-BE49-F238E27FC236}">
                <a16:creationId xmlns:a16="http://schemas.microsoft.com/office/drawing/2014/main" id="{D4354889-B34A-4C1C-828C-2A0258DBA32E}"/>
              </a:ext>
            </a:extLst>
          </p:cNvPr>
          <p:cNvSpPr>
            <a:spLocks xmlns:a="http://schemas.openxmlformats.org/drawingml/2006/main" noGrp="1"/>
          </p:cNvSpPr>
          <p:nvPr/>
        </p:nvSpPr>
        <p:spPr>
          <a:xfrm xmlns:a="http://schemas.openxmlformats.org/drawingml/2006/main">
            <a:off x="428625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21" name="">
            <a:extLst xmlns:a="http://schemas.openxmlformats.org/drawingml/2006/main">
              <a:ext uri="{FF2B5EF4-FFF2-40B4-BE49-F238E27FC236}">
                <a16:creationId xmlns:a16="http://schemas.microsoft.com/office/drawing/2014/main" id="{75AEA97F-C850-4B7D-A56C-BF78D0B249C0}"/>
              </a:ext>
            </a:extLst>
          </p:cNvPr>
          <p:cNvSpPr>
            <a:spLocks xmlns:a="http://schemas.openxmlformats.org/drawingml/2006/main" noGrp="1"/>
          </p:cNvSpPr>
          <p:nvPr/>
        </p:nvSpPr>
        <p:spPr>
          <a:xfrm xmlns:a="http://schemas.openxmlformats.org/drawingml/2006/main">
            <a:off x="440055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3 · CODER</a:t>
            </a:r>
          </a:p>
        </p:txBody>
      </p:sp>
      <p:sp>
        <p:nvSpPr>
          <p:cNvPr id="22" name="">
            <a:extLst xmlns:a="http://schemas.openxmlformats.org/drawingml/2006/main">
              <a:ext uri="{FF2B5EF4-FFF2-40B4-BE49-F238E27FC236}">
                <a16:creationId xmlns:a16="http://schemas.microsoft.com/office/drawing/2014/main" id="{A740F9F1-50FB-4A9C-B4FA-AA68152D7EC7}"/>
              </a:ext>
            </a:extLst>
          </p:cNvPr>
          <p:cNvSpPr>
            <a:spLocks xmlns:a="http://schemas.openxmlformats.org/drawingml/2006/main" noGrp="1"/>
          </p:cNvSpPr>
          <p:nvPr/>
        </p:nvSpPr>
        <p:spPr>
          <a:xfrm xmlns:a="http://schemas.openxmlformats.org/drawingml/2006/main">
            <a:off x="441007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Create CodePatch</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through tool gate</a:t>
            </a:r>
          </a:p>
        </p:txBody>
      </p:sp>
      <p:sp>
        <p:nvSpPr>
          <p:cNvPr id="23" name="">
            <a:extLst xmlns:a="http://schemas.openxmlformats.org/drawingml/2006/main">
              <a:ext uri="{FF2B5EF4-FFF2-40B4-BE49-F238E27FC236}">
                <a16:creationId xmlns:a16="http://schemas.microsoft.com/office/drawing/2014/main" id="{DA24FB87-BF44-42DD-9129-87512EA19EA7}"/>
              </a:ext>
            </a:extLst>
          </p:cNvPr>
          <p:cNvSpPr>
            <a:spLocks xmlns:a="http://schemas.openxmlformats.org/drawingml/2006/main" noGrp="1"/>
          </p:cNvSpPr>
          <p:nvPr/>
        </p:nvSpPr>
        <p:spPr>
          <a:xfrm xmlns:a="http://schemas.openxmlformats.org/drawingml/2006/main">
            <a:off x="586740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24" name="editable diagram card">
            <a:extLst xmlns:a="http://schemas.openxmlformats.org/drawingml/2006/main">
              <a:ext uri="{FF2B5EF4-FFF2-40B4-BE49-F238E27FC236}">
                <a16:creationId xmlns:a16="http://schemas.microsoft.com/office/drawing/2014/main" id="{349A0742-3413-4289-9775-D97C6CE3B20A}"/>
              </a:ext>
            </a:extLst>
          </p:cNvPr>
          <p:cNvSpPr>
            <a:spLocks xmlns:a="http://schemas.openxmlformats.org/drawingml/2006/main" noGrp="1"/>
          </p:cNvSpPr>
          <p:nvPr/>
        </p:nvSpPr>
        <p:spPr>
          <a:xfrm xmlns:a="http://schemas.openxmlformats.org/drawingml/2006/main">
            <a:off x="617220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25" name="">
            <a:extLst xmlns:a="http://schemas.openxmlformats.org/drawingml/2006/main">
              <a:ext uri="{FF2B5EF4-FFF2-40B4-BE49-F238E27FC236}">
                <a16:creationId xmlns:a16="http://schemas.microsoft.com/office/drawing/2014/main" id="{9546D4B6-D49F-4A0E-968A-E4917E78C719}"/>
              </a:ext>
            </a:extLst>
          </p:cNvPr>
          <p:cNvSpPr>
            <a:spLocks xmlns:a="http://schemas.openxmlformats.org/drawingml/2006/main" noGrp="1"/>
          </p:cNvSpPr>
          <p:nvPr/>
        </p:nvSpPr>
        <p:spPr>
          <a:xfrm xmlns:a="http://schemas.openxmlformats.org/drawingml/2006/main">
            <a:off x="628650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4 · QA TESTER</a:t>
            </a:r>
          </a:p>
        </p:txBody>
      </p:sp>
      <p:sp>
        <p:nvSpPr>
          <p:cNvPr id="26" name="">
            <a:extLst xmlns:a="http://schemas.openxmlformats.org/drawingml/2006/main">
              <a:ext uri="{FF2B5EF4-FFF2-40B4-BE49-F238E27FC236}">
                <a16:creationId xmlns:a16="http://schemas.microsoft.com/office/drawing/2014/main" id="{C166A7C2-7658-458E-A4FC-D76C9982775A}"/>
              </a:ext>
            </a:extLst>
          </p:cNvPr>
          <p:cNvSpPr>
            <a:spLocks xmlns:a="http://schemas.openxmlformats.org/drawingml/2006/main" noGrp="1"/>
          </p:cNvSpPr>
          <p:nvPr/>
        </p:nvSpPr>
        <p:spPr>
          <a:xfrm xmlns:a="http://schemas.openxmlformats.org/drawingml/2006/main">
            <a:off x="629602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EXECUTE_TESTS</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Return TestResult</a:t>
            </a:r>
          </a:p>
        </p:txBody>
      </p:sp>
      <p:sp>
        <p:nvSpPr>
          <p:cNvPr id="27" name="">
            <a:extLst xmlns:a="http://schemas.openxmlformats.org/drawingml/2006/main">
              <a:ext uri="{FF2B5EF4-FFF2-40B4-BE49-F238E27FC236}">
                <a16:creationId xmlns:a16="http://schemas.microsoft.com/office/drawing/2014/main" id="{ED2FF608-7B60-4915-AEE7-85E4908E93B8}"/>
              </a:ext>
            </a:extLst>
          </p:cNvPr>
          <p:cNvSpPr>
            <a:spLocks xmlns:a="http://schemas.openxmlformats.org/drawingml/2006/main" noGrp="1"/>
          </p:cNvSpPr>
          <p:nvPr/>
        </p:nvSpPr>
        <p:spPr>
          <a:xfrm xmlns:a="http://schemas.openxmlformats.org/drawingml/2006/main">
            <a:off x="775335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28" name="editable diagram card">
            <a:extLst xmlns:a="http://schemas.openxmlformats.org/drawingml/2006/main">
              <a:ext uri="{FF2B5EF4-FFF2-40B4-BE49-F238E27FC236}">
                <a16:creationId xmlns:a16="http://schemas.microsoft.com/office/drawing/2014/main" id="{1B16BA9D-E077-46FF-A590-D95C9107A5E9}"/>
              </a:ext>
            </a:extLst>
          </p:cNvPr>
          <p:cNvSpPr>
            <a:spLocks xmlns:a="http://schemas.openxmlformats.org/drawingml/2006/main" noGrp="1"/>
          </p:cNvSpPr>
          <p:nvPr/>
        </p:nvSpPr>
        <p:spPr>
          <a:xfrm xmlns:a="http://schemas.openxmlformats.org/drawingml/2006/main">
            <a:off x="805815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29" name="">
            <a:extLst xmlns:a="http://schemas.openxmlformats.org/drawingml/2006/main">
              <a:ext uri="{FF2B5EF4-FFF2-40B4-BE49-F238E27FC236}">
                <a16:creationId xmlns:a16="http://schemas.microsoft.com/office/drawing/2014/main" id="{5E79CBFD-6BAD-47F1-B22A-11EB3261A041}"/>
              </a:ext>
            </a:extLst>
          </p:cNvPr>
          <p:cNvSpPr>
            <a:spLocks xmlns:a="http://schemas.openxmlformats.org/drawingml/2006/main" noGrp="1"/>
          </p:cNvSpPr>
          <p:nvPr/>
        </p:nvSpPr>
        <p:spPr>
          <a:xfrm xmlns:a="http://schemas.openxmlformats.org/drawingml/2006/main">
            <a:off x="817245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5 · SECURITY</a:t>
            </a:r>
          </a:p>
        </p:txBody>
      </p:sp>
      <p:sp>
        <p:nvSpPr>
          <p:cNvPr id="30" name="">
            <a:extLst xmlns:a="http://schemas.openxmlformats.org/drawingml/2006/main">
              <a:ext uri="{FF2B5EF4-FFF2-40B4-BE49-F238E27FC236}">
                <a16:creationId xmlns:a16="http://schemas.microsoft.com/office/drawing/2014/main" id="{2B0130D4-AFCA-49A6-84A9-B0B6581659BD}"/>
              </a:ext>
            </a:extLst>
          </p:cNvPr>
          <p:cNvSpPr>
            <a:spLocks xmlns:a="http://schemas.openxmlformats.org/drawingml/2006/main" noGrp="1"/>
          </p:cNvSpPr>
          <p:nvPr/>
        </p:nvSpPr>
        <p:spPr>
          <a:xfrm xmlns:a="http://schemas.openxmlformats.org/drawingml/2006/main">
            <a:off x="818197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Review tool use</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and unsafe code</a:t>
            </a:r>
          </a:p>
        </p:txBody>
      </p:sp>
      <p:sp>
        <p:nvSpPr>
          <p:cNvPr id="31" name="">
            <a:extLst xmlns:a="http://schemas.openxmlformats.org/drawingml/2006/main">
              <a:ext uri="{FF2B5EF4-FFF2-40B4-BE49-F238E27FC236}">
                <a16:creationId xmlns:a16="http://schemas.microsoft.com/office/drawing/2014/main" id="{7C82B6FF-7832-40BA-B73B-34C81C1B658A}"/>
              </a:ext>
            </a:extLst>
          </p:cNvPr>
          <p:cNvSpPr>
            <a:spLocks xmlns:a="http://schemas.openxmlformats.org/drawingml/2006/main" noGrp="1"/>
          </p:cNvSpPr>
          <p:nvPr/>
        </p:nvSpPr>
        <p:spPr>
          <a:xfrm xmlns:a="http://schemas.openxmlformats.org/drawingml/2006/main">
            <a:off x="963930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32" name="editable diagram card">
            <a:extLst xmlns:a="http://schemas.openxmlformats.org/drawingml/2006/main">
              <a:ext uri="{FF2B5EF4-FFF2-40B4-BE49-F238E27FC236}">
                <a16:creationId xmlns:a16="http://schemas.microsoft.com/office/drawing/2014/main" id="{89045880-9AEA-448B-9D75-D1B52E7C942A}"/>
              </a:ext>
            </a:extLst>
          </p:cNvPr>
          <p:cNvSpPr>
            <a:spLocks xmlns:a="http://schemas.openxmlformats.org/drawingml/2006/main" noGrp="1"/>
          </p:cNvSpPr>
          <p:nvPr/>
        </p:nvSpPr>
        <p:spPr>
          <a:xfrm xmlns:a="http://schemas.openxmlformats.org/drawingml/2006/main">
            <a:off x="994410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F04B25"/>
            </a:solidFill>
            <a:prstDash val="solid"/>
          </a:ln>
        </p:spPr>
      </p:sp>
      <p:sp>
        <p:nvSpPr>
          <p:cNvPr id="33" name="">
            <a:extLst xmlns:a="http://schemas.openxmlformats.org/drawingml/2006/main">
              <a:ext uri="{FF2B5EF4-FFF2-40B4-BE49-F238E27FC236}">
                <a16:creationId xmlns:a16="http://schemas.microsoft.com/office/drawing/2014/main" id="{84ADD00D-DA9F-42E4-97FB-35FDC03A3798}"/>
              </a:ext>
            </a:extLst>
          </p:cNvPr>
          <p:cNvSpPr>
            <a:spLocks xmlns:a="http://schemas.openxmlformats.org/drawingml/2006/main" noGrp="1"/>
          </p:cNvSpPr>
          <p:nvPr/>
        </p:nvSpPr>
        <p:spPr>
          <a:xfrm xmlns:a="http://schemas.openxmlformats.org/drawingml/2006/main">
            <a:off x="1005840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6 · RELEASE</a:t>
            </a:r>
          </a:p>
        </p:txBody>
      </p:sp>
      <p:sp>
        <p:nvSpPr>
          <p:cNvPr id="34" name="">
            <a:extLst xmlns:a="http://schemas.openxmlformats.org/drawingml/2006/main">
              <a:ext uri="{FF2B5EF4-FFF2-40B4-BE49-F238E27FC236}">
                <a16:creationId xmlns:a16="http://schemas.microsoft.com/office/drawing/2014/main" id="{FF5C47D6-1EB0-450F-ACFF-7665F3270864}"/>
              </a:ext>
            </a:extLst>
          </p:cNvPr>
          <p:cNvSpPr>
            <a:spLocks xmlns:a="http://schemas.openxmlformats.org/drawingml/2006/main" noGrp="1"/>
          </p:cNvSpPr>
          <p:nvPr/>
        </p:nvSpPr>
        <p:spPr>
          <a:xfrm xmlns:a="http://schemas.openxmlformats.org/drawingml/2006/main">
            <a:off x="1006792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SHIPPED or</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ESCALATED</a:t>
            </a:r>
          </a:p>
        </p:txBody>
      </p:sp>
      <p:sp>
        <p:nvSpPr>
          <p:cNvPr id="35" name="editable diagram card">
            <a:extLst xmlns:a="http://schemas.openxmlformats.org/drawingml/2006/main">
              <a:ext uri="{FF2B5EF4-FFF2-40B4-BE49-F238E27FC236}">
                <a16:creationId xmlns:a16="http://schemas.microsoft.com/office/drawing/2014/main" id="{6E337584-D50D-42D4-9FF4-CE3855AAAC24}"/>
              </a:ext>
            </a:extLst>
          </p:cNvPr>
          <p:cNvSpPr>
            <a:spLocks xmlns:a="http://schemas.openxmlformats.org/drawingml/2006/main" noGrp="1"/>
          </p:cNvSpPr>
          <p:nvPr/>
        </p:nvSpPr>
        <p:spPr>
          <a:xfrm xmlns:a="http://schemas.openxmlformats.org/drawingml/2006/main">
            <a:off x="1943100" y="3714750"/>
            <a:ext cx="8305800" cy="704850"/>
          </a:xfrm>
          <a:prstGeom xmlns:a="http://schemas.openxmlformats.org/drawingml/2006/main" prst="roundRect">
            <a:avLst>
              <a:gd name="adj" fmla="val 10811"/>
            </a:avLst>
          </a:prstGeom>
          <a:solidFill xmlns:a="http://schemas.openxmlformats.org/drawingml/2006/main">
            <a:srgbClr val="292EAA"/>
          </a:solidFill>
          <a:ln xmlns:a="http://schemas.openxmlformats.org/drawingml/2006/main" w="13335">
            <a:solidFill>
              <a:srgbClr val="555FE0"/>
            </a:solidFill>
            <a:prstDash val="solid"/>
          </a:ln>
        </p:spPr>
      </p:sp>
      <p:sp>
        <p:nvSpPr>
          <p:cNvPr id="36" name="">
            <a:extLst xmlns:a="http://schemas.openxmlformats.org/drawingml/2006/main">
              <a:ext uri="{FF2B5EF4-FFF2-40B4-BE49-F238E27FC236}">
                <a16:creationId xmlns:a16="http://schemas.microsoft.com/office/drawing/2014/main" id="{3208C320-DAA0-4CE7-A01B-A2892D479033}"/>
              </a:ext>
            </a:extLst>
          </p:cNvPr>
          <p:cNvSpPr>
            <a:spLocks xmlns:a="http://schemas.openxmlformats.org/drawingml/2006/main" noGrp="1"/>
          </p:cNvSpPr>
          <p:nvPr/>
        </p:nvSpPr>
        <p:spPr>
          <a:xfrm xmlns:a="http://schemas.openxmlformats.org/drawingml/2006/main">
            <a:off x="2057400" y="3800475"/>
            <a:ext cx="807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BOUNDED REPAIR LOOP</a:t>
            </a:r>
          </a:p>
        </p:txBody>
      </p:sp>
      <p:sp>
        <p:nvSpPr>
          <p:cNvPr id="37" name="">
            <a:extLst xmlns:a="http://schemas.openxmlformats.org/drawingml/2006/main">
              <a:ext uri="{FF2B5EF4-FFF2-40B4-BE49-F238E27FC236}">
                <a16:creationId xmlns:a16="http://schemas.microsoft.com/office/drawing/2014/main" id="{782304A2-1618-4026-B5EA-84602C01868B}"/>
              </a:ext>
            </a:extLst>
          </p:cNvPr>
          <p:cNvSpPr>
            <a:spLocks xmlns:a="http://schemas.openxmlformats.org/drawingml/2006/main" noGrp="1"/>
          </p:cNvSpPr>
          <p:nvPr/>
        </p:nvSpPr>
        <p:spPr>
          <a:xfrm xmlns:a="http://schemas.openxmlformats.org/drawingml/2006/main">
            <a:off x="2066925" y="4010025"/>
            <a:ext cx="8058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QA failure → Coder for at most 2 repairs; unresolved risk → human escalation with an audit record.</a:t>
            </a:r>
          </a:p>
        </p:txBody>
      </p:sp>
      <p:sp>
        <p:nvSpPr>
          <p:cNvPr id="38" name="">
            <a:extLst xmlns:a="http://schemas.openxmlformats.org/drawingml/2006/main">
              <a:ext uri="{FF2B5EF4-FFF2-40B4-BE49-F238E27FC236}">
                <a16:creationId xmlns:a16="http://schemas.microsoft.com/office/drawing/2014/main" id="{6F01F0A4-87C4-494C-8B00-02449223F6CF}"/>
              </a:ext>
            </a:extLst>
          </p:cNvPr>
          <p:cNvSpPr>
            <a:spLocks xmlns:a="http://schemas.openxmlformats.org/drawingml/2006/main" noGrp="1"/>
          </p:cNvSpPr>
          <p:nvPr/>
        </p:nvSpPr>
        <p:spPr>
          <a:xfrm xmlns:a="http://schemas.openxmlformats.org/drawingml/2006/main">
            <a:off x="762000" y="45910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Router + role-filtered shared memory coordinate the handoffs across the pipeline.</a:t>
            </a:r>
          </a:p>
        </p:txBody>
      </p:sp>
      <p:sp>
        <p:nvSpPr>
          <p:cNvPr id="39" name="">
            <a:extLst xmlns:a="http://schemas.openxmlformats.org/drawingml/2006/main">
              <a:ext uri="{FF2B5EF4-FFF2-40B4-BE49-F238E27FC236}">
                <a16:creationId xmlns:a16="http://schemas.microsoft.com/office/drawing/2014/main" id="{91161F1D-0C41-4B9F-9038-3CFA24BD539A}"/>
              </a:ext>
            </a:extLst>
          </p:cNvPr>
          <p:cNvSpPr>
            <a:spLocks xmlns:a="http://schemas.openxmlformats.org/drawingml/2006/main" noGrp="1"/>
          </p:cNvSpPr>
          <p:nvPr/>
        </p:nvSpPr>
        <p:spPr>
          <a:xfrm xmlns:a="http://schemas.openxmlformats.org/drawingml/2006/main">
            <a:off x="742950" y="4953000"/>
            <a:ext cx="1070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25" b="0">
                <a:solidFill>
                  <a:srgbClr val="BFC5FF"/>
                </a:solidFill>
                <a:latin typeface="Calibri"/>
                <a:ea typeface="Calibri"/>
                <a:cs typeface="Calibri"/>
              </a:defRPr>
            </a:pPr>
            <a:r>
              <a:rPr sz="1125" b="0">
                <a:solidFill>
                  <a:srgbClr val="BFC5FF"/>
                </a:solidFill>
                <a:latin typeface="Calibri"/>
                <a:ea typeface="Calibri"/>
                <a:cs typeface="Calibri"/>
              </a:rPr>
              <a:t>This is the capstone target design: deterministic inputs and repository checks provide evidence; no live model or fixed test count is required.</a:t>
            </a:r>
          </a:p>
        </p:txBody>
      </p:sp>
    </p:spTree>
    <p:extLst>
      <p:ext uri="{BB962C8B-B14F-4D97-AF65-F5344CB8AC3E}">
        <p14:creationId xmlns:p14="http://schemas.microsoft.com/office/powerpoint/2010/main" val="40816572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FC3B274-9F01-4B42-90E5-01A773BFAB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7D9477CA-A011-4A5C-BCB4-CFB62CDC965D}"/>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550D7B40-3664-4026-815D-0541C7E6D80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2A7D437-63E2-4E27-BCD7-0063656FB1F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F92AA85-FCDC-43A1-B301-810E605F58CD}"/>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449C4776-48CC-4A36-A72A-9E29E9533FFA}"/>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E1CAE878-6B3F-4EA0-812D-97FD43B5E32C}"/>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Resource library</a:t>
            </a:r>
          </a:p>
        </p:txBody>
      </p:sp>
      <p:sp>
        <p:nvSpPr>
          <p:cNvPr id="8" name="">
            <a:extLst xmlns:a="http://schemas.openxmlformats.org/drawingml/2006/main">
              <a:ext uri="{FF2B5EF4-FFF2-40B4-BE49-F238E27FC236}">
                <a16:creationId xmlns:a16="http://schemas.microsoft.com/office/drawing/2014/main" id="{19DF5109-221F-471C-A693-A38427DADA07}"/>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34</a:t>
            </a:r>
          </a:p>
        </p:txBody>
      </p:sp>
      <p:sp>
        <p:nvSpPr>
          <p:cNvPr id="9" name="">
            <a:extLst xmlns:a="http://schemas.openxmlformats.org/drawingml/2006/main">
              <a:ext uri="{FF2B5EF4-FFF2-40B4-BE49-F238E27FC236}">
                <a16:creationId xmlns:a16="http://schemas.microsoft.com/office/drawing/2014/main" id="{8E1E9352-F9C5-4742-AE21-12DF931B719B}"/>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Alignment Bridge</a:t>
            </a:r>
          </a:p>
        </p:txBody>
      </p:sp>
      <p:sp>
        <p:nvSpPr>
          <p:cNvPr id="10" name="">
            <a:extLst xmlns:a="http://schemas.openxmlformats.org/drawingml/2006/main">
              <a:ext uri="{FF2B5EF4-FFF2-40B4-BE49-F238E27FC236}">
                <a16:creationId xmlns:a16="http://schemas.microsoft.com/office/drawing/2014/main" id="{0184782C-C491-4D89-A3B0-136801B3514D}"/>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Critical Assets — How They Fit</a:t>
            </a:r>
          </a:p>
        </p:txBody>
      </p:sp>
      <p:sp>
        <p:nvSpPr>
          <p:cNvPr id="11" name="">
            <a:extLst xmlns:a="http://schemas.openxmlformats.org/drawingml/2006/main">
              <a:ext uri="{FF2B5EF4-FFF2-40B4-BE49-F238E27FC236}">
                <a16:creationId xmlns:a16="http://schemas.microsoft.com/office/drawing/2014/main" id="{19DE1C8F-EEC6-4E55-BE62-4A322477787C}"/>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AB732EFE-55AB-4521-91E9-79B80E7657AD}"/>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course_overview.md: promise, philosophy, module map, success criteria.</a:t>
            </a:r>
          </a:p>
        </p:txBody>
      </p:sp>
      <p:sp>
        <p:nvSpPr>
          <p:cNvPr id="13" name="">
            <a:extLst xmlns:a="http://schemas.openxmlformats.org/drawingml/2006/main">
              <a:ext uri="{FF2B5EF4-FFF2-40B4-BE49-F238E27FC236}">
                <a16:creationId xmlns:a16="http://schemas.microsoft.com/office/drawing/2014/main" id="{9ED0F4E0-3219-49A1-99ED-0D37A779EA63}"/>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9FFF2809-E6F2-4706-A085-693A99E6E783}"/>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README.md: workspace map, assets, quick start, teaching order.</a:t>
            </a:r>
          </a:p>
        </p:txBody>
      </p:sp>
      <p:sp>
        <p:nvSpPr>
          <p:cNvPr id="15" name="">
            <a:extLst xmlns:a="http://schemas.openxmlformats.org/drawingml/2006/main">
              <a:ext uri="{FF2B5EF4-FFF2-40B4-BE49-F238E27FC236}">
                <a16:creationId xmlns:a16="http://schemas.microsoft.com/office/drawing/2014/main" id="{4AD1876D-BA99-4DF0-9C0F-AF65085DC868}"/>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13EBC225-8078-4C8A-9EBE-7E54BDEDB800}"/>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assignment_syllabus.md: numbered assignments and Homework A-G.</a:t>
            </a:r>
          </a:p>
        </p:txBody>
      </p:sp>
      <p:sp>
        <p:nvSpPr>
          <p:cNvPr id="17" name="">
            <a:extLst xmlns:a="http://schemas.openxmlformats.org/drawingml/2006/main">
              <a:ext uri="{FF2B5EF4-FFF2-40B4-BE49-F238E27FC236}">
                <a16:creationId xmlns:a16="http://schemas.microsoft.com/office/drawing/2014/main" id="{C6ADDD95-218C-45FF-868D-CCAB62D1DFA4}"/>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01C0A8AF-8C2C-43EB-892A-6D456639BD72}"/>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resources/README.md: papers, videos, cited schemas.</a:t>
            </a:r>
          </a:p>
        </p:txBody>
      </p:sp>
      <p:sp>
        <p:nvSpPr>
          <p:cNvPr id="19" name="">
            <a:extLst xmlns:a="http://schemas.openxmlformats.org/drawingml/2006/main">
              <a:ext uri="{FF2B5EF4-FFF2-40B4-BE49-F238E27FC236}">
                <a16:creationId xmlns:a16="http://schemas.microsoft.com/office/drawing/2014/main" id="{5BBFE298-054B-4526-84F5-CFD9B13B03C7}"/>
              </a:ext>
            </a:extLst>
          </p:cNvPr>
          <p:cNvSpPr>
            <a:spLocks xmlns:a="http://schemas.openxmlformats.org/drawingml/2006/main" noGrp="1"/>
          </p:cNvSpPr>
          <p:nvPr/>
        </p:nvSpPr>
        <p:spPr>
          <a:xfrm xmlns:a="http://schemas.openxmlformats.org/drawingml/2006/main">
            <a:off x="781050" y="3505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20" name="">
            <a:extLst xmlns:a="http://schemas.openxmlformats.org/drawingml/2006/main">
              <a:ext uri="{FF2B5EF4-FFF2-40B4-BE49-F238E27FC236}">
                <a16:creationId xmlns:a16="http://schemas.microsoft.com/office/drawing/2014/main" id="{4039E5E1-45C6-47F5-9D45-C24493C33525}"/>
              </a:ext>
            </a:extLst>
          </p:cNvPr>
          <p:cNvSpPr>
            <a:spLocks xmlns:a="http://schemas.openxmlformats.org/drawingml/2006/main" noGrp="1"/>
          </p:cNvSpPr>
          <p:nvPr/>
        </p:nvSpPr>
        <p:spPr>
          <a:xfrm xmlns:a="http://schemas.openxmlformats.org/drawingml/2006/main">
            <a:off x="1085850" y="35052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crewai_learning: Homework G readiness and coding-agent teams.</a:t>
            </a:r>
          </a:p>
        </p:txBody>
      </p:sp>
      <p:sp>
        <p:nvSpPr>
          <p:cNvPr id="21" name="">
            <a:extLst xmlns:a="http://schemas.openxmlformats.org/drawingml/2006/main">
              <a:ext uri="{FF2B5EF4-FFF2-40B4-BE49-F238E27FC236}">
                <a16:creationId xmlns:a16="http://schemas.microsoft.com/office/drawing/2014/main" id="{E8DA4B6F-6DB2-404C-B4C2-73B796193294}"/>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Use documents as teaching aids, not slide copy.</a:t>
            </a:r>
          </a:p>
        </p:txBody>
      </p:sp>
      <p:sp>
        <p:nvSpPr>
          <p:cNvPr id="22" name="">
            <a:extLst xmlns:a="http://schemas.openxmlformats.org/drawingml/2006/main">
              <a:ext uri="{FF2B5EF4-FFF2-40B4-BE49-F238E27FC236}">
                <a16:creationId xmlns:a16="http://schemas.microsoft.com/office/drawing/2014/main" id="{2E2D1D77-3B67-4E6A-993B-7638F2660DE1}"/>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145492024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392211C-EDD6-4B3A-BB24-F8DCAD57B7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FBD7345-6312-4E84-B44B-020B7030E967}"/>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E76FFA1B-263D-4AC2-8976-7B5978A4966F}"/>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813EBB2-9651-48B7-A04F-60AF2005BE6E}"/>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E513C172-D5CA-45B3-A781-F29D760E9DF4}"/>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55FA81EB-2A02-42F0-829E-F7EA2F16D57B}"/>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A7364037-1D5B-4840-87AF-FCD6625CD0E5}"/>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notebook labs + mock adapter</a:t>
            </a:r>
          </a:p>
        </p:txBody>
      </p:sp>
      <p:sp>
        <p:nvSpPr>
          <p:cNvPr id="8" name="">
            <a:extLst xmlns:a="http://schemas.openxmlformats.org/drawingml/2006/main">
              <a:ext uri="{FF2B5EF4-FFF2-40B4-BE49-F238E27FC236}">
                <a16:creationId xmlns:a16="http://schemas.microsoft.com/office/drawing/2014/main" id="{B390F6B1-E636-4AB9-8126-88EECA769004}"/>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35</a:t>
            </a:r>
          </a:p>
        </p:txBody>
      </p:sp>
      <p:sp>
        <p:nvSpPr>
          <p:cNvPr id="9" name="">
            <a:extLst xmlns:a="http://schemas.openxmlformats.org/drawingml/2006/main">
              <a:ext uri="{FF2B5EF4-FFF2-40B4-BE49-F238E27FC236}">
                <a16:creationId xmlns:a16="http://schemas.microsoft.com/office/drawing/2014/main" id="{7323ED6B-5B0A-445E-89BF-0A410FF5001A}"/>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Course Architecture</a:t>
            </a:r>
          </a:p>
        </p:txBody>
      </p:sp>
      <p:sp>
        <p:nvSpPr>
          <p:cNvPr id="10" name="">
            <a:extLst xmlns:a="http://schemas.openxmlformats.org/drawingml/2006/main">
              <a:ext uri="{FF2B5EF4-FFF2-40B4-BE49-F238E27FC236}">
                <a16:creationId xmlns:a16="http://schemas.microsoft.com/office/drawing/2014/main" id="{5307567B-9833-4F9C-BC72-DDFA3ACD6844}"/>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Three Layers, One Governance Shell</a:t>
            </a:r>
          </a:p>
        </p:txBody>
      </p:sp>
      <p:sp>
        <p:nvSpPr>
          <p:cNvPr id="11" name="editable governance shell">
            <a:extLst xmlns:a="http://schemas.openxmlformats.org/drawingml/2006/main">
              <a:ext uri="{FF2B5EF4-FFF2-40B4-BE49-F238E27FC236}">
                <a16:creationId xmlns:a16="http://schemas.microsoft.com/office/drawing/2014/main" id="{B9FA65BC-45A9-4B50-92DE-1BE9E52D9287}"/>
              </a:ext>
            </a:extLst>
          </p:cNvPr>
          <p:cNvSpPr>
            <a:spLocks xmlns:a="http://schemas.openxmlformats.org/drawingml/2006/main" noGrp="1"/>
          </p:cNvSpPr>
          <p:nvPr/>
        </p:nvSpPr>
        <p:spPr>
          <a:xfrm xmlns:a="http://schemas.openxmlformats.org/drawingml/2006/main">
            <a:off x="495300" y="1581150"/>
            <a:ext cx="11201400" cy="933450"/>
          </a:xfrm>
          <a:prstGeom xmlns:a="http://schemas.openxmlformats.org/drawingml/2006/main" prst="roundRect">
            <a:avLst>
              <a:gd name="adj" fmla="val 8163"/>
            </a:avLst>
          </a:prstGeom>
          <a:solidFill xmlns:a="http://schemas.openxmlformats.org/drawingml/2006/main">
            <a:srgbClr val="292EAA"/>
          </a:solidFill>
          <a:ln xmlns:a="http://schemas.openxmlformats.org/drawingml/2006/main" w="15240">
            <a:solidFill>
              <a:srgbClr val="555FE0"/>
            </a:solidFill>
            <a:prstDash val="solid"/>
          </a:ln>
        </p:spPr>
      </p:sp>
      <p:sp>
        <p:nvSpPr>
          <p:cNvPr id="12" name="">
            <a:extLst xmlns:a="http://schemas.openxmlformats.org/drawingml/2006/main">
              <a:ext uri="{FF2B5EF4-FFF2-40B4-BE49-F238E27FC236}">
                <a16:creationId xmlns:a16="http://schemas.microsoft.com/office/drawing/2014/main" id="{0A069CEB-64EA-4B88-8C8F-B96D9C8EC0A1}"/>
              </a:ext>
            </a:extLst>
          </p:cNvPr>
          <p:cNvSpPr>
            <a:spLocks xmlns:a="http://schemas.openxmlformats.org/drawingml/2006/main" noGrp="1"/>
          </p:cNvSpPr>
          <p:nvPr/>
        </p:nvSpPr>
        <p:spPr>
          <a:xfrm xmlns:a="http://schemas.openxmlformats.org/drawingml/2006/main">
            <a:off x="647700" y="1657350"/>
            <a:ext cx="10896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1">
                <a:solidFill>
                  <a:srgbClr val="D8DBFF"/>
                </a:solidFill>
                <a:latin typeface="Calibri"/>
                <a:ea typeface="Calibri"/>
                <a:cs typeface="Calibri"/>
              </a:defRPr>
            </a:pPr>
            <a:r>
              <a:rPr sz="1200" b="1">
                <a:solidFill>
                  <a:srgbClr val="D8DBFF"/>
                </a:solidFill>
                <a:latin typeface="Calibri"/>
                <a:ea typeface="Calibri"/>
                <a:cs typeface="Calibri"/>
              </a:rPr>
              <a:t>GOVERNANCE SHELL</a:t>
            </a:r>
          </a:p>
        </p:txBody>
      </p:sp>
      <p:sp>
        <p:nvSpPr>
          <p:cNvPr id="13" name="editable diagram card">
            <a:extLst xmlns:a="http://schemas.openxmlformats.org/drawingml/2006/main">
              <a:ext uri="{FF2B5EF4-FFF2-40B4-BE49-F238E27FC236}">
                <a16:creationId xmlns:a16="http://schemas.microsoft.com/office/drawing/2014/main" id="{D6CF201B-C780-47BC-8901-F4FC72D33C53}"/>
              </a:ext>
            </a:extLst>
          </p:cNvPr>
          <p:cNvSpPr>
            <a:spLocks xmlns:a="http://schemas.openxmlformats.org/drawingml/2006/main" noGrp="1"/>
          </p:cNvSpPr>
          <p:nvPr/>
        </p:nvSpPr>
        <p:spPr>
          <a:xfrm xmlns:a="http://schemas.openxmlformats.org/drawingml/2006/main">
            <a:off x="685800" y="1971675"/>
            <a:ext cx="3219450" cy="409575"/>
          </a:xfrm>
          <a:prstGeom xmlns:a="http://schemas.openxmlformats.org/drawingml/2006/main" prst="roundRect">
            <a:avLst>
              <a:gd name="adj" fmla="val 18605"/>
            </a:avLst>
          </a:prstGeom>
          <a:solidFill xmlns:a="http://schemas.openxmlformats.org/drawingml/2006/main">
            <a:srgbClr val="292EA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6A89955-C9DD-4A48-8E88-15A0E79EAE3A}"/>
              </a:ext>
            </a:extLst>
          </p:cNvPr>
          <p:cNvSpPr>
            <a:spLocks xmlns:a="http://schemas.openxmlformats.org/drawingml/2006/main" noGrp="1"/>
          </p:cNvSpPr>
          <p:nvPr/>
        </p:nvSpPr>
        <p:spPr>
          <a:xfrm xmlns:a="http://schemas.openxmlformats.org/drawingml/2006/main">
            <a:off x="800100" y="2057400"/>
            <a:ext cx="2990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1">
                <a:solidFill>
                  <a:srgbClr val="FFFFFF"/>
                </a:solidFill>
                <a:latin typeface="Calibri"/>
                <a:ea typeface="Calibri"/>
                <a:cs typeface="Calibri"/>
              </a:defRPr>
            </a:pPr>
            <a:r>
              <a:rPr sz="1200" b="1">
                <a:solidFill>
                  <a:srgbClr val="FFFFFF"/>
                </a:solidFill>
                <a:latin typeface="Calibri"/>
                <a:ea typeface="Calibri"/>
                <a:cs typeface="Calibri"/>
              </a:rPr>
              <a:t>PYDANTIC CONTRACTS</a:t>
            </a:r>
          </a:p>
        </p:txBody>
      </p:sp>
      <p:sp>
        <p:nvSpPr>
          <p:cNvPr id="15" name="editable diagram card">
            <a:extLst xmlns:a="http://schemas.openxmlformats.org/drawingml/2006/main">
              <a:ext uri="{FF2B5EF4-FFF2-40B4-BE49-F238E27FC236}">
                <a16:creationId xmlns:a16="http://schemas.microsoft.com/office/drawing/2014/main" id="{17217D3B-4C63-470C-B533-BEFC90927266}"/>
              </a:ext>
            </a:extLst>
          </p:cNvPr>
          <p:cNvSpPr>
            <a:spLocks xmlns:a="http://schemas.openxmlformats.org/drawingml/2006/main" noGrp="1"/>
          </p:cNvSpPr>
          <p:nvPr/>
        </p:nvSpPr>
        <p:spPr>
          <a:xfrm xmlns:a="http://schemas.openxmlformats.org/drawingml/2006/main">
            <a:off x="4486275" y="1971675"/>
            <a:ext cx="3219450" cy="409575"/>
          </a:xfrm>
          <a:prstGeom xmlns:a="http://schemas.openxmlformats.org/drawingml/2006/main" prst="roundRect">
            <a:avLst>
              <a:gd name="adj" fmla="val 18605"/>
            </a:avLst>
          </a:prstGeom>
          <a:solidFill xmlns:a="http://schemas.openxmlformats.org/drawingml/2006/main">
            <a:srgbClr val="292EA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1D80487-632D-4B29-8878-14DF23C5F350}"/>
              </a:ext>
            </a:extLst>
          </p:cNvPr>
          <p:cNvSpPr>
            <a:spLocks xmlns:a="http://schemas.openxmlformats.org/drawingml/2006/main" noGrp="1"/>
          </p:cNvSpPr>
          <p:nvPr/>
        </p:nvSpPr>
        <p:spPr>
          <a:xfrm xmlns:a="http://schemas.openxmlformats.org/drawingml/2006/main">
            <a:off x="4600575" y="2057400"/>
            <a:ext cx="2990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1">
                <a:solidFill>
                  <a:srgbClr val="FFFFFF"/>
                </a:solidFill>
                <a:latin typeface="Calibri"/>
                <a:ea typeface="Calibri"/>
                <a:cs typeface="Calibri"/>
              </a:defRPr>
            </a:pPr>
            <a:r>
              <a:rPr sz="1200" b="1">
                <a:solidFill>
                  <a:srgbClr val="FFFFFF"/>
                </a:solidFill>
                <a:latin typeface="Calibri"/>
                <a:ea typeface="Calibri"/>
                <a:cs typeface="Calibri"/>
              </a:rPr>
              <a:t>MCP-STYLE TOOL GATE</a:t>
            </a:r>
          </a:p>
        </p:txBody>
      </p:sp>
      <p:sp>
        <p:nvSpPr>
          <p:cNvPr id="17" name="editable diagram card">
            <a:extLst xmlns:a="http://schemas.openxmlformats.org/drawingml/2006/main">
              <a:ext uri="{FF2B5EF4-FFF2-40B4-BE49-F238E27FC236}">
                <a16:creationId xmlns:a16="http://schemas.microsoft.com/office/drawing/2014/main" id="{5B01A119-527D-4001-A4F6-28B9281C31D9}"/>
              </a:ext>
            </a:extLst>
          </p:cNvPr>
          <p:cNvSpPr>
            <a:spLocks xmlns:a="http://schemas.openxmlformats.org/drawingml/2006/main" noGrp="1"/>
          </p:cNvSpPr>
          <p:nvPr/>
        </p:nvSpPr>
        <p:spPr>
          <a:xfrm xmlns:a="http://schemas.openxmlformats.org/drawingml/2006/main">
            <a:off x="8286750" y="1971675"/>
            <a:ext cx="3219450" cy="409575"/>
          </a:xfrm>
          <a:prstGeom xmlns:a="http://schemas.openxmlformats.org/drawingml/2006/main" prst="roundRect">
            <a:avLst>
              <a:gd name="adj" fmla="val 18605"/>
            </a:avLst>
          </a:prstGeom>
          <a:solidFill xmlns:a="http://schemas.openxmlformats.org/drawingml/2006/main">
            <a:srgbClr val="292EA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7CF9AF0-D3F3-49C0-BFB3-8ED48F45EC50}"/>
              </a:ext>
            </a:extLst>
          </p:cNvPr>
          <p:cNvSpPr>
            <a:spLocks xmlns:a="http://schemas.openxmlformats.org/drawingml/2006/main" noGrp="1"/>
          </p:cNvSpPr>
          <p:nvPr/>
        </p:nvSpPr>
        <p:spPr>
          <a:xfrm xmlns:a="http://schemas.openxmlformats.org/drawingml/2006/main">
            <a:off x="8401050" y="2057400"/>
            <a:ext cx="2990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BOUNDED REPAIR + ESCALATION</a:t>
            </a:r>
          </a:p>
        </p:txBody>
      </p:sp>
      <p:sp>
        <p:nvSpPr>
          <p:cNvPr id="19" name="editable diagram card">
            <a:extLst xmlns:a="http://schemas.openxmlformats.org/drawingml/2006/main">
              <a:ext uri="{FF2B5EF4-FFF2-40B4-BE49-F238E27FC236}">
                <a16:creationId xmlns:a16="http://schemas.microsoft.com/office/drawing/2014/main" id="{2FAF07FC-644C-4412-B11D-7037A0177C42}"/>
              </a:ext>
            </a:extLst>
          </p:cNvPr>
          <p:cNvSpPr>
            <a:spLocks xmlns:a="http://schemas.openxmlformats.org/drawingml/2006/main" noGrp="1"/>
          </p:cNvSpPr>
          <p:nvPr/>
        </p:nvSpPr>
        <p:spPr>
          <a:xfrm xmlns:a="http://schemas.openxmlformats.org/drawingml/2006/main">
            <a:off x="495300" y="2781300"/>
            <a:ext cx="3524250" cy="1952625"/>
          </a:xfrm>
          <a:prstGeom xmlns:a="http://schemas.openxmlformats.org/drawingml/2006/main" prst="roundRect">
            <a:avLst>
              <a:gd name="adj" fmla="val 3902"/>
            </a:avLst>
          </a:prstGeom>
          <a:solidFill xmlns:a="http://schemas.openxmlformats.org/drawingml/2006/main">
            <a:srgbClr val="292EAA"/>
          </a:solidFill>
          <a:ln xmlns:a="http://schemas.openxmlformats.org/drawingml/2006/main" w="13335">
            <a:solidFill>
              <a:srgbClr val="555FE0"/>
            </a:solidFill>
            <a:prstDash val="solid"/>
          </a:ln>
        </p:spPr>
      </p:sp>
      <p:sp>
        <p:nvSpPr>
          <p:cNvPr id="20" name="">
            <a:extLst xmlns:a="http://schemas.openxmlformats.org/drawingml/2006/main">
              <a:ext uri="{FF2B5EF4-FFF2-40B4-BE49-F238E27FC236}">
                <a16:creationId xmlns:a16="http://schemas.microsoft.com/office/drawing/2014/main" id="{9C417017-380F-4D95-9007-425950C6712A}"/>
              </a:ext>
            </a:extLst>
          </p:cNvPr>
          <p:cNvSpPr>
            <a:spLocks xmlns:a="http://schemas.openxmlformats.org/drawingml/2006/main" noGrp="1"/>
          </p:cNvSpPr>
          <p:nvPr/>
        </p:nvSpPr>
        <p:spPr>
          <a:xfrm xmlns:a="http://schemas.openxmlformats.org/drawingml/2006/main">
            <a:off x="609600" y="2867025"/>
            <a:ext cx="3295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LAYER 1 · DETERMINISTIC CORE</a:t>
            </a:r>
          </a:p>
        </p:txBody>
      </p:sp>
      <p:sp>
        <p:nvSpPr>
          <p:cNvPr id="21" name="">
            <a:extLst xmlns:a="http://schemas.openxmlformats.org/drawingml/2006/main">
              <a:ext uri="{FF2B5EF4-FFF2-40B4-BE49-F238E27FC236}">
                <a16:creationId xmlns:a16="http://schemas.microsoft.com/office/drawing/2014/main" id="{94A8A4C0-F146-4E30-B06E-704DF2FF068A}"/>
              </a:ext>
            </a:extLst>
          </p:cNvPr>
          <p:cNvSpPr>
            <a:spLocks xmlns:a="http://schemas.openxmlformats.org/drawingml/2006/main" noGrp="1"/>
          </p:cNvSpPr>
          <p:nvPr/>
        </p:nvSpPr>
        <p:spPr>
          <a:xfrm xmlns:a="http://schemas.openxmlformats.org/drawingml/2006/main">
            <a:off x="619125" y="3314700"/>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Local inputs and predictable mocks</a:t>
            </a:r>
          </a:p>
          <a:p xmlns:a="http://schemas.openxmlformats.org/drawingml/2006/main">
            <a:r>
              <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Free at runtime; no provider key</a:t>
            </a:r>
          </a:p>
        </p:txBody>
      </p:sp>
      <p:sp>
        <p:nvSpPr>
          <p:cNvPr id="22" name="editable diagram card">
            <a:extLst xmlns:a="http://schemas.openxmlformats.org/drawingml/2006/main">
              <a:ext uri="{FF2B5EF4-FFF2-40B4-BE49-F238E27FC236}">
                <a16:creationId xmlns:a16="http://schemas.microsoft.com/office/drawing/2014/main" id="{1CA9B9B8-2732-4E6A-AB02-C5AD2023FF92}"/>
              </a:ext>
            </a:extLst>
          </p:cNvPr>
          <p:cNvSpPr>
            <a:spLocks xmlns:a="http://schemas.openxmlformats.org/drawingml/2006/main" noGrp="1"/>
          </p:cNvSpPr>
          <p:nvPr/>
        </p:nvSpPr>
        <p:spPr>
          <a:xfrm xmlns:a="http://schemas.openxmlformats.org/drawingml/2006/main">
            <a:off x="4333875" y="2781300"/>
            <a:ext cx="3524250" cy="1952625"/>
          </a:xfrm>
          <a:prstGeom xmlns:a="http://schemas.openxmlformats.org/drawingml/2006/main" prst="roundRect">
            <a:avLst>
              <a:gd name="adj" fmla="val 3902"/>
            </a:avLst>
          </a:prstGeom>
          <a:solidFill xmlns:a="http://schemas.openxmlformats.org/drawingml/2006/main">
            <a:srgbClr val="292EAA"/>
          </a:solidFill>
          <a:ln xmlns:a="http://schemas.openxmlformats.org/drawingml/2006/main" w="13335">
            <a:solidFill>
              <a:srgbClr val="555FE0"/>
            </a:solidFill>
            <a:prstDash val="solid"/>
          </a:ln>
        </p:spPr>
      </p:sp>
      <p:sp>
        <p:nvSpPr>
          <p:cNvPr id="23" name="">
            <a:extLst xmlns:a="http://schemas.openxmlformats.org/drawingml/2006/main">
              <a:ext uri="{FF2B5EF4-FFF2-40B4-BE49-F238E27FC236}">
                <a16:creationId xmlns:a16="http://schemas.microsoft.com/office/drawing/2014/main" id="{EB6982EA-C213-43EE-BF20-2342D93234BA}"/>
              </a:ext>
            </a:extLst>
          </p:cNvPr>
          <p:cNvSpPr>
            <a:spLocks xmlns:a="http://schemas.openxmlformats.org/drawingml/2006/main" noGrp="1"/>
          </p:cNvSpPr>
          <p:nvPr/>
        </p:nvSpPr>
        <p:spPr>
          <a:xfrm xmlns:a="http://schemas.openxmlformats.org/drawingml/2006/main">
            <a:off x="4448175" y="2867025"/>
            <a:ext cx="3295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LAYER 2 · FAILURE PRACTICE</a:t>
            </a:r>
          </a:p>
        </p:txBody>
      </p:sp>
      <p:sp>
        <p:nvSpPr>
          <p:cNvPr id="24" name="">
            <a:extLst xmlns:a="http://schemas.openxmlformats.org/drawingml/2006/main">
              <a:ext uri="{FF2B5EF4-FFF2-40B4-BE49-F238E27FC236}">
                <a16:creationId xmlns:a16="http://schemas.microsoft.com/office/drawing/2014/main" id="{9BDF8AA4-160F-49CB-9BD7-CD42B2F4931B}"/>
              </a:ext>
            </a:extLst>
          </p:cNvPr>
          <p:cNvSpPr>
            <a:spLocks xmlns:a="http://schemas.openxmlformats.org/drawingml/2006/main" noGrp="1"/>
          </p:cNvSpPr>
          <p:nvPr/>
        </p:nvSpPr>
        <p:spPr>
          <a:xfrm xmlns:a="http://schemas.openxmlformats.org/drawingml/2006/main">
            <a:off x="4457700" y="3314700"/>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Repeatable bad JSON, invalid fields, and unsafe tool attempts</a:t>
            </a:r>
          </a:p>
          <a:p xmlns:a="http://schemas.openxmlformats.org/drawingml/2006/main">
            <a:r>
              <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Learners repair the gate</a:t>
            </a:r>
          </a:p>
        </p:txBody>
      </p:sp>
      <p:sp>
        <p:nvSpPr>
          <p:cNvPr id="25" name="editable diagram card">
            <a:extLst xmlns:a="http://schemas.openxmlformats.org/drawingml/2006/main">
              <a:ext uri="{FF2B5EF4-FFF2-40B4-BE49-F238E27FC236}">
                <a16:creationId xmlns:a16="http://schemas.microsoft.com/office/drawing/2014/main" id="{8F3F9650-A0C9-47CF-9066-1E05426ABA69}"/>
              </a:ext>
            </a:extLst>
          </p:cNvPr>
          <p:cNvSpPr>
            <a:spLocks xmlns:a="http://schemas.openxmlformats.org/drawingml/2006/main" noGrp="1"/>
          </p:cNvSpPr>
          <p:nvPr/>
        </p:nvSpPr>
        <p:spPr>
          <a:xfrm xmlns:a="http://schemas.openxmlformats.org/drawingml/2006/main">
            <a:off x="8172450" y="2781300"/>
            <a:ext cx="3524250" cy="1952625"/>
          </a:xfrm>
          <a:prstGeom xmlns:a="http://schemas.openxmlformats.org/drawingml/2006/main" prst="roundRect">
            <a:avLst>
              <a:gd name="adj" fmla="val 3902"/>
            </a:avLst>
          </a:prstGeom>
          <a:solidFill xmlns:a="http://schemas.openxmlformats.org/drawingml/2006/main">
            <a:srgbClr val="292EAA"/>
          </a:solidFill>
          <a:ln xmlns:a="http://schemas.openxmlformats.org/drawingml/2006/main" w="13335">
            <a:solidFill>
              <a:srgbClr val="555FE0"/>
            </a:solidFill>
            <a:prstDash val="solid"/>
          </a:ln>
        </p:spPr>
      </p:sp>
      <p:sp>
        <p:nvSpPr>
          <p:cNvPr id="26" name="">
            <a:extLst xmlns:a="http://schemas.openxmlformats.org/drawingml/2006/main">
              <a:ext uri="{FF2B5EF4-FFF2-40B4-BE49-F238E27FC236}">
                <a16:creationId xmlns:a16="http://schemas.microsoft.com/office/drawing/2014/main" id="{B1A3E684-D3FE-4AAC-B403-139E171933C9}"/>
              </a:ext>
            </a:extLst>
          </p:cNvPr>
          <p:cNvSpPr>
            <a:spLocks xmlns:a="http://schemas.openxmlformats.org/drawingml/2006/main" noGrp="1"/>
          </p:cNvSpPr>
          <p:nvPr/>
        </p:nvSpPr>
        <p:spPr>
          <a:xfrm xmlns:a="http://schemas.openxmlformats.org/drawingml/2006/main">
            <a:off x="8286750" y="2867025"/>
            <a:ext cx="3295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LAYER 3 · OPTIONAL LIVE MODEL</a:t>
            </a:r>
          </a:p>
        </p:txBody>
      </p:sp>
      <p:sp>
        <p:nvSpPr>
          <p:cNvPr id="27" name="">
            <a:extLst xmlns:a="http://schemas.openxmlformats.org/drawingml/2006/main">
              <a:ext uri="{FF2B5EF4-FFF2-40B4-BE49-F238E27FC236}">
                <a16:creationId xmlns:a16="http://schemas.microsoft.com/office/drawing/2014/main" id="{FFAF3AA3-AFB3-4F11-854C-8E5A57AF7A92}"/>
              </a:ext>
            </a:extLst>
          </p:cNvPr>
          <p:cNvSpPr>
            <a:spLocks xmlns:a="http://schemas.openxmlformats.org/drawingml/2006/main" noGrp="1"/>
          </p:cNvSpPr>
          <p:nvPr/>
        </p:nvSpPr>
        <p:spPr>
          <a:xfrm xmlns:a="http://schemas.openxmlformats.org/drawingml/2006/main">
            <a:off x="8296275" y="3314700"/>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63" b="0">
                <a:solidFill>
                  <a:srgbClr val="D8DBFF"/>
                </a:solidFill>
                <a:latin typeface="Calibri"/>
                <a:ea typeface="Calibri"/>
                <a:cs typeface="Calibri"/>
              </a:defRPr>
            </a:pPr>
            <a:r>
              <a:rPr sz="1163" b="0">
                <a:solidFill>
                  <a:srgbClr val="D8DBFF"/>
                </a:solidFill>
                <a:latin typeface="Calibri"/>
                <a:ea typeface="Calibri"/>
                <a:cs typeface="Calibri"/>
              </a:rPr>
              <a:t>Same contracts and tool policies surround live output</a:t>
            </a:r>
          </a:p>
          <a:p xmlns:a="http://schemas.openxmlformats.org/drawingml/2006/main">
            <a:r>
              <a:t/>
            </a:r>
          </a:p>
          <a:p xmlns:a="http://schemas.openxmlformats.org/drawingml/2006/main">
            <a:pPr algn="ctr">
              <a:buNone/>
              <a:defRPr sz="1163" b="0">
                <a:solidFill>
                  <a:srgbClr val="D8DBFF"/>
                </a:solidFill>
                <a:latin typeface="Calibri"/>
                <a:ea typeface="Calibri"/>
                <a:cs typeface="Calibri"/>
              </a:defRPr>
            </a:pPr>
            <a:r>
              <a:rPr sz="1163" b="0">
                <a:solidFill>
                  <a:srgbClr val="D8DBFF"/>
                </a:solidFill>
                <a:latin typeface="Calibri"/>
                <a:ea typeface="Calibri"/>
                <a:cs typeface="Calibri"/>
              </a:rPr>
              <a:t>Current live cells use OpenAI; Groq is not wired by default</a:t>
            </a:r>
          </a:p>
        </p:txBody>
      </p:sp>
      <p:sp>
        <p:nvSpPr>
          <p:cNvPr id="28" name="">
            <a:extLst xmlns:a="http://schemas.openxmlformats.org/drawingml/2006/main">
              <a:ext uri="{FF2B5EF4-FFF2-40B4-BE49-F238E27FC236}">
                <a16:creationId xmlns:a16="http://schemas.microsoft.com/office/drawing/2014/main" id="{0C7D3B79-985C-48F4-A915-3DE47F79E9C4}"/>
              </a:ext>
            </a:extLst>
          </p:cNvPr>
          <p:cNvSpPr>
            <a:spLocks xmlns:a="http://schemas.openxmlformats.org/drawingml/2006/main" noGrp="1"/>
          </p:cNvSpPr>
          <p:nvPr/>
        </p:nvSpPr>
        <p:spPr>
          <a:xfrm xmlns:a="http://schemas.openxmlformats.org/drawingml/2006/main">
            <a:off x="742950" y="5010150"/>
            <a:ext cx="10706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1">
                <a:solidFill>
                  <a:srgbClr val="FFFFFF"/>
                </a:solidFill>
                <a:latin typeface="Calibri"/>
                <a:ea typeface="Calibri"/>
                <a:cs typeface="Calibri"/>
              </a:defRPr>
            </a:pPr>
            <a:r>
              <a:rPr sz="1200" b="1">
                <a:solidFill>
                  <a:srgbClr val="FFFFFF"/>
                </a:solidFill>
                <a:latin typeface="Calibri"/>
                <a:ea typeface="Calibri"/>
                <a:cs typeface="Calibri"/>
              </a:rPr>
              <a:t>Groq is a possible provider for a separately configured extension; it is not required for JupyterLab, labs, or practical work.</a:t>
            </a:r>
          </a:p>
        </p:txBody>
      </p:sp>
    </p:spTree>
    <p:extLst>
      <p:ext uri="{BB962C8B-B14F-4D97-AF65-F5344CB8AC3E}">
        <p14:creationId xmlns:p14="http://schemas.microsoft.com/office/powerpoint/2010/main" val="161519758"/>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E4D47F1-D6A1-4198-BDA4-E7840AF8BD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89DDB35-FE92-461D-83DA-3A4B98988592}"/>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05130596-6347-4837-9D2A-999BD8CAE233}"/>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00D4AFB0-ECDF-4606-997B-424FD3397993}"/>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53E9C67-9A57-4B2D-B895-D403201338E2}"/>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0B4A909F-C476-4069-8C1A-872E800B5B4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16C56B70-B670-4CB0-B10B-BCA8B8A80B3D}"/>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5-part architecture</a:t>
            </a:r>
          </a:p>
        </p:txBody>
      </p:sp>
      <p:sp>
        <p:nvSpPr>
          <p:cNvPr id="8" name="">
            <a:extLst xmlns:a="http://schemas.openxmlformats.org/drawingml/2006/main">
              <a:ext uri="{FF2B5EF4-FFF2-40B4-BE49-F238E27FC236}">
                <a16:creationId xmlns:a16="http://schemas.microsoft.com/office/drawing/2014/main" id="{6191DDF1-F488-4941-905E-C30FE87BDB4C}"/>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36</a:t>
            </a:r>
          </a:p>
        </p:txBody>
      </p:sp>
      <p:sp>
        <p:nvSpPr>
          <p:cNvPr id="9" name="">
            <a:extLst xmlns:a="http://schemas.openxmlformats.org/drawingml/2006/main">
              <a:ext uri="{FF2B5EF4-FFF2-40B4-BE49-F238E27FC236}">
                <a16:creationId xmlns:a16="http://schemas.microsoft.com/office/drawing/2014/main" id="{8E3B640D-11D0-4128-AA22-C8A3CAB347FA}"/>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Alignment Bridge</a:t>
            </a:r>
          </a:p>
        </p:txBody>
      </p:sp>
      <p:sp>
        <p:nvSpPr>
          <p:cNvPr id="10" name="">
            <a:extLst xmlns:a="http://schemas.openxmlformats.org/drawingml/2006/main">
              <a:ext uri="{FF2B5EF4-FFF2-40B4-BE49-F238E27FC236}">
                <a16:creationId xmlns:a16="http://schemas.microsoft.com/office/drawing/2014/main" id="{1D4C3C15-BB06-43AC-8BD5-C805CFB6C96F}"/>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Brain → Body → Ecosystem</a:t>
            </a:r>
          </a:p>
        </p:txBody>
      </p:sp>
      <p:sp>
        <p:nvSpPr>
          <p:cNvPr id="11" name="">
            <a:extLst xmlns:a="http://schemas.openxmlformats.org/drawingml/2006/main">
              <a:ext uri="{FF2B5EF4-FFF2-40B4-BE49-F238E27FC236}">
                <a16:creationId xmlns:a16="http://schemas.microsoft.com/office/drawing/2014/main" id="{621A6F59-7811-47A2-8AEE-A0D98D69F150}"/>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7DA271D6-DCFD-450C-BA02-A6AD6A2CAF9E}"/>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4F5B6AF3-42CF-4F02-896D-15932FF69924}"/>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Operating Anatomy</a:t>
            </a:r>
          </a:p>
        </p:txBody>
      </p:sp>
      <p:sp>
        <p:nvSpPr>
          <p:cNvPr id="14" name="">
            <a:extLst xmlns:a="http://schemas.openxmlformats.org/drawingml/2006/main">
              <a:ext uri="{FF2B5EF4-FFF2-40B4-BE49-F238E27FC236}">
                <a16:creationId xmlns:a16="http://schemas.microsoft.com/office/drawing/2014/main" id="{9DB17A40-DF2C-4682-AA93-86606BCF9E4D}"/>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Management Meaning</a:t>
            </a:r>
          </a:p>
        </p:txBody>
      </p:sp>
      <p:sp>
        <p:nvSpPr>
          <p:cNvPr id="15" name="">
            <a:extLst xmlns:a="http://schemas.openxmlformats.org/drawingml/2006/main">
              <a:ext uri="{FF2B5EF4-FFF2-40B4-BE49-F238E27FC236}">
                <a16:creationId xmlns:a16="http://schemas.microsoft.com/office/drawing/2014/main" id="{85E65C3D-5B39-4AA5-80A4-209CE75233BA}"/>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0A225637-4C4B-4729-BD1D-B7121E4AB61A}"/>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Brain: TeamLog + Theory of Mind</a:t>
            </a:r>
          </a:p>
        </p:txBody>
      </p:sp>
      <p:sp>
        <p:nvSpPr>
          <p:cNvPr id="17" name="">
            <a:extLst xmlns:a="http://schemas.openxmlformats.org/drawingml/2006/main">
              <a:ext uri="{FF2B5EF4-FFF2-40B4-BE49-F238E27FC236}">
                <a16:creationId xmlns:a16="http://schemas.microsoft.com/office/drawing/2014/main" id="{1C4D88DC-388C-42FB-8A31-1B74D323C48F}"/>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DC3B3849-46C6-4A2F-8BC5-F63F6E1C4645}"/>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Nervous system: Agentic RAG + MCP</a:t>
            </a:r>
          </a:p>
        </p:txBody>
      </p:sp>
      <p:sp>
        <p:nvSpPr>
          <p:cNvPr id="19" name="">
            <a:extLst xmlns:a="http://schemas.openxmlformats.org/drawingml/2006/main">
              <a:ext uri="{FF2B5EF4-FFF2-40B4-BE49-F238E27FC236}">
                <a16:creationId xmlns:a16="http://schemas.microsoft.com/office/drawing/2014/main" id="{607849DF-C5CF-4299-AFD6-3DB057BCF30F}"/>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87BC4D41-0F47-4C28-A4F6-EE6359AEBEA7}"/>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Body: Pydantic + orchestration</a:t>
            </a:r>
          </a:p>
        </p:txBody>
      </p:sp>
      <p:sp>
        <p:nvSpPr>
          <p:cNvPr id="21" name="">
            <a:extLst xmlns:a="http://schemas.openxmlformats.org/drawingml/2006/main">
              <a:ext uri="{FF2B5EF4-FFF2-40B4-BE49-F238E27FC236}">
                <a16:creationId xmlns:a16="http://schemas.microsoft.com/office/drawing/2014/main" id="{97967393-D0D1-4B0C-B203-EE781F6F87BF}"/>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961E342F-6A39-4E39-957B-721B53F5E3FE}"/>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Reflexes: routing + repair</a:t>
            </a:r>
          </a:p>
        </p:txBody>
      </p:sp>
      <p:sp>
        <p:nvSpPr>
          <p:cNvPr id="23" name="">
            <a:extLst xmlns:a="http://schemas.openxmlformats.org/drawingml/2006/main">
              <a:ext uri="{FF2B5EF4-FFF2-40B4-BE49-F238E27FC236}">
                <a16:creationId xmlns:a16="http://schemas.microsoft.com/office/drawing/2014/main" id="{4E9AF261-A660-41E7-A269-8874D1BD2099}"/>
              </a:ext>
            </a:extLst>
          </p:cNvPr>
          <p:cNvSpPr>
            <a:spLocks xmlns:a="http://schemas.openxmlformats.org/drawingml/2006/main" noGrp="1"/>
          </p:cNvSpPr>
          <p:nvPr/>
        </p:nvSpPr>
        <p:spPr>
          <a:xfrm xmlns:a="http://schemas.openxmlformats.org/drawingml/2006/main">
            <a:off x="800100" y="4286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0BCFEAA0-AB19-49DB-900D-45C376ACA179}"/>
              </a:ext>
            </a:extLst>
          </p:cNvPr>
          <p:cNvSpPr>
            <a:spLocks xmlns:a="http://schemas.openxmlformats.org/drawingml/2006/main" noGrp="1"/>
          </p:cNvSpPr>
          <p:nvPr/>
        </p:nvSpPr>
        <p:spPr>
          <a:xfrm xmlns:a="http://schemas.openxmlformats.org/drawingml/2006/main">
            <a:off x="1104900" y="42862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Ecosystem: API + A2A + zero trust</a:t>
            </a:r>
          </a:p>
        </p:txBody>
      </p:sp>
      <p:sp>
        <p:nvSpPr>
          <p:cNvPr id="25" name="">
            <a:extLst xmlns:a="http://schemas.openxmlformats.org/drawingml/2006/main">
              <a:ext uri="{FF2B5EF4-FFF2-40B4-BE49-F238E27FC236}">
                <a16:creationId xmlns:a16="http://schemas.microsoft.com/office/drawing/2014/main" id="{04A9EBCD-3C91-4DF8-9233-BDF27E8DEB21}"/>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14EA5FFC-0A7D-4A41-B174-F9E826916BE0}"/>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align the team</a:t>
            </a:r>
          </a:p>
        </p:txBody>
      </p:sp>
      <p:sp>
        <p:nvSpPr>
          <p:cNvPr id="27" name="">
            <a:extLst xmlns:a="http://schemas.openxmlformats.org/drawingml/2006/main">
              <a:ext uri="{FF2B5EF4-FFF2-40B4-BE49-F238E27FC236}">
                <a16:creationId xmlns:a16="http://schemas.microsoft.com/office/drawing/2014/main" id="{824489A4-7A9F-429A-864C-AC261A2DF24C}"/>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A2C5D06D-F081-4F6C-A868-14E40367F26D}"/>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route context and tools</a:t>
            </a:r>
          </a:p>
        </p:txBody>
      </p:sp>
      <p:sp>
        <p:nvSpPr>
          <p:cNvPr id="29" name="">
            <a:extLst xmlns:a="http://schemas.openxmlformats.org/drawingml/2006/main">
              <a:ext uri="{FF2B5EF4-FFF2-40B4-BE49-F238E27FC236}">
                <a16:creationId xmlns:a16="http://schemas.microsoft.com/office/drawing/2014/main" id="{67F0BDE6-2631-4D62-B56F-DE23A94AAB6C}"/>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77AAF4C7-6A3E-4132-A26A-1C306FEF8A46}"/>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make handoffs executable</a:t>
            </a:r>
          </a:p>
        </p:txBody>
      </p:sp>
      <p:sp>
        <p:nvSpPr>
          <p:cNvPr id="31" name="">
            <a:extLst xmlns:a="http://schemas.openxmlformats.org/drawingml/2006/main">
              <a:ext uri="{FF2B5EF4-FFF2-40B4-BE49-F238E27FC236}">
                <a16:creationId xmlns:a16="http://schemas.microsoft.com/office/drawing/2014/main" id="{05D6E989-BA8F-4529-BF25-A1351CF158EA}"/>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2" name="">
            <a:extLst xmlns:a="http://schemas.openxmlformats.org/drawingml/2006/main">
              <a:ext uri="{FF2B5EF4-FFF2-40B4-BE49-F238E27FC236}">
                <a16:creationId xmlns:a16="http://schemas.microsoft.com/office/drawing/2014/main" id="{9A9DAE7F-2045-4755-909D-F00CFBECADD8}"/>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recover within bounds</a:t>
            </a:r>
          </a:p>
        </p:txBody>
      </p:sp>
      <p:sp>
        <p:nvSpPr>
          <p:cNvPr id="33" name="">
            <a:extLst xmlns:a="http://schemas.openxmlformats.org/drawingml/2006/main">
              <a:ext uri="{FF2B5EF4-FFF2-40B4-BE49-F238E27FC236}">
                <a16:creationId xmlns:a16="http://schemas.microsoft.com/office/drawing/2014/main" id="{9588CE2D-C24A-46B0-A3DE-841A6D1E5105}"/>
              </a:ext>
            </a:extLst>
          </p:cNvPr>
          <p:cNvSpPr>
            <a:spLocks xmlns:a="http://schemas.openxmlformats.org/drawingml/2006/main" noGrp="1"/>
          </p:cNvSpPr>
          <p:nvPr/>
        </p:nvSpPr>
        <p:spPr>
          <a:xfrm xmlns:a="http://schemas.openxmlformats.org/drawingml/2006/main">
            <a:off x="6629400" y="4286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4" name="">
            <a:extLst xmlns:a="http://schemas.openxmlformats.org/drawingml/2006/main">
              <a:ext uri="{FF2B5EF4-FFF2-40B4-BE49-F238E27FC236}">
                <a16:creationId xmlns:a16="http://schemas.microsoft.com/office/drawing/2014/main" id="{26EFD280-7C07-4AAA-AA7A-B6E03052585B}"/>
              </a:ext>
            </a:extLst>
          </p:cNvPr>
          <p:cNvSpPr>
            <a:spLocks xmlns:a="http://schemas.openxmlformats.org/drawingml/2006/main" noGrp="1"/>
          </p:cNvSpPr>
          <p:nvPr/>
        </p:nvSpPr>
        <p:spPr>
          <a:xfrm xmlns:a="http://schemas.openxmlformats.org/drawingml/2006/main">
            <a:off x="6934200" y="42862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interoperate safely</a:t>
            </a:r>
          </a:p>
        </p:txBody>
      </p:sp>
      <p:sp>
        <p:nvSpPr>
          <p:cNvPr id="35" name="">
            <a:extLst xmlns:a="http://schemas.openxmlformats.org/drawingml/2006/main">
              <a:ext uri="{FF2B5EF4-FFF2-40B4-BE49-F238E27FC236}">
                <a16:creationId xmlns:a16="http://schemas.microsoft.com/office/drawing/2014/main" id="{51557D64-2223-456D-BD12-578614F011DA}"/>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The anatomy keeps the course from becoming a tool tutorial.</a:t>
            </a:r>
          </a:p>
        </p:txBody>
      </p:sp>
    </p:spTree>
    <p:extLst>
      <p:ext uri="{BB962C8B-B14F-4D97-AF65-F5344CB8AC3E}">
        <p14:creationId xmlns:p14="http://schemas.microsoft.com/office/powerpoint/2010/main" val="39860980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BC10F2E-2A64-42D9-AFE0-DF75238EA2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756A2C7-9A12-4657-A4E3-B79253BFE14C}"/>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17A1207C-B470-4332-83D3-8047DF730AF5}"/>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D27E2605-DEE7-4D93-93B6-815A7C642417}"/>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7E2BF6EE-784C-4178-A85B-6B33E576CF10}"/>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C9E98AA5-49BC-4165-959A-DB8A45C7BE79}"/>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9B49D3FD-6CF7-490F-BF44-287DB2CED3B1}"/>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NB8-NB11 + Assignment 12</a:t>
            </a:r>
          </a:p>
        </p:txBody>
      </p:sp>
      <p:sp>
        <p:nvSpPr>
          <p:cNvPr id="8" name="">
            <a:extLst xmlns:a="http://schemas.openxmlformats.org/drawingml/2006/main">
              <a:ext uri="{FF2B5EF4-FFF2-40B4-BE49-F238E27FC236}">
                <a16:creationId xmlns:a16="http://schemas.microsoft.com/office/drawing/2014/main" id="{D8BEEE5B-B5AF-4006-8D20-A5525283818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37</a:t>
            </a:r>
          </a:p>
        </p:txBody>
      </p:sp>
      <p:sp>
        <p:nvSpPr>
          <p:cNvPr id="9" name="">
            <a:extLst xmlns:a="http://schemas.openxmlformats.org/drawingml/2006/main">
              <a:ext uri="{FF2B5EF4-FFF2-40B4-BE49-F238E27FC236}">
                <a16:creationId xmlns:a16="http://schemas.microsoft.com/office/drawing/2014/main" id="{0C3EFC54-99AE-47FF-AB45-17F8DAB429D4}"/>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Alignment Bridge</a:t>
            </a:r>
          </a:p>
        </p:txBody>
      </p:sp>
      <p:sp>
        <p:nvSpPr>
          <p:cNvPr id="10" name="">
            <a:extLst xmlns:a="http://schemas.openxmlformats.org/drawingml/2006/main">
              <a:ext uri="{FF2B5EF4-FFF2-40B4-BE49-F238E27FC236}">
                <a16:creationId xmlns:a16="http://schemas.microsoft.com/office/drawing/2014/main" id="{92D5B450-C57B-4420-B19E-6E69EFA1DA84}"/>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You can Build labs after the Six Modules</a:t>
            </a:r>
          </a:p>
        </p:txBody>
      </p:sp>
      <p:sp>
        <p:nvSpPr>
          <p:cNvPr id="11" name="">
            <a:extLst xmlns:a="http://schemas.openxmlformats.org/drawingml/2006/main">
              <a:ext uri="{FF2B5EF4-FFF2-40B4-BE49-F238E27FC236}">
                <a16:creationId xmlns:a16="http://schemas.microsoft.com/office/drawing/2014/main" id="{F06379B8-46B5-4B3B-8F21-CB1693756E4B}"/>
              </a:ext>
            </a:extLst>
          </p:cNvPr>
          <p:cNvSpPr>
            <a:spLocks xmlns:a="http://schemas.openxmlformats.org/drawingml/2006/main" noGrp="1"/>
          </p:cNvSpPr>
          <p:nvPr/>
        </p:nvSpPr>
        <p:spPr>
          <a:xfrm xmlns:a="http://schemas.openxmlformats.org/drawingml/2006/main">
            <a:off x="781050" y="16764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75" b="1">
                <a:solidFill>
                  <a:srgbClr val="FFFFFF"/>
                </a:solidFill>
              </a:defRPr>
            </a:pPr>
            <a:r>
              <a:rPr sz="1875" b="1">
                <a:solidFill>
                  <a:srgbClr val="FFFFFF"/>
                </a:solidFill>
              </a:rPr>
              <a:t>Bridge from classroom concepts to production operating surfaces:</a:t>
            </a:r>
          </a:p>
        </p:txBody>
      </p:sp>
      <p:sp>
        <p:nvSpPr>
          <p:cNvPr id="12" name="">
            <a:extLst xmlns:a="http://schemas.openxmlformats.org/drawingml/2006/main">
              <a:ext uri="{FF2B5EF4-FFF2-40B4-BE49-F238E27FC236}">
                <a16:creationId xmlns:a16="http://schemas.microsoft.com/office/drawing/2014/main" id="{50E43C8E-8034-46EF-BBD2-9BA0BA17C4A0}"/>
              </a:ext>
            </a:extLst>
          </p:cNvPr>
          <p:cNvSpPr>
            <a:spLocks xmlns:a="http://schemas.openxmlformats.org/drawingml/2006/main" noGrp="1"/>
          </p:cNvSpPr>
          <p:nvPr/>
        </p:nvSpPr>
        <p:spPr>
          <a:xfrm xmlns:a="http://schemas.openxmlformats.org/drawingml/2006/main">
            <a:off x="876300" y="2305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13" name="">
            <a:extLst xmlns:a="http://schemas.openxmlformats.org/drawingml/2006/main">
              <a:ext uri="{FF2B5EF4-FFF2-40B4-BE49-F238E27FC236}">
                <a16:creationId xmlns:a16="http://schemas.microsoft.com/office/drawing/2014/main" id="{65F37F53-4ACB-4558-825C-5A66299760B9}"/>
              </a:ext>
            </a:extLst>
          </p:cNvPr>
          <p:cNvSpPr>
            <a:spLocks xmlns:a="http://schemas.openxmlformats.org/drawingml/2006/main" noGrp="1"/>
          </p:cNvSpPr>
          <p:nvPr/>
        </p:nvSpPr>
        <p:spPr>
          <a:xfrm xmlns:a="http://schemas.openxmlformats.org/drawingml/2006/main">
            <a:off x="1200150" y="23050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Classroom concepts → NB8 API Boundary</a:t>
            </a:r>
          </a:p>
        </p:txBody>
      </p:sp>
      <p:sp>
        <p:nvSpPr>
          <p:cNvPr id="14" name="">
            <a:extLst xmlns:a="http://schemas.openxmlformats.org/drawingml/2006/main">
              <a:ext uri="{FF2B5EF4-FFF2-40B4-BE49-F238E27FC236}">
                <a16:creationId xmlns:a16="http://schemas.microsoft.com/office/drawing/2014/main" id="{02BA057A-4D9F-4FC9-AD90-40E855FA0AEF}"/>
              </a:ext>
            </a:extLst>
          </p:cNvPr>
          <p:cNvSpPr>
            <a:spLocks xmlns:a="http://schemas.openxmlformats.org/drawingml/2006/main" noGrp="1"/>
          </p:cNvSpPr>
          <p:nvPr/>
        </p:nvSpPr>
        <p:spPr>
          <a:xfrm xmlns:a="http://schemas.openxmlformats.org/drawingml/2006/main">
            <a:off x="5657850" y="230505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external events become governed TaskSpec work.</a:t>
            </a:r>
          </a:p>
        </p:txBody>
      </p:sp>
      <p:sp>
        <p:nvSpPr>
          <p:cNvPr id="15" name="">
            <a:extLst xmlns:a="http://schemas.openxmlformats.org/drawingml/2006/main">
              <a:ext uri="{FF2B5EF4-FFF2-40B4-BE49-F238E27FC236}">
                <a16:creationId xmlns:a16="http://schemas.microsoft.com/office/drawing/2014/main" id="{BBEFAA7D-A366-4AB9-8E36-FDB96A34FC93}"/>
              </a:ext>
            </a:extLst>
          </p:cNvPr>
          <p:cNvSpPr>
            <a:spLocks xmlns:a="http://schemas.openxmlformats.org/drawingml/2006/main" noGrp="1"/>
          </p:cNvSpPr>
          <p:nvPr/>
        </p:nvSpPr>
        <p:spPr>
          <a:xfrm xmlns:a="http://schemas.openxmlformats.org/drawingml/2006/main">
            <a:off x="876300" y="28575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16" name="">
            <a:extLst xmlns:a="http://schemas.openxmlformats.org/drawingml/2006/main">
              <a:ext uri="{FF2B5EF4-FFF2-40B4-BE49-F238E27FC236}">
                <a16:creationId xmlns:a16="http://schemas.microsoft.com/office/drawing/2014/main" id="{1B8D5087-6805-4AA0-A964-9AEE9EFE2672}"/>
              </a:ext>
            </a:extLst>
          </p:cNvPr>
          <p:cNvSpPr>
            <a:spLocks xmlns:a="http://schemas.openxmlformats.org/drawingml/2006/main" noGrp="1"/>
          </p:cNvSpPr>
          <p:nvPr/>
        </p:nvSpPr>
        <p:spPr>
          <a:xfrm xmlns:a="http://schemas.openxmlformats.org/drawingml/2006/main">
            <a:off x="1200150" y="2857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NB8 → NB9 Advanced Orchestration</a:t>
            </a:r>
          </a:p>
        </p:txBody>
      </p:sp>
      <p:sp>
        <p:nvSpPr>
          <p:cNvPr id="17" name="">
            <a:extLst xmlns:a="http://schemas.openxmlformats.org/drawingml/2006/main">
              <a:ext uri="{FF2B5EF4-FFF2-40B4-BE49-F238E27FC236}">
                <a16:creationId xmlns:a16="http://schemas.microsoft.com/office/drawing/2014/main" id="{BD14B363-25B7-4FB0-A490-15236DB88463}"/>
              </a:ext>
            </a:extLst>
          </p:cNvPr>
          <p:cNvSpPr>
            <a:spLocks xmlns:a="http://schemas.openxmlformats.org/drawingml/2006/main" noGrp="1"/>
          </p:cNvSpPr>
          <p:nvPr/>
        </p:nvSpPr>
        <p:spPr>
          <a:xfrm xmlns:a="http://schemas.openxmlformats.org/drawingml/2006/main">
            <a:off x="5657850" y="28575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typed delegation, scaffolds, debate, and routing decisions.</a:t>
            </a:r>
          </a:p>
        </p:txBody>
      </p:sp>
      <p:sp>
        <p:nvSpPr>
          <p:cNvPr id="18" name="">
            <a:extLst xmlns:a="http://schemas.openxmlformats.org/drawingml/2006/main">
              <a:ext uri="{FF2B5EF4-FFF2-40B4-BE49-F238E27FC236}">
                <a16:creationId xmlns:a16="http://schemas.microsoft.com/office/drawing/2014/main" id="{93909673-EF0A-4308-96F9-96FB09BB6E22}"/>
              </a:ext>
            </a:extLst>
          </p:cNvPr>
          <p:cNvSpPr>
            <a:spLocks xmlns:a="http://schemas.openxmlformats.org/drawingml/2006/main" noGrp="1"/>
          </p:cNvSpPr>
          <p:nvPr/>
        </p:nvSpPr>
        <p:spPr>
          <a:xfrm xmlns:a="http://schemas.openxmlformats.org/drawingml/2006/main">
            <a:off x="876300" y="34099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19" name="">
            <a:extLst xmlns:a="http://schemas.openxmlformats.org/drawingml/2006/main">
              <a:ext uri="{FF2B5EF4-FFF2-40B4-BE49-F238E27FC236}">
                <a16:creationId xmlns:a16="http://schemas.microsoft.com/office/drawing/2014/main" id="{21678924-6584-4D6F-80EC-56C252FE0DD1}"/>
              </a:ext>
            </a:extLst>
          </p:cNvPr>
          <p:cNvSpPr>
            <a:spLocks xmlns:a="http://schemas.openxmlformats.org/drawingml/2006/main" noGrp="1"/>
          </p:cNvSpPr>
          <p:nvPr/>
        </p:nvSpPr>
        <p:spPr>
          <a:xfrm xmlns:a="http://schemas.openxmlformats.org/drawingml/2006/main">
            <a:off x="1200150" y="34099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NB9 → NB10 Vibe Coding CEO Interface</a:t>
            </a:r>
          </a:p>
        </p:txBody>
      </p:sp>
      <p:sp>
        <p:nvSpPr>
          <p:cNvPr id="20" name="">
            <a:extLst xmlns:a="http://schemas.openxmlformats.org/drawingml/2006/main">
              <a:ext uri="{FF2B5EF4-FFF2-40B4-BE49-F238E27FC236}">
                <a16:creationId xmlns:a16="http://schemas.microsoft.com/office/drawing/2014/main" id="{8F6C7CBE-5100-4385-A97C-7EDA3EB8CBBD}"/>
              </a:ext>
            </a:extLst>
          </p:cNvPr>
          <p:cNvSpPr>
            <a:spLocks xmlns:a="http://schemas.openxmlformats.org/drawingml/2006/main" noGrp="1"/>
          </p:cNvSpPr>
          <p:nvPr/>
        </p:nvSpPr>
        <p:spPr>
          <a:xfrm xmlns:a="http://schemas.openxmlformats.org/drawingml/2006/main">
            <a:off x="5657850" y="340995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human steering updates commitments without breaking contracts.</a:t>
            </a:r>
          </a:p>
        </p:txBody>
      </p:sp>
      <p:sp>
        <p:nvSpPr>
          <p:cNvPr id="21" name="">
            <a:extLst xmlns:a="http://schemas.openxmlformats.org/drawingml/2006/main">
              <a:ext uri="{FF2B5EF4-FFF2-40B4-BE49-F238E27FC236}">
                <a16:creationId xmlns:a16="http://schemas.microsoft.com/office/drawing/2014/main" id="{A386E746-9AD7-4326-8C4F-C4C74D384195}"/>
              </a:ext>
            </a:extLst>
          </p:cNvPr>
          <p:cNvSpPr>
            <a:spLocks xmlns:a="http://schemas.openxmlformats.org/drawingml/2006/main" noGrp="1"/>
          </p:cNvSpPr>
          <p:nvPr/>
        </p:nvSpPr>
        <p:spPr>
          <a:xfrm xmlns:a="http://schemas.openxmlformats.org/drawingml/2006/main">
            <a:off x="876300" y="39624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22" name="">
            <a:extLst xmlns:a="http://schemas.openxmlformats.org/drawingml/2006/main">
              <a:ext uri="{FF2B5EF4-FFF2-40B4-BE49-F238E27FC236}">
                <a16:creationId xmlns:a16="http://schemas.microsoft.com/office/drawing/2014/main" id="{1463ACC5-34E7-4213-AB89-70B2BC877ACB}"/>
              </a:ext>
            </a:extLst>
          </p:cNvPr>
          <p:cNvSpPr>
            <a:spLocks xmlns:a="http://schemas.openxmlformats.org/drawingml/2006/main" noGrp="1"/>
          </p:cNvSpPr>
          <p:nvPr/>
        </p:nvSpPr>
        <p:spPr>
          <a:xfrm xmlns:a="http://schemas.openxmlformats.org/drawingml/2006/main">
            <a:off x="1200150" y="39624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NB10 → Assignment 12 From Whisper to Shipped Code</a:t>
            </a:r>
          </a:p>
        </p:txBody>
      </p:sp>
      <p:sp>
        <p:nvSpPr>
          <p:cNvPr id="23" name="">
            <a:extLst xmlns:a="http://schemas.openxmlformats.org/drawingml/2006/main">
              <a:ext uri="{FF2B5EF4-FFF2-40B4-BE49-F238E27FC236}">
                <a16:creationId xmlns:a16="http://schemas.microsoft.com/office/drawing/2014/main" id="{B16E4ED3-7EAD-4301-B51E-29D0DC6756EA}"/>
              </a:ext>
            </a:extLst>
          </p:cNvPr>
          <p:cNvSpPr>
            <a:spLocks xmlns:a="http://schemas.openxmlformats.org/drawingml/2006/main" noGrp="1"/>
          </p:cNvSpPr>
          <p:nvPr/>
        </p:nvSpPr>
        <p:spPr>
          <a:xfrm xmlns:a="http://schemas.openxmlformats.org/drawingml/2006/main">
            <a:off x="5657850" y="39624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connect human intent, scaffold, debate, TeamLog, and release.</a:t>
            </a:r>
          </a:p>
        </p:txBody>
      </p:sp>
      <p:sp>
        <p:nvSpPr>
          <p:cNvPr id="24" name="">
            <a:extLst xmlns:a="http://schemas.openxmlformats.org/drawingml/2006/main">
              <a:ext uri="{FF2B5EF4-FFF2-40B4-BE49-F238E27FC236}">
                <a16:creationId xmlns:a16="http://schemas.microsoft.com/office/drawing/2014/main" id="{93A025B1-3D9D-4D6D-A2E7-44BC1FC533AF}"/>
              </a:ext>
            </a:extLst>
          </p:cNvPr>
          <p:cNvSpPr>
            <a:spLocks xmlns:a="http://schemas.openxmlformats.org/drawingml/2006/main" noGrp="1"/>
          </p:cNvSpPr>
          <p:nvPr/>
        </p:nvSpPr>
        <p:spPr>
          <a:xfrm xmlns:a="http://schemas.openxmlformats.org/drawingml/2006/main">
            <a:off x="876300" y="4514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25" name="">
            <a:extLst xmlns:a="http://schemas.openxmlformats.org/drawingml/2006/main">
              <a:ext uri="{FF2B5EF4-FFF2-40B4-BE49-F238E27FC236}">
                <a16:creationId xmlns:a16="http://schemas.microsoft.com/office/drawing/2014/main" id="{DA777412-6CDA-4CED-A080-B123C3A35B58}"/>
              </a:ext>
            </a:extLst>
          </p:cNvPr>
          <p:cNvSpPr>
            <a:spLocks xmlns:a="http://schemas.openxmlformats.org/drawingml/2006/main" noGrp="1"/>
          </p:cNvSpPr>
          <p:nvPr/>
        </p:nvSpPr>
        <p:spPr>
          <a:xfrm xmlns:a="http://schemas.openxmlformats.org/drawingml/2006/main">
            <a:off x="1200150" y="45148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NB11 → CrewAI Learning</a:t>
            </a:r>
          </a:p>
        </p:txBody>
      </p:sp>
      <p:sp>
        <p:nvSpPr>
          <p:cNvPr id="26" name="">
            <a:extLst xmlns:a="http://schemas.openxmlformats.org/drawingml/2006/main">
              <a:ext uri="{FF2B5EF4-FFF2-40B4-BE49-F238E27FC236}">
                <a16:creationId xmlns:a16="http://schemas.microsoft.com/office/drawing/2014/main" id="{78C034DD-08D4-4DDC-8487-6963D984EC96}"/>
              </a:ext>
            </a:extLst>
          </p:cNvPr>
          <p:cNvSpPr>
            <a:spLocks xmlns:a="http://schemas.openxmlformats.org/drawingml/2006/main" noGrp="1"/>
          </p:cNvSpPr>
          <p:nvPr/>
        </p:nvSpPr>
        <p:spPr>
          <a:xfrm xmlns:a="http://schemas.openxmlformats.org/drawingml/2006/main">
            <a:off x="5657850" y="451485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design Coder, QA, Review agents with optional live execution.</a:t>
            </a:r>
          </a:p>
        </p:txBody>
      </p:sp>
      <p:sp>
        <p:nvSpPr>
          <p:cNvPr id="27" name="">
            <a:extLst xmlns:a="http://schemas.openxmlformats.org/drawingml/2006/main">
              <a:ext uri="{FF2B5EF4-FFF2-40B4-BE49-F238E27FC236}">
                <a16:creationId xmlns:a16="http://schemas.microsoft.com/office/drawing/2014/main" id="{76165F96-3CC9-4196-ABDC-902BD87851E9}"/>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Each bridge lab turns one classroom pattern into one production operating surface.</a:t>
            </a:r>
          </a:p>
        </p:txBody>
      </p:sp>
    </p:spTree>
    <p:extLst>
      <p:ext uri="{BB962C8B-B14F-4D97-AF65-F5344CB8AC3E}">
        <p14:creationId xmlns:p14="http://schemas.microsoft.com/office/powerpoint/2010/main" val="711041383"/>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90EE241-3E72-4129-96B6-1F1E4D00BD3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3580E58-5FA7-4801-B458-2702565A1CA9}"/>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4F8455A9-3D7E-4BE2-B3A9-9D1BF6422BC1}"/>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D6E11D21-2944-4EBD-8CB9-CE92305C6422}"/>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6777E90C-26EE-43C9-80BC-48F6720A3A2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981ECD9-210B-4C20-A5B5-D519CE0AD1D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1D53C847-8D4E-4C9D-9999-72F8B4A69174}"/>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CrewAI bridge notebook + capstone spec</a:t>
            </a:r>
          </a:p>
        </p:txBody>
      </p:sp>
      <p:sp>
        <p:nvSpPr>
          <p:cNvPr id="8" name="">
            <a:extLst xmlns:a="http://schemas.openxmlformats.org/drawingml/2006/main">
              <a:ext uri="{FF2B5EF4-FFF2-40B4-BE49-F238E27FC236}">
                <a16:creationId xmlns:a16="http://schemas.microsoft.com/office/drawing/2014/main" id="{E485FCC4-D179-47F6-ACD9-E70D7E58B29E}"/>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38</a:t>
            </a:r>
          </a:p>
        </p:txBody>
      </p:sp>
      <p:sp>
        <p:nvSpPr>
          <p:cNvPr id="9" name="">
            <a:extLst xmlns:a="http://schemas.openxmlformats.org/drawingml/2006/main">
              <a:ext uri="{FF2B5EF4-FFF2-40B4-BE49-F238E27FC236}">
                <a16:creationId xmlns:a16="http://schemas.microsoft.com/office/drawing/2014/main" id="{0AB94049-2A21-460D-8279-DAEF5868C917}"/>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Optional Bridge · Capstone Design</a:t>
            </a:r>
          </a:p>
        </p:txBody>
      </p:sp>
      <p:sp>
        <p:nvSpPr>
          <p:cNvPr id="10" name="">
            <a:extLst xmlns:a="http://schemas.openxmlformats.org/drawingml/2006/main">
              <a:ext uri="{FF2B5EF4-FFF2-40B4-BE49-F238E27FC236}">
                <a16:creationId xmlns:a16="http://schemas.microsoft.com/office/drawing/2014/main" id="{68164C91-FBD6-464E-9553-CBDCE2C9CB3B}"/>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CrewAI Roles: Separation of Duties</a:t>
            </a:r>
          </a:p>
        </p:txBody>
      </p:sp>
      <p:sp>
        <p:nvSpPr>
          <p:cNvPr id="11" name="editable diagram card">
            <a:extLst xmlns:a="http://schemas.openxmlformats.org/drawingml/2006/main">
              <a:ext uri="{FF2B5EF4-FFF2-40B4-BE49-F238E27FC236}">
                <a16:creationId xmlns:a16="http://schemas.microsoft.com/office/drawing/2014/main" id="{4DDED083-A2D1-48DB-9B44-FE384A5D0B38}"/>
              </a:ext>
            </a:extLst>
          </p:cNvPr>
          <p:cNvSpPr>
            <a:spLocks xmlns:a="http://schemas.openxmlformats.org/drawingml/2006/main" noGrp="1"/>
          </p:cNvSpPr>
          <p:nvPr/>
        </p:nvSpPr>
        <p:spPr>
          <a:xfrm xmlns:a="http://schemas.openxmlformats.org/drawingml/2006/main">
            <a:off x="4152900" y="1562100"/>
            <a:ext cx="3886200" cy="628650"/>
          </a:xfrm>
          <a:prstGeom xmlns:a="http://schemas.openxmlformats.org/drawingml/2006/main" prst="roundRect">
            <a:avLst>
              <a:gd name="adj" fmla="val 12121"/>
            </a:avLst>
          </a:prstGeom>
          <a:solidFill xmlns:a="http://schemas.openxmlformats.org/drawingml/2006/main">
            <a:srgbClr val="292EAA"/>
          </a:solidFill>
          <a:ln xmlns:a="http://schemas.openxmlformats.org/drawingml/2006/main" w="13335">
            <a:solidFill>
              <a:srgbClr val="555FE0"/>
            </a:solidFill>
            <a:prstDash val="solid"/>
          </a:ln>
        </p:spPr>
      </p:sp>
      <p:sp>
        <p:nvSpPr>
          <p:cNvPr id="12" name="">
            <a:extLst xmlns:a="http://schemas.openxmlformats.org/drawingml/2006/main">
              <a:ext uri="{FF2B5EF4-FFF2-40B4-BE49-F238E27FC236}">
                <a16:creationId xmlns:a16="http://schemas.microsoft.com/office/drawing/2014/main" id="{5BE77174-EA54-4132-960B-38C1F7F28897}"/>
              </a:ext>
            </a:extLst>
          </p:cNvPr>
          <p:cNvSpPr>
            <a:spLocks xmlns:a="http://schemas.openxmlformats.org/drawingml/2006/main" noGrp="1"/>
          </p:cNvSpPr>
          <p:nvPr/>
        </p:nvSpPr>
        <p:spPr>
          <a:xfrm xmlns:a="http://schemas.openxmlformats.org/drawingml/2006/main">
            <a:off x="4267200" y="1647825"/>
            <a:ext cx="3657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HUMAN / PRODUCT OWNER</a:t>
            </a:r>
          </a:p>
        </p:txBody>
      </p:sp>
      <p:sp>
        <p:nvSpPr>
          <p:cNvPr id="13" name="">
            <a:extLst xmlns:a="http://schemas.openxmlformats.org/drawingml/2006/main">
              <a:ext uri="{FF2B5EF4-FFF2-40B4-BE49-F238E27FC236}">
                <a16:creationId xmlns:a16="http://schemas.microsoft.com/office/drawing/2014/main" id="{8A22C714-F11A-4EF6-A229-D9439117E38B}"/>
              </a:ext>
            </a:extLst>
          </p:cNvPr>
          <p:cNvSpPr>
            <a:spLocks xmlns:a="http://schemas.openxmlformats.org/drawingml/2006/main" noGrp="1"/>
          </p:cNvSpPr>
          <p:nvPr/>
        </p:nvSpPr>
        <p:spPr>
          <a:xfrm xmlns:a="http://schemas.openxmlformats.org/drawingml/2006/main">
            <a:off x="4276725" y="1866900"/>
            <a:ext cx="3638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050" b="0">
                <a:solidFill>
                  <a:srgbClr val="D8DBFF"/>
                </a:solidFill>
                <a:latin typeface="Calibri"/>
                <a:ea typeface="Calibri"/>
                <a:cs typeface="Calibri"/>
              </a:defRPr>
            </a:pPr>
            <a:r>
              <a:rPr sz="1050" b="0">
                <a:solidFill>
                  <a:srgbClr val="D8DBFF"/>
                </a:solidFill>
                <a:latin typeface="Calibri"/>
                <a:ea typeface="Calibri"/>
                <a:cs typeface="Calibri"/>
              </a:rPr>
              <a:t>Natural-language request and final authority</a:t>
            </a:r>
          </a:p>
        </p:txBody>
      </p:sp>
      <p:sp>
        <p:nvSpPr>
          <p:cNvPr id="14" name="editable diagram card">
            <a:extLst xmlns:a="http://schemas.openxmlformats.org/drawingml/2006/main">
              <a:ext uri="{FF2B5EF4-FFF2-40B4-BE49-F238E27FC236}">
                <a16:creationId xmlns:a16="http://schemas.microsoft.com/office/drawing/2014/main" id="{6CE81AF9-D597-4126-8575-18E337A8DFED}"/>
              </a:ext>
            </a:extLst>
          </p:cNvPr>
          <p:cNvSpPr>
            <a:spLocks xmlns:a="http://schemas.openxmlformats.org/drawingml/2006/main" noGrp="1"/>
          </p:cNvSpPr>
          <p:nvPr/>
        </p:nvSpPr>
        <p:spPr>
          <a:xfrm xmlns:a="http://schemas.openxmlformats.org/drawingml/2006/main">
            <a:off x="3476625" y="2476500"/>
            <a:ext cx="5238750" cy="876300"/>
          </a:xfrm>
          <a:prstGeom xmlns:a="http://schemas.openxmlformats.org/drawingml/2006/main" prst="roundRect">
            <a:avLst>
              <a:gd name="adj" fmla="val 8696"/>
            </a:avLst>
          </a:prstGeom>
          <a:solidFill xmlns:a="http://schemas.openxmlformats.org/drawingml/2006/main">
            <a:srgbClr val="292EAA"/>
          </a:solidFill>
          <a:ln xmlns:a="http://schemas.openxmlformats.org/drawingml/2006/main" w="13335">
            <a:solidFill>
              <a:srgbClr val="F04B25"/>
            </a:solidFill>
            <a:prstDash val="solid"/>
          </a:ln>
        </p:spPr>
      </p:sp>
      <p:sp>
        <p:nvSpPr>
          <p:cNvPr id="15" name="">
            <a:extLst xmlns:a="http://schemas.openxmlformats.org/drawingml/2006/main">
              <a:ext uri="{FF2B5EF4-FFF2-40B4-BE49-F238E27FC236}">
                <a16:creationId xmlns:a16="http://schemas.microsoft.com/office/drawing/2014/main" id="{E3B88E8C-47D8-482F-9C29-185C4872D46F}"/>
              </a:ext>
            </a:extLst>
          </p:cNvPr>
          <p:cNvSpPr>
            <a:spLocks xmlns:a="http://schemas.openxmlformats.org/drawingml/2006/main" noGrp="1"/>
          </p:cNvSpPr>
          <p:nvPr/>
        </p:nvSpPr>
        <p:spPr>
          <a:xfrm xmlns:a="http://schemas.openxmlformats.org/drawingml/2006/main">
            <a:off x="3590925" y="2562225"/>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425" b="1">
                <a:solidFill>
                  <a:srgbClr val="FFFFFF"/>
                </a:solidFill>
                <a:latin typeface="Calibri"/>
                <a:ea typeface="Calibri"/>
                <a:cs typeface="Calibri"/>
              </a:defRPr>
            </a:pPr>
            <a:r>
              <a:rPr sz="1425" b="1">
                <a:solidFill>
                  <a:srgbClr val="FFFFFF"/>
                </a:solidFill>
                <a:latin typeface="Calibri"/>
                <a:ea typeface="Calibri"/>
                <a:cs typeface="Calibri"/>
              </a:rPr>
              <a:t>ENGINEERING MANAGER</a:t>
            </a:r>
          </a:p>
        </p:txBody>
      </p:sp>
      <p:sp>
        <p:nvSpPr>
          <p:cNvPr id="16" name="">
            <a:extLst xmlns:a="http://schemas.openxmlformats.org/drawingml/2006/main">
              <a:ext uri="{FF2B5EF4-FFF2-40B4-BE49-F238E27FC236}">
                <a16:creationId xmlns:a16="http://schemas.microsoft.com/office/drawing/2014/main" id="{DBEBDFD4-149A-4D81-86A8-B19D49E99871}"/>
              </a:ext>
            </a:extLst>
          </p:cNvPr>
          <p:cNvSpPr>
            <a:spLocks xmlns:a="http://schemas.openxmlformats.org/drawingml/2006/main" noGrp="1"/>
          </p:cNvSpPr>
          <p:nvPr/>
        </p:nvSpPr>
        <p:spPr>
          <a:xfrm xmlns:a="http://schemas.openxmlformats.org/drawingml/2006/main">
            <a:off x="3600450" y="2847975"/>
            <a:ext cx="4991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Delegates Pydantic-typed work · approve_code only</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Cannot write code</a:t>
            </a:r>
          </a:p>
        </p:txBody>
      </p:sp>
      <p:sp>
        <p:nvSpPr>
          <p:cNvPr id="17" name="editable diagram card">
            <a:extLst xmlns:a="http://schemas.openxmlformats.org/drawingml/2006/main">
              <a:ext uri="{FF2B5EF4-FFF2-40B4-BE49-F238E27FC236}">
                <a16:creationId xmlns:a16="http://schemas.microsoft.com/office/drawing/2014/main" id="{D8F45D02-1802-4136-B63F-09C2C2A9899B}"/>
              </a:ext>
            </a:extLst>
          </p:cNvPr>
          <p:cNvSpPr>
            <a:spLocks xmlns:a="http://schemas.openxmlformats.org/drawingml/2006/main" noGrp="1"/>
          </p:cNvSpPr>
          <p:nvPr/>
        </p:nvSpPr>
        <p:spPr>
          <a:xfrm xmlns:a="http://schemas.openxmlformats.org/drawingml/2006/main">
            <a:off x="1600200" y="3781425"/>
            <a:ext cx="3981450" cy="1009650"/>
          </a:xfrm>
          <a:prstGeom xmlns:a="http://schemas.openxmlformats.org/drawingml/2006/main" prst="roundRect">
            <a:avLst>
              <a:gd name="adj" fmla="val 7547"/>
            </a:avLst>
          </a:prstGeom>
          <a:solidFill xmlns:a="http://schemas.openxmlformats.org/drawingml/2006/main">
            <a:srgbClr val="292EAA"/>
          </a:solidFill>
          <a:ln xmlns:a="http://schemas.openxmlformats.org/drawingml/2006/main" w="13335">
            <a:solidFill>
              <a:srgbClr val="555FE0"/>
            </a:solidFill>
            <a:prstDash val="solid"/>
          </a:ln>
        </p:spPr>
      </p:sp>
      <p:sp>
        <p:nvSpPr>
          <p:cNvPr id="18" name="">
            <a:extLst xmlns:a="http://schemas.openxmlformats.org/drawingml/2006/main">
              <a:ext uri="{FF2B5EF4-FFF2-40B4-BE49-F238E27FC236}">
                <a16:creationId xmlns:a16="http://schemas.microsoft.com/office/drawing/2014/main" id="{82D997D8-378A-4A23-B820-336D67E180C1}"/>
              </a:ext>
            </a:extLst>
          </p:cNvPr>
          <p:cNvSpPr>
            <a:spLocks xmlns:a="http://schemas.openxmlformats.org/drawingml/2006/main" noGrp="1"/>
          </p:cNvSpPr>
          <p:nvPr/>
        </p:nvSpPr>
        <p:spPr>
          <a:xfrm xmlns:a="http://schemas.openxmlformats.org/drawingml/2006/main">
            <a:off x="1714500" y="3867150"/>
            <a:ext cx="3752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425" b="1">
                <a:solidFill>
                  <a:srgbClr val="FFFFFF"/>
                </a:solidFill>
                <a:latin typeface="Calibri"/>
                <a:ea typeface="Calibri"/>
                <a:cs typeface="Calibri"/>
              </a:defRPr>
            </a:pPr>
            <a:r>
              <a:rPr sz="1425" b="1">
                <a:solidFill>
                  <a:srgbClr val="FFFFFF"/>
                </a:solidFill>
                <a:latin typeface="Calibri"/>
                <a:ea typeface="Calibri"/>
                <a:cs typeface="Calibri"/>
              </a:rPr>
              <a:t>SENIOR CODER</a:t>
            </a:r>
          </a:p>
        </p:txBody>
      </p:sp>
      <p:sp>
        <p:nvSpPr>
          <p:cNvPr id="19" name="">
            <a:extLst xmlns:a="http://schemas.openxmlformats.org/drawingml/2006/main">
              <a:ext uri="{FF2B5EF4-FFF2-40B4-BE49-F238E27FC236}">
                <a16:creationId xmlns:a16="http://schemas.microsoft.com/office/drawing/2014/main" id="{CB86B71E-FCE5-4DBE-84DC-21C985086A55}"/>
              </a:ext>
            </a:extLst>
          </p:cNvPr>
          <p:cNvSpPr>
            <a:spLocks xmlns:a="http://schemas.openxmlformats.org/drawingml/2006/main" noGrp="1"/>
          </p:cNvSpPr>
          <p:nvPr/>
        </p:nvSpPr>
        <p:spPr>
          <a:xfrm xmlns:a="http://schemas.openxmlformats.org/drawingml/2006/main">
            <a:off x="1724025" y="4181475"/>
            <a:ext cx="3733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Implements assigned logic</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write_code tool only</a:t>
            </a:r>
          </a:p>
        </p:txBody>
      </p:sp>
      <p:sp>
        <p:nvSpPr>
          <p:cNvPr id="20" name="editable diagram card">
            <a:extLst xmlns:a="http://schemas.openxmlformats.org/drawingml/2006/main">
              <a:ext uri="{FF2B5EF4-FFF2-40B4-BE49-F238E27FC236}">
                <a16:creationId xmlns:a16="http://schemas.microsoft.com/office/drawing/2014/main" id="{FD04BB16-39B5-4FEB-A699-73D2B76B0364}"/>
              </a:ext>
            </a:extLst>
          </p:cNvPr>
          <p:cNvSpPr>
            <a:spLocks xmlns:a="http://schemas.openxmlformats.org/drawingml/2006/main" noGrp="1"/>
          </p:cNvSpPr>
          <p:nvPr/>
        </p:nvSpPr>
        <p:spPr>
          <a:xfrm xmlns:a="http://schemas.openxmlformats.org/drawingml/2006/main">
            <a:off x="6610350" y="3781425"/>
            <a:ext cx="3981450" cy="1009650"/>
          </a:xfrm>
          <a:prstGeom xmlns:a="http://schemas.openxmlformats.org/drawingml/2006/main" prst="roundRect">
            <a:avLst>
              <a:gd name="adj" fmla="val 7547"/>
            </a:avLst>
          </a:prstGeom>
          <a:solidFill xmlns:a="http://schemas.openxmlformats.org/drawingml/2006/main">
            <a:srgbClr val="292EAA"/>
          </a:solidFill>
          <a:ln xmlns:a="http://schemas.openxmlformats.org/drawingml/2006/main" w="13335">
            <a:solidFill>
              <a:srgbClr val="555FE0"/>
            </a:solidFill>
            <a:prstDash val="solid"/>
          </a:ln>
        </p:spPr>
      </p:sp>
      <p:sp>
        <p:nvSpPr>
          <p:cNvPr id="21" name="">
            <a:extLst xmlns:a="http://schemas.openxmlformats.org/drawingml/2006/main">
              <a:ext uri="{FF2B5EF4-FFF2-40B4-BE49-F238E27FC236}">
                <a16:creationId xmlns:a16="http://schemas.microsoft.com/office/drawing/2014/main" id="{A27A0E10-EF02-420D-9BAC-2F4BBB6F248A}"/>
              </a:ext>
            </a:extLst>
          </p:cNvPr>
          <p:cNvSpPr>
            <a:spLocks xmlns:a="http://schemas.openxmlformats.org/drawingml/2006/main" noGrp="1"/>
          </p:cNvSpPr>
          <p:nvPr/>
        </p:nvSpPr>
        <p:spPr>
          <a:xfrm xmlns:a="http://schemas.openxmlformats.org/drawingml/2006/main">
            <a:off x="6724650" y="3867150"/>
            <a:ext cx="3752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425" b="1">
                <a:solidFill>
                  <a:srgbClr val="FFFFFF"/>
                </a:solidFill>
                <a:latin typeface="Calibri"/>
                <a:ea typeface="Calibri"/>
                <a:cs typeface="Calibri"/>
              </a:defRPr>
            </a:pPr>
            <a:r>
              <a:rPr sz="1425" b="1">
                <a:solidFill>
                  <a:srgbClr val="FFFFFF"/>
                </a:solidFill>
                <a:latin typeface="Calibri"/>
                <a:ea typeface="Calibri"/>
                <a:cs typeface="Calibri"/>
              </a:rPr>
              <a:t>QA TESTER</a:t>
            </a:r>
          </a:p>
        </p:txBody>
      </p:sp>
      <p:sp>
        <p:nvSpPr>
          <p:cNvPr id="22" name="">
            <a:extLst xmlns:a="http://schemas.openxmlformats.org/drawingml/2006/main">
              <a:ext uri="{FF2B5EF4-FFF2-40B4-BE49-F238E27FC236}">
                <a16:creationId xmlns:a16="http://schemas.microsoft.com/office/drawing/2014/main" id="{F1EDBEA3-3A60-49B9-B759-590C8C23C0E8}"/>
              </a:ext>
            </a:extLst>
          </p:cNvPr>
          <p:cNvSpPr>
            <a:spLocks xmlns:a="http://schemas.openxmlformats.org/drawingml/2006/main" noGrp="1"/>
          </p:cNvSpPr>
          <p:nvPr/>
        </p:nvSpPr>
        <p:spPr>
          <a:xfrm xmlns:a="http://schemas.openxmlformats.org/drawingml/2006/main">
            <a:off x="6734175" y="4181475"/>
            <a:ext cx="3733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Runs checks and returns evidence</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run_tests tool only</a:t>
            </a:r>
          </a:p>
        </p:txBody>
      </p:sp>
      <p:cxnSp>
        <p:nvCxnSpPr>
          <p:cNvPr id="75" name=""/>
          <p:cNvCxnSpPr>
            <a:stCxn xmlns:a="http://schemas.openxmlformats.org/drawingml/2006/main" id="11" idx="2"/>
            <a:endCxn xmlns:a="http://schemas.openxmlformats.org/drawingml/2006/main" id="14" idx="0"/>
          </p:cNvCxnSpPr>
          <p:nvPr/>
        </p:nvCxnSpPr>
        <p:spPr>
          <a:xfrm xmlns:a="http://schemas.openxmlformats.org/drawingml/2006/main">
            <a:off x="6096000" y="2190750"/>
            <a:ext cx="0" cy="285750"/>
          </a:xfrm>
          <a:prstGeom xmlns:a="http://schemas.openxmlformats.org/drawingml/2006/main" prst="straightConnector1">
            <a:avLst/>
          </a:prstGeom>
          <a:ln xmlns:a="http://schemas.openxmlformats.org/drawingml/2006/main" w="19050">
            <a:solidFill>
              <a:srgbClr val="F04B25"/>
            </a:solidFill>
            <a:prstDash val="solid"/>
            <a:tailEnd type="arrow" w="med" len="med"/>
          </a:ln>
        </p:spPr>
      </p:cxnSp>
      <p:cxnSp>
        <p:nvCxnSpPr>
          <p:cNvPr id="76" name=""/>
          <p:cNvCxnSpPr>
            <a:stCxn xmlns:a="http://schemas.openxmlformats.org/drawingml/2006/main" id="14" idx="2"/>
            <a:endCxn xmlns:a="http://schemas.openxmlformats.org/drawingml/2006/main" id="17" idx="0"/>
          </p:cNvCxnSpPr>
          <p:nvPr/>
        </p:nvCxnSpPr>
        <p:spPr>
          <a:xfrm xmlns:a="http://schemas.openxmlformats.org/drawingml/2006/main" flipH="1">
            <a:off x="3590925" y="3352800"/>
            <a:ext cx="2505075" cy="428625"/>
          </a:xfrm>
          <a:prstGeom xmlns:a="http://schemas.openxmlformats.org/drawingml/2006/main" prst="straightConnector1">
            <a:avLst/>
          </a:prstGeom>
          <a:ln xmlns:a="http://schemas.openxmlformats.org/drawingml/2006/main" w="19050">
            <a:solidFill>
              <a:srgbClr val="F04B25"/>
            </a:solidFill>
            <a:prstDash val="solid"/>
            <a:tailEnd type="arrow" w="med" len="med"/>
          </a:ln>
        </p:spPr>
      </p:cxnSp>
      <p:cxnSp>
        <p:nvCxnSpPr>
          <p:cNvPr id="77" name=""/>
          <p:cNvCxnSpPr>
            <a:stCxn xmlns:a="http://schemas.openxmlformats.org/drawingml/2006/main" id="14" idx="2"/>
            <a:endCxn xmlns:a="http://schemas.openxmlformats.org/drawingml/2006/main" id="20" idx="0"/>
          </p:cNvCxnSpPr>
          <p:nvPr/>
        </p:nvCxnSpPr>
        <p:spPr>
          <a:xfrm xmlns:a="http://schemas.openxmlformats.org/drawingml/2006/main">
            <a:off x="6096000" y="3352800"/>
            <a:ext cx="2505075" cy="428625"/>
          </a:xfrm>
          <a:prstGeom xmlns:a="http://schemas.openxmlformats.org/drawingml/2006/main" prst="straightConnector1">
            <a:avLst/>
          </a:prstGeom>
          <a:ln xmlns:a="http://schemas.openxmlformats.org/drawingml/2006/main" w="19050">
            <a:solidFill>
              <a:srgbClr val="F04B25"/>
            </a:solidFill>
            <a:prstDash val="solid"/>
            <a:tailEnd type="arrow" w="med" len="med"/>
          </a:ln>
        </p:spPr>
      </p:cxnSp>
      <p:sp>
        <p:nvSpPr>
          <p:cNvPr id="26" name="">
            <a:extLst xmlns:a="http://schemas.openxmlformats.org/drawingml/2006/main">
              <a:ext uri="{FF2B5EF4-FFF2-40B4-BE49-F238E27FC236}">
                <a16:creationId xmlns:a16="http://schemas.microsoft.com/office/drawing/2014/main" id="{1F965F87-0799-4557-ACF9-98C02F478CE9}"/>
              </a:ext>
            </a:extLst>
          </p:cNvPr>
          <p:cNvSpPr>
            <a:spLocks xmlns:a="http://schemas.openxmlformats.org/drawingml/2006/main" noGrp="1"/>
          </p:cNvSpPr>
          <p:nvPr/>
        </p:nvSpPr>
        <p:spPr>
          <a:xfrm xmlns:a="http://schemas.openxmlformats.org/drawingml/2006/main">
            <a:off x="781050" y="5019675"/>
            <a:ext cx="1062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0">
                <a:solidFill>
                  <a:srgbClr val="BFC5FF"/>
                </a:solidFill>
                <a:latin typeface="Calibri"/>
                <a:ea typeface="Calibri"/>
                <a:cs typeface="Calibri"/>
              </a:defRPr>
            </a:pPr>
            <a:r>
              <a:rPr sz="1163" b="0">
                <a:solidFill>
                  <a:srgbClr val="BFC5FF"/>
                </a:solidFill>
                <a:latin typeface="Calibri"/>
                <a:ea typeface="Calibri"/>
                <a:cs typeface="Calibri"/>
              </a:rPr>
              <a:t>Target design for the capstone. The optional CrewAI bridge notebook currently demonstrates only the Coder and Manager roles and does not call a live model.</a:t>
            </a:r>
          </a:p>
        </p:txBody>
      </p:sp>
      <p:sp>
        <p:nvSpPr>
          <p:cNvPr id="27" name="">
            <a:extLst xmlns:a="http://schemas.openxmlformats.org/drawingml/2006/main">
              <a:ext uri="{FF2B5EF4-FFF2-40B4-BE49-F238E27FC236}">
                <a16:creationId xmlns:a16="http://schemas.microsoft.com/office/drawing/2014/main" id="{17AE22A2-29F6-4491-9483-E29B9CA60573}"/>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buNone/>
              <a:defRPr sz="1050" b="0">
                <a:solidFill>
                  <a:srgbClr val="BFC5FF"/>
                </a:solidFill>
                <a:latin typeface="Calibri"/>
                <a:ea typeface="Calibri"/>
                <a:cs typeface="Calibri"/>
              </a:defRPr>
            </a:pPr>
            <a:r>
              <a:rPr sz="1050" b="0">
                <a:solidFill>
                  <a:srgbClr val="BFC5FF"/>
                </a:solidFill>
                <a:latin typeface="Calibri"/>
                <a:ea typeface="Calibri"/>
                <a:cs typeface="Calibri"/>
              </a:rPr>
              <a:t>Frameworks may orchestrate roles; governance keeps authority and tools bounded.</a:t>
            </a:r>
          </a:p>
        </p:txBody>
      </p:sp>
    </p:spTree>
    <p:extLst>
      <p:ext uri="{BB962C8B-B14F-4D97-AF65-F5344CB8AC3E}">
        <p14:creationId xmlns:p14="http://schemas.microsoft.com/office/powerpoint/2010/main" val="341654867"/>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59562F-199A-405C-B0DB-DD42255536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409FCB5B-76AF-4768-91DC-212CFDC86D60}"/>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6930DC4B-1A7A-4016-B091-E7DF8BF9BE3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0A1165ED-FAE7-48A9-B3A7-616331620F20}"/>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5C6FDCD1-0CD1-42F1-ACE9-B5DF7B5ADFCE}"/>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D19F919B-B4E0-455F-B7C0-4035C303AB97}"/>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D519A929-9113-4BC9-86AF-4AF09DEF3020}"/>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Karpathy AI Ascent</a:t>
            </a:r>
          </a:p>
        </p:txBody>
      </p:sp>
      <p:sp>
        <p:nvSpPr>
          <p:cNvPr id="8" name="">
            <a:extLst xmlns:a="http://schemas.openxmlformats.org/drawingml/2006/main">
              <a:ext uri="{FF2B5EF4-FFF2-40B4-BE49-F238E27FC236}">
                <a16:creationId xmlns:a16="http://schemas.microsoft.com/office/drawing/2014/main" id="{D76C7531-C353-419A-9986-6F59BFDEB2B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39</a:t>
            </a:r>
          </a:p>
        </p:txBody>
      </p:sp>
      <p:sp>
        <p:nvSpPr>
          <p:cNvPr id="9" name="">
            <a:extLst xmlns:a="http://schemas.openxmlformats.org/drawingml/2006/main">
              <a:ext uri="{FF2B5EF4-FFF2-40B4-BE49-F238E27FC236}">
                <a16:creationId xmlns:a16="http://schemas.microsoft.com/office/drawing/2014/main" id="{9490E8A9-F6FA-4CF3-985C-B0E0F1215BA8}"/>
              </a:ext>
            </a:extLst>
          </p:cNvPr>
          <p:cNvSpPr>
            <a:spLocks xmlns:a="http://schemas.openxmlformats.org/drawingml/2006/main" noGrp="1"/>
          </p:cNvSpPr>
          <p:nvPr/>
        </p:nvSpPr>
        <p:spPr>
          <a:xfrm xmlns:a="http://schemas.openxmlformats.org/drawingml/2006/main">
            <a:off x="2857500" y="22479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700">
                <a:solidFill>
                  <a:srgbClr val="FFFFFF"/>
                </a:solidFill>
              </a:defRPr>
            </a:pPr>
            <a:r>
              <a:rPr sz="2700">
                <a:solidFill>
                  <a:srgbClr val="FFFFFF"/>
                </a:solidFill>
              </a:rPr>
              <a:t>You can outsource your thinking —</a:t>
            </a:r>
          </a:p>
        </p:txBody>
      </p:sp>
      <p:sp>
        <p:nvSpPr>
          <p:cNvPr id="10" name="">
            <a:extLst xmlns:a="http://schemas.openxmlformats.org/drawingml/2006/main">
              <a:ext uri="{FF2B5EF4-FFF2-40B4-BE49-F238E27FC236}">
                <a16:creationId xmlns:a16="http://schemas.microsoft.com/office/drawing/2014/main" id="{86DF4741-5A77-4102-858E-4B4038F753D8}"/>
              </a:ext>
            </a:extLst>
          </p:cNvPr>
          <p:cNvSpPr>
            <a:spLocks xmlns:a="http://schemas.openxmlformats.org/drawingml/2006/main" noGrp="1"/>
          </p:cNvSpPr>
          <p:nvPr/>
        </p:nvSpPr>
        <p:spPr>
          <a:xfrm xmlns:a="http://schemas.openxmlformats.org/drawingml/2006/main">
            <a:off x="2476500" y="2876550"/>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700">
                <a:solidFill>
                  <a:srgbClr val="FFFFFF"/>
                </a:solidFill>
              </a:defRPr>
            </a:pPr>
            <a:r>
              <a:rPr sz="2700">
                <a:solidFill>
                  <a:srgbClr val="FFFFFF"/>
                </a:solidFill>
              </a:rPr>
              <a:t>but you can't outsource your understanding.</a:t>
            </a:r>
          </a:p>
        </p:txBody>
      </p:sp>
      <p:sp>
        <p:nvSpPr>
          <p:cNvPr id="11" name="">
            <a:extLst xmlns:a="http://schemas.openxmlformats.org/drawingml/2006/main">
              <a:ext uri="{FF2B5EF4-FFF2-40B4-BE49-F238E27FC236}">
                <a16:creationId xmlns:a16="http://schemas.microsoft.com/office/drawing/2014/main" id="{467D2F01-7C49-4777-864E-41C9E7F8DAF9}"/>
              </a:ext>
            </a:extLst>
          </p:cNvPr>
          <p:cNvSpPr>
            <a:spLocks xmlns:a="http://schemas.openxmlformats.org/drawingml/2006/main" noGrp="1"/>
          </p:cNvSpPr>
          <p:nvPr/>
        </p:nvSpPr>
        <p:spPr>
          <a:xfrm xmlns:a="http://schemas.openxmlformats.org/drawingml/2006/main">
            <a:off x="3905250" y="41529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a:solidFill>
                  <a:srgbClr val="BFC2FF"/>
                </a:solidFill>
              </a:defRPr>
            </a:pPr>
            <a:r>
              <a:rPr sz="1275">
                <a:solidFill>
                  <a:srgbClr val="BFC2FF"/>
                </a:solidFill>
              </a:rPr>
              <a:t>— Andrej Karpathy, Sequoia AI Ascent 2026</a:t>
            </a:r>
          </a:p>
        </p:txBody>
      </p:sp>
    </p:spTree>
    <p:extLst>
      <p:ext uri="{BB962C8B-B14F-4D97-AF65-F5344CB8AC3E}">
        <p14:creationId xmlns:p14="http://schemas.microsoft.com/office/powerpoint/2010/main" val="20079719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2026-10-05T00:54:44.2430000Z</dcterms:created>
  <dcterms:modified xsi:type="dcterms:W3CDTF">2026-10-05T00:54:44.2430000Z</dcterms:modified>
</coreProperties>
</file>