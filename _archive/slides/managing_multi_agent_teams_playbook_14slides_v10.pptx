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748bc2fb89414173"/><Relationship Type="http://schemas.openxmlformats.org/officeDocument/2006/relationships/extended-properties" Target="/docProps/app.xml" Id="Re4159b3d5a684ddd"/><Relationship Type="http://schemas.openxmlformats.org/officeDocument/2006/relationships/officeDocument" Target="/ppt/presentation.xml" Id="Ra0a2e32a7fb24837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111e9dd8d74d23"/>
  </p:sldMasterIdLst>
  <p:notesMasterIdLst>
    <p:notesMasterId xmlns:r="http://schemas.openxmlformats.org/officeDocument/2006/relationships" r:id="R670d8bcad9874c12"/>
  </p:notesMasterIdLst>
  <p:sldIdLst>
    <p:sldId xmlns:r="http://schemas.openxmlformats.org/officeDocument/2006/relationships" id="256" r:id="Rf68d8eb8ed4947b5"/>
    <p:sldId xmlns:r="http://schemas.openxmlformats.org/officeDocument/2006/relationships" id="257" r:id="Re1789f713ded4050"/>
    <p:sldId xmlns:r="http://schemas.openxmlformats.org/officeDocument/2006/relationships" id="258" r:id="Ra550569370c7478b"/>
    <p:sldId xmlns:r="http://schemas.openxmlformats.org/officeDocument/2006/relationships" id="259" r:id="Racbe40a147a34550"/>
    <p:sldId xmlns:r="http://schemas.openxmlformats.org/officeDocument/2006/relationships" id="260" r:id="R97977dbf8b474499"/>
    <p:sldId xmlns:r="http://schemas.openxmlformats.org/officeDocument/2006/relationships" id="261" r:id="R88aebf2dd3644a7d"/>
    <p:sldId xmlns:r="http://schemas.openxmlformats.org/officeDocument/2006/relationships" id="262" r:id="Rceb5efc7149048be"/>
    <p:sldId xmlns:r="http://schemas.openxmlformats.org/officeDocument/2006/relationships" id="263" r:id="R6e456358bd49491d"/>
    <p:sldId xmlns:r="http://schemas.openxmlformats.org/officeDocument/2006/relationships" id="264" r:id="R330caf39af024573"/>
    <p:sldId xmlns:r="http://schemas.openxmlformats.org/officeDocument/2006/relationships" id="265" r:id="R66ea4038d7154229"/>
    <p:sldId xmlns:r="http://schemas.openxmlformats.org/officeDocument/2006/relationships" id="266" r:id="Rd11167a7c5cd4077"/>
    <p:sldId xmlns:r="http://schemas.openxmlformats.org/officeDocument/2006/relationships" id="267" r:id="Rc302139437da4d43"/>
    <p:sldId xmlns:r="http://schemas.openxmlformats.org/officeDocument/2006/relationships" id="268" r:id="Re4f65788b2f7447c"/>
    <p:sldId xmlns:r="http://schemas.openxmlformats.org/officeDocument/2006/relationships" id="269" r:id="R94c7d64337b143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8d40f1c598ac4946"/><Relationship Type="http://schemas.openxmlformats.org/officeDocument/2006/relationships/slideMaster" Target="/ppt/slideMasters/slideMaster1.xml" Id="R82111e9dd8d74d23"/><Relationship Type="http://schemas.openxmlformats.org/officeDocument/2006/relationships/notesMaster" Target="/ppt/notesMasters/notesMaster1.xml" Id="R670d8bcad9874c12"/><Relationship Type="http://schemas.openxmlformats.org/officeDocument/2006/relationships/presProps" Target="/ppt/presProps.xml" Id="R5f2ba5adec5244d5"/><Relationship Type="http://schemas.openxmlformats.org/officeDocument/2006/relationships/tableStyles" Target="/ppt/tableStyles.xml" Id="R76090a31e7914444"/><Relationship Type="http://schemas.openxmlformats.org/officeDocument/2006/relationships/slide" Target="/ppt/slides/slide1.xml" Id="Rf68d8eb8ed4947b5"/><Relationship Type="http://schemas.openxmlformats.org/officeDocument/2006/relationships/slide" Target="/ppt/slides/slide2.xml" Id="Re1789f713ded4050"/><Relationship Type="http://schemas.openxmlformats.org/officeDocument/2006/relationships/slide" Target="/ppt/slides/slide3.xml" Id="Ra550569370c7478b"/><Relationship Type="http://schemas.openxmlformats.org/officeDocument/2006/relationships/slide" Target="/ppt/slides/slide4.xml" Id="Racbe40a147a34550"/><Relationship Type="http://schemas.openxmlformats.org/officeDocument/2006/relationships/slide" Target="/ppt/slides/slide5.xml" Id="R97977dbf8b474499"/><Relationship Type="http://schemas.openxmlformats.org/officeDocument/2006/relationships/slide" Target="/ppt/slides/slide6.xml" Id="R88aebf2dd3644a7d"/><Relationship Type="http://schemas.openxmlformats.org/officeDocument/2006/relationships/slide" Target="/ppt/slides/slide7.xml" Id="Rceb5efc7149048be"/><Relationship Type="http://schemas.openxmlformats.org/officeDocument/2006/relationships/slide" Target="/ppt/slides/slide8.xml" Id="R6e456358bd49491d"/><Relationship Type="http://schemas.openxmlformats.org/officeDocument/2006/relationships/slide" Target="/ppt/slides/slide9.xml" Id="R330caf39af024573"/><Relationship Type="http://schemas.openxmlformats.org/officeDocument/2006/relationships/slide" Target="/ppt/slides/slide10.xml" Id="R66ea4038d7154229"/><Relationship Type="http://schemas.openxmlformats.org/officeDocument/2006/relationships/slide" Target="/ppt/slides/slide11.xml" Id="Rd11167a7c5cd4077"/><Relationship Type="http://schemas.openxmlformats.org/officeDocument/2006/relationships/slide" Target="/ppt/slides/slide12.xml" Id="Rc302139437da4d43"/><Relationship Type="http://schemas.openxmlformats.org/officeDocument/2006/relationships/slide" Target="/ppt/slides/slide13.xml" Id="Re4f65788b2f7447c"/><Relationship Type="http://schemas.openxmlformats.org/officeDocument/2006/relationships/slide" Target="/ppt/slides/slide14.xml" Id="R94c7d64337b143da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5d68a4a308f34bf0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415d4c31ce824148"/><Relationship Type="http://schemas.openxmlformats.org/officeDocument/2006/relationships/notesMaster" Target="/ppt/notesMasters/notesMaster1.xml" Id="R0c55c5a3284046cf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e93b339038d44350"/><Relationship Type="http://schemas.openxmlformats.org/officeDocument/2006/relationships/notesMaster" Target="/ppt/notesMasters/notesMaster1.xml" Id="R2c6593bd682e4ad5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26b9654c45784aa4"/><Relationship Type="http://schemas.openxmlformats.org/officeDocument/2006/relationships/notesMaster" Target="/ppt/notesMasters/notesMaster1.xml" Id="Re1824cd023604045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cea62979a02940c6"/><Relationship Type="http://schemas.openxmlformats.org/officeDocument/2006/relationships/notesMaster" Target="/ppt/notesMasters/notesMaster1.xml" Id="Rb2d8f325b8e342c9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14a155dac2a6483b"/><Relationship Type="http://schemas.openxmlformats.org/officeDocument/2006/relationships/notesMaster" Target="/ppt/notesMasters/notesMaster1.xml" Id="Ra6a4d998dc7f4314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91a66215aded4f08"/><Relationship Type="http://schemas.openxmlformats.org/officeDocument/2006/relationships/notesMaster" Target="/ppt/notesMasters/notesMaster1.xml" Id="R53f74c49708f42c4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bb18691f91444082"/><Relationship Type="http://schemas.openxmlformats.org/officeDocument/2006/relationships/notesMaster" Target="/ppt/notesMasters/notesMaster1.xml" Id="R84b93b5f47784014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4da13baefe7041e0"/><Relationship Type="http://schemas.openxmlformats.org/officeDocument/2006/relationships/notesMaster" Target="/ppt/notesMasters/notesMaster1.xml" Id="Rf85a027242b04da9"/></Relationships>
</file>

<file path=ppt/notesSlides/_rels/notesSlide9.xml.rels><?xml version="1.0" encoding="UTF-8"?><Relationships xmlns="http://schemas.openxmlformats.org/package/2006/relationships"><Relationship Type="http://schemas.openxmlformats.org/officeDocument/2006/relationships/slide" Target="/ppt/slides/slide9.xml" Id="R8a4f3e9c6c1f4e9b"/><Relationship Type="http://schemas.openxmlformats.org/officeDocument/2006/relationships/notesMaster" Target="/ppt/notesMasters/notesMaster1.xml" Id="R3e526fdd94144388"/></Relationships>
</file>

<file path=ppt/notesSlides/_rels/notesSlide10.xml.rels><?xml version="1.0" encoding="UTF-8"?><Relationships xmlns="http://schemas.openxmlformats.org/package/2006/relationships"><Relationship Type="http://schemas.openxmlformats.org/officeDocument/2006/relationships/slide" Target="/ppt/slides/slide10.xml" Id="Ree79f98700e54952"/><Relationship Type="http://schemas.openxmlformats.org/officeDocument/2006/relationships/notesMaster" Target="/ppt/notesMasters/notesMaster1.xml" Id="R9d060285f4c14fb0"/></Relationships>
</file>

<file path=ppt/notesSlides/_rels/notesSlide11.xml.rels><?xml version="1.0" encoding="UTF-8"?><Relationships xmlns="http://schemas.openxmlformats.org/package/2006/relationships"><Relationship Type="http://schemas.openxmlformats.org/officeDocument/2006/relationships/slide" Target="/ppt/slides/slide11.xml" Id="Rba9bbf06599e4571"/><Relationship Type="http://schemas.openxmlformats.org/officeDocument/2006/relationships/notesMaster" Target="/ppt/notesMasters/notesMaster1.xml" Id="R00494c2b37444332"/></Relationships>
</file>

<file path=ppt/notesSlides/_rels/notesSlide12.xml.rels><?xml version="1.0" encoding="UTF-8"?><Relationships xmlns="http://schemas.openxmlformats.org/package/2006/relationships"><Relationship Type="http://schemas.openxmlformats.org/officeDocument/2006/relationships/slide" Target="/ppt/slides/slide12.xml" Id="Rfcbf818d2bde45e1"/><Relationship Type="http://schemas.openxmlformats.org/officeDocument/2006/relationships/notesMaster" Target="/ppt/notesMasters/notesMaster1.xml" Id="R7a990f0dd5244ff7"/></Relationships>
</file>

<file path=ppt/notesSlides/_rels/notesSlide13.xml.rels><?xml version="1.0" encoding="UTF-8"?><Relationships xmlns="http://schemas.openxmlformats.org/package/2006/relationships"><Relationship Type="http://schemas.openxmlformats.org/officeDocument/2006/relationships/slide" Target="/ppt/slides/slide13.xml" Id="R9bb47e133c2148d5"/><Relationship Type="http://schemas.openxmlformats.org/officeDocument/2006/relationships/notesMaster" Target="/ppt/notesMasters/notesMaster1.xml" Id="R6550ed11df0c4e9a"/></Relationships>
</file>

<file path=ppt/notesSlides/_rels/notesSlide14.xml.rels><?xml version="1.0" encoding="UTF-8"?><Relationships xmlns="http://schemas.openxmlformats.org/package/2006/relationships"><Relationship Type="http://schemas.openxmlformats.org/officeDocument/2006/relationships/slide" Target="/ppt/slides/slide14.xml" Id="R7e0d41f4b8e5474f"/><Relationship Type="http://schemas.openxmlformats.org/officeDocument/2006/relationships/notesMaster" Target="/ppt/notesMasters/notesMaster1.xml" Id="R419665a07b4f46c4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</a:t>
            </a:r>
          </a:p>
          <a:p xmlns:a="http://schemas.openxmlformats.org/drawingml/2006/main">
            <a:r>
              <a:t>MetaGPT: Meta Programming for a Multi-Agent Collaborative Framework, ICLR 2024. https://proceedings.iclr.cc/paper_files/paper/2024/hash/6507b115562bb0a305f1958ccc87355a-Abstract-Conference.html</a:t>
            </a:r>
          </a:p>
          <a:p xmlns:a="http://schemas.openxmlformats.org/drawingml/2006/main">
            <a:r>
              <a:t>ChatDev: Communicative Agents for Software Development, ACL 2024. https://aclanthology.org/2024.acl-long.810/</a:t>
            </a:r>
          </a:p>
          <a:p xmlns:a="http://schemas.openxmlformats.org/drawingml/2006/main">
            <a:r>
              <a:t>Reflexion: Language Agents with Verbal Reinforcement Learning, NeurIPS 2023. https://papers.nips.cc/paper_files/paper/2023/hash/1b44b878bb782e6954cd888628510e90-Abstract-Conference.html</a:t>
            </a:r>
          </a:p>
          <a:p xmlns:a="http://schemas.openxmlformats.org/drawingml/2006/main">
            <a:r>
              <a:t>These works motivate role-specific workflows, communication, and feedback memory. The exact three-agent split, typed schemas, tool permissions, retry limits, and escalation behavior are course design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Theory of Mind for Multi-Agent Collaboration via Large Language Models, EMNLP 2023. https://aclanthology.org/2023.emnlp-main.13/</a:t>
            </a:r>
          </a:p>
          <a:p xmlns:a="http://schemas.openxmlformats.org/drawingml/2006/main">
            <a:r>
              <a:t>Teamwork in Multi-Agent Systems: A Formal Approach / TeamLog. https://arxiv.org/abs/2402.01680</a:t>
            </a:r>
          </a:p>
          <a:p xmlns:a="http://schemas.openxmlformats.org/drawingml/2006/main">
            <a:r>
              <a:t>The course uses Theory of Mind as an operational lens for modeling role-specific knowledge, needs, and permitted disclosure. It does not claim human-like mental states. The access-list detail is from Conductor research: https://arxiv.org/abs/2512.04388.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Lab 1, you will see the Weak schema accept a hallucinated score of 150. Your job is to build the Strict schema that blocks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TRINITY: An Evolved LLM Coordinator, ICLR 2026. https://arxiv.org/abs/2512.04695. TRINITY names the Thinker, Worker, and Verifier roles.</a:t>
            </a:r>
          </a:p>
          <a:p xmlns:a="http://schemas.openxmlformats.org/drawingml/2006/main">
            <a:r>
              <a:t>Learning to Orchestrate Agents in Natural Language with the Conductor, ICLR 2026. https://arxiv.org/abs/2512.04388. The Conductor defines subtasks, workers, communication topology, and access lists that select previous subtask outputs for each worker context.</a:t>
            </a:r>
          </a:p>
          <a:p xmlns:a="http://schemas.openxmlformats.org/drawingml/2006/main">
            <a:r>
              <a:t>ChatDev: https://aclanthology.org/2024.acl-long.810/. Reflexion: https://papers.nips.cc/paper_files/paper/2023/hash/1b44b878bb782e6954cd888628510e90-Abstract-Conference.html.</a:t>
            </a:r>
          </a:p>
          <a:p xmlns:a="http://schemas.openxmlformats.org/drawingml/2006/main">
            <a:r>
              <a:t>Course policy: deterministic fixtures, a bounded retry cap, and human escalation. The notebook demonstrates explicit governance controls; it does not train or call a multi-provider orchestration system.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Once your local gate holds against the mock, you can flip the USE_LIVE_LLM = True toggle to prove it works against a real AI. The live model path is optional and requires a configured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costs shown on this slide are fixed teaching fixtures from the Capstone notebook, not current provider prices.</a:t>
            </a:r>
          </a:p>
          <a:p xmlns:a="http://schemas.openxmlformats.org/drawingml/2006/main">
            <a:r>
              <a:t>TRINITY: https://arxiv.org/abs/2512.04695. Conductor: https://arxiv.org/abs/2512.04388.</a:t>
            </a:r>
          </a:p>
          <a:p xmlns:a="http://schemas.openxmlformats.org/drawingml/2006/main">
            <a:r>
              <a:t>Production policy must enforce retry limits and per-task or cumulative spend caps. Cost-aware routing alone cannot guarantee a maximum bill.</a:t>
            </a:r>
          </a:p>
          <a:p xmlns:a="http://schemas.openxmlformats.org/drawingml/2006/main">
            <a:r>
              <a:t>At three retries plus the initial attempt, the course policy permits no more than four billable calls per task before escalation. At the illustrative $0.05 call fixture, this is a $0.20 task ceiling; real systems need a hard approved budget as well.</a:t>
            </a:r>
          </a:p>
          <a:p xmlns:a="http://schemas.openxmlformats.org/drawingml/2006/main">
            <a:r>
              <a:t>Course example: the pre-written Capstone function routes low/medium-complexity tasks to Fast and high-complexity tasks to Expert. Learners inspect the route trace; it makes no provider call and carries no grade. The figures are teaching fixtures, not provider quotes.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a865929f86c749d7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68198697f1594425"/><Relationship Type="http://schemas.openxmlformats.org/officeDocument/2006/relationships/slideLayout" Target="/ppt/slideLayouts/slideLayout1.xml" Id="R18160e069b844a0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60e069b84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d9535279ecb4264"/><Relationship Type="http://schemas.openxmlformats.org/officeDocument/2006/relationships/notesSlide" Target="/ppt/notesSlides/notesSlide1.xml" Id="R16dede14bf874210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02f158ce55646da"/><Relationship Type="http://schemas.openxmlformats.org/officeDocument/2006/relationships/notesSlide" Target="/ppt/notesSlides/notesSlide2.xml" Id="R2323a06d49f24b94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972be7aa0a7437b"/><Relationship Type="http://schemas.openxmlformats.org/officeDocument/2006/relationships/notesSlide" Target="/ppt/notesSlides/notesSlide3.xml" Id="Rf2df1fe95b1d4ef1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26797e1ab8c4b89"/><Relationship Type="http://schemas.openxmlformats.org/officeDocument/2006/relationships/notesSlide" Target="/ppt/notesSlides/notesSlide4.xml" Id="Rd67bbb67b27a45e3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aee11532863484d"/><Relationship Type="http://schemas.openxmlformats.org/officeDocument/2006/relationships/notesSlide" Target="/ppt/notesSlides/notesSlide5.xml" Id="R8c51b0c2aa2a4c92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6671bf249574644"/><Relationship Type="http://schemas.openxmlformats.org/officeDocument/2006/relationships/notesSlide" Target="/ppt/notesSlides/notesSlide6.xml" Id="R8b4f032d6be04382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edbe39c7adc4c76"/><Relationship Type="http://schemas.openxmlformats.org/officeDocument/2006/relationships/notesSlide" Target="/ppt/notesSlides/notesSlide7.xml" Id="Rf9e923b561344c44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043db53a0a041cf"/><Relationship Type="http://schemas.openxmlformats.org/officeDocument/2006/relationships/notesSlide" Target="/ppt/notesSlides/notesSlide8.xml" Id="Rcf0781b255174712"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5c6b7a1adb64168"/><Relationship Type="http://schemas.openxmlformats.org/officeDocument/2006/relationships/image" Target="/ppt/media/image.png" Id="Rf92bda6c8129419c"/><Relationship Type="http://schemas.openxmlformats.org/officeDocument/2006/relationships/image" Target="/ppt/media/image.svg" Id="R870d5a02d04d42ae"/><Relationship Type="http://schemas.openxmlformats.org/officeDocument/2006/relationships/notesSlide" Target="/ppt/notesSlides/notesSlide9.xml" Id="R1ce0a040426f4f3a"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a068f22457646aa"/><Relationship Type="http://schemas.openxmlformats.org/officeDocument/2006/relationships/notesSlide" Target="/ppt/notesSlides/notesSlide10.xml" Id="R1522299496b54948"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4aee415d6154ba6"/><Relationship Type="http://schemas.openxmlformats.org/officeDocument/2006/relationships/notesSlide" Target="/ppt/notesSlides/notesSlide11.xml" Id="Rc0d8f3e3a1174cdf"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ca2806b742a5462c"/><Relationship Type="http://schemas.openxmlformats.org/officeDocument/2006/relationships/notesSlide" Target="/ppt/notesSlides/notesSlide12.xml" Id="R9ec96b79c7ae4fcd"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5665eb6bd004381"/><Relationship Type="http://schemas.openxmlformats.org/officeDocument/2006/relationships/notesSlide" Target="/ppt/notesSlides/notesSlide13.xml" Id="Rf4562e2c11c940c2"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fedbaa4a969a445c"/><Relationship Type="http://schemas.openxmlformats.org/officeDocument/2006/relationships/notesSlide" Target="/ppt/notesSlides/notesSlide14.xml" Id="R36f0d02ac6f449cf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1BE27-9E90-4E97-8E7A-95106EE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013B-ECBE-4359-ACC6-BAB8D4C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CB98-4EBE-4772-8DC3-8175F9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AA6-8DC7-4EA9-A7EA-94FEFBE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49E4-67F9-4EE9-9CBA-481B361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34C5-E2D2-44C0-90A1-8C855E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Research to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9E86-6BF4-4665-B4CB-F6817F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CrewAI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FEBA-E4A7-4DBC-8E7E-F346B9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5314-03B3-4AB8-A713-580430B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Managing</a:t>
            </a:r>
          </a:p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Multi-Agent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2C68-4089-4681-9640-D3FA1A3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BFC2FF"/>
                </a:solidFill>
              </a:defRPr>
            </a:pPr>
            <a:r>
              <a:rPr sz="1500">
                <a:solidFill>
                  <a:srgbClr val="BFC2FF"/>
                </a:solidFill>
              </a:rPr>
              <a:t>Agentic AI  ·  Enterprise Governance  ·  Team Memory  ·  Cost-Aware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8579-3B47-4458-BB7C-4E09F96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2 Days  ·  3 Labs  ·  Team-to-Team Capstone</a:t>
            </a:r>
          </a:p>
        </p:txBody>
      </p:sp>
    </p:spTree>
    <p:extLst>
      <p:ext uri="{BB962C8B-B14F-4D97-AF65-F5344CB8AC3E}">
        <p14:creationId xmlns:p14="http://schemas.microsoft.com/office/powerpoint/2010/main" val="177905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3449-A84E-4406-950A-3C849ED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F4A1-8C01-4E2B-BA4B-903B3F4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8622-FE2D-4F1A-AD05-EE5117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414E-4CCE-4EF8-9CC8-8493C8F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7890-52AE-4C73-81F4-70C6010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6C9-F749-4758-9DB9-510A6D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2039-1EBD-4717-B84F-0AE4942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PLAYBOOK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050B-70A7-4E84-9B61-9D04E5E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F953-37B7-4F2B-AABD-6D60BB5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Four-Step Learner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CE82-18E3-4DE8-990B-0DA9AC4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BFC2FF"/>
                </a:solidFill>
              </a:defRPr>
            </a:pPr>
            <a:r>
              <a:rPr sz="1350">
                <a:solidFill>
                  <a:srgbClr val="BFC2FF"/>
                </a:solidFill>
              </a:rPr>
              <a:t/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2609850"/>
                <a:gridCol w="2152650"/>
                <a:gridCol w="5562600"/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STEP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GOAL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TOOL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WIN CONDITION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1 · The Contract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Stop AI hallucinations with strict data rules.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Pydantic · Lab 1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The auto-grader confirms the schema blocked the mock’s bad data.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2 · The Team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Make specialists collaborate through typed handoffs.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CrewAI · Lab 2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TeamLog shows the Coder read the Architect’s rules; QA receives a typed CodePatch.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3 · The Guardrails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Stop retry loops and reject unsafe tool inputs.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Bounded loops + MCP · Lab 3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The loop stops after 3 retries; the SQL-like input is rejected before the tool.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4 · The Delivery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Connect the Development Team to Security &amp; Compliance.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Two-team Capstone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A validated DevDeliverable starts the Security Team. Passing pytest or a sound Paper ADR completes the proof.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</a:tbl>
          </a:graphicData>
        </a:graphic>
      </p:graphicFrame>
      <p:sp>
        <p:nvSpPr>
          <p:cNvPr id="13" name="lab-governance-sequence">
            <a:extLst xmlns:a="http://schemas.openxmlformats.org/drawingml/2006/main">
              <a:ext uri="{FF2B5EF4-FFF2-40B4-BE49-F238E27FC236}">
                <a16:creationId xmlns:a16="http://schemas.microsoft.com/office/drawing/2014/main" id="{2F8C4119-E9E5-4198-973D-E98E1A9F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0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Labs: Start Broken → Fix the Gate → Prove the Live.</a:t>
            </a:r>
          </a:p>
        </p:txBody>
      </p:sp>
    </p:spTree>
    <p:extLst>
      <p:ext uri="{BB962C8B-B14F-4D97-AF65-F5344CB8AC3E}">
        <p14:creationId xmlns:p14="http://schemas.microsoft.com/office/powerpoint/2010/main" val="752041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F24DB-9456-43AF-8541-4B32F7F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82-41FD-4F27-9A73-50577A0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E318-7A0A-45C4-97B7-EAD9F3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303D-A32D-402C-8790-A649242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97C9-140C-4011-9354-2C212CC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A5F6B-6300-414B-91B8-C82CAE3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3B4A-CDAE-48CC-9A14-7E9E5B4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repository setup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E6E8-024D-471C-8012-E3E76DC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81B6-7059-48CA-B25D-DED4E76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Two-Day Path · Learner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5211-7F3E-457C-A18D-1AC2069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From GitHub to JupyterLab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D559B6B-49E0-4CF5-87AB-78F7835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6AED-615D-4E54-9A7A-1D94C55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GET THE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B907D-D12F-4BAB-8576-3FFDE31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847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Git clone or download the ZIP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04284-56A4-4E73-95A8-BA7F932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2A8F773-8F6C-4A70-AB4B-26E14DD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0BAA-DC2C-43ED-8BD2-5F66B1D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SET UP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A7D5A-5BCC-4727-85BA-5CDCEE0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24075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and activate a Python venv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Install requirements.txt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517E-DC17-43D7-B18E-B194256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98EDA754-6A1F-4C0E-93E6-3690123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4194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CB413-21A4-481C-A274-6DAC751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022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OPEN JUPYTERLAB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4DC23-2B63-449E-ACCA-8A73C63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171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at 00_sandbox_preflight.ipynb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F7BD1-9B92-4EB2-B618-3777F42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THREE LABS + TEAM-TO-TEAM CAPSTONE</a:t>
            </a:r>
          </a:p>
        </p:txBody>
      </p:sp>
      <p:sp>
        <p:nvSpPr>
          <p:cNvPr id="2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960B22D-759C-46B9-AC7C-76DCEB5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3A48C-9D89-4815-A6C7-428AD71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1 ·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07FC9-9D47-48EB-AB99-A1ABB55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Pydantic blocks invalid mock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517D2-C14F-4CEF-80BF-9160E12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D4B89E5-1596-4725-9FFA-291E662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7DD2F-B403-4662-A82A-35C0E50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2 · DEVELOPMENT TEAM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EA6DC-A867-4037-84C9-4E85A66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CrewAI Manager, Coder, and 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18DA2-EA4A-4E97-947A-7D3EAAE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7F791B48-279D-43A9-891F-F37828F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7A0ED-5938-45D2-A4D4-5C1F312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3 · SECURITY + REPAIR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2D0A8-A982-47F1-AA28-3404CF2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Reject unsafe inputs; stop after 3 retries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AEA52-9E46-4249-9377-63735DB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49C7F6A-835E-4D47-8D00-3FB9A7C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457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CDF34-5314-4B1A-861B-7728D14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766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CAPSTONE · TWO TEAMS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F2E16-2CBC-4BC6-870D-2CB8716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004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Validated DevDeliverable starts Security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D4AB0-12DD-46B8-9343-B2CFF89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CrewAI is included in the core install. Deterministic labs and Capstone need no model-provider credentials.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8BAB3-0F62-4CC7-9789-6235B0F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First-time package installation needs internet unless learners have a prepared local package bundle.</a:t>
            </a:r>
          </a:p>
        </p:txBody>
      </p:sp>
    </p:spTree>
    <p:extLst>
      <p:ext uri="{BB962C8B-B14F-4D97-AF65-F5344CB8AC3E}">
        <p14:creationId xmlns:p14="http://schemas.microsoft.com/office/powerpoint/2010/main" val="14071035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67C6E-B29F-4D34-9E9C-0702470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6E768-3875-4BA3-8325-6F263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B056-44C9-4C27-8405-DED641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7-0DD1-471B-BF1F-34CA34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DED-8469-474C-8D11-EBBD7BE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54E2-4A75-4C68-8B93-61E78C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7A62-AD34-4C2F-BA94-8A1C30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Module map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132F-E211-47E0-B9B4-B24E365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7084-A780-4D0F-9FF9-919D68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D916-D9C8-4C4E-8322-D4B6E3B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 labs lead to a two-team Capstone.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F107-4BC6-4FA8-BBEC-265BA9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4DCE-A122-43CB-88D6-E83BD98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1   Step 1 · Contract · Pydantic blocks invalid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D0EF1-5951-494F-A3E3-38FE8F5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6EA9-8E06-488B-8C6E-F591387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1   Step 2 · Team · CrewAI Development Team and typed QA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D4B1B-38C5-43DE-9E44-6F17A8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2DCC-F613-43C3-BA8B-A1F2B02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2   Step 3 · Guardrails · SQL-like input gate and 3-retry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76759-D82C-4F14-837B-F4DA7D7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DA34-13FC-4A27-B6E5-C32927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CAPSTONE   Step 4 · Delivery · Dev Team hands DevDeliverable to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F994-BFC9-4E55-A601-EDB95DC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3594B-9303-4880-8A9D-1DDF1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Theory · TeamLog, verification, and cost-aware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809F8-97D7-4C25-8EA0-E658CF4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C632C-1CDA-4711-84EE-BAAF23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Evidence · pytest, typed contracts, security findings, or Paper ADR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08542-F3A2-4A6B-82E7-243C710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second team appears in the Capstone.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82D8C-7A9D-438A-BD6A-BA409A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95641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227B5-A06B-411C-8E59-C048C8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D607-C325-4D25-86A8-F43B497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A56D-A2ED-49DA-B3FE-F6F40DA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E39A-DFBE-417C-86E0-C7777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5266-9CFD-42CE-873E-3EBE09F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72-1DBD-4ADD-B606-4AEAAFB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19C-E2E2-4379-8069-7104CE7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MetaGPT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8D7D-A46E-4C4C-93D4-9B4D97C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CF91-5E92-4AFE-BA22-B64101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Governance Foundations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E38E-20F7-4355-A50D-5AFCDF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Research Foundations for Managed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CA99-DBB4-4BD3-A5CA-9CE6A6C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926E-C6FF-4EC2-B5B1-F989D3F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BA45-DB72-485E-A028-38F01B2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MetaGPT · ICLR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6DB0-6F13-4B03-B0C7-6AA03C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ChatDev + Reflexion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D0B8-A6F4-4322-89E8-CBB06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E47CE-AAAC-4EE7-A246-FE08A3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Role-specific workflow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B42D-E64C-4CBE-9662-E9841E8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CEEB2-A95B-43E9-AAC6-1BCBE93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Standard procedures guide handoffs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AAF28-1115-4F4A-9D38-99E91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D668-538F-4F7A-998E-FB7181E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Artifacts make work legible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78BD-69D7-4D42-9423-F120CB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F73B9-7F8A-477A-AAB9-5D8F03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Our typed contracts are an adaptation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E7D4-B795-4450-8321-1F77E0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81C01-1682-42AA-B65F-6D2E526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ChatDev: communicate in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DDFF-F234-4DA2-B04C-BFAC26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8A2C-5B45-46C6-824A-124680F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Reflexion stores verbal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9A8A-1D9C-4156-9589-AAFB88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33C73-31B6-40B8-A932-1AB8B7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Later attempts reuse lessons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91DBE-3464-4443-802E-E8C984F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7731-B239-4A05-A21D-C1BF797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Retry caps remain course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9BCAE-25E2-41A4-92AF-9E0FD0F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These papers inform the pattern; the course sets its own tool boundaries and retry limits.</a:t>
            </a:r>
          </a:p>
        </p:txBody>
      </p:sp>
    </p:spTree>
    <p:extLst>
      <p:ext uri="{BB962C8B-B14F-4D97-AF65-F5344CB8AC3E}">
        <p14:creationId xmlns:p14="http://schemas.microsoft.com/office/powerpoint/2010/main" val="1085255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923C8-1E47-4826-B764-7DF00AB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0067-B680-4F7D-BF4C-74E2CF0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CDA-A547-4B73-B84D-5F1D6DF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0DA7-69AA-4D9A-AACE-B15F0D8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0668-B6E6-43FA-B9F7-F777A1F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E297-E672-47CC-A4CE-D253034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A33-5921-4929-9177-2C4ACCA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ToM · EMNLP 2023 + TeamLog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4E34-1B41-4072-8097-4B01044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BC8D-2A27-421D-AED7-F5F2099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A6F8B-94CD-457A-ADE9-D37B9E0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Theory of Mind: Role-Specific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C9CD-02CC-4142-B953-7BF1AC0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3EAD-CE78-4BED-A533-D3E416D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 what each teammate knows about the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F6D7-1370-4A24-A0E5-202E5FA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B5A2-60E7-40BB-B34D-B6A9E0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Manager records constraints and shared commitments.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B1BE8-EBEC-4E6A-A563-3EF38B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9CB8F-96EA-4EDA-892A-ACE132C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Coder retrieves the relevant constraint before acting.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66F6-14EC-480F-8DBE-85CA547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F888A-AD1D-4F8B-AA52-0E051A0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Conductor access list selects prior outputs for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5253-993C-40EA-BC5B-F27F1A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access list is a map of team knowledge.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2FCE-3744-4D41-836E-E969237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605351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CABB-A942-42C0-8F35-B69BDDB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8D83-EAA6-4455-91C1-0A074B0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AC2B-AEA1-4A83-9E7A-4D35C97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EED25-CA36-434B-A8E9-F0B7AEC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22AA-25E6-4BA5-9EF6-D13F316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A0A1-B58F-4926-8135-02FDBEF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357D-B354-452C-9D99-857D186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D284-217A-4221-B2F7-0B2683F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E716-9B5D-4155-9574-F374E6A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7297-4534-487E-99E7-FE061E7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Zero-Trust Tool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B421D-BDCA-4F88-A43F-709B2AC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8B22-1CE6-4D76-91AC-EC46DC9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Do not ask: does the model want this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AE07-37BA-4B8E-AE9D-E11B6C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D42-E57C-4870-AF2B-2045946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Ask: does policy allow this identity to use this tool for this data?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5ABC-72A4-4F68-A619-98C248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F111-1C40-4039-AF75-0469F68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Agent → ToolRequest → Policy Gate → MCP Server → ToolResult.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67B1-E810-4DEE-B784-249E0F1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2CC-72DF-4012-A132-3FA591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Threats: prompt injection, tool overreach, context leakage, stale permissions.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F5669-0D12-4DC7-9010-CF6F348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tool gateway is the bouncer.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85E72-E09C-49B5-B25B-A4012F3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9881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795D5-E65D-4D3B-8A13-D6CC34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3388-E700-4142-8764-366DD25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282E-A88D-4E47-8672-EA3A111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51CD-834B-4F1B-810B-D6EF109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855C-FC4B-49E9-AD0C-76E0022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5D0B-3C68-44F1-8ACF-49E2FF9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223A-0FE2-4C77-B4E4-0F27C83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validators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150C-5692-4537-A610-B9D4030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BF40E-B3E5-4F1A-B513-7E1E67A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45D5-B707-4B28-9D87-BA0FAA3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Strict Schema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A94-598A-436A-A5EE-7DE474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Test contracts as rigorously as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836-23C5-46E3-84E9-6F48665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  <p:sp>
        <p:nvSpPr>
          <p:cNvPr id="22" name="weak-schema-heading">
            <a:extLst xmlns:a="http://schemas.openxmlformats.org/drawingml/2006/main">
              <a:ext uri="{FF2B5EF4-FFF2-40B4-BE49-F238E27FC236}">
                <a16:creationId xmlns:a16="http://schemas.microsoft.com/office/drawing/2014/main" id="{4F809756-BEDC-45AB-A23B-068F604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 SCHEMA</a:t>
            </a:r>
          </a:p>
        </p:txBody>
      </p:sp>
      <p:sp>
        <p:nvSpPr>
          <p:cNvPr id="23" name="weak-schema-code">
            <a:extLst xmlns:a="http://schemas.openxmlformats.org/drawingml/2006/main">
              <a:ext uri="{FF2B5EF4-FFF2-40B4-BE49-F238E27FC236}">
                <a16:creationId xmlns:a16="http://schemas.microsoft.com/office/drawing/2014/main" id="{768A7DD2-B3EC-418B-B507-A86A1B2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Weak(BaseModel):</a:t>
            </a:r>
          </a:p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    confidence_score: float</a:t>
            </a:r>
          </a:p>
        </p:txBody>
      </p:sp>
      <p:sp>
        <p:nvSpPr>
          <p:cNvPr id="24" name="weak-schema-result">
            <a:extLst xmlns:a="http://schemas.openxmlformats.org/drawingml/2006/main">
              <a:ext uri="{FF2B5EF4-FFF2-40B4-BE49-F238E27FC236}">
                <a16:creationId xmlns:a16="http://schemas.microsoft.com/office/drawing/2014/main" id="{BCC410F0-6C6E-4053-8522-98FC11DF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Accepts 150.5</a:t>
            </a:r>
          </a:p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Ignores secret_backdoor by default</a:t>
            </a:r>
          </a:p>
        </p:txBody>
      </p:sp>
      <p:sp>
        <p:nvSpPr>
          <p:cNvPr id="25" name="strict-schema-heading">
            <a:extLst xmlns:a="http://schemas.openxmlformats.org/drawingml/2006/main">
              <a:ext uri="{FF2B5EF4-FFF2-40B4-BE49-F238E27FC236}">
                <a16:creationId xmlns:a16="http://schemas.microsoft.com/office/drawing/2014/main" id="{384BDFFB-6ED8-40FC-B8F2-96BAA440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 SCHEMA</a:t>
            </a:r>
          </a:p>
        </p:txBody>
      </p:sp>
      <p:sp>
        <p:nvSpPr>
          <p:cNvPr id="26" name="strict-schema-code">
            <a:extLst xmlns:a="http://schemas.openxmlformats.org/drawingml/2006/main">
              <a:ext uri="{FF2B5EF4-FFF2-40B4-BE49-F238E27FC236}">
                <a16:creationId xmlns:a16="http://schemas.microsoft.com/office/drawing/2014/main" id="{7A118D45-97D4-4B5E-BFB1-AF05871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510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Strict(BaseModel):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    model_config = ConfigDict(extra="forbid")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    confidence_score: float = Field(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        ge=0.0, le=1.0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 xml:space="preserve">    )</a:t>
            </a:r>
          </a:p>
        </p:txBody>
      </p:sp>
      <p:sp>
        <p:nvSpPr>
          <p:cNvPr id="27" name="strict-schema-result">
            <a:extLst xmlns:a="http://schemas.openxmlformats.org/drawingml/2006/main">
              <a:ext uri="{FF2B5EF4-FFF2-40B4-BE49-F238E27FC236}">
                <a16:creationId xmlns:a16="http://schemas.microsoft.com/office/drawing/2014/main" id="{D1D7FCE9-56DA-4D63-AF38-6953583A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Rejects 150.5</a:t>
            </a:r>
          </a:p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Rejects undeclared fields</a:t>
            </a:r>
          </a:p>
        </p:txBody>
      </p:sp>
    </p:spTree>
    <p:extLst>
      <p:ext uri="{BB962C8B-B14F-4D97-AF65-F5344CB8AC3E}">
        <p14:creationId xmlns:p14="http://schemas.microsoft.com/office/powerpoint/2010/main" val="798733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8580-D47F-45CD-8497-39CAC82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F4CB4-90D8-46B9-8B00-1E1AA93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E5493-D35E-4E17-910C-5B4B98D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7E4B-2D86-4CC9-819E-7335171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4F25-452C-40B4-81E3-0BFAC0E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9946-1605-4982-8773-71BE07B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2665-75BA-40A7-86A0-88FBFAA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TRINITY · Conductor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0B70-83F4-4497-8149-921BDBF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B8E6-1F73-4E1E-B1B5-9CB4AC7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Coordination, Verification, 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CE-8915-4F56-AF39-07F36E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 → Test → Review → Repair → Escalate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0DA14-FBDC-457C-AD9B-1C9B37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69B-D4CB-44B7-84AB-86BD117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489-7F46-4906-A4E8-407B5BB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412E-BB51-4AD6-B96A-A28DC32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3F6-4541-446E-A139-5C30F54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AD67-5CB9-4D6E-BB5E-C201BA4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8B65-3C2D-4F90-A772-0EAF455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86E46-C930-45AD-9181-614BFDA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169C-7A4D-4CB1-B0A3-E9B7F07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F2CB-C7DB-4A6C-A621-5FF26D4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Three retries maximum, then escalate to a human.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bda6c8129419c">
            <a:extLst>
              <a:ext uri="{96DAC541-7B7A-43D3-8B79-37D633B846F1}">
                <asvg:svgBlip xmlns:asvg="http://schemas.microsoft.com/office/drawing/2016/SVG/main" r:embed="R870d5a02d04d42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562100"/>
            <a:ext cx="11391900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831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B82B48-82B6-407F-A754-C2C0248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4BCD-6947-49AF-B3CC-ED56C7E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9467-F80A-425E-A5A1-FD4E46D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5B84-BD7D-4F4A-97A4-7233D4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25C-55D2-4801-92C9-65223EE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62-C223-42C2-B2A3-E43B41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9FD9-5D9F-498A-9B5C-1E610EA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Ex5 capstone specification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4733-D166-404C-84CC-B09929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4EE4-57FF-4E13-8BB2-72DFAAF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Two-Team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4A04-15D0-4028-AFDF-418C809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Virtual Software Company: Two-Team Capstone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83521-F933-4C8A-A88A-977FA24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BUSINESS REQUEST</a:t>
            </a:r>
          </a:p>
        </p:txBody>
      </p:sp>
      <p:sp>
        <p:nvSpPr>
          <p:cNvPr id="1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E61AE9C4-2159-4DF9-ABE2-B587115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D6CFC-579F-4969-8E9E-D53860A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965-CD90-467B-9594-DD837007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Scope + acceptance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9360-D498-4838-AE3B-5FCFD75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F1D7EF8-BD1C-4244-8041-91E25BE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EF542-1DB5-46EB-AB91-D0B6357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DEV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7AAFC-2922-4EF6-8BF5-4B1429D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Coder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·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0F14E-C5D7-40F7-88AE-B47EE41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4354889-B34A-4C1C-828C-2A0258D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A97F-C850-4B7D-A56C-BF78D0B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DEV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0F9F1-50FB-4A9C-B4FA-AA68152D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DevDeliverable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Pydantic · QA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4FB87-BF44-42DD-9129-87512EA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49A0742-3413-4289-9775-D97C6CE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D4B6-D49F-4A0E-968A-E4917E7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· 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6A7C2-7658-458E-A4FC-D76C998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Security Team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Pen Tester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608-7B60-4915-AEE7-85E4908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B16BA9D-E077-46FF-A590-D95C910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9CBFD-6BAD-47F1-B22A-11EB326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TYPED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130D4-AFCA-49A6-84A9-B0B6581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Typed security result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approval + findings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2B6FF-7832-40BA-B73B-34C81C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9045880-9AEA-448B-9D75-D1B52E7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DD00D-DA9F-42E4-97FB-35FDC03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· 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C47D6-1EB0-450F-ACFF-7665F32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Ship or escalate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to a human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E337584-D50D-42D4-9FF4-CE3855A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8305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8C320-DAA0-4CE7-A01B-A2892D4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BOUNDED REPAIR + INTER-TEAM HANDOFF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304A2-1618-4026-B5EA-84602C0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0025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QA or Security findings return to Development for up to 2 repairs; unresolved risk goes to a human.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1F0A4-87C4-494C-8B00-0244922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The Development Crew has Manager, Coder, and QA. Security &amp; Compliance has Security Manager and Pen Tester.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61F1D-0C41-4B9F-9038-3CFA24B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coordinator validates DevDeliverable before passing it to Security. pytest or a sound Paper ADR provides capstone evidence.</a:t>
            </a:r>
          </a:p>
        </p:txBody>
      </p:sp>
    </p:spTree>
    <p:extLst>
      <p:ext uri="{BB962C8B-B14F-4D97-AF65-F5344CB8AC3E}">
        <p14:creationId xmlns:p14="http://schemas.microsoft.com/office/powerpoint/2010/main" val="4081657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2211C-EDD6-4B3A-BB24-F8DCAD5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7345-6312-4E84-B44B-020B703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FA1B-263D-4AC2-8976-7B5978A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EBB2-9651-48B7-A04F-60AF200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C172-D5CA-45B3-A781-F29D760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81EB-2A02-42F0-829E-F7EA2F1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4037-1D5B-4840-87AF-FCD6625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notebook labs + mock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F6B1-E636-4AB9-8126-88EECA7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ED6B-5B0A-445E-89BF-0A410FF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Three-Layer Delivery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567B-9833-4F9C-BC72-DDFA3A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Test the Workflow Before Live Models</a:t>
            </a:r>
          </a:p>
        </p:txBody>
      </p:sp>
      <p:sp>
        <p:nvSpPr>
          <p:cNvPr id="11" name="editable governance shell">
            <a:extLst xmlns:a="http://schemas.openxmlformats.org/drawingml/2006/main">
              <a:ext uri="{FF2B5EF4-FFF2-40B4-BE49-F238E27FC236}">
                <a16:creationId xmlns:a16="http://schemas.microsoft.com/office/drawing/2014/main" id="{B9FA65BC-45A9-4B50-92DE-1BE9E52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5240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69CEB-64EA-4B88-8C8F-B96D9C8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VALIDATION + EXECUTION</a:t>
            </a:r>
          </a:p>
        </p:txBody>
      </p:sp>
      <p:sp>
        <p:nvSpPr>
          <p:cNvPr id="1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6CF201B-C780-47BC-8901-F4FC72D3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89955-C9DD-4A48-8E88-15A0E79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TYPED DATA CONTRACTS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7217D3B-4C63-470C-B533-BEFC909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0487-632D-4B29-8878-14DF23C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+ TOOL CHECKS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5B01A119-527D-4001-A4F6-28B9281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F9AF0-D3F3-49C0-BFB3-8ED48F4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RETRY LIMIT + HUMAN REVIEW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FAF07FC-644C-4412-B11D-7037A01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17017-380F-4D95-9007-425950C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1 · DETERMINISTIC MOCKS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A4C0-F146-4E30-B06E-704DF2F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Deterministic Mocks (Intentional Failures)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→ We use local mocks that intentionally return bad data so you can test your security logic instantly, for free.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Required labs run without a model key.</a:t>
            </a:r>
          </a:p>
        </p:txBody>
      </p:sp>
      <p:sp>
        <p:nvSpPr>
          <p:cNvPr id="2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CA9B9B8-2732-4E6A-AB02-C5AD202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982EA-C213-43EE-BF20-2342D93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2 · FAILURE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F8AA4-160F-49CB-9BD7-CD42B2F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Inspect invalid output and unsafe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Use tests to locate and correct failures</a:t>
            </a:r>
          </a:p>
        </p:txBody>
      </p:sp>
      <p:sp>
        <p:nvSpPr>
          <p:cNvPr id="2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F3F9650-A0C9-47CF-9066-1E05426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3E684-D3FE-4AAC-B403-139E171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3 · OPTIONAL LIVE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F3AA3-AFB3-4F11-854C-8E5A57A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Reuse the same task and result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After the local gate holds against the mock, set USE_LIVE_LLM = True to try the same check with a configured live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D3B79-985C-48F4-A915-3DE47F79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Groq is optional; it is not needed for JupyterLab, required labs, or practical work.</a:t>
            </a:r>
          </a:p>
        </p:txBody>
      </p:sp>
    </p:spTree>
    <p:extLst>
      <p:ext uri="{BB962C8B-B14F-4D97-AF65-F5344CB8AC3E}">
        <p14:creationId xmlns:p14="http://schemas.microsoft.com/office/powerpoint/2010/main" val="1615197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10F2E-2A64-42D9-AFE0-DF75238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A2C7-9A12-4657-A4E3-B79253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207C-B470-4332-83D3-8047DF7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2605-DEE7-4D93-93B6-815A7C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F6EE-784C-4178-A85B-6B33E57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8AA5-49BC-4165-959A-DB8A45C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FD-6CF7-490F-BF44-287DB2C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Capstone 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EE5B-B5AF-4006-8D20-A55252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C54-99AE-47FF-AB45-17F8DAB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example · Two-minute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B450-C57B-4420-B19E-6E69EFA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Cost-Aware Dynamic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379B8-46B5-4B3B-8F21-CB16937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The Manager routes by task complexity and simulated cost.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43C8E-8034-46EF-BBD2-9BA0BA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7F53-4ACB-4558-825C-5A66299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Routing rule: complexity selects a worker tier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057A-4D9F-4FC9-AD90-40E855F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Low and medium use Fast; high complexity uses Expert.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AA7D-A366-4AB9-8E36-FDB96A3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87-6805-4AA0-A964-9AEE9E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Pre-written Capstone policy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B363-25B7-4FB0-A490-15236DB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Read the route trace; no code or grade required.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9673-EF0A-4308-96F9-96FB09B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8924-6584-4D6F-80EC-56C252F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Illustrative cost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7CBE-5100-4385-A97C-7EDA3EB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$0.250 blind routing; $0.103 with the five-task policy.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E746-9AD7-4326-8C4F-C4C74D3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ACC5-34E7-4213-AB89-70B2BC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Production budget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E4ED3-7EAD-4301-B51E-29D0DC6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Hard retry and per-task spend caps stop runaway charges.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25B1-3D9D-4D6D-A2E7-44BC1F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77412-6CDA-4CED-A080-B123C3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Operational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034DD-08D4-4DDC-8487-6963D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Log route, cost estimate, and fallback or escalation.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65F96-3CC9-4196-ABDC-902BD87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Example costs are fixtures, not provider quotes.</a:t>
            </a:r>
          </a:p>
        </p:txBody>
      </p:sp>
    </p:spTree>
    <p:extLst>
      <p:ext uri="{BB962C8B-B14F-4D97-AF65-F5344CB8AC3E}">
        <p14:creationId xmlns:p14="http://schemas.microsoft.com/office/powerpoint/2010/main" val="7110413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EE241-3E72-4129-96B6-1F1E4D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0E58-5FA7-4801-B458-2702565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55A9-3D7E-4BE2-B3A9-9D1BF64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11D21-2944-4EBD-8CB9-CE9230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90C-26EE-43C9-80BC-48F6720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ECD9-210B-4C20-A5B5-D519CE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C847-8D4E-4C9D-9999-72F8B4A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bridge notebook + capstone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FCC4-D179-47F6-ACD9-E70D7E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4049-2A21-460D-8279-DAEF586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Two-Team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4C91-FBD6-464E-9553-CBDCE2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Development Team → Security Team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4DDED083-A2D1-48DB-9B44-FE384A5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62100"/>
            <a:ext cx="3886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77174-EA54-4132-960B-38C1F7F2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782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/ PRODUCT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2C714-F11A-4EF6-A229-D943911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66900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Request, release authority, and escalation</a:t>
            </a:r>
          </a:p>
        </p:txBody>
      </p:sp>
      <p:sp>
        <p:nvSpPr>
          <p:cNvPr id="1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CE81AF9-D597-4126-8575-18E337A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88E8C-47D8-482F-9C29-185C487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WORKFLOW COORDINATOR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BDFD4-149A-4D81-86A8-B19D49E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47975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Runs Development Crew · validates DevDeliverable · starts Security Crew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8F45D02-1802-4136-B63F-09C2C2A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997D8-378A-4A23-B820-336D67E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6B71E-FCE5-4DBE-84DC-21C9850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Senior Coder · QA
QA returns DevDeliverable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FD04BB16-39B5-4FEB-A699-73D2B76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A0E10-EF02-420D-9BAC-2F4BBB6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 &amp; COMPLIANCE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DBEA3-3A60-49B9-B759-590C8C2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Security Manager · Pen Tester
Returns SecurityAuditResult</a:t>
            </a:r>
          </a:p>
        </p:txBody>
      </p:sp>
      <p:cxnSp>
        <p:nvCxnSpPr>
          <p:cNvPr id="175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190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76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590925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77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65F87-0799-4557-ACF9-98C02F4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Capstone constructs two CrewAI Crews. Model calls are optional.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E22A2-29F6-4491-9483-E29B9CA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coordinator validates DevDeliverable before Security; the workflow records SecurityAuditResult.</a:t>
            </a:r>
          </a:p>
        </p:txBody>
      </p:sp>
    </p:spTree>
    <p:extLst>
      <p:ext uri="{BB962C8B-B14F-4D97-AF65-F5344CB8AC3E}">
        <p14:creationId xmlns:p14="http://schemas.microsoft.com/office/powerpoint/2010/main" val="341654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562F-199A-405C-B0DB-DD4225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CB5B-76AF-4768-91DC-212CFDC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DC4B-1A7A-4016-B091-E7DF8BF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65ED-FAE7-48A9-B3A7-6163316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CD1-0CD1-42F1-ACE9-B5DF7B5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19B-B4E0-455F-B7C0-4035C30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A929-9113-4BC9-86AF-4AF09DE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Karpathy AI Ascent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7531-C353-419A-9986-6F59BFD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E8A9-F6FA-4CF3-985C-B0E0F1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You can outsource your thinking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4741-5A77-4102-858E-4B4038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but you can't outsource your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2F01-7C49-4777-864E-41C9E7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— Andrej Karpathy, Sequoia AI Ascent 2026</a:t>
            </a:r>
          </a:p>
        </p:txBody>
      </p:sp>
    </p:spTree>
    <p:extLst>
      <p:ext uri="{BB962C8B-B14F-4D97-AF65-F5344CB8AC3E}">
        <p14:creationId xmlns:p14="http://schemas.microsoft.com/office/powerpoint/2010/main" val="2007971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2026-10-05T17:10:55.0880000Z</dcterms:created>
  <dcterms:modified xsi:type="dcterms:W3CDTF">2026-10-05T17:10:55.0880000Z</dcterms:modified>
</coreProperties>
</file>