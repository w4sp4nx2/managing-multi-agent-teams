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RSE">
    <p:bg>
      <p:bgPr>
        <a:solidFill>
          <a:srgbClr val="2B2D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" kern="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MANAGING MULTI-AGENT TEAMS  ·  LECTURE 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412480" y="16459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Technology  ·  SDG AI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 DECK  ·  DETERMINISTIC CLASSROOM PATH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Debugging the agentic SDLC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each change with evidence, bound repairs, and escalate unresolved work.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1993392" cy="1691640"/>
          </a:xfrm>
          <a:prstGeom prst="roundRect">
            <a:avLst>
              <a:gd name="adj" fmla="val 6486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4963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289864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builds</a:t>
            </a:r>
            <a:endParaRPr lang="en-US" sz="1410" dirty="0"/>
          </a:p>
        </p:txBody>
      </p:sp>
      <p:sp>
        <p:nvSpPr>
          <p:cNvPr id="8" name="Text 6"/>
          <p:cNvSpPr/>
          <p:nvPr/>
        </p:nvSpPr>
        <p:spPr>
          <a:xfrm>
            <a:off x="2651760" y="2871216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62072" y="2240280"/>
            <a:ext cx="1993392" cy="1691640"/>
          </a:xfrm>
          <a:prstGeom prst="roundRect">
            <a:avLst>
              <a:gd name="adj" fmla="val 6486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24963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44952" y="289864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 checks</a:t>
            </a:r>
            <a:endParaRPr lang="en-US" sz="1410" dirty="0"/>
          </a:p>
        </p:txBody>
      </p:sp>
      <p:sp>
        <p:nvSpPr>
          <p:cNvPr id="12" name="Text 10"/>
          <p:cNvSpPr/>
          <p:nvPr/>
        </p:nvSpPr>
        <p:spPr>
          <a:xfrm>
            <a:off x="4855464" y="2871216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65776" y="2240280"/>
            <a:ext cx="1993392" cy="1691640"/>
          </a:xfrm>
          <a:prstGeom prst="roundRect">
            <a:avLst>
              <a:gd name="adj" fmla="val 6486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656" y="24963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48656" y="289864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names failure</a:t>
            </a:r>
            <a:endParaRPr lang="en-US" sz="1410" dirty="0"/>
          </a:p>
        </p:txBody>
      </p:sp>
      <p:sp>
        <p:nvSpPr>
          <p:cNvPr id="16" name="Text 14"/>
          <p:cNvSpPr/>
          <p:nvPr/>
        </p:nvSpPr>
        <p:spPr>
          <a:xfrm>
            <a:off x="7059168" y="2871216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269480" y="2240280"/>
            <a:ext cx="1993392" cy="1691640"/>
          </a:xfrm>
          <a:prstGeom prst="roundRect">
            <a:avLst>
              <a:gd name="adj" fmla="val 6486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4963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52360" y="289864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uses evidence</a:t>
            </a:r>
            <a:endParaRPr lang="en-US" sz="1410" dirty="0"/>
          </a:p>
        </p:txBody>
      </p:sp>
      <p:sp>
        <p:nvSpPr>
          <p:cNvPr id="20" name="Text 18"/>
          <p:cNvSpPr/>
          <p:nvPr/>
        </p:nvSpPr>
        <p:spPr>
          <a:xfrm>
            <a:off x="9262872" y="2871216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473184" y="2240280"/>
            <a:ext cx="1993392" cy="1691640"/>
          </a:xfrm>
          <a:prstGeom prst="roundRect">
            <a:avLst>
              <a:gd name="adj" fmla="val 6486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24963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56064" y="289864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decides</a:t>
            </a:r>
            <a:endParaRPr lang="en-US" sz="1410" dirty="0"/>
          </a:p>
        </p:txBody>
      </p:sp>
      <p:sp>
        <p:nvSpPr>
          <p:cNvPr id="24" name="Shape 22"/>
          <p:cNvSpPr/>
          <p:nvPr/>
        </p:nvSpPr>
        <p:spPr>
          <a:xfrm>
            <a:off x="1051560" y="4526280"/>
            <a:ext cx="10094976" cy="859536"/>
          </a:xfrm>
          <a:prstGeom prst="roundRect">
            <a:avLst>
              <a:gd name="adj" fmla="val 12766"/>
            </a:avLst>
          </a:prstGeom>
          <a:solidFill>
            <a:srgbClr val="1C205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4754880"/>
            <a:ext cx="9555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Objective: use a test or trace to identify the failure, then show which control stops unsafe retries.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context: TRINITY role pattern and Reflexion’s verbal feedback loop; the bounded limit is course policy.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worker cannot be the only judge of its work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failure is not just a bad patch; it is a missing independent check.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4480560" cy="3273552"/>
          </a:xfrm>
          <a:prstGeom prst="roundRect">
            <a:avLst>
              <a:gd name="adj" fmla="val 3352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267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B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CYCLE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50976" y="274320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writes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says “done”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test evidence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without a cap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632704" y="3310128"/>
            <a:ext cx="548640" cy="548640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2704" y="332841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455664" y="1993392"/>
            <a:ext cx="5065776" cy="3273552"/>
          </a:xfrm>
          <a:prstGeom prst="roundRect">
            <a:avLst>
              <a:gd name="adj" fmla="val 3352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22677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CYCLE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48272" y="2743200"/>
            <a:ext cx="4343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verifier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summary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repair budget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escalation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1248" y="55595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tells you whether the repair worked?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verifier’s result is evidence to pass forward; it is not proof that every possible defect is absent.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a verifier and pass a concise diagnosis back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→ work → verify → repair; after the cap, escalate.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68096" y="2212848"/>
            <a:ext cx="2395728" cy="1600200"/>
          </a:xfrm>
          <a:prstGeom prst="roundRect">
            <a:avLst>
              <a:gd name="adj" fmla="val 6857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95728"/>
            <a:ext cx="384048" cy="384048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003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08176" y="24231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 from the spec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09544" y="278892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21024" y="2212848"/>
            <a:ext cx="2395728" cy="1600200"/>
          </a:xfrm>
          <a:prstGeom prst="roundRect">
            <a:avLst>
              <a:gd name="adj" fmla="val 6857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67328" y="2395728"/>
            <a:ext cx="384048" cy="384048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24003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61104" y="24231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67328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tests and review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62472" y="278892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73952" y="2212848"/>
            <a:ext cx="2395728" cy="1600200"/>
          </a:xfrm>
          <a:prstGeom prst="roundRect">
            <a:avLst>
              <a:gd name="adj" fmla="val 6857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0256" y="2395728"/>
            <a:ext cx="384048" cy="384048"/>
          </a:xfrm>
          <a:prstGeom prst="ellipse">
            <a:avLst/>
          </a:prstGeom>
          <a:solidFill>
            <a:srgbClr val="70E0CE"/>
          </a:solidFill>
          <a:ln w="6350">
            <a:solidFill>
              <a:srgbClr val="70E0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4003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14032" y="24231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0256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+ expected result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915400" y="278892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326880" y="2212848"/>
            <a:ext cx="2395728" cy="1600200"/>
          </a:xfrm>
          <a:prstGeom prst="roundRect">
            <a:avLst>
              <a:gd name="adj" fmla="val 6857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73184" y="2395728"/>
            <a:ext cx="384048" cy="384048"/>
          </a:xfrm>
          <a:prstGeom prst="ellipse">
            <a:avLst/>
          </a:prstGeom>
          <a:solidFill>
            <a:srgbClr val="FF9B52"/>
          </a:solidFill>
          <a:ln w="6350">
            <a:solidFill>
              <a:srgbClr val="FF9B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73184" y="24003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966960" y="24231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73184" y="2926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only what is needed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353312" y="4379976"/>
            <a:ext cx="9454896" cy="1042416"/>
          </a:xfrm>
          <a:prstGeom prst="roundRect">
            <a:avLst>
              <a:gd name="adj" fmla="val 10526"/>
            </a:avLst>
          </a:prstGeom>
          <a:solidFill>
            <a:srgbClr val="1C205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27632" y="4663440"/>
            <a:ext cx="891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cap: 1 initial attempt + 3 retries → stop and escalate unresolved failure to a human.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TRINITY coordinates Thinker, Worker, Verifier roles; this classroom loop is a simplified, deterministic teaching pattern.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retry budget visible in code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visible counter is easier to test than “keep trying until it works.”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6638544" cy="4078224"/>
          </a:xfrm>
          <a:prstGeom prst="roundRect">
            <a:avLst>
              <a:gd name="adj" fmla="val 2691"/>
            </a:avLst>
          </a:prstGeom>
          <a:solidFill>
            <a:srgbClr val="1C205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39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REPAIR · PSEUDOCODE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560320"/>
            <a:ext cx="601675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MAX_RETRIES = 3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= initial_patch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attempt in range(MAX_RETRIES + 1):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run_tests(patch)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result.passed: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attempt == MAX_RETRIES: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escalate_to_human(result.failure_summary)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patch = repair(patch, result.failure_summary)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589520" y="1874520"/>
            <a:ext cx="3931920" cy="4078224"/>
          </a:xfrm>
          <a:prstGeom prst="roundRect">
            <a:avLst>
              <a:gd name="adj" fmla="val 2791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213969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2688336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624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29077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when tests pass.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63840" y="3520440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2440" y="37398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back a short diagnosis.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63840" y="4352544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42885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2440" y="45720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 at retry 3.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loop permits at most four test calls: one first attempt plus three retries.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debug from evidence, not confidence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one failure, cite it, and choose the control that should block it.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72800" y="6181344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5029200" cy="3236976"/>
          </a:xfrm>
          <a:prstGeom prst="roundRect">
            <a:avLst>
              <a:gd name="adj" fmla="val 3390"/>
            </a:avLst>
          </a:prstGeom>
          <a:solidFill>
            <a:srgbClr val="22246F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70E0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 CHECK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32688" y="2788920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724912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risk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3008376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to the line in the trace.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32688" y="3611880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547872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831336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Context, schema, test, or permission gate.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2688" y="4434840"/>
            <a:ext cx="118872" cy="118872"/>
          </a:xfrm>
          <a:prstGeom prst="ellipse">
            <a:avLst/>
          </a:prstGeom>
          <a:solidFill>
            <a:srgbClr val="70E0CE"/>
          </a:solidFill>
          <a:ln w="2540">
            <a:solidFill>
              <a:srgbClr val="70E0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370832"/>
            <a:ext cx="4215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next step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61288" y="4654296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 within budget or escalate.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1993392"/>
            <a:ext cx="5440680" cy="3236976"/>
          </a:xfrm>
          <a:prstGeom prst="roundRect">
            <a:avLst>
              <a:gd name="adj" fmla="val 3390"/>
            </a:avLst>
          </a:prstGeom>
          <a:solidFill>
            <a:srgbClr val="272A88"/>
          </a:solidFill>
          <a:ln w="13970">
            <a:solidFill>
              <a:srgbClr val="7F8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9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ANCHORS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4224" y="2743200"/>
            <a:ext cx="4727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TRINITY · Thinker / Worker / Verifier</a:t>
            </a:r>
            <a:endParaRPr lang="en-US" sz="1530" dirty="0"/>
          </a:p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Conductor · coordination and recursion</a:t>
            </a:r>
            <a:endParaRPr lang="en-US" sz="1530" dirty="0"/>
          </a:p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Reflexion · verbal feedback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6364224" y="422452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rule: a failed check is returned as evidence; a human owns the unresolved decision.</a:t>
            </a:r>
            <a:endParaRPr lang="en-US" sz="1310" dirty="0"/>
          </a:p>
        </p:txBody>
      </p:sp>
      <p:sp>
        <p:nvSpPr>
          <p:cNvPr id="20" name="Text 18"/>
          <p:cNvSpPr/>
          <p:nvPr/>
        </p:nvSpPr>
        <p:spPr>
          <a:xfrm>
            <a:off x="621792" y="6181344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C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 et al., TRINITY (arXiv:2512.04695); Nielsen et al., Conductor (arXiv:2512.04388); Shinn et al., Reflexion (NeurIPS 2023).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Five-slide conceptual lecture decks for the nine-lecture curriculum</dc:subject>
  <dc:creator>Managing Multi-Agent Teams Workshop</dc:creator>
  <cp:lastModifiedBy>Managing Multi-Agent Teams Workshop</cp:lastModifiedBy>
  <cp:revision>1</cp:revision>
  <dcterms:created xsi:type="dcterms:W3CDTF">2026-10-06T17:10:10Z</dcterms:created>
  <dcterms:modified xsi:type="dcterms:W3CDTF">2026-10-06T17:10:10Z</dcterms:modified>
</cp:coreProperties>
</file>