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RSE">
    <p:bg>
      <p:bgPr>
        <a:solidFill>
          <a:srgbClr val="2B2D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" kern="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MANAGING MULTI-AGENT TEAMS  ·  LECTURE 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Technology  ·  SDG AI Lab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51967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LEARNER DECK  ·  DETERMINISTIC CLASSROOM PATH</a:t>
            </a:r>
            <a:endParaRPr lang="en-US" sz="8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804672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request to a testable specification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14173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prompt engineering begins by making decisions and evidence explicit.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72800" y="6181344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2029968"/>
            <a:ext cx="4187952" cy="2240280"/>
          </a:xfrm>
          <a:prstGeom prst="roundRect">
            <a:avLst>
              <a:gd name="adj" fmla="val 4898"/>
            </a:avLst>
          </a:prstGeom>
          <a:solidFill>
            <a:srgbClr val="272A88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677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REQUEST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670048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“Make a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 page.”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166360" y="2871216"/>
            <a:ext cx="548640" cy="548640"/>
          </a:xfrm>
          <a:prstGeom prst="ellipse">
            <a:avLst/>
          </a:prstGeom>
          <a:solidFill>
            <a:srgbClr val="FF9B52"/>
          </a:solidFill>
          <a:ln w="6350">
            <a:solidFill>
              <a:srgbClr val="FF9B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66360" y="2889504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22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5715000" y="2029968"/>
            <a:ext cx="5806440" cy="2240280"/>
          </a:xfrm>
          <a:prstGeom prst="roundRect">
            <a:avLst>
              <a:gd name="adj" fmla="val 4898"/>
            </a:avLst>
          </a:prstGeom>
          <a:solidFill>
            <a:srgbClr val="22246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16752" y="22677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REQUEST INTO A BRIEF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16752" y="2670048"/>
            <a:ext cx="5138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E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Paths · inputs and outputs · acceptance checks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EE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constraints · forbidden actions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58368" y="4681728"/>
            <a:ext cx="10863072" cy="987552"/>
          </a:xfrm>
          <a:prstGeom prst="roundRect">
            <a:avLst>
              <a:gd name="adj" fmla="val 11111"/>
            </a:avLst>
          </a:prstGeom>
          <a:solidFill>
            <a:srgbClr val="272A88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828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OBJECTIVE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80360" y="4882896"/>
            <a:ext cx="8183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Rewrite a vague request as a specification that a person, test, or agent can verify.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1792" y="6181344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exercise: Assignment 01 · ChatDev (Qian et al., ACL 2024) provides research context for role-based software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804672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Vague requests hide engineering decisions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14173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sentence can produce three incompatible implementations.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72800" y="6181344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10863072" cy="749808"/>
          </a:xfrm>
          <a:prstGeom prst="roundRect">
            <a:avLst>
              <a:gd name="adj" fmla="val 14634"/>
            </a:avLst>
          </a:prstGeom>
          <a:solidFill>
            <a:srgbClr val="272A88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29968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“Make a login page.”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58368" y="2990088"/>
            <a:ext cx="3438144" cy="1984248"/>
          </a:xfrm>
          <a:prstGeom prst="roundRect">
            <a:avLst>
              <a:gd name="adj" fmla="val 5530"/>
            </a:avLst>
          </a:prstGeom>
          <a:solidFill>
            <a:srgbClr val="22246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3218688"/>
            <a:ext cx="384048" cy="384048"/>
          </a:xfrm>
          <a:prstGeom prst="ellipse">
            <a:avLst/>
          </a:prstGeom>
          <a:solidFill>
            <a:srgbClr val="FF9B52"/>
          </a:solidFill>
          <a:ln w="6350">
            <a:solidFill>
              <a:srgbClr val="FF9B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32232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08176" y="323697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files?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6968" y="3840480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mockup, an API,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a full auth flow?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70832" y="2990088"/>
            <a:ext cx="3438144" cy="1984248"/>
          </a:xfrm>
          <a:prstGeom prst="roundRect">
            <a:avLst>
              <a:gd name="adj" fmla="val 5530"/>
            </a:avLst>
          </a:prstGeom>
          <a:solidFill>
            <a:srgbClr val="22246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90288" y="3218688"/>
            <a:ext cx="384048" cy="384048"/>
          </a:xfrm>
          <a:prstGeom prst="ellipse">
            <a:avLst/>
          </a:prstGeom>
          <a:solidFill>
            <a:srgbClr val="FF9B52"/>
          </a:solidFill>
          <a:ln w="6350">
            <a:solidFill>
              <a:srgbClr val="FF9B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0288" y="32232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0" y="323697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counts as done?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99432" y="3840480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invalid credentials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reach protected content?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83296" y="2990088"/>
            <a:ext cx="3438144" cy="1984248"/>
          </a:xfrm>
          <a:prstGeom prst="roundRect">
            <a:avLst>
              <a:gd name="adj" fmla="val 5530"/>
            </a:avLst>
          </a:prstGeom>
          <a:solidFill>
            <a:srgbClr val="22246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02752" y="3218688"/>
            <a:ext cx="384048" cy="384048"/>
          </a:xfrm>
          <a:prstGeom prst="ellipse">
            <a:avLst/>
          </a:prstGeom>
          <a:solidFill>
            <a:srgbClr val="FF9B52"/>
          </a:solidFill>
          <a:ln w="6350">
            <a:solidFill>
              <a:srgbClr val="FF9B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2752" y="32232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33104" y="323697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never happen?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11896" y="3840480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Should a token be stored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browser local storage?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534924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0E0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prompt is incomplete until the boundaries and proof of completion are clear.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21792" y="6181344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note: ask learners to name assumptions before suggesting an implementation.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804672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five fields to turn intent into a work brief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14173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specification is easier to delegate and easier to audit.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72800" y="6181344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12648" y="2212848"/>
            <a:ext cx="1645920" cy="2084832"/>
          </a:xfrm>
          <a:prstGeom prst="roundRect">
            <a:avLst>
              <a:gd name="adj" fmla="val 6667"/>
            </a:avLst>
          </a:prstGeom>
          <a:solidFill>
            <a:srgbClr val="22246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414016"/>
            <a:ext cx="384048" cy="384048"/>
          </a:xfrm>
          <a:prstGeom prst="ellipse">
            <a:avLst/>
          </a:prstGeom>
          <a:solidFill>
            <a:srgbClr val="FF9B52"/>
          </a:solidFill>
          <a:ln w="6350">
            <a:solidFill>
              <a:srgbClr val="FF9B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185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944368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" y="34747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changes?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2368296" y="301752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944368" y="2212848"/>
            <a:ext cx="1645920" cy="2084832"/>
          </a:xfrm>
          <a:prstGeom prst="roundRect">
            <a:avLst>
              <a:gd name="adj" fmla="val 6667"/>
            </a:avLst>
          </a:prstGeom>
          <a:solidFill>
            <a:srgbClr val="22246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2414016"/>
            <a:ext cx="384048" cy="384048"/>
          </a:xfrm>
          <a:prstGeom prst="ellipse">
            <a:avLst/>
          </a:prstGeom>
          <a:solidFill>
            <a:srgbClr val="FF9B52"/>
          </a:solidFill>
          <a:ln w="6350">
            <a:solidFill>
              <a:srgbClr val="FF9B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24185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08960" y="2944368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081528" y="34747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Files, inputs, outputs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4700016" y="301752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276088" y="2212848"/>
            <a:ext cx="1645920" cy="2084832"/>
          </a:xfrm>
          <a:prstGeom prst="roundRect">
            <a:avLst>
              <a:gd name="adj" fmla="val 6667"/>
            </a:avLst>
          </a:prstGeom>
          <a:solidFill>
            <a:srgbClr val="272A88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40680" y="2414016"/>
            <a:ext cx="384048" cy="384048"/>
          </a:xfrm>
          <a:prstGeom prst="ellipse">
            <a:avLst/>
          </a:prstGeom>
          <a:solidFill>
            <a:srgbClr val="70E0CE"/>
          </a:solidFill>
          <a:ln w="6350">
            <a:solidFill>
              <a:srgbClr val="70E0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0680" y="24185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40680" y="2944368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Acceptance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13248" y="34747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is success tested?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7031736" y="301752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607808" y="2212848"/>
            <a:ext cx="1645920" cy="2084832"/>
          </a:xfrm>
          <a:prstGeom prst="roundRect">
            <a:avLst>
              <a:gd name="adj" fmla="val 6667"/>
            </a:avLst>
          </a:prstGeom>
          <a:solidFill>
            <a:srgbClr val="22246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0" y="2414016"/>
            <a:ext cx="384048" cy="384048"/>
          </a:xfrm>
          <a:prstGeom prst="ellipse">
            <a:avLst/>
          </a:prstGeom>
          <a:solidFill>
            <a:srgbClr val="FF9B52"/>
          </a:solidFill>
          <a:ln w="6350">
            <a:solidFill>
              <a:srgbClr val="FF9B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0" y="24185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0" y="2944368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744968" y="34747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stay true?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9363456" y="301752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939528" y="2212848"/>
            <a:ext cx="1645920" cy="2084832"/>
          </a:xfrm>
          <a:prstGeom prst="roundRect">
            <a:avLst>
              <a:gd name="adj" fmla="val 6667"/>
            </a:avLst>
          </a:prstGeom>
          <a:solidFill>
            <a:srgbClr val="22246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04120" y="2414016"/>
            <a:ext cx="384048" cy="384048"/>
          </a:xfrm>
          <a:prstGeom prst="ellipse">
            <a:avLst/>
          </a:prstGeom>
          <a:solidFill>
            <a:srgbClr val="FF9B52"/>
          </a:solidFill>
          <a:ln w="6350">
            <a:solidFill>
              <a:srgbClr val="FF9B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04120" y="24185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104120" y="2944368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Forbidden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076688" y="34747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not occur?</a:t>
            </a:r>
            <a:endParaRPr lang="en-US" sz="1220" dirty="0"/>
          </a:p>
        </p:txBody>
      </p:sp>
      <p:sp>
        <p:nvSpPr>
          <p:cNvPr id="34" name="Shape 32"/>
          <p:cNvSpPr/>
          <p:nvPr/>
        </p:nvSpPr>
        <p:spPr>
          <a:xfrm>
            <a:off x="1024128" y="4754880"/>
            <a:ext cx="10149840" cy="822960"/>
          </a:xfrm>
          <a:prstGeom prst="roundRect">
            <a:avLst>
              <a:gd name="adj" fmla="val 13333"/>
            </a:avLst>
          </a:prstGeom>
          <a:solidFill>
            <a:srgbClr val="272A88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61872" y="4956048"/>
            <a:ext cx="9646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brief travels with the task: each role gets the same goal, limits, and acceptance evidence.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1792" y="6181344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fields are the workshop’s practical template, not a claim that one prompt format fits every system.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804672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 structured brief beats a long vague prompt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14173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format: readable to the team, precise enough to check.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72800" y="6181344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901952"/>
            <a:ext cx="6629400" cy="3968496"/>
          </a:xfrm>
          <a:prstGeom prst="roundRect">
            <a:avLst>
              <a:gd name="adj" fmla="val 2765"/>
            </a:avLst>
          </a:prstGeom>
          <a:solidFill>
            <a:srgbClr val="1C205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1396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70E0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· YAML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" y="2542032"/>
            <a:ext cx="6016752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goal: implement login form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src/auth/login.py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Credentials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LoginResult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acceptance: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invalid password returns 401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valid login returns typed result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constraints: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never log passwords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forbidden: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store tokens in localStorage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571232" y="1901952"/>
            <a:ext cx="3950208" cy="3968496"/>
          </a:xfrm>
          <a:prstGeom prst="roundRect">
            <a:avLst>
              <a:gd name="adj" fmla="val 2778"/>
            </a:avLst>
          </a:prstGeom>
          <a:solidFill>
            <a:srgbClr val="22246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45552" y="213969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YOU DELEGATE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845552" y="2642616"/>
            <a:ext cx="118872" cy="118872"/>
          </a:xfrm>
          <a:prstGeom prst="ellipse">
            <a:avLst/>
          </a:prstGeom>
          <a:solidFill>
            <a:srgbClr val="70E0CE"/>
          </a:solidFill>
          <a:ln w="2540">
            <a:solidFill>
              <a:srgbClr val="70E0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74152" y="25786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74152" y="286207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the artifact or file.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845552" y="3566160"/>
            <a:ext cx="118872" cy="118872"/>
          </a:xfrm>
          <a:prstGeom prst="ellipse">
            <a:avLst/>
          </a:prstGeom>
          <a:solidFill>
            <a:srgbClr val="70E0CE"/>
          </a:solidFill>
          <a:ln w="2540">
            <a:solidFill>
              <a:srgbClr val="70E0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74152" y="35021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Testable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74152" y="378561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the expected behavior.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845552" y="4489704"/>
            <a:ext cx="118872" cy="118872"/>
          </a:xfrm>
          <a:prstGeom prst="ellipse">
            <a:avLst/>
          </a:prstGeom>
          <a:solidFill>
            <a:srgbClr val="70E0CE"/>
          </a:solidFill>
          <a:ln w="2540">
            <a:solidFill>
              <a:srgbClr val="70E0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74152" y="44256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74152" y="470916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limits and forbidden actions.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1792" y="6181344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brief only. The workshop Lab 1 later implements strict typed data validation with Pydantic.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804672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Summary: if it cannot be checked, it is not done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14173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intent; finish with a brief that produces observable evidence.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72800" y="6181344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5029200" cy="3291840"/>
          </a:xfrm>
          <a:prstGeom prst="roundRect">
            <a:avLst>
              <a:gd name="adj" fmla="val 3333"/>
            </a:avLst>
          </a:prstGeom>
          <a:solidFill>
            <a:srgbClr val="272A88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24942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60-SECOND LEARNER TASK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" y="2724912"/>
            <a:ext cx="4407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Rewrite “Make a login page” using the five fields.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32688" y="3840480"/>
            <a:ext cx="44074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· interface · acceptance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constraints · forbidden actions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80760" y="1965960"/>
            <a:ext cx="5440680" cy="3291840"/>
          </a:xfrm>
          <a:prstGeom prst="roundRect">
            <a:avLst>
              <a:gd name="adj" fmla="val 3333"/>
            </a:avLst>
          </a:prstGeom>
          <a:solidFill>
            <a:srgbClr val="22246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64224" y="224942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70E0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CHECK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64224" y="2752344"/>
            <a:ext cx="118872" cy="118872"/>
          </a:xfrm>
          <a:prstGeom prst="ellipse">
            <a:avLst/>
          </a:prstGeom>
          <a:solidFill>
            <a:srgbClr val="70E0CE"/>
          </a:solidFill>
          <a:ln w="2540">
            <a:solidFill>
              <a:srgbClr val="70E0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92824" y="2688336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Paths and types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92824" y="2971800"/>
            <a:ext cx="4507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person can locate and call it.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64224" y="3593592"/>
            <a:ext cx="118872" cy="118872"/>
          </a:xfrm>
          <a:prstGeom prst="ellipse">
            <a:avLst/>
          </a:prstGeom>
          <a:solidFill>
            <a:srgbClr val="70E0CE"/>
          </a:solidFill>
          <a:ln w="2540">
            <a:solidFill>
              <a:srgbClr val="70E0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92824" y="3529584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Observable result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92824" y="3813048"/>
            <a:ext cx="4507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test can say pass or fail.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64224" y="4434840"/>
            <a:ext cx="118872" cy="118872"/>
          </a:xfrm>
          <a:prstGeom prst="ellipse">
            <a:avLst/>
          </a:prstGeom>
          <a:solidFill>
            <a:srgbClr val="70E0CE"/>
          </a:solidFill>
          <a:ln w="2540">
            <a:solidFill>
              <a:srgbClr val="70E0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4370832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boundary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92824" y="4654296"/>
            <a:ext cx="4507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forbidden behavior is named.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" y="5650992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context: ChatDev studies role-specialized software development agents and their communication.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1792" y="6181344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Qian et al. (2024), “ChatDev: Communicative Agents for Software Development,” ACL Anthology 2024.acl-long.810.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Course 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Five-slide conceptual lecture decks for the nine-lecture curriculum</dc:subject>
  <dc:creator>Managing Multi-Agent Teams Workshop</dc:creator>
  <cp:lastModifiedBy>Managing Multi-Agent Teams Workshop</cp:lastModifiedBy>
  <cp:revision>1</cp:revision>
  <dcterms:created xsi:type="dcterms:W3CDTF">2026-10-06T17:10:10Z</dcterms:created>
  <dcterms:modified xsi:type="dcterms:W3CDTF">2026-10-06T17:10:10Z</dcterms:modified>
</cp:coreProperties>
</file>