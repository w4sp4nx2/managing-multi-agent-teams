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82cd31e21547ad" /><Relationship Type="http://schemas.openxmlformats.org/officeDocument/2006/relationships/extended-properties" Target="/docProps/app.xml" Id="Rc5920a49b404474e" /><Relationship Type="http://schemas.openxmlformats.org/officeDocument/2006/relationships/officeDocument" Target="/ppt/presentation.xml" Id="R4e96343c2bda4ba9" /></Relationships>
</file>

<file path=ppt/presentation.xml><?xml version="1.0" encoding="utf-8"?>
<p:presentation xmlns:p="http://schemas.openxmlformats.org/presentationml/2006/main">
  <p:sldMasterIdLst>
    <p:sldMasterId xmlns:r="http://schemas.openxmlformats.org/officeDocument/2006/relationships" id="2147483648" r:id="R72e76891ff59413c"/>
  </p:sldMasterIdLst>
  <p:notesMasterIdLst>
    <p:notesMasterId xmlns:r="http://schemas.openxmlformats.org/officeDocument/2006/relationships" r:id="Rdea4b58a8f9f45cc"/>
  </p:notesMasterIdLst>
  <p:sldIdLst>
    <p:sldId xmlns:r="http://schemas.openxmlformats.org/officeDocument/2006/relationships" id="256" r:id="R4c05043905cc4257"/>
    <p:sldId xmlns:r="http://schemas.openxmlformats.org/officeDocument/2006/relationships" id="257" r:id="R99c36979f3af4751"/>
    <p:sldId xmlns:r="http://schemas.openxmlformats.org/officeDocument/2006/relationships" id="258" r:id="R0f025c3f80144c0e"/>
    <p:sldId xmlns:r="http://schemas.openxmlformats.org/officeDocument/2006/relationships" id="259" r:id="R935018af0ed24857"/>
    <p:sldId xmlns:r="http://schemas.openxmlformats.org/officeDocument/2006/relationships" id="260" r:id="R4c8b7725f4a64c88"/>
    <p:sldId xmlns:r="http://schemas.openxmlformats.org/officeDocument/2006/relationships" id="261" r:id="R40ded10ad4574268"/>
    <p:sldId xmlns:r="http://schemas.openxmlformats.org/officeDocument/2006/relationships" id="262" r:id="R8a2cdb1b01cb433c"/>
    <p:sldId xmlns:r="http://schemas.openxmlformats.org/officeDocument/2006/relationships" id="263" r:id="R033dae1dc8eb49ad"/>
    <p:sldId xmlns:r="http://schemas.openxmlformats.org/officeDocument/2006/relationships" id="264" r:id="Rad2bac526d834d0e"/>
    <p:sldId xmlns:r="http://schemas.openxmlformats.org/officeDocument/2006/relationships" id="265" r:id="R8f5f6ac55b784cc6"/>
    <p:sldId xmlns:r="http://schemas.openxmlformats.org/officeDocument/2006/relationships" id="266" r:id="Ra1822e57cfe44faf"/>
    <p:sldId xmlns:r="http://schemas.openxmlformats.org/officeDocument/2006/relationships" id="267" r:id="R5a71990559464540"/>
    <p:sldId xmlns:r="http://schemas.openxmlformats.org/officeDocument/2006/relationships" id="268" r:id="R6bd32bb228c1497c"/>
    <p:sldId xmlns:r="http://schemas.openxmlformats.org/officeDocument/2006/relationships" id="269" r:id="R0467a9992ee84405"/>
    <p:sldId xmlns:r="http://schemas.openxmlformats.org/officeDocument/2006/relationships" id="270" r:id="R3489c445aa4248ce"/>
    <p:sldId xmlns:r="http://schemas.openxmlformats.org/officeDocument/2006/relationships" id="271" r:id="R8ee87b18b10c41c2"/>
    <p:sldId xmlns:r="http://schemas.openxmlformats.org/officeDocument/2006/relationships" id="272" r:id="R54842aba81cb4ec2"/>
    <p:sldId xmlns:r="http://schemas.openxmlformats.org/officeDocument/2006/relationships" id="273" r:id="R0608c7c04f61460e"/>
    <p:sldId xmlns:r="http://schemas.openxmlformats.org/officeDocument/2006/relationships" id="274" r:id="Rb9723e4190d447b6"/>
    <p:sldId xmlns:r="http://schemas.openxmlformats.org/officeDocument/2006/relationships" id="275" r:id="Rab6fec01fa1148bb"/>
    <p:sldId xmlns:r="http://schemas.openxmlformats.org/officeDocument/2006/relationships" id="276" r:id="R918487dd1a754c75"/>
    <p:sldId xmlns:r="http://schemas.openxmlformats.org/officeDocument/2006/relationships" id="277" r:id="R94ced145a56f4d7a"/>
    <p:sldId xmlns:r="http://schemas.openxmlformats.org/officeDocument/2006/relationships" id="278" r:id="R6c2e4bcc709443de"/>
    <p:sldId xmlns:r="http://schemas.openxmlformats.org/officeDocument/2006/relationships" id="279" r:id="Raa3a5a78379e4954"/>
    <p:sldId xmlns:r="http://schemas.openxmlformats.org/officeDocument/2006/relationships" id="280" r:id="R3f5d4d3518664d78"/>
    <p:sldId xmlns:r="http://schemas.openxmlformats.org/officeDocument/2006/relationships" id="281" r:id="R3a32f355603441dc"/>
    <p:sldId xmlns:r="http://schemas.openxmlformats.org/officeDocument/2006/relationships" id="282" r:id="Ra5ee978a76ff4e82"/>
    <p:sldId xmlns:r="http://schemas.openxmlformats.org/officeDocument/2006/relationships" id="283" r:id="R2f961d07bb564335"/>
    <p:sldId xmlns:r="http://schemas.openxmlformats.org/officeDocument/2006/relationships" id="284" r:id="R86e89371a9724e33"/>
    <p:sldId xmlns:r="http://schemas.openxmlformats.org/officeDocument/2006/relationships" id="285" r:id="Rfc3d5bf568e24291"/>
    <p:sldId xmlns:r="http://schemas.openxmlformats.org/officeDocument/2006/relationships" id="286" r:id="Radcae2b6fbd84416"/>
    <p:sldId xmlns:r="http://schemas.openxmlformats.org/officeDocument/2006/relationships" id="287" r:id="R380b75ff349a4eb7"/>
    <p:sldId xmlns:r="http://schemas.openxmlformats.org/officeDocument/2006/relationships" id="288" r:id="Rd4f2d986d4d84c91"/>
    <p:sldId xmlns:r="http://schemas.openxmlformats.org/officeDocument/2006/relationships" id="289" r:id="Rb798c6c2c0a841de"/>
    <p:sldId xmlns:r="http://schemas.openxmlformats.org/officeDocument/2006/relationships" id="290" r:id="Rd7cdecbd81764dd0"/>
    <p:sldId xmlns:r="http://schemas.openxmlformats.org/officeDocument/2006/relationships" id="291" r:id="R19421b20a9ab49e1"/>
    <p:sldId xmlns:r="http://schemas.openxmlformats.org/officeDocument/2006/relationships" id="292" r:id="Ree55b1d259e14a6e"/>
    <p:sldId xmlns:r="http://schemas.openxmlformats.org/officeDocument/2006/relationships" id="293" r:id="R79d29104ddb747a1"/>
    <p:sldId xmlns:r="http://schemas.openxmlformats.org/officeDocument/2006/relationships" id="294" r:id="R19dab1417cb04e06"/>
    <p:sldId xmlns:r="http://schemas.openxmlformats.org/officeDocument/2006/relationships" id="295" r:id="Rf90b0b3215404b33"/>
    <p:sldId xmlns:r="http://schemas.openxmlformats.org/officeDocument/2006/relationships" id="296" r:id="R5bf59d9e46594a17"/>
    <p:sldId xmlns:r="http://schemas.openxmlformats.org/officeDocument/2006/relationships" id="297" r:id="R04844a5611b840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2fed482af842e2" /><Relationship Type="http://schemas.openxmlformats.org/officeDocument/2006/relationships/slideMaster" Target="/ppt/slideMasters/slideMaster1.xml" Id="R72e76891ff59413c" /><Relationship Type="http://schemas.openxmlformats.org/officeDocument/2006/relationships/notesMaster" Target="/ppt/notesMasters/notesMaster1.xml" Id="Rdea4b58a8f9f45cc" /><Relationship Type="http://schemas.openxmlformats.org/officeDocument/2006/relationships/presProps" Target="/ppt/presProps.xml" Id="Rf2d2e815ed7540bb" /><Relationship Type="http://schemas.openxmlformats.org/officeDocument/2006/relationships/tableStyles" Target="/ppt/tableStyles.xml" Id="Rd5fe6c4008b4492e" /><Relationship Type="http://schemas.openxmlformats.org/officeDocument/2006/relationships/slide" Target="/ppt/slides/slide1.xml" Id="R4c05043905cc4257" /><Relationship Type="http://schemas.openxmlformats.org/officeDocument/2006/relationships/slide" Target="/ppt/slides/slide2.xml" Id="R99c36979f3af4751" /><Relationship Type="http://schemas.openxmlformats.org/officeDocument/2006/relationships/slide" Target="/ppt/slides/slide3.xml" Id="R0f025c3f80144c0e" /><Relationship Type="http://schemas.openxmlformats.org/officeDocument/2006/relationships/slide" Target="/ppt/slides/slide4.xml" Id="R935018af0ed24857" /><Relationship Type="http://schemas.openxmlformats.org/officeDocument/2006/relationships/slide" Target="/ppt/slides/slide5.xml" Id="R4c8b7725f4a64c88" /><Relationship Type="http://schemas.openxmlformats.org/officeDocument/2006/relationships/slide" Target="/ppt/slides/slide6.xml" Id="R40ded10ad4574268" /><Relationship Type="http://schemas.openxmlformats.org/officeDocument/2006/relationships/slide" Target="/ppt/slides/slide7.xml" Id="R8a2cdb1b01cb433c" /><Relationship Type="http://schemas.openxmlformats.org/officeDocument/2006/relationships/slide" Target="/ppt/slides/slide8.xml" Id="R033dae1dc8eb49ad" /><Relationship Type="http://schemas.openxmlformats.org/officeDocument/2006/relationships/slide" Target="/ppt/slides/slide9.xml" Id="Rad2bac526d834d0e" /><Relationship Type="http://schemas.openxmlformats.org/officeDocument/2006/relationships/slide" Target="/ppt/slides/slide10.xml" Id="R8f5f6ac55b784cc6" /><Relationship Type="http://schemas.openxmlformats.org/officeDocument/2006/relationships/slide" Target="/ppt/slides/slide11.xml" Id="Ra1822e57cfe44faf" /><Relationship Type="http://schemas.openxmlformats.org/officeDocument/2006/relationships/slide" Target="/ppt/slides/slide12.xml" Id="R5a71990559464540" /><Relationship Type="http://schemas.openxmlformats.org/officeDocument/2006/relationships/slide" Target="/ppt/slides/slide13.xml" Id="R6bd32bb228c1497c" /><Relationship Type="http://schemas.openxmlformats.org/officeDocument/2006/relationships/slide" Target="/ppt/slides/slide14.xml" Id="R0467a9992ee84405" /><Relationship Type="http://schemas.openxmlformats.org/officeDocument/2006/relationships/slide" Target="/ppt/slides/slide15.xml" Id="R3489c445aa4248ce" /><Relationship Type="http://schemas.openxmlformats.org/officeDocument/2006/relationships/slide" Target="/ppt/slides/slide16.xml" Id="R8ee87b18b10c41c2" /><Relationship Type="http://schemas.openxmlformats.org/officeDocument/2006/relationships/slide" Target="/ppt/slides/slide17.xml" Id="R54842aba81cb4ec2" /><Relationship Type="http://schemas.openxmlformats.org/officeDocument/2006/relationships/slide" Target="/ppt/slides/slide18.xml" Id="R0608c7c04f61460e" /><Relationship Type="http://schemas.openxmlformats.org/officeDocument/2006/relationships/slide" Target="/ppt/slides/slide19.xml" Id="Rb9723e4190d447b6" /><Relationship Type="http://schemas.openxmlformats.org/officeDocument/2006/relationships/slide" Target="/ppt/slides/slide20.xml" Id="Rab6fec01fa1148bb" /><Relationship Type="http://schemas.openxmlformats.org/officeDocument/2006/relationships/slide" Target="/ppt/slides/slide21.xml" Id="R918487dd1a754c75" /><Relationship Type="http://schemas.openxmlformats.org/officeDocument/2006/relationships/slide" Target="/ppt/slides/slide22.xml" Id="R94ced145a56f4d7a" /><Relationship Type="http://schemas.openxmlformats.org/officeDocument/2006/relationships/slide" Target="/ppt/slides/slide23.xml" Id="R6c2e4bcc709443de" /><Relationship Type="http://schemas.openxmlformats.org/officeDocument/2006/relationships/slide" Target="/ppt/slides/slide24.xml" Id="Raa3a5a78379e4954" /><Relationship Type="http://schemas.openxmlformats.org/officeDocument/2006/relationships/slide" Target="/ppt/slides/slide25.xml" Id="R3f5d4d3518664d78" /><Relationship Type="http://schemas.openxmlformats.org/officeDocument/2006/relationships/slide" Target="/ppt/slides/slide26.xml" Id="R3a32f355603441dc" /><Relationship Type="http://schemas.openxmlformats.org/officeDocument/2006/relationships/slide" Target="/ppt/slides/slide27.xml" Id="Ra5ee978a76ff4e82" /><Relationship Type="http://schemas.openxmlformats.org/officeDocument/2006/relationships/slide" Target="/ppt/slides/slide28.xml" Id="R2f961d07bb564335" /><Relationship Type="http://schemas.openxmlformats.org/officeDocument/2006/relationships/slide" Target="/ppt/slides/slide29.xml" Id="R86e89371a9724e33" /><Relationship Type="http://schemas.openxmlformats.org/officeDocument/2006/relationships/slide" Target="/ppt/slides/slide30.xml" Id="Rfc3d5bf568e24291" /><Relationship Type="http://schemas.openxmlformats.org/officeDocument/2006/relationships/slide" Target="/ppt/slides/slide31.xml" Id="Radcae2b6fbd84416" /><Relationship Type="http://schemas.openxmlformats.org/officeDocument/2006/relationships/slide" Target="/ppt/slides/slide32.xml" Id="R380b75ff349a4eb7" /><Relationship Type="http://schemas.openxmlformats.org/officeDocument/2006/relationships/slide" Target="/ppt/slides/slide33.xml" Id="Rd4f2d986d4d84c91" /><Relationship Type="http://schemas.openxmlformats.org/officeDocument/2006/relationships/slide" Target="/ppt/slides/slide34.xml" Id="Rb798c6c2c0a841de" /><Relationship Type="http://schemas.openxmlformats.org/officeDocument/2006/relationships/slide" Target="/ppt/slides/slide35.xml" Id="Rd7cdecbd81764dd0" /><Relationship Type="http://schemas.openxmlformats.org/officeDocument/2006/relationships/slide" Target="/ppt/slides/slide36.xml" Id="R19421b20a9ab49e1" /><Relationship Type="http://schemas.openxmlformats.org/officeDocument/2006/relationships/slide" Target="/ppt/slides/slide37.xml" Id="Ree55b1d259e14a6e" /><Relationship Type="http://schemas.openxmlformats.org/officeDocument/2006/relationships/slide" Target="/ppt/slides/slide38.xml" Id="R79d29104ddb747a1" /><Relationship Type="http://schemas.openxmlformats.org/officeDocument/2006/relationships/slide" Target="/ppt/slides/slide39.xml" Id="R19dab1417cb04e06" /><Relationship Type="http://schemas.openxmlformats.org/officeDocument/2006/relationships/slide" Target="/ppt/slides/slide40.xml" Id="Rf90b0b3215404b33" /><Relationship Type="http://schemas.openxmlformats.org/officeDocument/2006/relationships/slide" Target="/ppt/slides/slide41.xml" Id="R5bf59d9e46594a17" /><Relationship Type="http://schemas.openxmlformats.org/officeDocument/2006/relationships/slide" Target="/ppt/slides/slide42.xml" Id="R04844a5611b840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f91a373a994a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14b41b30c6451f" /><Relationship Type="http://schemas.openxmlformats.org/officeDocument/2006/relationships/notesMaster" Target="/ppt/notesMasters/notesMaster1.xml" Id="R10b17bf8de1742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8f1c6a95d94c06" /><Relationship Type="http://schemas.openxmlformats.org/officeDocument/2006/relationships/notesMaster" Target="/ppt/notesMasters/notesMaster1.xml" Id="Rb0d191117a6f4f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2e958498364b83" /><Relationship Type="http://schemas.openxmlformats.org/officeDocument/2006/relationships/notesMaster" Target="/ppt/notesMasters/notesMaster1.xml" Id="Rf9394af6a2e64c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4a481816644188" /><Relationship Type="http://schemas.openxmlformats.org/officeDocument/2006/relationships/notesMaster" Target="/ppt/notesMasters/notesMaster1.xml" Id="R72079eb100c94b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718ff2140e4f27" /><Relationship Type="http://schemas.openxmlformats.org/officeDocument/2006/relationships/notesMaster" Target="/ppt/notesMasters/notesMaster1.xml" Id="Ref5bed9b60da4a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56251911734303" /><Relationship Type="http://schemas.openxmlformats.org/officeDocument/2006/relationships/notesMaster" Target="/ppt/notesMasters/notesMaster1.xml" Id="Rfb65b8603f9a44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887d58b597486a" /><Relationship Type="http://schemas.openxmlformats.org/officeDocument/2006/relationships/notesMaster" Target="/ppt/notesMasters/notesMaster1.xml" Id="Rf821f04f09b64b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6f60ec7db94c05" /><Relationship Type="http://schemas.openxmlformats.org/officeDocument/2006/relationships/notesMaster" Target="/ppt/notesMasters/notesMaster1.xml" Id="R05bcbf30a4cf43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5df660e6844cf" /><Relationship Type="http://schemas.openxmlformats.org/officeDocument/2006/relationships/notesMaster" Target="/ppt/notesMasters/notesMaster1.xml" Id="R1a45ac06403c40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8aa25677184358" /><Relationship Type="http://schemas.openxmlformats.org/officeDocument/2006/relationships/notesMaster" Target="/ppt/notesMasters/notesMaster1.xml" Id="R3b05314b50d64a7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831c107cbc42e4" /><Relationship Type="http://schemas.openxmlformats.org/officeDocument/2006/relationships/notesMaster" Target="/ppt/notesMasters/notesMaster1.xml" Id="Rf97a8e816d4949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ba2d3d7542433c" /><Relationship Type="http://schemas.openxmlformats.org/officeDocument/2006/relationships/notesMaster" Target="/ppt/notesMasters/notesMaster1.xml" Id="R28fe4eac0d9649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3e785ac14a4c54" /><Relationship Type="http://schemas.openxmlformats.org/officeDocument/2006/relationships/notesMaster" Target="/ppt/notesMasters/notesMaster1.xml" Id="R842b4e8d0d87414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378f88c3d8470c" /><Relationship Type="http://schemas.openxmlformats.org/officeDocument/2006/relationships/notesMaster" Target="/ppt/notesMasters/notesMaster1.xml" Id="R78320d74a03a43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e517236a51471e" /><Relationship Type="http://schemas.openxmlformats.org/officeDocument/2006/relationships/notesMaster" Target="/ppt/notesMasters/notesMaster1.xml" Id="R37e11ba0e1f946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69eb19c5684c48" /><Relationship Type="http://schemas.openxmlformats.org/officeDocument/2006/relationships/notesMaster" Target="/ppt/notesMasters/notesMaster1.xml" Id="R1d395f523afe4d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4d0d1c25954c3c" /><Relationship Type="http://schemas.openxmlformats.org/officeDocument/2006/relationships/notesMaster" Target="/ppt/notesMasters/notesMaster1.xml" Id="R501598418a54441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60ed8ebb1874608" /><Relationship Type="http://schemas.openxmlformats.org/officeDocument/2006/relationships/notesMaster" Target="/ppt/notesMasters/notesMaster1.xml" Id="Rfeb850880ac34d2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75eeb8f18e43f0" /><Relationship Type="http://schemas.openxmlformats.org/officeDocument/2006/relationships/notesMaster" Target="/ppt/notesMasters/notesMaster1.xml" Id="R482f4f53bcba4c8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b38b92c1874ad3" /><Relationship Type="http://schemas.openxmlformats.org/officeDocument/2006/relationships/notesMaster" Target="/ppt/notesMasters/notesMaster1.xml" Id="R46cef3c96f874e7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37ff62a90de4d15" /><Relationship Type="http://schemas.openxmlformats.org/officeDocument/2006/relationships/notesMaster" Target="/ppt/notesMasters/notesMaster1.xml" Id="Re5c1474cbc3841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12ede66ecb7487b" /><Relationship Type="http://schemas.openxmlformats.org/officeDocument/2006/relationships/notesMaster" Target="/ppt/notesMasters/notesMaster1.xml" Id="Ra02635af0d2c4c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f9948409cad4faa" /><Relationship Type="http://schemas.openxmlformats.org/officeDocument/2006/relationships/notesMaster" Target="/ppt/notesMasters/notesMaster1.xml" Id="R0fd47e0113f24b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483068b8fe446ee" /><Relationship Type="http://schemas.openxmlformats.org/officeDocument/2006/relationships/notesMaster" Target="/ppt/notesMasters/notesMaster1.xml" Id="Re9d85878819149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9aa7041abc44ade" /><Relationship Type="http://schemas.openxmlformats.org/officeDocument/2006/relationships/notesMaster" Target="/ppt/notesMasters/notesMaster1.xml" Id="R515e11414cad403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96f03f50784c5d" /><Relationship Type="http://schemas.openxmlformats.org/officeDocument/2006/relationships/notesMaster" Target="/ppt/notesMasters/notesMaster1.xml" Id="Ra0b03f74da894a9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16606cd6fae4ccc" /><Relationship Type="http://schemas.openxmlformats.org/officeDocument/2006/relationships/notesMaster" Target="/ppt/notesMasters/notesMaster1.xml" Id="Rd9edf985e7f34b8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4eeeadaeb20410f" /><Relationship Type="http://schemas.openxmlformats.org/officeDocument/2006/relationships/notesMaster" Target="/ppt/notesMasters/notesMaster1.xml" Id="R96411fce177340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795916fac2f411d" /><Relationship Type="http://schemas.openxmlformats.org/officeDocument/2006/relationships/notesMaster" Target="/ppt/notesMasters/notesMaster1.xml" Id="Rd1e4c45449c84f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70f12e262ea4c6d" /><Relationship Type="http://schemas.openxmlformats.org/officeDocument/2006/relationships/notesMaster" Target="/ppt/notesMasters/notesMaster1.xml" Id="Rab7fb7a0b7aa44b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5fb9cccb8c48b2" /><Relationship Type="http://schemas.openxmlformats.org/officeDocument/2006/relationships/notesMaster" Target="/ppt/notesMasters/notesMaster1.xml" Id="R1c10f38d23c345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a97658631d24c14" /><Relationship Type="http://schemas.openxmlformats.org/officeDocument/2006/relationships/notesMaster" Target="/ppt/notesMasters/notesMaster1.xml" Id="R96c40daf416d40a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7b8ac57d084291" /><Relationship Type="http://schemas.openxmlformats.org/officeDocument/2006/relationships/notesMaster" Target="/ppt/notesMasters/notesMaster1.xml" Id="R66019b6f997d401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2576b76f27e435f" /><Relationship Type="http://schemas.openxmlformats.org/officeDocument/2006/relationships/notesMaster" Target="/ppt/notesMasters/notesMaster1.xml" Id="Rca2b5ed758f3441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8ee9251853147e9" /><Relationship Type="http://schemas.openxmlformats.org/officeDocument/2006/relationships/notesMaster" Target="/ppt/notesMasters/notesMaster1.xml" Id="R163ea9726f34463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527466f31c047b4" /><Relationship Type="http://schemas.openxmlformats.org/officeDocument/2006/relationships/notesMaster" Target="/ppt/notesMasters/notesMaster1.xml" Id="R7a9c5ea7e6d24fe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e6887c703f420d" /><Relationship Type="http://schemas.openxmlformats.org/officeDocument/2006/relationships/notesMaster" Target="/ppt/notesMasters/notesMaster1.xml" Id="R1ed4daec279844e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a29a1c9baee4d65" /><Relationship Type="http://schemas.openxmlformats.org/officeDocument/2006/relationships/notesMaster" Target="/ppt/notesMasters/notesMaster1.xml" Id="R56a46e7c319742d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720336b26644f6c" /><Relationship Type="http://schemas.openxmlformats.org/officeDocument/2006/relationships/notesMaster" Target="/ppt/notesMasters/notesMaster1.xml" Id="R9a2479c461b6477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75c2665a2ce4306" /><Relationship Type="http://schemas.openxmlformats.org/officeDocument/2006/relationships/notesMaster" Target="/ppt/notesMasters/notesMaster1.xml" Id="Rfe39dca3c40044b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1a7e56801414da9" /><Relationship Type="http://schemas.openxmlformats.org/officeDocument/2006/relationships/notesMaster" Target="/ppt/notesMasters/notesMaster1.xml" Id="Re9f3ec816a9c40b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a6efc51f46947ff" /><Relationship Type="http://schemas.openxmlformats.org/officeDocument/2006/relationships/notesMaster" Target="/ppt/notesMasters/notesMaster1.xml" Id="R92bd4f285e3145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learners three primary research entry points. It does not claim that the papers prove this exact course architecture or guarantee safety.</a:t>
            </a:r>
          </a:p>
          <a:p xmlns:a="http://schemas.openxmlformats.org/drawingml/2006/main">
            <a:r>
              <a:t/>
            </a:r>
          </a:p>
          <a:p xmlns:a="http://schemas.openxmlformats.org/drawingml/2006/main">
            <a:r>
              <a:t>MetaGPT (ICLR 2024) describes encoding standardized operating procedures into prompt sequences and dividing work among specialized roles. We use that as motivation for explicit contracts and stages, not as evidence that Pydantic specifically is required.</a:t>
            </a:r>
          </a:p>
          <a:p xmlns:a="http://schemas.openxmlformats.org/drawingml/2006/main">
            <a:r>
              <a:t>Source: https://proceedings.iclr.cc/paper_files/paper/2024/hash/6507b115562bb0a305f1958ccc87355a-Abstract-Conference.html</a:t>
            </a:r>
          </a:p>
          <a:p xmlns:a="http://schemas.openxmlformats.org/drawingml/2006/main">
            <a:r>
              <a:t/>
            </a:r>
          </a:p>
          <a:p xmlns:a="http://schemas.openxmlformats.org/drawingml/2006/main">
            <a:r>
              <a:t>Reflexion (NeurIPS 2023) uses verbal feedback and an episodic memory buffer across later trials. It does not prescribe our maximum of three retries. The initial attempt plus three retries and escalation on the fourth failure are explicit course reliability policies.</a:t>
            </a:r>
          </a:p>
          <a:p xmlns:a="http://schemas.openxmlformats.org/drawingml/2006/main">
            <a:r>
              <a:t>Source: https://papers.nips.cc/paper_files/paper/2023/hash/1b44b878bb782e6954cd888628510e90-Abstract-Conference.html</a:t>
            </a:r>
          </a:p>
          <a:p xmlns:a="http://schemas.openxmlformats.org/drawingml/2006/main">
            <a:r>
              <a:t/>
            </a:r>
          </a:p>
          <a:p xmlns:a="http://schemas.openxmlformats.org/drawingml/2006/main">
            <a:r>
              <a:t>ChatDev (ACL 2024) describes specialized software-development agents and a chat chain. The course Manager/Coder/QA arrangement is an adaptation; it is not presented as ChatDev’s exact topology.</a:t>
            </a:r>
          </a:p>
          <a:p xmlns:a="http://schemas.openxmlformats.org/drawingml/2006/main">
            <a:r>
              <a:t>Source: https://aclanthology.org/2024.acl-long.810/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note: CrewAI handles task assignment and context transfer. The Task context field references earlier Task objects, whose outputs become context for the later task. The output_pydantic parameter declares the Pydantic model for a structured TaskOutput; TaskOutput.pydantic is available when configured.</a:t>
            </a:r>
          </a:p>
          <a:p xmlns:a="http://schemas.openxmlformats.org/drawingml/2006/main">
            <a:r>
              <a:t/>
            </a:r>
          </a:p>
          <a:p xmlns:a="http://schemas.openxmlformats.org/drawingml/2006/main">
            <a:r>
              <a:t>Pydantic validates data against declared model fields and constraints. A valid structure does not establish that a reviewer’s security claims are true. Use tests, explicit guardrails, and human review as appropriate.</a:t>
            </a:r>
          </a:p>
          <a:p xmlns:a="http://schemas.openxmlformats.org/drawingml/2006/main">
            <a:r>
              <a:t/>
            </a:r>
          </a:p>
          <a:p xmlns:a="http://schemas.openxmlformats.org/drawingml/2006/main">
            <a:r>
              <a:t>The TeamLog dictionary is app-owned state. Pass its serialized contents in kickoff inputs when a task should read those notes. CrewAI Task.context takes Task references, not arbitrary dictionaries.</a:t>
            </a:r>
          </a:p>
          <a:p xmlns:a="http://schemas.openxmlformats.org/drawingml/2006/main">
            <a:r>
              <a:t/>
            </a:r>
          </a:p>
          <a:p xmlns:a="http://schemas.openxmlformats.org/drawingml/2006/main">
            <a:r>
              <a:t>Sources: https://docs.crewai.com/en/concepts/tasks and https://docs.pydantic.dev/latest/concepts/models/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Fugu report distinguishes two variants. Fugu builds on TRINITY’s learned model/role selection. Fugu-Ultra uses the Conductor to compose multi-step workflows.</a:t>
            </a:r>
          </a:p>
          <a:p xmlns:a="http://schemas.openxmlformats.org/drawingml/2006/main">
            <a:r>
              <a:t>In the Fugu-Ultra report, each workflow step names a natural-language subtask, a worker ID, and an access list that selects prior subtask solutions for the worker context. It supports sequential and tree-structured topologies, and the Conductor can also be assigned as a worker. The report describes additional multi-turn shared memory.</a:t>
            </a:r>
          </a:p>
          <a:p xmlns:a="http://schemas.openxmlformats.org/drawingml/2006/main">
            <a:r>
              <a:t>The diagram below is the course exercise built around that context-control idea. The five-stage verifier/repair loop, three-retry ceiling, and human escalation are course governance rules, not a claim that Fugu-Ultra prescribes this exact loop.</a:t>
            </a:r>
          </a:p>
          <a:p xmlns:a="http://schemas.openxmlformats.org/drawingml/2006/main">
            <a:r>
              <a:t>Sources:</a:t>
            </a:r>
          </a:p>
          <a:p xmlns:a="http://schemas.openxmlformats.org/drawingml/2006/main">
            <a:r>
              <a:t>Sakana AI (2026), Sakana Fugu Technical Report, https://arxiv.org/abs/2606.21228</a:t>
            </a:r>
          </a:p>
          <a:p xmlns:a="http://schemas.openxmlformats.org/drawingml/2006/main">
            <a:r>
              <a:t>Xu et al. (2025), TRINITY: An Evolved LLM Coordinator, https://arxiv.org/abs/2512.04695</a:t>
            </a:r>
          </a:p>
          <a:p xmlns:a="http://schemas.openxmlformats.org/drawingml/2006/main">
            <a:r>
              <a:t>Nielsen et al. (2025), Learning to Orchestrate Agents in Natural Language with the Conductor, https://arxiv.org/abs/2512.04388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Fugu-Ultra presents one model interface while the technical report describes a heterogeneous worker pool and a Conductor-generated workflow. Its access lists govern which prior workflow outputs enter an agent context. The report says multi-agent workflows add latency; it does not provide a universal 8–160 second range or a fixed per-request cost for this comparison.</a:t>
            </a:r>
          </a:p>
          <a:p xmlns:a="http://schemas.openxmlformats.org/drawingml/2006/main">
            <a:r>
              <a:t>Claude Code subagents have their own context and may be assigned supported model IDs. A fork inherits the full parent conversation. Agent teams use independent Claude Code sessions with shared tasks and direct messaging. Worktree isolation controls where edits are made, while tool permissions control actions. These are different axes.</a:t>
            </a:r>
          </a:p>
          <a:p xmlns:a="http://schemas.openxmlformats.org/drawingml/2006/main">
            <a:r>
              <a:t>The cost statements are qualitative. More agents and longer contexts can change token use, while runtime varies by task, model, concurrency, and provider. Neither setup guarantees full traceability in every product surface. The final sentence is a design implication, not a benchmark result.</a:t>
            </a:r>
          </a:p>
          <a:p xmlns:a="http://schemas.openxmlformats.org/drawingml/2006/main">
            <a:r>
              <a:t>Sources:</a:t>
            </a:r>
          </a:p>
          <a:p xmlns:a="http://schemas.openxmlformats.org/drawingml/2006/main">
            <a:r>
              <a:t>Sakana AI (2026), Sakana Fugu Technical Report, https://arxiv.org/abs/2606.21228</a:t>
            </a:r>
          </a:p>
          <a:p xmlns:a="http://schemas.openxmlformats.org/drawingml/2006/main">
            <a:r>
              <a:t>Claude Code Docs, Create custom subagents, https://code.claude.com/docs/en/sub-agents</a:t>
            </a:r>
          </a:p>
          <a:p xmlns:a="http://schemas.openxmlformats.org/drawingml/2006/main">
            <a:r>
              <a:t>Claude Code Docs, Orchestrate teams of Claude Code sessions, https://code.claude.com/docs/en/agent-teams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956230286c42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e5d903c0a34927" /><Relationship Type="http://schemas.openxmlformats.org/officeDocument/2006/relationships/slideLayout" Target="/ppt/slideLayouts/slideLayout1.xml" Id="R63a127e25da84b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a127e25da84b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2f87e6a7164c8d" /><Relationship Type="http://schemas.openxmlformats.org/officeDocument/2006/relationships/notesSlide" Target="/ppt/notesSlides/notesSlide1.xml" Id="Rc4505791cc184d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02f0503e5748e0" /><Relationship Type="http://schemas.openxmlformats.org/officeDocument/2006/relationships/notesSlide" Target="/ppt/notesSlides/notesSlide2.xml" Id="Rd362a6886eb543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424cd6aa2941c6" /><Relationship Type="http://schemas.openxmlformats.org/officeDocument/2006/relationships/notesSlide" Target="/ppt/notesSlides/notesSlide3.xml" Id="Rfed4ed77f78346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8c4ae01af804f2b" /><Relationship Type="http://schemas.openxmlformats.org/officeDocument/2006/relationships/notesSlide" Target="/ppt/notesSlides/notesSlide4.xml" Id="R60e228b0e34d43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c8cf47574346cc" /><Relationship Type="http://schemas.openxmlformats.org/officeDocument/2006/relationships/hyperlink" Target="https://proceedings.iclr.cc/paper_files/paper/2024/hash/6507b115562bb0a305f1958ccc87355a-Abstract-Conference.html" TargetMode="External" Id="R86c595a7357f4d86" /><Relationship Type="http://schemas.openxmlformats.org/officeDocument/2006/relationships/hyperlink" Target="https://papers.nips.cc/paper_files/paper/2023/hash/1b44b878bb782e6954cd888628510e90-Abstract-Conference.html" TargetMode="External" Id="Ra7622b3d6a854ffd" /><Relationship Type="http://schemas.openxmlformats.org/officeDocument/2006/relationships/hyperlink" Target="https://aclanthology.org/2024.acl-long.810/" TargetMode="External" Id="Re191bcfe0e8344dd" /><Relationship Type="http://schemas.openxmlformats.org/officeDocument/2006/relationships/notesSlide" Target="/ppt/notesSlides/notesSlide5.xml" Id="Rfc1b5023571e48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4b675cac05457f" /><Relationship Type="http://schemas.openxmlformats.org/officeDocument/2006/relationships/notesSlide" Target="/ppt/notesSlides/notesSlide6.xml" Id="R199395db69e44c1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f7f9100bc914863" /><Relationship Type="http://schemas.openxmlformats.org/officeDocument/2006/relationships/notesSlide" Target="/ppt/notesSlides/notesSlide7.xml" Id="R8d36542e6f3340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091a84227d4dbf" /><Relationship Type="http://schemas.openxmlformats.org/officeDocument/2006/relationships/notesSlide" Target="/ppt/notesSlides/notesSlide8.xml" Id="Rd3c2d9f295ef440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421074f6f74498" /><Relationship Type="http://schemas.openxmlformats.org/officeDocument/2006/relationships/notesSlide" Target="/ppt/notesSlides/notesSlide9.xml" Id="R2aa9d4f4c0f247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8af57d9bcc4909" /><Relationship Type="http://schemas.openxmlformats.org/officeDocument/2006/relationships/notesSlide" Target="/ppt/notesSlides/notesSlide10.xml" Id="R5a4176d51c7948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8c6c84b5cf484d" /><Relationship Type="http://schemas.openxmlformats.org/officeDocument/2006/relationships/notesSlide" Target="/ppt/notesSlides/notesSlide11.xml" Id="R2f3e11fcfa3c41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3fb939a7ba4a4e" /><Relationship Type="http://schemas.openxmlformats.org/officeDocument/2006/relationships/notesSlide" Target="/ppt/notesSlides/notesSlide12.xml" Id="Rd1e626bee72047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16a7eaaf8a41ff" /><Relationship Type="http://schemas.openxmlformats.org/officeDocument/2006/relationships/notesSlide" Target="/ppt/notesSlides/notesSlide13.xml" Id="R0393efefa15c4e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e951a2cb25494c" /><Relationship Type="http://schemas.openxmlformats.org/officeDocument/2006/relationships/notesSlide" Target="/ppt/notesSlides/notesSlide14.xml" Id="Raa6c83d2eb5e45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e24ce72d8d4565" /><Relationship Type="http://schemas.openxmlformats.org/officeDocument/2006/relationships/notesSlide" Target="/ppt/notesSlides/notesSlide15.xml" Id="Rc562c44c533b45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35c2942bbbc424a" /><Relationship Type="http://schemas.openxmlformats.org/officeDocument/2006/relationships/notesSlide" Target="/ppt/notesSlides/notesSlide16.xml" Id="R90de58c451f144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a0157bf67044b4" /><Relationship Type="http://schemas.openxmlformats.org/officeDocument/2006/relationships/notesSlide" Target="/ppt/notesSlides/notesSlide17.xml" Id="R3fbd2740f83a4ca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6055636c5b042a4" /><Relationship Type="http://schemas.openxmlformats.org/officeDocument/2006/relationships/notesSlide" Target="/ppt/notesSlides/notesSlide18.xml" Id="R7bf292bd67b34e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ce60a3a5dec4fd2" /><Relationship Type="http://schemas.openxmlformats.org/officeDocument/2006/relationships/notesSlide" Target="/ppt/notesSlides/notesSlide19.xml" Id="R6f50eada8d40487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d0ad40e152140c4" /><Relationship Type="http://schemas.openxmlformats.org/officeDocument/2006/relationships/notesSlide" Target="/ppt/notesSlides/notesSlide20.xml" Id="R64b24883ae6c423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bd392ee95f49fe" /><Relationship Type="http://schemas.openxmlformats.org/officeDocument/2006/relationships/notesSlide" Target="/ppt/notesSlides/notesSlide21.xml" Id="R36a39919186041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059176e53764453" /><Relationship Type="http://schemas.openxmlformats.org/officeDocument/2006/relationships/notesSlide" Target="/ppt/notesSlides/notesSlide22.xml" Id="R453edd4490e34c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a345a39835f43e8" /><Relationship Type="http://schemas.openxmlformats.org/officeDocument/2006/relationships/notesSlide" Target="/ppt/notesSlides/notesSlide23.xml" Id="Rd61a94bca16148f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a79e339b6684ea1" /><Relationship Type="http://schemas.openxmlformats.org/officeDocument/2006/relationships/notesSlide" Target="/ppt/notesSlides/notesSlide24.xml" Id="Re916f5be161a4c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25a70cc2cc04b78" /><Relationship Type="http://schemas.openxmlformats.org/officeDocument/2006/relationships/notesSlide" Target="/ppt/notesSlides/notesSlide25.xml" Id="R7f22bf23a514435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38617dc14904914" /><Relationship Type="http://schemas.openxmlformats.org/officeDocument/2006/relationships/notesSlide" Target="/ppt/notesSlides/notesSlide26.xml" Id="R1f07408de3a045c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ae9e085b3734cee" /><Relationship Type="http://schemas.openxmlformats.org/officeDocument/2006/relationships/notesSlide" Target="/ppt/notesSlides/notesSlide27.xml" Id="Re3a14307256643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ab5a29e745142a0" /><Relationship Type="http://schemas.openxmlformats.org/officeDocument/2006/relationships/notesSlide" Target="/ppt/notesSlides/notesSlide28.xml" Id="R2b4a5a0a9efd42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97b148477e54f89" /><Relationship Type="http://schemas.openxmlformats.org/officeDocument/2006/relationships/notesSlide" Target="/ppt/notesSlides/notesSlide29.xml" Id="R664633bd276448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bf8f6c3b6cf4d1b" /><Relationship Type="http://schemas.openxmlformats.org/officeDocument/2006/relationships/notesSlide" Target="/ppt/notesSlides/notesSlide30.xml" Id="Rd76d643b23794ad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31e63f2d1784ff6" /><Relationship Type="http://schemas.openxmlformats.org/officeDocument/2006/relationships/notesSlide" Target="/ppt/notesSlides/notesSlide31.xml" Id="R5f5d183faf2049a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abdc4533fff4314" /><Relationship Type="http://schemas.openxmlformats.org/officeDocument/2006/relationships/notesSlide" Target="/ppt/notesSlides/notesSlide32.xml" Id="Ra3aae11391f94f6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fc0b6ddabfc445b" /><Relationship Type="http://schemas.openxmlformats.org/officeDocument/2006/relationships/notesSlide" Target="/ppt/notesSlides/notesSlide33.xml" Id="Rb766c365b710463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65a9d0fcb65471d" /><Relationship Type="http://schemas.openxmlformats.org/officeDocument/2006/relationships/notesSlide" Target="/ppt/notesSlides/notesSlide34.xml" Id="Re354e6f6d6de416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408656603d04faf" /><Relationship Type="http://schemas.openxmlformats.org/officeDocument/2006/relationships/notesSlide" Target="/ppt/notesSlides/notesSlide35.xml" Id="Rd48fd722802b4a0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a170a14730b4b91" /><Relationship Type="http://schemas.openxmlformats.org/officeDocument/2006/relationships/notesSlide" Target="/ppt/notesSlides/notesSlide36.xml" Id="R9eb6c018b53c441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e0c037ffa024134" /><Relationship Type="http://schemas.openxmlformats.org/officeDocument/2006/relationships/notesSlide" Target="/ppt/notesSlides/notesSlide37.xml" Id="Rb33787d7c3504f4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38763dd9fa64baf" /><Relationship Type="http://schemas.openxmlformats.org/officeDocument/2006/relationships/notesSlide" Target="/ppt/notesSlides/notesSlide38.xml" Id="Rfe5a68904bc94dc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b0a3b0a11f44d98" /><Relationship Type="http://schemas.openxmlformats.org/officeDocument/2006/relationships/notesSlide" Target="/ppt/notesSlides/notesSlide39.xml" Id="Red37f23468b3430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b7490d741ad413b" /><Relationship Type="http://schemas.openxmlformats.org/officeDocument/2006/relationships/notesSlide" Target="/ppt/notesSlides/notesSlide40.xml" Id="Rc2a3aabce64a4ef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f1813890fc54c02" /><Relationship Type="http://schemas.openxmlformats.org/officeDocument/2006/relationships/notesSlide" Target="/ppt/notesSlides/notesSlide41.xml" Id="R87953999d3034bc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f693b93320e45db" /><Relationship Type="http://schemas.openxmlformats.org/officeDocument/2006/relationships/notesSlide" Target="/ppt/notesSlides/notesSlide42.xml" Id="R1d8ba4d6ff9b4c0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FA1BE27-9E90-4E97-8E7A-95106EEE94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434013B-ECBE-4359-ACC6-BAB8D4CDA25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427CB98-4EBE-4772-8DC3-8175F9842CE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E37AAA6-8DC7-4EA9-A7EA-94FEFBEDC8E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79249E4-67F9-4EE9-9CBA-481B36101AD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F4A34C5-E2D2-44C0-90A1-8C855E2327A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Critical Assets — How They Fit</a:t>
            </a:r>
          </a:p>
        </p:txBody>
      </p:sp>
      <p:sp>
        <p:nvSpPr>
          <p:cNvPr id="7" name="">
            <a:extLst xmlns:a="http://schemas.openxmlformats.org/drawingml/2006/main">
              <a:ext uri="{FF2B5EF4-FFF2-40B4-BE49-F238E27FC236}">
                <a16:creationId xmlns:a16="http://schemas.microsoft.com/office/drawing/2014/main" id="{BBAD9E86-6BF4-4665-B4CB-F6817FC5861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CrewAI</a:t>
            </a:r>
          </a:p>
        </p:txBody>
      </p:sp>
      <p:sp>
        <p:nvSpPr>
          <p:cNvPr id="8" name="">
            <a:extLst xmlns:a="http://schemas.openxmlformats.org/drawingml/2006/main">
              <a:ext uri="{FF2B5EF4-FFF2-40B4-BE49-F238E27FC236}">
                <a16:creationId xmlns:a16="http://schemas.microsoft.com/office/drawing/2014/main" id="{C8F1FEBA-E4A7-4DBC-8E7E-F346B9AAC8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01</a:t>
            </a:r>
          </a:p>
        </p:txBody>
      </p:sp>
      <p:sp>
        <p:nvSpPr>
          <p:cNvPr id="9" name="">
            <a:extLst xmlns:a="http://schemas.openxmlformats.org/drawingml/2006/main">
              <a:ext uri="{FF2B5EF4-FFF2-40B4-BE49-F238E27FC236}">
                <a16:creationId xmlns:a16="http://schemas.microsoft.com/office/drawing/2014/main" id="{1F265314-03B3-4AB8-A713-580430BF54E9}"/>
              </a:ext>
            </a:extLst>
          </p:cNvPr>
          <p:cNvSpPr>
            <a:spLocks xmlns:a="http://schemas.openxmlformats.org/drawingml/2006/main" noGrp="1"/>
          </p:cNvSpPr>
          <p:nvPr/>
        </p:nvSpPr>
        <p:spPr>
          <a:xfrm xmlns:a="http://schemas.openxmlformats.org/drawingml/2006/main">
            <a:off x="552450" y="1181100"/>
            <a:ext cx="7810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550">
                <a:solidFill>
                  <a:srgbClr val="FFFFFF"/>
                </a:solidFill>
              </a:defRPr>
            </a:pPr>
            <a:r>
              <a:rPr sz="5550">
                <a:solidFill>
                  <a:srgbClr val="FFFFFF"/>
                </a:solidFill>
              </a:rPr>
              <a:t>Managing</a:t>
            </a:r>
          </a:p>
          <a:p xmlns:a="http://schemas.openxmlformats.org/drawingml/2006/main">
            <a:pPr>
              <a:buNone/>
              <a:defRPr sz="5550">
                <a:solidFill>
                  <a:srgbClr val="FFFFFF"/>
                </a:solidFill>
              </a:defRPr>
            </a:pPr>
            <a:r>
              <a:rPr sz="5550">
                <a:solidFill>
                  <a:srgbClr val="FFFFFF"/>
                </a:solidFill>
              </a:rPr>
              <a:t>Multi-Agent Teams</a:t>
            </a:r>
          </a:p>
        </p:txBody>
      </p:sp>
      <p:sp>
        <p:nvSpPr>
          <p:cNvPr id="10" name="">
            <a:extLst xmlns:a="http://schemas.openxmlformats.org/drawingml/2006/main">
              <a:ext uri="{FF2B5EF4-FFF2-40B4-BE49-F238E27FC236}">
                <a16:creationId xmlns:a16="http://schemas.microsoft.com/office/drawing/2014/main" id="{95242C68-4089-4681-9640-D3FA1A3E9B07}"/>
              </a:ext>
            </a:extLst>
          </p:cNvPr>
          <p:cNvSpPr>
            <a:spLocks xmlns:a="http://schemas.openxmlformats.org/drawingml/2006/main" noGrp="1"/>
          </p:cNvSpPr>
          <p:nvPr/>
        </p:nvSpPr>
        <p:spPr>
          <a:xfrm xmlns:a="http://schemas.openxmlformats.org/drawingml/2006/main">
            <a:off x="552450" y="3790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BFC2FF"/>
                </a:solidFill>
              </a:defRPr>
            </a:pPr>
            <a:r>
              <a:rPr sz="1500">
                <a:solidFill>
                  <a:srgbClr val="BFC2FF"/>
                </a:solidFill>
              </a:rPr>
              <a:t>Agentic AI  ·  Vibe Coding  ·  System Governance  ·  Pydantic  ·  MCP</a:t>
            </a:r>
          </a:p>
        </p:txBody>
      </p:sp>
      <p:sp>
        <p:nvSpPr>
          <p:cNvPr id="11" name="">
            <a:extLst xmlns:a="http://schemas.openxmlformats.org/drawingml/2006/main">
              <a:ext uri="{FF2B5EF4-FFF2-40B4-BE49-F238E27FC236}">
                <a16:creationId xmlns:a16="http://schemas.microsoft.com/office/drawing/2014/main" id="{A02B8579-3B47-4458-BB7C-4E09F96B8BF9}"/>
              </a:ext>
            </a:extLst>
          </p:cNvPr>
          <p:cNvSpPr>
            <a:spLocks xmlns:a="http://schemas.openxmlformats.org/drawingml/2006/main" noGrp="1"/>
          </p:cNvSpPr>
          <p:nvPr/>
        </p:nvSpPr>
        <p:spPr>
          <a:xfrm xmlns:a="http://schemas.openxmlformats.org/drawingml/2006/main">
            <a:off x="552450" y="43243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BFC2FF"/>
                </a:solidFill>
              </a:defRPr>
            </a:pPr>
            <a:r>
              <a:rPr sz="1275">
                <a:solidFill>
                  <a:srgbClr val="BFC2FF"/>
                </a:solidFill>
              </a:rPr>
              <a:t>6 Modules  ·  Build. Break. Fix. Govern.</a:t>
            </a:r>
          </a:p>
        </p:txBody>
      </p:sp>
    </p:spTree>
    <p:extLst>
      <p:ext uri="{BB962C8B-B14F-4D97-AF65-F5344CB8AC3E}">
        <p14:creationId xmlns:p14="http://schemas.microsoft.com/office/powerpoint/2010/main" val="17790522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2E3449-A84E-4406-950A-3C849ED97C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5A3F4A1-8C01-4E2B-BA4B-903B3F42EC7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7288622-FE2D-4F1A-AD05-EE511704AB5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8B9414E-4CCE-4EF8-9CC8-8493C8FC53A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DF7890-52AE-4C73-81F4-70C6010293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72F96C9-F749-4758-9DB9-510A6D448AA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47B2039-1EBD-4717-B84F-0AE4942947B7}"/>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Course philosophy</a:t>
            </a:r>
          </a:p>
        </p:txBody>
      </p:sp>
      <p:sp>
        <p:nvSpPr>
          <p:cNvPr id="8" name="">
            <a:extLst xmlns:a="http://schemas.openxmlformats.org/drawingml/2006/main">
              <a:ext uri="{FF2B5EF4-FFF2-40B4-BE49-F238E27FC236}">
                <a16:creationId xmlns:a16="http://schemas.microsoft.com/office/drawing/2014/main" id="{7822050B-70A7-4E84-9B61-9D04E5E91815}"/>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02</a:t>
            </a:r>
          </a:p>
        </p:txBody>
      </p:sp>
      <p:sp>
        <p:nvSpPr>
          <p:cNvPr id="9" name="">
            <a:extLst xmlns:a="http://schemas.openxmlformats.org/drawingml/2006/main">
              <a:ext uri="{FF2B5EF4-FFF2-40B4-BE49-F238E27FC236}">
                <a16:creationId xmlns:a16="http://schemas.microsoft.com/office/drawing/2014/main" id="{B32AF953-37B7-4F2B-AABD-6D60BB5B3E5F}"/>
              </a:ext>
            </a:extLst>
          </p:cNvPr>
          <p:cNvSpPr>
            <a:spLocks xmlns:a="http://schemas.openxmlformats.org/drawingml/2006/main" noGrp="1"/>
          </p:cNvSpPr>
          <p:nvPr/>
        </p:nvSpPr>
        <p:spPr>
          <a:xfrm xmlns:a="http://schemas.openxmlformats.org/drawingml/2006/main">
            <a:off x="2571750" y="2190750"/>
            <a:ext cx="7239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a:solidFill>
                  <a:srgbClr val="FFFFFF"/>
                </a:solidFill>
              </a:defRPr>
            </a:pPr>
            <a:r>
              <a:rPr sz="2850">
                <a:solidFill>
                  <a:srgbClr val="FFFFFF"/>
                </a:solidFill>
              </a:rPr>
              <a:t>Build the governance shell first.</a:t>
            </a:r>
          </a:p>
          <a:p xmlns:a="http://schemas.openxmlformats.org/drawingml/2006/main">
            <a:pPr algn="ctr">
              <a:buNone/>
              <a:defRPr sz="2850">
                <a:solidFill>
                  <a:srgbClr val="FFFFFF"/>
                </a:solidFill>
              </a:defRPr>
            </a:pPr>
            <a:r>
              <a:rPr sz="2850">
                <a:solidFill>
                  <a:srgbClr val="FFFFFF"/>
                </a:solidFill>
              </a:rPr>
              <a:t>Then connect real agents and frameworks.</a:t>
            </a:r>
          </a:p>
          <a:p xmlns:a="http://schemas.openxmlformats.org/drawingml/2006/main">
            <a:pPr algn="ctr">
              <a:buNone/>
              <a:defRPr sz="2850">
                <a:solidFill>
                  <a:srgbClr val="FFFFFF"/>
                </a:solidFill>
              </a:defRPr>
            </a:pPr>
            <a:r>
              <a:rPr sz="2850">
                <a:solidFill>
                  <a:srgbClr val="FFFFFF"/>
                </a:solidFill>
              </a:rPr>
              <a:t>That is how production learning sticks.</a:t>
            </a:r>
          </a:p>
        </p:txBody>
      </p:sp>
      <p:sp>
        <p:nvSpPr>
          <p:cNvPr id="10" name="">
            <a:extLst xmlns:a="http://schemas.openxmlformats.org/drawingml/2006/main">
              <a:ext uri="{FF2B5EF4-FFF2-40B4-BE49-F238E27FC236}">
                <a16:creationId xmlns:a16="http://schemas.microsoft.com/office/drawing/2014/main" id="{ABF7CE82-18E3-4DE8-990B-0DA9AC420E72}"/>
              </a:ext>
            </a:extLst>
          </p:cNvPr>
          <p:cNvSpPr>
            <a:spLocks xmlns:a="http://schemas.openxmlformats.org/drawingml/2006/main" noGrp="1"/>
          </p:cNvSpPr>
          <p:nvPr/>
        </p:nvSpPr>
        <p:spPr>
          <a:xfrm xmlns:a="http://schemas.openxmlformats.org/drawingml/2006/main">
            <a:off x="4648200" y="4476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BFC2FF"/>
                </a:solidFill>
              </a:defRPr>
            </a:pPr>
            <a:r>
              <a:rPr sz="1350">
                <a:solidFill>
                  <a:srgbClr val="BFC2FF"/>
                </a:solidFill>
              </a:rPr>
              <a:t>Course principle</a:t>
            </a:r>
          </a:p>
        </p:txBody>
      </p:sp>
    </p:spTree>
    <p:extLst>
      <p:ext uri="{BB962C8B-B14F-4D97-AF65-F5344CB8AC3E}">
        <p14:creationId xmlns:p14="http://schemas.microsoft.com/office/powerpoint/2010/main" val="75204138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71F24DB-9456-43AF-8541-4B32F7F891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A517982-41FD-4F27-9A73-50577A0DB2A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267E318-7A0A-45C4-97B7-EAD9F3D528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DF2303D-A32D-402C-8790-A649242F97B8}"/>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E9D97C9-140C-4011-9354-2C212CC8424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11A5F6B-6300-414B-91B8-C82CAE32C03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4BB3B4A-CDAE-48CC-9A14-7E9E5B4B714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repository setup + notebook manifest</a:t>
            </a:r>
          </a:p>
        </p:txBody>
      </p:sp>
      <p:sp>
        <p:nvSpPr>
          <p:cNvPr id="8" name="">
            <a:extLst xmlns:a="http://schemas.openxmlformats.org/drawingml/2006/main">
              <a:ext uri="{FF2B5EF4-FFF2-40B4-BE49-F238E27FC236}">
                <a16:creationId xmlns:a16="http://schemas.microsoft.com/office/drawing/2014/main" id="{2FA1E6E8-024D-471C-8012-E3E76DC11A2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03</a:t>
            </a:r>
          </a:p>
        </p:txBody>
      </p:sp>
      <p:sp>
        <p:nvSpPr>
          <p:cNvPr id="9" name="">
            <a:extLst xmlns:a="http://schemas.openxmlformats.org/drawingml/2006/main">
              <a:ext uri="{FF2B5EF4-FFF2-40B4-BE49-F238E27FC236}">
                <a16:creationId xmlns:a16="http://schemas.microsoft.com/office/drawing/2014/main" id="{4AAD81B6-7059-48CA-B25D-DED4E767B9FF}"/>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Day 1 · Learner Setup</a:t>
            </a:r>
          </a:p>
        </p:txBody>
      </p:sp>
      <p:sp>
        <p:nvSpPr>
          <p:cNvPr id="10" name="">
            <a:extLst xmlns:a="http://schemas.openxmlformats.org/drawingml/2006/main">
              <a:ext uri="{FF2B5EF4-FFF2-40B4-BE49-F238E27FC236}">
                <a16:creationId xmlns:a16="http://schemas.microsoft.com/office/drawing/2014/main" id="{D2285211-7F3E-457C-A18D-1AC20690E9E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GitHub to JupyterLab</a:t>
            </a:r>
          </a:p>
        </p:txBody>
      </p:sp>
      <p:sp>
        <p:nvSpPr>
          <p:cNvPr id="11" name="editable diagram card">
            <a:extLst xmlns:a="http://schemas.openxmlformats.org/drawingml/2006/main">
              <a:ext uri="{FF2B5EF4-FFF2-40B4-BE49-F238E27FC236}">
                <a16:creationId xmlns:a16="http://schemas.microsoft.com/office/drawing/2014/main" id="{2D559B6B-49E0-4CF5-87AB-78F7835CB111}"/>
              </a:ext>
            </a:extLst>
          </p:cNvPr>
          <p:cNvSpPr>
            <a:spLocks xmlns:a="http://schemas.openxmlformats.org/drawingml/2006/main" noGrp="1"/>
          </p:cNvSpPr>
          <p:nvPr/>
        </p:nvSpPr>
        <p:spPr>
          <a:xfrm xmlns:a="http://schemas.openxmlformats.org/drawingml/2006/main">
            <a:off x="495300" y="1714500"/>
            <a:ext cx="309562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D6FE6AED-615D-4E54-9A7A-1D94C55704E5}"/>
              </a:ext>
            </a:extLst>
          </p:cNvPr>
          <p:cNvSpPr>
            <a:spLocks xmlns:a="http://schemas.openxmlformats.org/drawingml/2006/main" noGrp="1"/>
          </p:cNvSpPr>
          <p:nvPr/>
        </p:nvSpPr>
        <p:spPr>
          <a:xfrm xmlns:a="http://schemas.openxmlformats.org/drawingml/2006/main">
            <a:off x="609600" y="1800225"/>
            <a:ext cx="28670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1 · GET THE REPOSITORY</a:t>
            </a:r>
          </a:p>
        </p:txBody>
      </p:sp>
      <p:sp>
        <p:nvSpPr>
          <p:cNvPr id="13" name="">
            <a:extLst xmlns:a="http://schemas.openxmlformats.org/drawingml/2006/main">
              <a:ext uri="{FF2B5EF4-FFF2-40B4-BE49-F238E27FC236}">
                <a16:creationId xmlns:a16="http://schemas.microsoft.com/office/drawing/2014/main" id="{0DFB907D-D12F-4BAB-8576-3FFDE3113290}"/>
              </a:ext>
            </a:extLst>
          </p:cNvPr>
          <p:cNvSpPr>
            <a:spLocks xmlns:a="http://schemas.openxmlformats.org/drawingml/2006/main" noGrp="1"/>
          </p:cNvSpPr>
          <p:nvPr/>
        </p:nvSpPr>
        <p:spPr>
          <a:xfrm xmlns:a="http://schemas.openxmlformats.org/drawingml/2006/main">
            <a:off x="619125" y="2152650"/>
            <a:ext cx="28479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Git clone or download the ZIP</a:t>
            </a:r>
          </a:p>
        </p:txBody>
      </p:sp>
      <p:sp>
        <p:nvSpPr>
          <p:cNvPr id="14" name="">
            <a:extLst xmlns:a="http://schemas.openxmlformats.org/drawingml/2006/main">
              <a:ext uri="{FF2B5EF4-FFF2-40B4-BE49-F238E27FC236}">
                <a16:creationId xmlns:a16="http://schemas.microsoft.com/office/drawing/2014/main" id="{37004284-56A4-4E73-95A8-BA7F932704DD}"/>
              </a:ext>
            </a:extLst>
          </p:cNvPr>
          <p:cNvSpPr>
            <a:spLocks xmlns:a="http://schemas.openxmlformats.org/drawingml/2006/main" noGrp="1"/>
          </p:cNvSpPr>
          <p:nvPr/>
        </p:nvSpPr>
        <p:spPr>
          <a:xfrm xmlns:a="http://schemas.openxmlformats.org/drawingml/2006/main">
            <a:off x="3638550"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5" name="editable diagram card">
            <a:extLst xmlns:a="http://schemas.openxmlformats.org/drawingml/2006/main">
              <a:ext uri="{FF2B5EF4-FFF2-40B4-BE49-F238E27FC236}">
                <a16:creationId xmlns:a16="http://schemas.microsoft.com/office/drawing/2014/main" id="{62A8F773-8F6C-4A70-AB4B-26E14DD4CDDF}"/>
              </a:ext>
            </a:extLst>
          </p:cNvPr>
          <p:cNvSpPr>
            <a:spLocks xmlns:a="http://schemas.openxmlformats.org/drawingml/2006/main" noGrp="1"/>
          </p:cNvSpPr>
          <p:nvPr/>
        </p:nvSpPr>
        <p:spPr>
          <a:xfrm xmlns:a="http://schemas.openxmlformats.org/drawingml/2006/main">
            <a:off x="4076700" y="1714500"/>
            <a:ext cx="37147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16" name="">
            <a:extLst xmlns:a="http://schemas.openxmlformats.org/drawingml/2006/main">
              <a:ext uri="{FF2B5EF4-FFF2-40B4-BE49-F238E27FC236}">
                <a16:creationId xmlns:a16="http://schemas.microsoft.com/office/drawing/2014/main" id="{0CD20BAA-DC2C-43ED-8BD2-5F66B1DCC773}"/>
              </a:ext>
            </a:extLst>
          </p:cNvPr>
          <p:cNvSpPr>
            <a:spLocks xmlns:a="http://schemas.openxmlformats.org/drawingml/2006/main" noGrp="1"/>
          </p:cNvSpPr>
          <p:nvPr/>
        </p:nvSpPr>
        <p:spPr>
          <a:xfrm xmlns:a="http://schemas.openxmlformats.org/drawingml/2006/main">
            <a:off x="4191000" y="1800225"/>
            <a:ext cx="3486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2 · SET UP LOCALLY</a:t>
            </a:r>
          </a:p>
        </p:txBody>
      </p:sp>
      <p:sp>
        <p:nvSpPr>
          <p:cNvPr id="17" name="">
            <a:extLst xmlns:a="http://schemas.openxmlformats.org/drawingml/2006/main">
              <a:ext uri="{FF2B5EF4-FFF2-40B4-BE49-F238E27FC236}">
                <a16:creationId xmlns:a16="http://schemas.microsoft.com/office/drawing/2014/main" id="{1C4A7D5A-5BCC-4727-85BA-5CDCEE09484D}"/>
              </a:ext>
            </a:extLst>
          </p:cNvPr>
          <p:cNvSpPr>
            <a:spLocks xmlns:a="http://schemas.openxmlformats.org/drawingml/2006/main" noGrp="1"/>
          </p:cNvSpPr>
          <p:nvPr/>
        </p:nvSpPr>
        <p:spPr>
          <a:xfrm xmlns:a="http://schemas.openxmlformats.org/drawingml/2006/main">
            <a:off x="4200525" y="2124075"/>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Create and activate a Python venv</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Install requirements.txt</a:t>
            </a:r>
          </a:p>
        </p:txBody>
      </p:sp>
      <p:sp>
        <p:nvSpPr>
          <p:cNvPr id="18" name="">
            <a:extLst xmlns:a="http://schemas.openxmlformats.org/drawingml/2006/main">
              <a:ext uri="{FF2B5EF4-FFF2-40B4-BE49-F238E27FC236}">
                <a16:creationId xmlns:a16="http://schemas.microsoft.com/office/drawing/2014/main" id="{F9EC517E-DC17-43D7-B18E-B1942560C5F1}"/>
              </a:ext>
            </a:extLst>
          </p:cNvPr>
          <p:cNvSpPr>
            <a:spLocks xmlns:a="http://schemas.openxmlformats.org/drawingml/2006/main" noGrp="1"/>
          </p:cNvSpPr>
          <p:nvPr/>
        </p:nvSpPr>
        <p:spPr>
          <a:xfrm xmlns:a="http://schemas.openxmlformats.org/drawingml/2006/main">
            <a:off x="7839075" y="20002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2325" b="1">
                <a:solidFill>
                  <a:srgbClr val="F04B25"/>
                </a:solidFill>
                <a:latin typeface="Calibri"/>
                <a:ea typeface="Calibri"/>
                <a:cs typeface="Calibri"/>
              </a:defRPr>
            </a:pPr>
            <a:r>
              <a:rPr sz="2325" b="1">
                <a:solidFill>
                  <a:srgbClr val="F04B25"/>
                </a:solidFill>
                <a:latin typeface="Calibri"/>
                <a:ea typeface="Calibri"/>
                <a:cs typeface="Calibri"/>
              </a:rPr>
              <a:t>→</a:t>
            </a:r>
          </a:p>
        </p:txBody>
      </p:sp>
      <p:sp>
        <p:nvSpPr>
          <p:cNvPr id="19" name="editable diagram card">
            <a:extLst xmlns:a="http://schemas.openxmlformats.org/drawingml/2006/main">
              <a:ext uri="{FF2B5EF4-FFF2-40B4-BE49-F238E27FC236}">
                <a16:creationId xmlns:a16="http://schemas.microsoft.com/office/drawing/2014/main" id="{98EDA754-6A1F-4C0E-93E6-3690123468C1}"/>
              </a:ext>
            </a:extLst>
          </p:cNvPr>
          <p:cNvSpPr>
            <a:spLocks xmlns:a="http://schemas.openxmlformats.org/drawingml/2006/main" noGrp="1"/>
          </p:cNvSpPr>
          <p:nvPr/>
        </p:nvSpPr>
        <p:spPr>
          <a:xfrm xmlns:a="http://schemas.openxmlformats.org/drawingml/2006/main">
            <a:off x="8277225" y="1714500"/>
            <a:ext cx="3419475"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62BCB413-21A4-481C-A274-6DAC75126F96}"/>
              </a:ext>
            </a:extLst>
          </p:cNvPr>
          <p:cNvSpPr>
            <a:spLocks xmlns:a="http://schemas.openxmlformats.org/drawingml/2006/main" noGrp="1"/>
          </p:cNvSpPr>
          <p:nvPr/>
        </p:nvSpPr>
        <p:spPr>
          <a:xfrm xmlns:a="http://schemas.openxmlformats.org/drawingml/2006/main">
            <a:off x="8391525" y="1800225"/>
            <a:ext cx="3190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3 · OPEN JUPYTERLAB</a:t>
            </a:r>
          </a:p>
        </p:txBody>
      </p:sp>
      <p:sp>
        <p:nvSpPr>
          <p:cNvPr id="21" name="">
            <a:extLst xmlns:a="http://schemas.openxmlformats.org/drawingml/2006/main">
              <a:ext uri="{FF2B5EF4-FFF2-40B4-BE49-F238E27FC236}">
                <a16:creationId xmlns:a16="http://schemas.microsoft.com/office/drawing/2014/main" id="{F934DC23-2B63-449E-ACCA-8A73C63A5118}"/>
              </a:ext>
            </a:extLst>
          </p:cNvPr>
          <p:cNvSpPr>
            <a:spLocks xmlns:a="http://schemas.openxmlformats.org/drawingml/2006/main" noGrp="1"/>
          </p:cNvSpPr>
          <p:nvPr/>
        </p:nvSpPr>
        <p:spPr>
          <a:xfrm xmlns:a="http://schemas.openxmlformats.org/drawingml/2006/main">
            <a:off x="8401050" y="2152650"/>
            <a:ext cx="3171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Start at 00_sandbox_preflight.ipynb</a:t>
            </a:r>
          </a:p>
        </p:txBody>
      </p:sp>
      <p:sp>
        <p:nvSpPr>
          <p:cNvPr id="22" name="">
            <a:extLst xmlns:a="http://schemas.openxmlformats.org/drawingml/2006/main">
              <a:ext uri="{FF2B5EF4-FFF2-40B4-BE49-F238E27FC236}">
                <a16:creationId xmlns:a16="http://schemas.microsoft.com/office/drawing/2014/main" id="{2D9F7BD1-9B92-4EB2-B618-3777F42FAAB5}"/>
              </a:ext>
            </a:extLst>
          </p:cNvPr>
          <p:cNvSpPr>
            <a:spLocks xmlns:a="http://schemas.openxmlformats.org/drawingml/2006/main" noGrp="1"/>
          </p:cNvSpPr>
          <p:nvPr/>
        </p:nvSpPr>
        <p:spPr>
          <a:xfrm xmlns:a="http://schemas.openxmlformats.org/drawingml/2006/main">
            <a:off x="495300" y="3019425"/>
            <a:ext cx="1120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CORE PRACTICE SEQUENCE</a:t>
            </a:r>
          </a:p>
        </p:txBody>
      </p:sp>
      <p:sp>
        <p:nvSpPr>
          <p:cNvPr id="23" name="editable diagram card">
            <a:extLst xmlns:a="http://schemas.openxmlformats.org/drawingml/2006/main">
              <a:ext uri="{FF2B5EF4-FFF2-40B4-BE49-F238E27FC236}">
                <a16:creationId xmlns:a16="http://schemas.microsoft.com/office/drawing/2014/main" id="{3960B22D-759C-46B9-AC7C-76DCEB5F2C6E}"/>
              </a:ext>
            </a:extLst>
          </p:cNvPr>
          <p:cNvSpPr>
            <a:spLocks xmlns:a="http://schemas.openxmlformats.org/drawingml/2006/main" noGrp="1"/>
          </p:cNvSpPr>
          <p:nvPr/>
        </p:nvSpPr>
        <p:spPr>
          <a:xfrm xmlns:a="http://schemas.openxmlformats.org/drawingml/2006/main">
            <a:off x="4953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4" name="">
            <a:extLst xmlns:a="http://schemas.openxmlformats.org/drawingml/2006/main">
              <a:ext uri="{FF2B5EF4-FFF2-40B4-BE49-F238E27FC236}">
                <a16:creationId xmlns:a16="http://schemas.microsoft.com/office/drawing/2014/main" id="{8243A48C-9D89-4815-A6C7-428AD71C5C66}"/>
              </a:ext>
            </a:extLst>
          </p:cNvPr>
          <p:cNvSpPr>
            <a:spLocks xmlns:a="http://schemas.openxmlformats.org/drawingml/2006/main" noGrp="1"/>
          </p:cNvSpPr>
          <p:nvPr/>
        </p:nvSpPr>
        <p:spPr>
          <a:xfrm xmlns:a="http://schemas.openxmlformats.org/drawingml/2006/main">
            <a:off x="6096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NB3 · TOOL GATE</a:t>
            </a:r>
          </a:p>
        </p:txBody>
      </p:sp>
      <p:sp>
        <p:nvSpPr>
          <p:cNvPr id="25" name="">
            <a:extLst xmlns:a="http://schemas.openxmlformats.org/drawingml/2006/main">
              <a:ext uri="{FF2B5EF4-FFF2-40B4-BE49-F238E27FC236}">
                <a16:creationId xmlns:a16="http://schemas.microsoft.com/office/drawing/2014/main" id="{8F407FC9-9D47-48EB-AB99-A1ABB55FD318}"/>
              </a:ext>
            </a:extLst>
          </p:cNvPr>
          <p:cNvSpPr>
            <a:spLocks xmlns:a="http://schemas.openxmlformats.org/drawingml/2006/main" noGrp="1"/>
          </p:cNvSpPr>
          <p:nvPr/>
        </p:nvSpPr>
        <p:spPr>
          <a:xfrm xmlns:a="http://schemas.openxmlformats.org/drawingml/2006/main">
            <a:off x="6191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Block unsafe or unauthorized calls</a:t>
            </a:r>
          </a:p>
        </p:txBody>
      </p:sp>
      <p:sp>
        <p:nvSpPr>
          <p:cNvPr id="26" name="">
            <a:extLst xmlns:a="http://schemas.openxmlformats.org/drawingml/2006/main">
              <a:ext uri="{FF2B5EF4-FFF2-40B4-BE49-F238E27FC236}">
                <a16:creationId xmlns:a16="http://schemas.microsoft.com/office/drawing/2014/main" id="{686517D2-C14F-4CEF-80BF-9160E12CC37C}"/>
              </a:ext>
            </a:extLst>
          </p:cNvPr>
          <p:cNvSpPr>
            <a:spLocks xmlns:a="http://schemas.openxmlformats.org/drawingml/2006/main" noGrp="1"/>
          </p:cNvSpPr>
          <p:nvPr/>
        </p:nvSpPr>
        <p:spPr>
          <a:xfrm xmlns:a="http://schemas.openxmlformats.org/drawingml/2006/main">
            <a:off x="31527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27" name="editable diagram card">
            <a:extLst xmlns:a="http://schemas.openxmlformats.org/drawingml/2006/main">
              <a:ext uri="{FF2B5EF4-FFF2-40B4-BE49-F238E27FC236}">
                <a16:creationId xmlns:a16="http://schemas.microsoft.com/office/drawing/2014/main" id="{8D4B89E5-1596-4725-9FFA-291E66220DF1}"/>
              </a:ext>
            </a:extLst>
          </p:cNvPr>
          <p:cNvSpPr>
            <a:spLocks xmlns:a="http://schemas.openxmlformats.org/drawingml/2006/main" noGrp="1"/>
          </p:cNvSpPr>
          <p:nvPr/>
        </p:nvSpPr>
        <p:spPr>
          <a:xfrm xmlns:a="http://schemas.openxmlformats.org/drawingml/2006/main">
            <a:off x="340995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28" name="">
            <a:extLst xmlns:a="http://schemas.openxmlformats.org/drawingml/2006/main">
              <a:ext uri="{FF2B5EF4-FFF2-40B4-BE49-F238E27FC236}">
                <a16:creationId xmlns:a16="http://schemas.microsoft.com/office/drawing/2014/main" id="{5D87DD2F-B403-4662-A82A-35C0E50315D1}"/>
              </a:ext>
            </a:extLst>
          </p:cNvPr>
          <p:cNvSpPr>
            <a:spLocks xmlns:a="http://schemas.openxmlformats.org/drawingml/2006/main" noGrp="1"/>
          </p:cNvSpPr>
          <p:nvPr/>
        </p:nvSpPr>
        <p:spPr>
          <a:xfrm xmlns:a="http://schemas.openxmlformats.org/drawingml/2006/main">
            <a:off x="352425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NB4 · CONTRACTS</a:t>
            </a:r>
          </a:p>
        </p:txBody>
      </p:sp>
      <p:sp>
        <p:nvSpPr>
          <p:cNvPr id="29" name="">
            <a:extLst xmlns:a="http://schemas.openxmlformats.org/drawingml/2006/main">
              <a:ext uri="{FF2B5EF4-FFF2-40B4-BE49-F238E27FC236}">
                <a16:creationId xmlns:a16="http://schemas.microsoft.com/office/drawing/2014/main" id="{EA3EA6DC-A867-4037-84C9-4E85A667C738}"/>
              </a:ext>
            </a:extLst>
          </p:cNvPr>
          <p:cNvSpPr>
            <a:spLocks xmlns:a="http://schemas.openxmlformats.org/drawingml/2006/main" noGrp="1"/>
          </p:cNvSpPr>
          <p:nvPr/>
        </p:nvSpPr>
        <p:spPr>
          <a:xfrm xmlns:a="http://schemas.openxmlformats.org/drawingml/2006/main">
            <a:off x="353377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Reject invalid agent handoffs</a:t>
            </a:r>
          </a:p>
        </p:txBody>
      </p:sp>
      <p:sp>
        <p:nvSpPr>
          <p:cNvPr id="30" name="">
            <a:extLst xmlns:a="http://schemas.openxmlformats.org/drawingml/2006/main">
              <a:ext uri="{FF2B5EF4-FFF2-40B4-BE49-F238E27FC236}">
                <a16:creationId xmlns:a16="http://schemas.microsoft.com/office/drawing/2014/main" id="{2DD18DA2-EA4A-4E97-947A-7D3EAAE2F02C}"/>
              </a:ext>
            </a:extLst>
          </p:cNvPr>
          <p:cNvSpPr>
            <a:spLocks xmlns:a="http://schemas.openxmlformats.org/drawingml/2006/main" noGrp="1"/>
          </p:cNvSpPr>
          <p:nvPr/>
        </p:nvSpPr>
        <p:spPr>
          <a:xfrm xmlns:a="http://schemas.openxmlformats.org/drawingml/2006/main">
            <a:off x="606742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1" name="editable diagram card">
            <a:extLst xmlns:a="http://schemas.openxmlformats.org/drawingml/2006/main">
              <a:ext uri="{FF2B5EF4-FFF2-40B4-BE49-F238E27FC236}">
                <a16:creationId xmlns:a16="http://schemas.microsoft.com/office/drawing/2014/main" id="{7F791B48-279D-43A9-891F-F37828F7CEEB}"/>
              </a:ext>
            </a:extLst>
          </p:cNvPr>
          <p:cNvSpPr>
            <a:spLocks xmlns:a="http://schemas.openxmlformats.org/drawingml/2006/main" noGrp="1"/>
          </p:cNvSpPr>
          <p:nvPr/>
        </p:nvSpPr>
        <p:spPr>
          <a:xfrm xmlns:a="http://schemas.openxmlformats.org/drawingml/2006/main">
            <a:off x="6324600" y="3390900"/>
            <a:ext cx="26479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2" name="">
            <a:extLst xmlns:a="http://schemas.openxmlformats.org/drawingml/2006/main">
              <a:ext uri="{FF2B5EF4-FFF2-40B4-BE49-F238E27FC236}">
                <a16:creationId xmlns:a16="http://schemas.microsoft.com/office/drawing/2014/main" id="{1657A0ED-5938-45D2-A4D4-5C1F3121AF6E}"/>
              </a:ext>
            </a:extLst>
          </p:cNvPr>
          <p:cNvSpPr>
            <a:spLocks xmlns:a="http://schemas.openxmlformats.org/drawingml/2006/main" noGrp="1"/>
          </p:cNvSpPr>
          <p:nvPr/>
        </p:nvSpPr>
        <p:spPr>
          <a:xfrm xmlns:a="http://schemas.openxmlformats.org/drawingml/2006/main">
            <a:off x="6438900" y="3476625"/>
            <a:ext cx="24193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NB5 · SELF-REPAIR</a:t>
            </a:r>
          </a:p>
        </p:txBody>
      </p:sp>
      <p:sp>
        <p:nvSpPr>
          <p:cNvPr id="33" name="">
            <a:extLst xmlns:a="http://schemas.openxmlformats.org/drawingml/2006/main">
              <a:ext uri="{FF2B5EF4-FFF2-40B4-BE49-F238E27FC236}">
                <a16:creationId xmlns:a16="http://schemas.microsoft.com/office/drawing/2014/main" id="{8A42D0A8-A982-47F1-AA28-3404CF251984}"/>
              </a:ext>
            </a:extLst>
          </p:cNvPr>
          <p:cNvSpPr>
            <a:spLocks xmlns:a="http://schemas.openxmlformats.org/drawingml/2006/main" noGrp="1"/>
          </p:cNvSpPr>
          <p:nvPr/>
        </p:nvSpPr>
        <p:spPr>
          <a:xfrm xmlns:a="http://schemas.openxmlformats.org/drawingml/2006/main">
            <a:off x="6448425" y="3800475"/>
            <a:ext cx="2400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Limit retries; escalate unresolved work</a:t>
            </a:r>
          </a:p>
        </p:txBody>
      </p:sp>
      <p:sp>
        <p:nvSpPr>
          <p:cNvPr id="34" name="">
            <a:extLst xmlns:a="http://schemas.openxmlformats.org/drawingml/2006/main">
              <a:ext uri="{FF2B5EF4-FFF2-40B4-BE49-F238E27FC236}">
                <a16:creationId xmlns:a16="http://schemas.microsoft.com/office/drawing/2014/main" id="{146AEA52-9E46-4249-9377-63735DB0B5B3}"/>
              </a:ext>
            </a:extLst>
          </p:cNvPr>
          <p:cNvSpPr>
            <a:spLocks xmlns:a="http://schemas.openxmlformats.org/drawingml/2006/main" noGrp="1"/>
          </p:cNvSpPr>
          <p:nvPr/>
        </p:nvSpPr>
        <p:spPr>
          <a:xfrm xmlns:a="http://schemas.openxmlformats.org/drawingml/2006/main">
            <a:off x="8982075" y="3705225"/>
            <a:ext cx="247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96020"/>
          </a:bodyPr>
          <a:lstStyle xmlns:a="http://schemas.openxmlformats.org/drawingml/2006/main"/>
          <a:p xmlns:a="http://schemas.openxmlformats.org/drawingml/2006/main">
            <a:pPr algn="ctr">
              <a:buNone/>
              <a:defRPr sz="1725" b="1">
                <a:solidFill>
                  <a:srgbClr val="F04B25"/>
                </a:solidFill>
                <a:latin typeface="Calibri"/>
                <a:ea typeface="Calibri"/>
                <a:cs typeface="Calibri"/>
              </a:defRPr>
            </a:pPr>
            <a:r>
              <a:rPr sz="1725" b="1">
                <a:solidFill>
                  <a:srgbClr val="F04B25"/>
                </a:solidFill>
                <a:latin typeface="Calibri"/>
                <a:ea typeface="Calibri"/>
                <a:cs typeface="Calibri"/>
              </a:rPr>
              <a:t>→</a:t>
            </a:r>
          </a:p>
        </p:txBody>
      </p:sp>
      <p:sp>
        <p:nvSpPr>
          <p:cNvPr id="35" name="editable diagram card">
            <a:extLst xmlns:a="http://schemas.openxmlformats.org/drawingml/2006/main">
              <a:ext uri="{FF2B5EF4-FFF2-40B4-BE49-F238E27FC236}">
                <a16:creationId xmlns:a16="http://schemas.microsoft.com/office/drawing/2014/main" id="{249C7F6A-835E-4D47-8D00-3FB9A7C44478}"/>
              </a:ext>
            </a:extLst>
          </p:cNvPr>
          <p:cNvSpPr>
            <a:spLocks xmlns:a="http://schemas.openxmlformats.org/drawingml/2006/main" noGrp="1"/>
          </p:cNvSpPr>
          <p:nvPr/>
        </p:nvSpPr>
        <p:spPr>
          <a:xfrm xmlns:a="http://schemas.openxmlformats.org/drawingml/2006/main">
            <a:off x="9239250" y="3390900"/>
            <a:ext cx="2457450" cy="1066800"/>
          </a:xfrm>
          <a:prstGeom xmlns:a="http://schemas.openxmlformats.org/drawingml/2006/main" prst="roundRect">
            <a:avLst>
              <a:gd name="adj" fmla="val 7143"/>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D1ECDF34-5314-4B1A-861B-7728D14A8F32}"/>
              </a:ext>
            </a:extLst>
          </p:cNvPr>
          <p:cNvSpPr>
            <a:spLocks xmlns:a="http://schemas.openxmlformats.org/drawingml/2006/main" noGrp="1"/>
          </p:cNvSpPr>
          <p:nvPr/>
        </p:nvSpPr>
        <p:spPr>
          <a:xfrm xmlns:a="http://schemas.openxmlformats.org/drawingml/2006/main">
            <a:off x="9353550" y="3476625"/>
            <a:ext cx="2228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CREWAI BRIDGE</a:t>
            </a:r>
          </a:p>
        </p:txBody>
      </p:sp>
      <p:sp>
        <p:nvSpPr>
          <p:cNvPr id="37" name="">
            <a:extLst xmlns:a="http://schemas.openxmlformats.org/drawingml/2006/main">
              <a:ext uri="{FF2B5EF4-FFF2-40B4-BE49-F238E27FC236}">
                <a16:creationId xmlns:a16="http://schemas.microsoft.com/office/drawing/2014/main" id="{6B4F2E16-2CBC-4BC6-870D-2CB87166633D}"/>
              </a:ext>
            </a:extLst>
          </p:cNvPr>
          <p:cNvSpPr>
            <a:spLocks xmlns:a="http://schemas.openxmlformats.org/drawingml/2006/main" noGrp="1"/>
          </p:cNvSpPr>
          <p:nvPr/>
        </p:nvSpPr>
        <p:spPr>
          <a:xfrm xmlns:a="http://schemas.openxmlformats.org/drawingml/2006/main">
            <a:off x="9363075" y="3800475"/>
            <a:ext cx="2209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Optional framework extension</a:t>
            </a:r>
          </a:p>
        </p:txBody>
      </p:sp>
      <p:sp>
        <p:nvSpPr>
          <p:cNvPr id="38" name="">
            <a:extLst xmlns:a="http://schemas.openxmlformats.org/drawingml/2006/main">
              <a:ext uri="{FF2B5EF4-FFF2-40B4-BE49-F238E27FC236}">
                <a16:creationId xmlns:a16="http://schemas.microsoft.com/office/drawing/2014/main" id="{4C5D4AB0-12DD-46B8-9343-B2CFF89CBAEB}"/>
              </a:ext>
            </a:extLst>
          </p:cNvPr>
          <p:cNvSpPr>
            <a:spLocks xmlns:a="http://schemas.openxmlformats.org/drawingml/2006/main" noGrp="1"/>
          </p:cNvSpPr>
          <p:nvPr/>
        </p:nvSpPr>
        <p:spPr>
          <a:xfrm xmlns:a="http://schemas.openxmlformats.org/drawingml/2006/main">
            <a:off x="723900" y="4762500"/>
            <a:ext cx="10744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0">
                <a:solidFill>
                  <a:srgbClr val="FFFFFF"/>
                </a:solidFill>
                <a:latin typeface="Calibri"/>
                <a:ea typeface="Calibri"/>
                <a:cs typeface="Calibri"/>
              </a:defRPr>
            </a:pPr>
            <a:r>
              <a:rPr sz="1275" b="0">
                <a:solidFill>
                  <a:srgbClr val="FFFFFF"/>
                </a:solidFill>
                <a:latin typeface="Calibri"/>
                <a:ea typeface="Calibri"/>
                <a:cs typeface="Calibri"/>
              </a:rPr>
              <a:t>The required Jupyter labs do not need Groq or an API key. A first-time package install may need internet.</a:t>
            </a:r>
          </a:p>
        </p:txBody>
      </p:sp>
      <p:sp>
        <p:nvSpPr>
          <p:cNvPr id="39" name="">
            <a:extLst xmlns:a="http://schemas.openxmlformats.org/drawingml/2006/main">
              <a:ext uri="{FF2B5EF4-FFF2-40B4-BE49-F238E27FC236}">
                <a16:creationId xmlns:a16="http://schemas.microsoft.com/office/drawing/2014/main" id="{03A8BAB3-0F62-4CC7-9789-6235B0F52186}"/>
              </a:ext>
            </a:extLst>
          </p:cNvPr>
          <p:cNvSpPr>
            <a:spLocks xmlns:a="http://schemas.openxmlformats.org/drawingml/2006/main" noGrp="1"/>
          </p:cNvSpPr>
          <p:nvPr/>
        </p:nvSpPr>
        <p:spPr>
          <a:xfrm xmlns:a="http://schemas.openxmlformats.org/drawingml/2006/main">
            <a:off x="723900" y="5172075"/>
            <a:ext cx="10744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Live-model examples are optional; the current live cells use the OpenAI client, not a configured Groq client.</a:t>
            </a:r>
          </a:p>
        </p:txBody>
      </p:sp>
    </p:spTree>
    <p:extLst>
      <p:ext uri="{BB962C8B-B14F-4D97-AF65-F5344CB8AC3E}">
        <p14:creationId xmlns:p14="http://schemas.microsoft.com/office/powerpoint/2010/main" val="14071035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A67C6E-B29F-4D34-9E9C-0702470664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A86E768-3875-4BA3-8325-6F263BFB253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A49B056-44C9-4C27-8405-DED6418D2C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875647-0DD1-471B-BF1F-34CA348206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F2CDED-8469-474C-8D11-EBBD7BECCA6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3754E2-4A75-4C68-8B93-61E78C4AE632}"/>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53B7A62-AD34-4C2F-BA94-8A1C30F871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Module map + ChatDev</a:t>
            </a:r>
          </a:p>
        </p:txBody>
      </p:sp>
      <p:sp>
        <p:nvSpPr>
          <p:cNvPr id="8" name="">
            <a:extLst xmlns:a="http://schemas.openxmlformats.org/drawingml/2006/main">
              <a:ext uri="{FF2B5EF4-FFF2-40B4-BE49-F238E27FC236}">
                <a16:creationId xmlns:a16="http://schemas.microsoft.com/office/drawing/2014/main" id="{DCBD132F-E211-47E0-B9B4-B24E3653936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04</a:t>
            </a:r>
          </a:p>
        </p:txBody>
      </p:sp>
      <p:sp>
        <p:nvSpPr>
          <p:cNvPr id="9" name="">
            <a:extLst xmlns:a="http://schemas.openxmlformats.org/drawingml/2006/main">
              <a:ext uri="{FF2B5EF4-FFF2-40B4-BE49-F238E27FC236}">
                <a16:creationId xmlns:a16="http://schemas.microsoft.com/office/drawing/2014/main" id="{273E7084-A780-4D0F-9FF9-919D68E95DD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Overview</a:t>
            </a:r>
          </a:p>
        </p:txBody>
      </p:sp>
      <p:sp>
        <p:nvSpPr>
          <p:cNvPr id="10" name="">
            <a:extLst xmlns:a="http://schemas.openxmlformats.org/drawingml/2006/main">
              <a:ext uri="{FF2B5EF4-FFF2-40B4-BE49-F238E27FC236}">
                <a16:creationId xmlns:a16="http://schemas.microsoft.com/office/drawing/2014/main" id="{E57FD916-D9C8-4C4E-8322-D4B6E3B919B2}"/>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Six modules, one production path.</a:t>
            </a:r>
          </a:p>
        </p:txBody>
      </p:sp>
      <p:sp>
        <p:nvSpPr>
          <p:cNvPr id="11" name="">
            <a:extLst xmlns:a="http://schemas.openxmlformats.org/drawingml/2006/main">
              <a:ext uri="{FF2B5EF4-FFF2-40B4-BE49-F238E27FC236}">
                <a16:creationId xmlns:a16="http://schemas.microsoft.com/office/drawing/2014/main" id="{8B97F107-4BC6-4FA8-BBEC-265BA9B8DD8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C434DCE-A122-43CB-88D6-E83BD9866DE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1   Foundations &amp; Vibe Coding</a:t>
            </a:r>
          </a:p>
        </p:txBody>
      </p:sp>
      <p:sp>
        <p:nvSpPr>
          <p:cNvPr id="13" name="">
            <a:extLst xmlns:a="http://schemas.openxmlformats.org/drawingml/2006/main">
              <a:ext uri="{FF2B5EF4-FFF2-40B4-BE49-F238E27FC236}">
                <a16:creationId xmlns:a16="http://schemas.microsoft.com/office/drawing/2014/main" id="{68CD0EF1-5951-494F-A3E3-38FE8F57989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9BA6EA9-8E06-488B-8C6E-F59138798A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2   TeamLog &amp; Theory of Mind</a:t>
            </a:r>
          </a:p>
        </p:txBody>
      </p:sp>
      <p:sp>
        <p:nvSpPr>
          <p:cNvPr id="15" name="">
            <a:extLst xmlns:a="http://schemas.openxmlformats.org/drawingml/2006/main">
              <a:ext uri="{FF2B5EF4-FFF2-40B4-BE49-F238E27FC236}">
                <a16:creationId xmlns:a16="http://schemas.microsoft.com/office/drawing/2014/main" id="{D0FD4B1B-38C5-43DE-9E44-6F17A862A8B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D522DCC-F613-43C3-BA8B-A1F2B026E1B3}"/>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3   Agentic RAG &amp; MCP</a:t>
            </a:r>
          </a:p>
        </p:txBody>
      </p:sp>
      <p:sp>
        <p:nvSpPr>
          <p:cNvPr id="17" name="">
            <a:extLst xmlns:a="http://schemas.openxmlformats.org/drawingml/2006/main">
              <a:ext uri="{FF2B5EF4-FFF2-40B4-BE49-F238E27FC236}">
                <a16:creationId xmlns:a16="http://schemas.microsoft.com/office/drawing/2014/main" id="{EFD76759-D82C-4F14-837B-F4DA7D7E3067}"/>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5A1DA34-13FC-4A27-B6E5-C32927C0658A}"/>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4   Pydantic AI &amp; Type Safety</a:t>
            </a:r>
          </a:p>
        </p:txBody>
      </p:sp>
      <p:sp>
        <p:nvSpPr>
          <p:cNvPr id="19" name="">
            <a:extLst xmlns:a="http://schemas.openxmlformats.org/drawingml/2006/main">
              <a:ext uri="{FF2B5EF4-FFF2-40B4-BE49-F238E27FC236}">
                <a16:creationId xmlns:a16="http://schemas.microsoft.com/office/drawing/2014/main" id="{460AF994-BFC9-4E55-A601-EDB95DC31523}"/>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BB3594B-9303-4880-8A9D-1DDF142A41C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5   Fugu Routing &amp; ChatDev Self-Repair</a:t>
            </a:r>
          </a:p>
        </p:txBody>
      </p:sp>
      <p:sp>
        <p:nvSpPr>
          <p:cNvPr id="21" name="">
            <a:extLst xmlns:a="http://schemas.openxmlformats.org/drawingml/2006/main">
              <a:ext uri="{FF2B5EF4-FFF2-40B4-BE49-F238E27FC236}">
                <a16:creationId xmlns:a16="http://schemas.microsoft.com/office/drawing/2014/main" id="{50C809F8-97D7-4C25-8EA0-E658CF4DEDC0}"/>
              </a:ext>
            </a:extLst>
          </p:cNvPr>
          <p:cNvSpPr>
            <a:spLocks xmlns:a="http://schemas.openxmlformats.org/drawingml/2006/main" noGrp="1"/>
          </p:cNvSpPr>
          <p:nvPr/>
        </p:nvSpPr>
        <p:spPr>
          <a:xfrm xmlns:a="http://schemas.openxmlformats.org/drawingml/2006/main">
            <a:off x="781050" y="39433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2" name="">
            <a:extLst xmlns:a="http://schemas.openxmlformats.org/drawingml/2006/main">
              <a:ext uri="{FF2B5EF4-FFF2-40B4-BE49-F238E27FC236}">
                <a16:creationId xmlns:a16="http://schemas.microsoft.com/office/drawing/2014/main" id="{F30C632C-1CDA-4711-84EE-BAAF23C6F1FD}"/>
              </a:ext>
            </a:extLst>
          </p:cNvPr>
          <p:cNvSpPr>
            <a:spLocks xmlns:a="http://schemas.openxmlformats.org/drawingml/2006/main" noGrp="1"/>
          </p:cNvSpPr>
          <p:nvPr/>
        </p:nvSpPr>
        <p:spPr>
          <a:xfrm xmlns:a="http://schemas.openxmlformats.org/drawingml/2006/main">
            <a:off x="1085850" y="39433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Module 6   Internet of Agents &amp; Zero Trust</a:t>
            </a:r>
          </a:p>
        </p:txBody>
      </p:sp>
      <p:sp>
        <p:nvSpPr>
          <p:cNvPr id="23" name="">
            <a:extLst xmlns:a="http://schemas.openxmlformats.org/drawingml/2006/main">
              <a:ext uri="{FF2B5EF4-FFF2-40B4-BE49-F238E27FC236}">
                <a16:creationId xmlns:a16="http://schemas.microsoft.com/office/drawing/2014/main" id="{5E708542-F3A2-4A6B-82E7-243C71074A5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Governance before autonomy.</a:t>
            </a:r>
          </a:p>
        </p:txBody>
      </p:sp>
      <p:sp>
        <p:nvSpPr>
          <p:cNvPr id="24" name="">
            <a:extLst xmlns:a="http://schemas.openxmlformats.org/drawingml/2006/main">
              <a:ext uri="{FF2B5EF4-FFF2-40B4-BE49-F238E27FC236}">
                <a16:creationId xmlns:a16="http://schemas.microsoft.com/office/drawing/2014/main" id="{92582D8C-7A9D-438A-BD6A-BA409ADF3BE7}"/>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9564121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Academic Foundation blue canvas">
            <a:extLst xmlns:a="http://schemas.openxmlformats.org/drawingml/2006/main">
              <a:ext uri="{FF2B5EF4-FFF2-40B4-BE49-F238E27FC236}">
                <a16:creationId xmlns:a16="http://schemas.microsoft.com/office/drawing/2014/main" id="{CCBA1206-648E-4BC2-8630-E752DCCA4FC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D2FC4"/>
          </a:solidFill>
          <a:ln xmlns:a="http://schemas.openxmlformats.org/drawingml/2006/main" w="0">
            <a:noFill/>
            <a:prstDash val="solid"/>
          </a:ln>
        </p:spPr>
      </p:sp>
      <p:sp>
        <p:nvSpPr>
          <p:cNvPr id="2" name="Academic Foundation masthead">
            <a:extLst xmlns:a="http://schemas.openxmlformats.org/drawingml/2006/main">
              <a:ext uri="{FF2B5EF4-FFF2-40B4-BE49-F238E27FC236}">
                <a16:creationId xmlns:a16="http://schemas.microsoft.com/office/drawing/2014/main" id="{8EF887DE-248C-41F4-9E90-C4136FD9ACFB}"/>
              </a:ext>
            </a:extLst>
          </p:cNvPr>
          <p:cNvSpPr>
            <a:spLocks xmlns:a="http://schemas.openxmlformats.org/drawingml/2006/main" noGrp="1"/>
          </p:cNvSpPr>
          <p:nvPr/>
        </p:nvSpPr>
        <p:spPr>
          <a:xfrm xmlns:a="http://schemas.openxmlformats.org/drawingml/2006/main">
            <a:off x="0" y="0"/>
            <a:ext cx="12192000" cy="381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Academic Foundation footer band">
            <a:extLst xmlns:a="http://schemas.openxmlformats.org/drawingml/2006/main">
              <a:ext uri="{FF2B5EF4-FFF2-40B4-BE49-F238E27FC236}">
                <a16:creationId xmlns:a16="http://schemas.microsoft.com/office/drawing/2014/main" id="{A7D2C99C-888B-496F-BD6D-DB8991CB149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noFill/>
            <a:prstDash val="solid"/>
          </a:ln>
        </p:spPr>
      </p:sp>
      <p:sp>
        <p:nvSpPr>
          <p:cNvPr id="4" name="Organization header left">
            <a:extLst xmlns:a="http://schemas.openxmlformats.org/drawingml/2006/main">
              <a:ext uri="{FF2B5EF4-FFF2-40B4-BE49-F238E27FC236}">
                <a16:creationId xmlns:a16="http://schemas.microsoft.com/office/drawing/2014/main" id="{94EDF8E5-1779-418E-8829-EE405A5941BF}"/>
              </a:ext>
            </a:extLst>
          </p:cNvPr>
          <p:cNvSpPr>
            <a:spLocks xmlns:a="http://schemas.openxmlformats.org/drawingml/2006/main" noGrp="1"/>
          </p:cNvSpPr>
          <p:nvPr/>
        </p:nvSpPr>
        <p:spPr>
          <a:xfrm xmlns:a="http://schemas.openxmlformats.org/drawingml/2006/main">
            <a:off x="323850" y="571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555555"/>
                </a:solidFill>
                <a:latin typeface="Calibri"/>
                <a:ea typeface="Calibri"/>
                <a:cs typeface="Calibri"/>
              </a:defRPr>
            </a:pPr>
            <a:r>
              <a:rPr sz="1050" b="0">
                <a:solidFill>
                  <a:srgbClr val="555555"/>
                </a:solidFill>
                <a:latin typeface="Calibri"/>
                <a:ea typeface="Calibri"/>
                <a:cs typeface="Calibri"/>
              </a:rPr>
              <a:t>frontier tech leaders</a:t>
            </a:r>
          </a:p>
        </p:txBody>
      </p:sp>
      <p:sp>
        <p:nvSpPr>
          <p:cNvPr id="5" name="Organization header right">
            <a:extLst xmlns:a="http://schemas.openxmlformats.org/drawingml/2006/main">
              <a:ext uri="{FF2B5EF4-FFF2-40B4-BE49-F238E27FC236}">
                <a16:creationId xmlns:a16="http://schemas.microsoft.com/office/drawing/2014/main" id="{5C80F2DE-C4B9-4BAA-A32B-347E23DCD4D5}"/>
              </a:ext>
            </a:extLst>
          </p:cNvPr>
          <p:cNvSpPr>
            <a:spLocks xmlns:a="http://schemas.openxmlformats.org/drawingml/2006/main" noGrp="1"/>
          </p:cNvSpPr>
          <p:nvPr/>
        </p:nvSpPr>
        <p:spPr>
          <a:xfrm xmlns:a="http://schemas.openxmlformats.org/drawingml/2006/main">
            <a:off x="6572250" y="57150"/>
            <a:ext cx="529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6" name="Slide section label">
            <a:extLst xmlns:a="http://schemas.openxmlformats.org/drawingml/2006/main">
              <a:ext uri="{FF2B5EF4-FFF2-40B4-BE49-F238E27FC236}">
                <a16:creationId xmlns:a16="http://schemas.microsoft.com/office/drawing/2014/main" id="{3894B2F0-0FD4-4A5E-8FF3-50DA7E4C480F}"/>
              </a:ext>
            </a:extLst>
          </p:cNvPr>
          <p:cNvSpPr>
            <a:spLocks xmlns:a="http://schemas.openxmlformats.org/drawingml/2006/main" noGrp="1"/>
          </p:cNvSpPr>
          <p:nvPr/>
        </p:nvSpPr>
        <p:spPr>
          <a:xfrm xmlns:a="http://schemas.openxmlformats.org/drawingml/2006/main">
            <a:off x="581025" y="514350"/>
            <a:ext cx="523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050" b="0">
                <a:solidFill>
                  <a:srgbClr val="BFC2FF"/>
                </a:solidFill>
                <a:latin typeface="Calibri"/>
                <a:ea typeface="Calibri"/>
                <a:cs typeface="Calibri"/>
              </a:defRPr>
            </a:pPr>
            <a:r>
              <a:rPr sz="1050" b="0">
                <a:solidFill>
                  <a:srgbClr val="BFC2FF"/>
                </a:solidFill>
                <a:latin typeface="Calibri"/>
                <a:ea typeface="Calibri"/>
                <a:cs typeface="Calibri"/>
              </a:rPr>
              <a:t>Research foundation</a:t>
            </a:r>
          </a:p>
        </p:txBody>
      </p:sp>
      <p:sp>
        <p:nvSpPr>
          <p:cNvPr id="7" name="Academic Foundation title">
            <a:extLst xmlns:a="http://schemas.openxmlformats.org/drawingml/2006/main">
              <a:ext uri="{FF2B5EF4-FFF2-40B4-BE49-F238E27FC236}">
                <a16:creationId xmlns:a16="http://schemas.microsoft.com/office/drawing/2014/main" id="{5DDED4B7-9109-4614-B8F3-332505D63CF7}"/>
              </a:ext>
            </a:extLst>
          </p:cNvPr>
          <p:cNvSpPr>
            <a:spLocks xmlns:a="http://schemas.openxmlformats.org/drawingml/2006/main" noGrp="1"/>
          </p:cNvSpPr>
          <p:nvPr/>
        </p:nvSpPr>
        <p:spPr>
          <a:xfrm xmlns:a="http://schemas.openxmlformats.org/drawingml/2006/main">
            <a:off x="581025" y="809625"/>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3225" b="0">
                <a:solidFill>
                  <a:srgbClr val="FFFFFF"/>
                </a:solidFill>
                <a:latin typeface="Calibri"/>
                <a:ea typeface="Calibri"/>
                <a:cs typeface="Calibri"/>
              </a:defRPr>
            </a:pPr>
            <a:r>
              <a:rPr sz="3225" b="0">
                <a:solidFill>
                  <a:srgbClr val="FFFFFF"/>
                </a:solidFill>
                <a:latin typeface="Calibri"/>
                <a:ea typeface="Calibri"/>
                <a:cs typeface="Calibri"/>
              </a:rPr>
              <a:t>The Academic Foundation</a:t>
            </a:r>
          </a:p>
        </p:txBody>
      </p:sp>
      <p:sp>
        <p:nvSpPr>
          <p:cNvPr id="8" name="Paper 1 accent">
            <a:extLst xmlns:a="http://schemas.openxmlformats.org/drawingml/2006/main">
              <a:ext uri="{FF2B5EF4-FFF2-40B4-BE49-F238E27FC236}">
                <a16:creationId xmlns:a16="http://schemas.microsoft.com/office/drawing/2014/main" id="{5EE5CD6F-57EE-48C9-B741-ADFD7A2C1094}"/>
              </a:ext>
            </a:extLst>
          </p:cNvPr>
          <p:cNvSpPr>
            <a:spLocks xmlns:a="http://schemas.openxmlformats.org/drawingml/2006/main" noGrp="1"/>
          </p:cNvSpPr>
          <p:nvPr/>
        </p:nvSpPr>
        <p:spPr>
          <a:xfrm xmlns:a="http://schemas.openxmlformats.org/drawingml/2006/main">
            <a:off x="742950" y="177165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9" name="Paper 1 venue">
            <a:extLst xmlns:a="http://schemas.openxmlformats.org/drawingml/2006/main">
              <a:ext uri="{FF2B5EF4-FFF2-40B4-BE49-F238E27FC236}">
                <a16:creationId xmlns:a16="http://schemas.microsoft.com/office/drawing/2014/main" id="{F8609939-1694-45BF-9419-B180A088ADF2}"/>
              </a:ext>
            </a:extLst>
          </p:cNvPr>
          <p:cNvSpPr>
            <a:spLocks xmlns:a="http://schemas.openxmlformats.org/drawingml/2006/main" noGrp="1"/>
          </p:cNvSpPr>
          <p:nvPr/>
        </p:nvSpPr>
        <p:spPr>
          <a:xfrm xmlns:a="http://schemas.openxmlformats.org/drawingml/2006/main">
            <a:off x="1009650" y="16954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01  ·  ICLR 2024</a:t>
            </a:r>
          </a:p>
        </p:txBody>
      </p:sp>
      <p:sp>
        <p:nvSpPr>
          <p:cNvPr id="10" name="Paper 1 title">
            <a:extLst xmlns:a="http://schemas.openxmlformats.org/drawingml/2006/main">
              <a:ext uri="{FF2B5EF4-FFF2-40B4-BE49-F238E27FC236}">
                <a16:creationId xmlns:a16="http://schemas.microsoft.com/office/drawing/2014/main" id="{CD535912-540C-4533-8102-592AC566BDE2}"/>
              </a:ext>
            </a:extLst>
          </p:cNvPr>
          <p:cNvSpPr>
            <a:spLocks xmlns:a="http://schemas.openxmlformats.org/drawingml/2006/main" noGrp="1"/>
          </p:cNvSpPr>
          <p:nvPr/>
        </p:nvSpPr>
        <p:spPr>
          <a:xfrm xmlns:a="http://schemas.openxmlformats.org/drawingml/2006/main">
            <a:off x="1009650" y="191452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86c595a7357f4d86"/>
              </a:rPr>
              <a:t>MetaGPT: Meta Programming for A Multi-Agent Collaborative Framework</a:t>
            </a:r>
          </a:p>
        </p:txBody>
      </p:sp>
      <p:sp>
        <p:nvSpPr>
          <p:cNvPr id="11" name="Paper 1 course mapping">
            <a:extLst xmlns:a="http://schemas.openxmlformats.org/drawingml/2006/main">
              <a:ext uri="{FF2B5EF4-FFF2-40B4-BE49-F238E27FC236}">
                <a16:creationId xmlns:a16="http://schemas.microsoft.com/office/drawing/2014/main" id="{91196709-C736-47DF-A171-E2D1CFD643AD}"/>
              </a:ext>
            </a:extLst>
          </p:cNvPr>
          <p:cNvSpPr>
            <a:spLocks xmlns:a="http://schemas.openxmlformats.org/drawingml/2006/main" noGrp="1"/>
          </p:cNvSpPr>
          <p:nvPr/>
        </p:nvSpPr>
        <p:spPr>
          <a:xfrm xmlns:a="http://schemas.openxmlformats.org/drawingml/2006/main">
            <a:off x="1009650" y="227647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Standardized procedures and role-specific stages inform our workflow contracts.</a:t>
            </a:r>
          </a:p>
        </p:txBody>
      </p:sp>
      <p:sp>
        <p:nvSpPr>
          <p:cNvPr id="12" name="Paper separator 1">
            <a:extLst xmlns:a="http://schemas.openxmlformats.org/drawingml/2006/main">
              <a:ext uri="{FF2B5EF4-FFF2-40B4-BE49-F238E27FC236}">
                <a16:creationId xmlns:a16="http://schemas.microsoft.com/office/drawing/2014/main" id="{678282A5-6DE4-4C16-A828-A43FF8A94066}"/>
              </a:ext>
            </a:extLst>
          </p:cNvPr>
          <p:cNvSpPr>
            <a:spLocks xmlns:a="http://schemas.openxmlformats.org/drawingml/2006/main" noGrp="1"/>
          </p:cNvSpPr>
          <p:nvPr/>
        </p:nvSpPr>
        <p:spPr>
          <a:xfrm xmlns:a="http://schemas.openxmlformats.org/drawingml/2006/main">
            <a:off x="1009650" y="2762250"/>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3" name="Paper 2 accent">
            <a:extLst xmlns:a="http://schemas.openxmlformats.org/drawingml/2006/main">
              <a:ext uri="{FF2B5EF4-FFF2-40B4-BE49-F238E27FC236}">
                <a16:creationId xmlns:a16="http://schemas.microsoft.com/office/drawing/2014/main" id="{B7F471E5-E3BA-4AA2-B84E-9C0B8DD30D80}"/>
              </a:ext>
            </a:extLst>
          </p:cNvPr>
          <p:cNvSpPr>
            <a:spLocks xmlns:a="http://schemas.openxmlformats.org/drawingml/2006/main" noGrp="1"/>
          </p:cNvSpPr>
          <p:nvPr/>
        </p:nvSpPr>
        <p:spPr>
          <a:xfrm xmlns:a="http://schemas.openxmlformats.org/drawingml/2006/main">
            <a:off x="742950" y="3019425"/>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4" name="Paper 2 venue">
            <a:extLst xmlns:a="http://schemas.openxmlformats.org/drawingml/2006/main">
              <a:ext uri="{FF2B5EF4-FFF2-40B4-BE49-F238E27FC236}">
                <a16:creationId xmlns:a16="http://schemas.microsoft.com/office/drawing/2014/main" id="{F28E2BF0-B59E-4073-BBCA-39C99C0B999E}"/>
              </a:ext>
            </a:extLst>
          </p:cNvPr>
          <p:cNvSpPr>
            <a:spLocks xmlns:a="http://schemas.openxmlformats.org/drawingml/2006/main" noGrp="1"/>
          </p:cNvSpPr>
          <p:nvPr/>
        </p:nvSpPr>
        <p:spPr>
          <a:xfrm xmlns:a="http://schemas.openxmlformats.org/drawingml/2006/main">
            <a:off x="1009650" y="29432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02  ·  NeurIPS 2023</a:t>
            </a:r>
          </a:p>
        </p:txBody>
      </p:sp>
      <p:sp>
        <p:nvSpPr>
          <p:cNvPr id="15" name="Paper 2 title">
            <a:extLst xmlns:a="http://schemas.openxmlformats.org/drawingml/2006/main">
              <a:ext uri="{FF2B5EF4-FFF2-40B4-BE49-F238E27FC236}">
                <a16:creationId xmlns:a16="http://schemas.microsoft.com/office/drawing/2014/main" id="{663D2100-98EC-4045-9010-CDEDC488019F}"/>
              </a:ext>
            </a:extLst>
          </p:cNvPr>
          <p:cNvSpPr>
            <a:spLocks xmlns:a="http://schemas.openxmlformats.org/drawingml/2006/main" noGrp="1"/>
          </p:cNvSpPr>
          <p:nvPr/>
        </p:nvSpPr>
        <p:spPr>
          <a:xfrm xmlns:a="http://schemas.openxmlformats.org/drawingml/2006/main">
            <a:off x="1009650" y="3162300"/>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a7622b3d6a854ffd"/>
              </a:rPr>
              <a:t>Reflexion: Language Agents with Verbal Reinforcement Learning</a:t>
            </a:r>
          </a:p>
        </p:txBody>
      </p:sp>
      <p:sp>
        <p:nvSpPr>
          <p:cNvPr id="16" name="Paper 2 course mapping">
            <a:extLst xmlns:a="http://schemas.openxmlformats.org/drawingml/2006/main">
              <a:ext uri="{FF2B5EF4-FFF2-40B4-BE49-F238E27FC236}">
                <a16:creationId xmlns:a16="http://schemas.microsoft.com/office/drawing/2014/main" id="{11357B81-915F-4D01-B769-AEF96732A849}"/>
              </a:ext>
            </a:extLst>
          </p:cNvPr>
          <p:cNvSpPr>
            <a:spLocks xmlns:a="http://schemas.openxmlformats.org/drawingml/2006/main" noGrp="1"/>
          </p:cNvSpPr>
          <p:nvPr/>
        </p:nvSpPr>
        <p:spPr>
          <a:xfrm xmlns:a="http://schemas.openxmlformats.org/drawingml/2006/main">
            <a:off x="1009650" y="35242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Verbal feedback and episodic memory inform later attempts; our retry cap is a course policy.</a:t>
            </a:r>
          </a:p>
        </p:txBody>
      </p:sp>
      <p:sp>
        <p:nvSpPr>
          <p:cNvPr id="17" name="Paper separator 2">
            <a:extLst xmlns:a="http://schemas.openxmlformats.org/drawingml/2006/main">
              <a:ext uri="{FF2B5EF4-FFF2-40B4-BE49-F238E27FC236}">
                <a16:creationId xmlns:a16="http://schemas.microsoft.com/office/drawing/2014/main" id="{7589CD03-F356-486D-8385-22947D7A0758}"/>
              </a:ext>
            </a:extLst>
          </p:cNvPr>
          <p:cNvSpPr>
            <a:spLocks xmlns:a="http://schemas.openxmlformats.org/drawingml/2006/main" noGrp="1"/>
          </p:cNvSpPr>
          <p:nvPr/>
        </p:nvSpPr>
        <p:spPr>
          <a:xfrm xmlns:a="http://schemas.openxmlformats.org/drawingml/2006/main">
            <a:off x="1009650" y="4010025"/>
            <a:ext cx="10382250" cy="9525"/>
          </a:xfrm>
          <a:prstGeom xmlns:a="http://schemas.openxmlformats.org/drawingml/2006/main" prst="rect">
            <a:avLst/>
          </a:prstGeom>
          <a:solidFill xmlns:a="http://schemas.openxmlformats.org/drawingml/2006/main">
            <a:srgbClr val="555FE0"/>
          </a:solidFill>
          <a:ln xmlns:a="http://schemas.openxmlformats.org/drawingml/2006/main" w="0">
            <a:noFill/>
            <a:prstDash val="solid"/>
          </a:ln>
        </p:spPr>
      </p:sp>
      <p:sp>
        <p:nvSpPr>
          <p:cNvPr id="18" name="Paper 3 accent">
            <a:extLst xmlns:a="http://schemas.openxmlformats.org/drawingml/2006/main">
              <a:ext uri="{FF2B5EF4-FFF2-40B4-BE49-F238E27FC236}">
                <a16:creationId xmlns:a16="http://schemas.microsoft.com/office/drawing/2014/main" id="{F6442503-76D5-4D63-AA2C-FDF3D925F25E}"/>
              </a:ext>
            </a:extLst>
          </p:cNvPr>
          <p:cNvSpPr>
            <a:spLocks xmlns:a="http://schemas.openxmlformats.org/drawingml/2006/main" noGrp="1"/>
          </p:cNvSpPr>
          <p:nvPr/>
        </p:nvSpPr>
        <p:spPr>
          <a:xfrm xmlns:a="http://schemas.openxmlformats.org/drawingml/2006/main">
            <a:off x="742950" y="4267200"/>
            <a:ext cx="38100" cy="838200"/>
          </a:xfrm>
          <a:prstGeom xmlns:a="http://schemas.openxmlformats.org/drawingml/2006/main" prst="rect">
            <a:avLst/>
          </a:prstGeom>
          <a:solidFill xmlns:a="http://schemas.openxmlformats.org/drawingml/2006/main">
            <a:srgbClr val="FF3B30"/>
          </a:solidFill>
          <a:ln xmlns:a="http://schemas.openxmlformats.org/drawingml/2006/main" w="0">
            <a:noFill/>
            <a:prstDash val="solid"/>
          </a:ln>
        </p:spPr>
      </p:sp>
      <p:sp>
        <p:nvSpPr>
          <p:cNvPr id="19" name="Paper 3 venue">
            <a:extLst xmlns:a="http://schemas.openxmlformats.org/drawingml/2006/main">
              <a:ext uri="{FF2B5EF4-FFF2-40B4-BE49-F238E27FC236}">
                <a16:creationId xmlns:a16="http://schemas.microsoft.com/office/drawing/2014/main" id="{D27488B0-ADD2-4B23-A649-17FD46291597}"/>
              </a:ext>
            </a:extLst>
          </p:cNvPr>
          <p:cNvSpPr>
            <a:spLocks xmlns:a="http://schemas.openxmlformats.org/drawingml/2006/main" noGrp="1"/>
          </p:cNvSpPr>
          <p:nvPr/>
        </p:nvSpPr>
        <p:spPr>
          <a:xfrm xmlns:a="http://schemas.openxmlformats.org/drawingml/2006/main">
            <a:off x="1009650" y="41910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75" b="1">
                <a:solidFill>
                  <a:srgbClr val="BFC2FF"/>
                </a:solidFill>
                <a:latin typeface="Calibri"/>
                <a:ea typeface="Calibri"/>
                <a:cs typeface="Calibri"/>
              </a:defRPr>
            </a:pPr>
            <a:r>
              <a:rPr sz="975" b="1">
                <a:solidFill>
                  <a:srgbClr val="BFC2FF"/>
                </a:solidFill>
                <a:latin typeface="Calibri"/>
                <a:ea typeface="Calibri"/>
                <a:cs typeface="Calibri"/>
              </a:rPr>
              <a:t>03  ·  ACL 2024</a:t>
            </a:r>
          </a:p>
        </p:txBody>
      </p:sp>
      <p:sp>
        <p:nvSpPr>
          <p:cNvPr id="20" name="Paper 3 title">
            <a:extLst xmlns:a="http://schemas.openxmlformats.org/drawingml/2006/main">
              <a:ext uri="{FF2B5EF4-FFF2-40B4-BE49-F238E27FC236}">
                <a16:creationId xmlns:a16="http://schemas.microsoft.com/office/drawing/2014/main" id="{1C6349D3-F6FB-42EB-9A2F-4C435FB0E333}"/>
              </a:ext>
            </a:extLst>
          </p:cNvPr>
          <p:cNvSpPr>
            <a:spLocks xmlns:a="http://schemas.openxmlformats.org/drawingml/2006/main" noGrp="1"/>
          </p:cNvSpPr>
          <p:nvPr/>
        </p:nvSpPr>
        <p:spPr>
          <a:xfrm xmlns:a="http://schemas.openxmlformats.org/drawingml/2006/main">
            <a:off x="1009650" y="4410075"/>
            <a:ext cx="1038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FFFFFF"/>
                </a:solidFill>
                <a:latin typeface="Calibri"/>
                <a:ea typeface="Calibri"/>
                <a:cs typeface="Calibri"/>
              </a:defRPr>
            </a:pPr>
            <a:r>
              <a:rPr sz="1875" b="0">
                <a:solidFill>
                  <a:srgbClr val="FFFFFF"/>
                </a:solidFill>
                <a:latin typeface="Calibri"/>
                <a:ea typeface="Calibri"/>
                <a:cs typeface="Calibri"/>
                <a:hlinkClick xmlns:r="http://schemas.openxmlformats.org/officeDocument/2006/relationships" r:id="Re191bcfe0e8344dd"/>
              </a:rPr>
              <a:t>ChatDev: Communicative Agents for Software Development</a:t>
            </a:r>
          </a:p>
        </p:txBody>
      </p:sp>
      <p:sp>
        <p:nvSpPr>
          <p:cNvPr id="21" name="Paper 3 course mapping">
            <a:extLst xmlns:a="http://schemas.openxmlformats.org/drawingml/2006/main">
              <a:ext uri="{FF2B5EF4-FFF2-40B4-BE49-F238E27FC236}">
                <a16:creationId xmlns:a16="http://schemas.microsoft.com/office/drawing/2014/main" id="{14BAAB73-F18A-4E80-A81A-FC5E08719065}"/>
              </a:ext>
            </a:extLst>
          </p:cNvPr>
          <p:cNvSpPr>
            <a:spLocks xmlns:a="http://schemas.openxmlformats.org/drawingml/2006/main" noGrp="1"/>
          </p:cNvSpPr>
          <p:nvPr/>
        </p:nvSpPr>
        <p:spPr>
          <a:xfrm xmlns:a="http://schemas.openxmlformats.org/drawingml/2006/main">
            <a:off x="1009650" y="47720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FFFFFF"/>
                </a:solidFill>
                <a:latin typeface="Calibri"/>
                <a:ea typeface="Calibri"/>
                <a:cs typeface="Calibri"/>
              </a:defRPr>
            </a:pPr>
            <a:r>
              <a:rPr sz="1275" b="0">
                <a:solidFill>
                  <a:srgbClr val="FFFFFF"/>
                </a:solidFill>
                <a:latin typeface="Calibri"/>
                <a:ea typeface="Calibri"/>
                <a:cs typeface="Calibri"/>
              </a:rPr>
              <a:t>Specialized roles and communication across software phases inform the capstone design.</a:t>
            </a:r>
          </a:p>
        </p:txBody>
      </p:sp>
      <p:sp>
        <p:nvSpPr>
          <p:cNvPr id="22" name="Research-to-practice note">
            <a:extLst xmlns:a="http://schemas.openxmlformats.org/drawingml/2006/main">
              <a:ext uri="{FF2B5EF4-FFF2-40B4-BE49-F238E27FC236}">
                <a16:creationId xmlns:a16="http://schemas.microsoft.com/office/drawing/2014/main" id="{AEB65532-E41D-4675-B05F-BFB32057677B}"/>
              </a:ext>
            </a:extLst>
          </p:cNvPr>
          <p:cNvSpPr>
            <a:spLocks xmlns:a="http://schemas.openxmlformats.org/drawingml/2006/main" noGrp="1"/>
          </p:cNvSpPr>
          <p:nvPr/>
        </p:nvSpPr>
        <p:spPr>
          <a:xfrm xmlns:a="http://schemas.openxmlformats.org/drawingml/2006/main">
            <a:off x="857250" y="546735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Calibri"/>
                <a:ea typeface="Calibri"/>
                <a:cs typeface="Calibri"/>
              </a:defRPr>
            </a:pPr>
            <a:r>
              <a:rPr sz="1275" b="1">
                <a:solidFill>
                  <a:srgbClr val="FFFFFF"/>
                </a:solidFill>
                <a:latin typeface="Calibri"/>
                <a:ea typeface="Calibri"/>
                <a:cs typeface="Calibri"/>
              </a:rPr>
              <a:t>Schemas, tool permissions, a three-retry ceiling, and human escalation are course policies inspired by this work.</a:t>
            </a:r>
          </a:p>
        </p:txBody>
      </p:sp>
      <p:sp>
        <p:nvSpPr>
          <p:cNvPr id="23" name="Footer organization">
            <a:extLst xmlns:a="http://schemas.openxmlformats.org/drawingml/2006/main">
              <a:ext uri="{FF2B5EF4-FFF2-40B4-BE49-F238E27FC236}">
                <a16:creationId xmlns:a16="http://schemas.microsoft.com/office/drawing/2014/main" id="{C68E9F0F-C693-43D9-B192-73D31F5267B0}"/>
              </a:ext>
            </a:extLst>
          </p:cNvPr>
          <p:cNvSpPr>
            <a:spLocks xmlns:a="http://schemas.openxmlformats.org/drawingml/2006/main" noGrp="1"/>
          </p:cNvSpPr>
          <p:nvPr/>
        </p:nvSpPr>
        <p:spPr>
          <a:xfrm xmlns:a="http://schemas.openxmlformats.org/drawingml/2006/main">
            <a:off x="323850" y="6543675"/>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24" name="Slide citation">
            <a:extLst xmlns:a="http://schemas.openxmlformats.org/drawingml/2006/main">
              <a:ext uri="{FF2B5EF4-FFF2-40B4-BE49-F238E27FC236}">
                <a16:creationId xmlns:a16="http://schemas.microsoft.com/office/drawing/2014/main" id="{B91511AE-18A5-4C05-A474-51CB63DC70DA}"/>
              </a:ext>
            </a:extLst>
          </p:cNvPr>
          <p:cNvSpPr>
            <a:spLocks xmlns:a="http://schemas.openxmlformats.org/drawingml/2006/main" noGrp="1"/>
          </p:cNvSpPr>
          <p:nvPr/>
        </p:nvSpPr>
        <p:spPr>
          <a:xfrm xmlns:a="http://schemas.openxmlformats.org/drawingml/2006/main">
            <a:off x="8001000" y="6153150"/>
            <a:ext cx="3257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750" b="0">
                <a:solidFill>
                  <a:srgbClr val="BFC2FF"/>
                </a:solidFill>
                <a:latin typeface="Calibri"/>
                <a:ea typeface="Calibri"/>
                <a:cs typeface="Calibri"/>
              </a:defRPr>
            </a:pPr>
            <a:r>
              <a:rPr sz="750" b="0">
                <a:solidFill>
                  <a:srgbClr val="BFC2FF"/>
                </a:solidFill>
                <a:latin typeface="Calibri"/>
                <a:ea typeface="Calibri"/>
                <a:cs typeface="Calibri"/>
              </a:rPr>
              <a:t>Sources: Hong et al. · Shinn et al. · Qian et al.</a:t>
            </a:r>
          </a:p>
        </p:txBody>
      </p:sp>
      <p:sp>
        <p:nvSpPr>
          <p:cNvPr id="25" name="Slide number">
            <a:extLst xmlns:a="http://schemas.openxmlformats.org/drawingml/2006/main">
              <a:ext uri="{FF2B5EF4-FFF2-40B4-BE49-F238E27FC236}">
                <a16:creationId xmlns:a16="http://schemas.microsoft.com/office/drawing/2014/main" id="{BB1E67B2-2AA1-459B-9266-B8E4CD09F47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5000"/>
              </a:lnSpc>
              <a:buNone/>
              <a:defRPr sz="975" b="0">
                <a:solidFill>
                  <a:srgbClr val="FFFFFF"/>
                </a:solidFill>
                <a:latin typeface="Calibri"/>
                <a:ea typeface="Calibri"/>
                <a:cs typeface="Calibri"/>
              </a:defRPr>
            </a:pPr>
            <a:r>
              <a:rPr sz="975" b="0">
                <a:solidFill>
                  <a:srgbClr val="FFFFFF"/>
                </a:solidFill>
                <a:latin typeface="Calibri"/>
                <a:ea typeface="Calibri"/>
                <a:cs typeface="Calibri"/>
              </a:rPr>
              <a:t>05</a:t>
            </a:r>
          </a:p>
        </p:txBody>
      </p:sp>
    </p:spTree>
    <p:extLst>
      <p:ext uri="{BB962C8B-B14F-4D97-AF65-F5344CB8AC3E}">
        <p14:creationId xmlns:p14="http://schemas.microsoft.com/office/powerpoint/2010/main" val="113377950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1D5862-11E1-4300-BD85-5BB963959D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62F00B6-F28E-4D12-B96D-7FB0072A151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337A76-A0BB-4907-B714-A14107C28B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2AE64746-1C31-477E-A1E2-7A47429FF96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99DA2AE-93E5-4118-9301-C66E38A142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ADB8C3-A47A-4ABA-8374-C76DA72F3D3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C308CF3-B77A-4F24-8E02-9D7A39CAB86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AutoGen</a:t>
            </a:r>
          </a:p>
        </p:txBody>
      </p:sp>
      <p:sp>
        <p:nvSpPr>
          <p:cNvPr id="8" name="">
            <a:extLst xmlns:a="http://schemas.openxmlformats.org/drawingml/2006/main">
              <a:ext uri="{FF2B5EF4-FFF2-40B4-BE49-F238E27FC236}">
                <a16:creationId xmlns:a16="http://schemas.microsoft.com/office/drawing/2014/main" id="{DBB4D94D-6C6D-4C85-9C52-1F1A8EED96E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06</a:t>
            </a:r>
          </a:p>
        </p:txBody>
      </p:sp>
      <p:sp>
        <p:nvSpPr>
          <p:cNvPr id="9" name="">
            <a:extLst xmlns:a="http://schemas.openxmlformats.org/drawingml/2006/main">
              <a:ext uri="{FF2B5EF4-FFF2-40B4-BE49-F238E27FC236}">
                <a16:creationId xmlns:a16="http://schemas.microsoft.com/office/drawing/2014/main" id="{931EBF3C-3660-4611-943D-A461E3EE3308}"/>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01</a:t>
            </a:r>
          </a:p>
        </p:txBody>
      </p:sp>
      <p:sp>
        <p:nvSpPr>
          <p:cNvPr id="10" name="">
            <a:extLst xmlns:a="http://schemas.openxmlformats.org/drawingml/2006/main">
              <a:ext uri="{FF2B5EF4-FFF2-40B4-BE49-F238E27FC236}">
                <a16:creationId xmlns:a16="http://schemas.microsoft.com/office/drawing/2014/main" id="{D56177DF-487C-4B41-9136-D35EB0C1C9A3}"/>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Module 1 → Foundations &amp; Vibe Coding</a:t>
            </a:r>
          </a:p>
        </p:txBody>
      </p:sp>
      <p:sp>
        <p:nvSpPr>
          <p:cNvPr id="11" name="">
            <a:extLst xmlns:a="http://schemas.openxmlformats.org/drawingml/2006/main">
              <a:ext uri="{FF2B5EF4-FFF2-40B4-BE49-F238E27FC236}">
                <a16:creationId xmlns:a16="http://schemas.microsoft.com/office/drawing/2014/main" id="{DF3FD22D-0A41-4127-8430-5D30D3C2D1BE}"/>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From isolated prompting to managed AI teams</a:t>
            </a:r>
          </a:p>
        </p:txBody>
      </p:sp>
      <p:sp>
        <p:nvSpPr>
          <p:cNvPr id="12" name="">
            <a:extLst xmlns:a="http://schemas.openxmlformats.org/drawingml/2006/main">
              <a:ext uri="{FF2B5EF4-FFF2-40B4-BE49-F238E27FC236}">
                <a16:creationId xmlns:a16="http://schemas.microsoft.com/office/drawing/2014/main" id="{0145E94D-4087-43CB-996A-79D529C0D98C}"/>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9A41ADAC-E5F7-4484-BCCD-14293EC05DCE}"/>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Goal: move from isolated prompts to governed handoffs.</a:t>
            </a:r>
          </a:p>
        </p:txBody>
      </p:sp>
    </p:spTree>
    <p:extLst>
      <p:ext uri="{BB962C8B-B14F-4D97-AF65-F5344CB8AC3E}">
        <p14:creationId xmlns:p14="http://schemas.microsoft.com/office/powerpoint/2010/main" val="1777012726"/>
      </p:ext>
    </p:extLst>
  </p:cSld>
</p:sld>
</file>

<file path=ppt/slides/slide7.xml><?xml version="1.0" encoding="utf-8"?>
<p:sld xmlns:p="http://schemas.openxmlformats.org/presentationml/2006/main">
  <p:cSld>
    <p:bg>
      <p:bgPr>
        <a:solidFill xmlns:a="http://schemas.openxmlformats.org/drawingml/2006/main">
          <a:srgbClr val="2D2FC4"/>
        </a:solidFill>
      </p:bgPr>
    </p:bg>
    <p:spTree>
      <p:nvGrpSpPr>
        <p:cNvPr id="1" name=""/>
        <p:cNvGrpSpPr/>
        <p:nvPr/>
      </p:nvGrpSpPr>
      <p:grpSpPr>
        <a:xfrm xmlns:a="http://schemas.openxmlformats.org/drawingml/2006/main"/>
      </p:grpSpPr>
      <p:sp>
        <p:nvSpPr>
          <p:cNvPr id="20" name="masthead">
            <a:extLst xmlns:a="http://schemas.openxmlformats.org/drawingml/2006/main">
              <a:ext uri="{FF2B5EF4-FFF2-40B4-BE49-F238E27FC236}">
                <a16:creationId xmlns:a16="http://schemas.microsoft.com/office/drawing/2014/main" id="{75BF1F32-E4A9-490D-918F-BB77C7067AA7}"/>
              </a:ext>
            </a:extLst>
          </p:cNvPr>
          <p:cNvSpPr>
            <a:spLocks xmlns:a="http://schemas.openxmlformats.org/drawingml/2006/main" noGrp="1"/>
          </p:cNvSpPr>
          <p:nvPr/>
        </p:nvSpPr>
        <p:spPr>
          <a:xfrm xmlns:a="http://schemas.openxmlformats.org/drawingml/2006/main">
            <a:off x="0" y="0"/>
            <a:ext cx="12192000" cy="381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footer-band">
            <a:extLst xmlns:a="http://schemas.openxmlformats.org/drawingml/2006/main">
              <a:ext uri="{FF2B5EF4-FFF2-40B4-BE49-F238E27FC236}">
                <a16:creationId xmlns:a16="http://schemas.microsoft.com/office/drawing/2014/main" id="{FB951429-E7FD-479F-8E7E-042DA1F751E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noFill/>
            <a:prstDash val="solid"/>
          </a:ln>
        </p:spPr>
      </p:sp>
      <p:sp>
        <p:nvSpPr>
          <p:cNvPr id="3" name="masthead-left">
            <a:extLst xmlns:a="http://schemas.openxmlformats.org/drawingml/2006/main">
              <a:ext uri="{FF2B5EF4-FFF2-40B4-BE49-F238E27FC236}">
                <a16:creationId xmlns:a16="http://schemas.microsoft.com/office/drawing/2014/main" id="{F31A5708-2B1D-442E-83D6-A5B4C1CD0590}"/>
              </a:ext>
            </a:extLst>
          </p:cNvPr>
          <p:cNvSpPr>
            <a:spLocks xmlns:a="http://schemas.openxmlformats.org/drawingml/2006/main" noGrp="1"/>
          </p:cNvSpPr>
          <p:nvPr/>
        </p:nvSpPr>
        <p:spPr>
          <a:xfrm xmlns:a="http://schemas.openxmlformats.org/drawingml/2006/main">
            <a:off x="304800" y="381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0">
                <a:solidFill>
                  <a:srgbClr val="4A4A4A"/>
                </a:solidFill>
                <a:latin typeface="Calibri"/>
                <a:ea typeface="Calibri"/>
                <a:cs typeface="Calibri"/>
              </a:defRPr>
            </a:pPr>
            <a:r>
              <a:rPr sz="1050" b="0">
                <a:solidFill>
                  <a:srgbClr val="4A4A4A"/>
                </a:solidFill>
                <a:latin typeface="Calibri"/>
                <a:ea typeface="Calibri"/>
                <a:cs typeface="Calibri"/>
              </a:rPr>
              <a:t>frontier tech leaders</a:t>
            </a:r>
          </a:p>
        </p:txBody>
      </p:sp>
      <p:sp>
        <p:nvSpPr>
          <p:cNvPr id="4" name="masthead-right">
            <a:extLst xmlns:a="http://schemas.openxmlformats.org/drawingml/2006/main">
              <a:ext uri="{FF2B5EF4-FFF2-40B4-BE49-F238E27FC236}">
                <a16:creationId xmlns:a16="http://schemas.microsoft.com/office/drawing/2014/main" id="{8536A8A5-B9CA-4AF5-92B6-977A9D19475C}"/>
              </a:ext>
            </a:extLst>
          </p:cNvPr>
          <p:cNvSpPr>
            <a:spLocks xmlns:a="http://schemas.openxmlformats.org/drawingml/2006/main" noGrp="1"/>
          </p:cNvSpPr>
          <p:nvPr/>
        </p:nvSpPr>
        <p:spPr>
          <a:xfrm xmlns:a="http://schemas.openxmlformats.org/drawingml/2006/main">
            <a:off x="7905750" y="38100"/>
            <a:ext cx="398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00" b="0">
                <a:solidFill>
                  <a:srgbClr val="4A4A4A"/>
                </a:solidFill>
                <a:latin typeface="Calibri"/>
                <a:ea typeface="Calibri"/>
                <a:cs typeface="Calibri"/>
              </a:defRPr>
            </a:pPr>
            <a:r>
              <a:rPr sz="900" b="0">
                <a:solidFill>
                  <a:srgbClr val="4A4A4A"/>
                </a:solidFill>
                <a:latin typeface="Calibri"/>
                <a:ea typeface="Calibri"/>
                <a:cs typeface="Calibri"/>
              </a:rPr>
              <a:t>SDG AI Lab  ·  UN Technology  ·  ICPSD  ·  UNDP</a:t>
            </a:r>
          </a:p>
        </p:txBody>
      </p:sp>
      <p:sp>
        <p:nvSpPr>
          <p:cNvPr id="5" name="module-label">
            <a:extLst xmlns:a="http://schemas.openxmlformats.org/drawingml/2006/main">
              <a:ext uri="{FF2B5EF4-FFF2-40B4-BE49-F238E27FC236}">
                <a16:creationId xmlns:a16="http://schemas.microsoft.com/office/drawing/2014/main" id="{A0682A81-B5CE-45E9-ACF7-6E5F636C8D63}"/>
              </a:ext>
            </a:extLst>
          </p:cNvPr>
          <p:cNvSpPr>
            <a:spLocks xmlns:a="http://schemas.openxmlformats.org/drawingml/2006/main" noGrp="1"/>
          </p:cNvSpPr>
          <p:nvPr/>
        </p:nvSpPr>
        <p:spPr>
          <a:xfrm xmlns:a="http://schemas.openxmlformats.org/drawingml/2006/main">
            <a:off x="581025" y="542925"/>
            <a:ext cx="781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0">
                <a:solidFill>
                  <a:srgbClr val="BFC2FF"/>
                </a:solidFill>
                <a:latin typeface="Calibri"/>
                <a:ea typeface="Calibri"/>
                <a:cs typeface="Calibri"/>
              </a:defRPr>
            </a:pPr>
            <a:r>
              <a:rPr sz="1050" b="0">
                <a:solidFill>
                  <a:srgbClr val="BFC2FF"/>
                </a:solidFill>
                <a:latin typeface="Calibri"/>
                <a:ea typeface="Calibri"/>
                <a:cs typeface="Calibri"/>
              </a:rPr>
              <a:t>Module 1 · Foundations &amp; Vibe Coding</a:t>
            </a:r>
          </a:p>
        </p:txBody>
      </p:sp>
      <p:sp>
        <p:nvSpPr>
          <p:cNvPr id="6" name="slide-title">
            <a:extLst xmlns:a="http://schemas.openxmlformats.org/drawingml/2006/main">
              <a:ext uri="{FF2B5EF4-FFF2-40B4-BE49-F238E27FC236}">
                <a16:creationId xmlns:a16="http://schemas.microsoft.com/office/drawing/2014/main" id="{03F68B85-A5B2-4A2C-9D24-AC3926593D5B}"/>
              </a:ext>
            </a:extLst>
          </p:cNvPr>
          <p:cNvSpPr>
            <a:spLocks xmlns:a="http://schemas.openxmlformats.org/drawingml/2006/main" noGrp="1"/>
          </p:cNvSpPr>
          <p:nvPr/>
        </p:nvSpPr>
        <p:spPr>
          <a:xfrm xmlns:a="http://schemas.openxmlformats.org/drawingml/2006/main">
            <a:off x="581025" y="8191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3225" b="0">
                <a:solidFill>
                  <a:srgbClr val="FFFFFF"/>
                </a:solidFill>
                <a:latin typeface="Calibri"/>
                <a:ea typeface="Calibri"/>
                <a:cs typeface="Calibri"/>
              </a:defRPr>
            </a:pPr>
            <a:r>
              <a:rPr sz="3225" b="0">
                <a:solidFill>
                  <a:srgbClr val="FFFFFF"/>
                </a:solidFill>
                <a:latin typeface="Calibri"/>
                <a:ea typeface="Calibri"/>
                <a:cs typeface="Calibri"/>
              </a:rPr>
              <a:t>CrewAI + Pydantic: Kitchen and Contract</a:t>
            </a:r>
          </a:p>
        </p:txBody>
      </p:sp>
      <p:sp>
        <p:nvSpPr>
          <p:cNvPr id="7" name="crewai-heading">
            <a:extLst xmlns:a="http://schemas.openxmlformats.org/drawingml/2006/main">
              <a:ext uri="{FF2B5EF4-FFF2-40B4-BE49-F238E27FC236}">
                <a16:creationId xmlns:a16="http://schemas.microsoft.com/office/drawing/2014/main" id="{A1018A3D-7BB9-4D47-8932-256B5A6118B1}"/>
              </a:ext>
            </a:extLst>
          </p:cNvPr>
          <p:cNvSpPr>
            <a:spLocks xmlns:a="http://schemas.openxmlformats.org/drawingml/2006/main" noGrp="1"/>
          </p:cNvSpPr>
          <p:nvPr/>
        </p:nvSpPr>
        <p:spPr>
          <a:xfrm xmlns:a="http://schemas.openxmlformats.org/drawingml/2006/main">
            <a:off x="647700" y="16287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FFFFFF"/>
                </a:solidFill>
                <a:latin typeface="Calibri"/>
                <a:ea typeface="Calibri"/>
                <a:cs typeface="Calibri"/>
              </a:defRPr>
            </a:pPr>
            <a:r>
              <a:rPr sz="1875" b="1">
                <a:solidFill>
                  <a:srgbClr val="FFFFFF"/>
                </a:solidFill>
                <a:latin typeface="Calibri"/>
                <a:ea typeface="Calibri"/>
                <a:cs typeface="Calibri"/>
              </a:rPr>
              <a:t>CrewAI · Kitchen staff</a:t>
            </a:r>
          </a:p>
        </p:txBody>
      </p:sp>
      <p:sp>
        <p:nvSpPr>
          <p:cNvPr id="8" name="crewai-description">
            <a:extLst xmlns:a="http://schemas.openxmlformats.org/drawingml/2006/main">
              <a:ext uri="{FF2B5EF4-FFF2-40B4-BE49-F238E27FC236}">
                <a16:creationId xmlns:a16="http://schemas.microsoft.com/office/drawing/2014/main" id="{75F50010-CDFA-4590-9CA5-9381E139B80C}"/>
              </a:ext>
            </a:extLst>
          </p:cNvPr>
          <p:cNvSpPr>
            <a:spLocks xmlns:a="http://schemas.openxmlformats.org/drawingml/2006/main" noGrp="1"/>
          </p:cNvSpPr>
          <p:nvPr/>
        </p:nvSpPr>
        <p:spPr>
          <a:xfrm xmlns:a="http://schemas.openxmlformats.org/drawingml/2006/main">
            <a:off x="647700" y="2009775"/>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575" b="0">
                <a:solidFill>
                  <a:srgbClr val="F2F1FF"/>
                </a:solidFill>
                <a:latin typeface="Calibri"/>
                <a:ea typeface="Calibri"/>
                <a:cs typeface="Calibri"/>
              </a:defRPr>
            </a:pPr>
            <a:r>
              <a:rPr sz="1575" b="0">
                <a:solidFill>
                  <a:srgbClr val="F2F1FF"/>
                </a:solidFill>
                <a:latin typeface="Calibri"/>
                <a:ea typeface="Calibri"/>
                <a:cs typeface="Calibri"/>
              </a:rPr>
              <a:t>Assigns roles and tasks. QA receives the Coder’s earlier work through task context.</a:t>
            </a:r>
          </a:p>
        </p:txBody>
      </p:sp>
      <p:sp>
        <p:nvSpPr>
          <p:cNvPr id="9" name="column-divider">
            <a:extLst xmlns:a="http://schemas.openxmlformats.org/drawingml/2006/main">
              <a:ext uri="{FF2B5EF4-FFF2-40B4-BE49-F238E27FC236}">
                <a16:creationId xmlns:a16="http://schemas.microsoft.com/office/drawing/2014/main" id="{E65EDC22-F930-4B4D-848D-BF86463A6776}"/>
              </a:ext>
            </a:extLst>
          </p:cNvPr>
          <p:cNvSpPr>
            <a:spLocks xmlns:a="http://schemas.openxmlformats.org/drawingml/2006/main" noGrp="1"/>
          </p:cNvSpPr>
          <p:nvPr/>
        </p:nvSpPr>
        <p:spPr>
          <a:xfrm xmlns:a="http://schemas.openxmlformats.org/drawingml/2006/main">
            <a:off x="6010275" y="1628775"/>
            <a:ext cx="19050" cy="1104900"/>
          </a:xfrm>
          <a:prstGeom xmlns:a="http://schemas.openxmlformats.org/drawingml/2006/main" prst="rect">
            <a:avLst/>
          </a:prstGeom>
          <a:solidFill xmlns:a="http://schemas.openxmlformats.org/drawingml/2006/main">
            <a:srgbClr val="8F91F2"/>
          </a:solidFill>
          <a:ln xmlns:a="http://schemas.openxmlformats.org/drawingml/2006/main" w="0">
            <a:noFill/>
            <a:prstDash val="solid"/>
          </a:ln>
        </p:spPr>
      </p:sp>
      <p:sp>
        <p:nvSpPr>
          <p:cNvPr id="10" name="pydantic-heading">
            <a:extLst xmlns:a="http://schemas.openxmlformats.org/drawingml/2006/main">
              <a:ext uri="{FF2B5EF4-FFF2-40B4-BE49-F238E27FC236}">
                <a16:creationId xmlns:a16="http://schemas.microsoft.com/office/drawing/2014/main" id="{77E10422-1922-4DE7-9801-EE015F9525E5}"/>
              </a:ext>
            </a:extLst>
          </p:cNvPr>
          <p:cNvSpPr>
            <a:spLocks xmlns:a="http://schemas.openxmlformats.org/drawingml/2006/main" noGrp="1"/>
          </p:cNvSpPr>
          <p:nvPr/>
        </p:nvSpPr>
        <p:spPr>
          <a:xfrm xmlns:a="http://schemas.openxmlformats.org/drawingml/2006/main">
            <a:off x="6438900" y="1628775"/>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FFFFFF"/>
                </a:solidFill>
                <a:latin typeface="Calibri"/>
                <a:ea typeface="Calibri"/>
                <a:cs typeface="Calibri"/>
              </a:defRPr>
            </a:pPr>
            <a:r>
              <a:rPr sz="1875" b="1">
                <a:solidFill>
                  <a:srgbClr val="FFFFFF"/>
                </a:solidFill>
                <a:latin typeface="Calibri"/>
                <a:ea typeface="Calibri"/>
                <a:cs typeface="Calibri"/>
              </a:rPr>
              <a:t>Pydantic · Recipe card</a:t>
            </a:r>
          </a:p>
        </p:txBody>
      </p:sp>
      <p:sp>
        <p:nvSpPr>
          <p:cNvPr id="11" name="pydantic-description">
            <a:extLst xmlns:a="http://schemas.openxmlformats.org/drawingml/2006/main">
              <a:ext uri="{FF2B5EF4-FFF2-40B4-BE49-F238E27FC236}">
                <a16:creationId xmlns:a16="http://schemas.microsoft.com/office/drawing/2014/main" id="{DE225923-F060-4B46-A2DD-2FCB7ADBEBC8}"/>
              </a:ext>
            </a:extLst>
          </p:cNvPr>
          <p:cNvSpPr>
            <a:spLocks xmlns:a="http://schemas.openxmlformats.org/drawingml/2006/main" noGrp="1"/>
          </p:cNvSpPr>
          <p:nvPr/>
        </p:nvSpPr>
        <p:spPr>
          <a:xfrm xmlns:a="http://schemas.openxmlformats.org/drawingml/2006/main">
            <a:off x="6438900" y="2009775"/>
            <a:ext cx="504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575" b="0">
                <a:solidFill>
                  <a:srgbClr val="F2F1FF"/>
                </a:solidFill>
                <a:latin typeface="Calibri"/>
                <a:ea typeface="Calibri"/>
                <a:cs typeface="Calibri"/>
              </a:defRPr>
            </a:pPr>
            <a:r>
              <a:rPr sz="1575" b="0">
                <a:solidFill>
                  <a:srgbClr val="F2F1FF"/>
                </a:solidFill>
                <a:latin typeface="Calibri"/>
                <a:ea typeface="Calibri"/>
                <a:cs typeface="Calibri"/>
              </a:rPr>
              <a:t>Defines the review fields, types, and value limits QA must return.</a:t>
            </a:r>
          </a:p>
        </p:txBody>
      </p:sp>
      <p:sp>
        <p:nvSpPr>
          <p:cNvPr id="12" name="handoff-rule">
            <a:extLst xmlns:a="http://schemas.openxmlformats.org/drawingml/2006/main">
              <a:ext uri="{FF2B5EF4-FFF2-40B4-BE49-F238E27FC236}">
                <a16:creationId xmlns:a16="http://schemas.microsoft.com/office/drawing/2014/main" id="{5C47CCFB-2CF7-42BC-8364-69D7665C4573}"/>
              </a:ext>
            </a:extLst>
          </p:cNvPr>
          <p:cNvSpPr>
            <a:spLocks xmlns:a="http://schemas.openxmlformats.org/drawingml/2006/main" noGrp="1"/>
          </p:cNvSpPr>
          <p:nvPr/>
        </p:nvSpPr>
        <p:spPr>
          <a:xfrm xmlns:a="http://schemas.openxmlformats.org/drawingml/2006/main">
            <a:off x="647700" y="2924175"/>
            <a:ext cx="10858500" cy="19050"/>
          </a:xfrm>
          <a:prstGeom xmlns:a="http://schemas.openxmlformats.org/drawingml/2006/main" prst="rect">
            <a:avLst/>
          </a:prstGeom>
          <a:solidFill xmlns:a="http://schemas.openxmlformats.org/drawingml/2006/main">
            <a:srgbClr val="8F91F2"/>
          </a:solidFill>
          <a:ln xmlns:a="http://schemas.openxmlformats.org/drawingml/2006/main" w="0">
            <a:noFill/>
            <a:prstDash val="solid"/>
          </a:ln>
        </p:spPr>
      </p:sp>
      <p:sp>
        <p:nvSpPr>
          <p:cNvPr id="13" name="handoff-label">
            <a:extLst xmlns:a="http://schemas.openxmlformats.org/drawingml/2006/main">
              <a:ext uri="{FF2B5EF4-FFF2-40B4-BE49-F238E27FC236}">
                <a16:creationId xmlns:a16="http://schemas.microsoft.com/office/drawing/2014/main" id="{133A957E-2D16-49CA-A0DE-F989BBE64AFC}"/>
              </a:ext>
            </a:extLst>
          </p:cNvPr>
          <p:cNvSpPr>
            <a:spLocks xmlns:a="http://schemas.openxmlformats.org/drawingml/2006/main" noGrp="1"/>
          </p:cNvSpPr>
          <p:nvPr/>
        </p:nvSpPr>
        <p:spPr>
          <a:xfrm xmlns:a="http://schemas.openxmlformats.org/drawingml/2006/main">
            <a:off x="647700" y="3057525"/>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050" b="1">
                <a:solidFill>
                  <a:srgbClr val="FF7A73"/>
                </a:solidFill>
                <a:latin typeface="Calibri"/>
                <a:ea typeface="Calibri"/>
                <a:cs typeface="Calibri"/>
              </a:defRPr>
            </a:pPr>
            <a:r>
              <a:rPr sz="1050" b="1">
                <a:solidFill>
                  <a:srgbClr val="FF7A73"/>
                </a:solidFill>
                <a:latin typeface="Calibri"/>
                <a:ea typeface="Calibri"/>
                <a:cs typeface="Calibri"/>
              </a:rPr>
              <a:t>THE HANDOFF IN A JUPYTER CELL</a:t>
            </a:r>
          </a:p>
        </p:txBody>
      </p:sp>
      <p:sp>
        <p:nvSpPr>
          <p:cNvPr id="14" name="handoff-code">
            <a:extLst xmlns:a="http://schemas.openxmlformats.org/drawingml/2006/main">
              <a:ext uri="{FF2B5EF4-FFF2-40B4-BE49-F238E27FC236}">
                <a16:creationId xmlns:a16="http://schemas.microsoft.com/office/drawing/2014/main" id="{79723821-E844-4750-852C-FEB4506C5870}"/>
              </a:ext>
            </a:extLst>
          </p:cNvPr>
          <p:cNvSpPr>
            <a:spLocks xmlns:a="http://schemas.openxmlformats.org/drawingml/2006/main" noGrp="1"/>
          </p:cNvSpPr>
          <p:nvPr/>
        </p:nvSpPr>
        <p:spPr>
          <a:xfrm xmlns:a="http://schemas.openxmlformats.org/drawingml/2006/main">
            <a:off x="647700" y="3333750"/>
            <a:ext cx="108585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human_directive = "Review this synthetic local parser."</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review_task = Task(</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    description="Review the Coder’s draft.", expected_output="Structured review.",</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    agent=qa_agent, context=[coding_task],</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    output_pydantic=CodeReviewResult,</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crew.kickoff(inputs={"request": human_directive})</a:t>
            </a:r>
          </a:p>
          <a:p xmlns:a="http://schemas.openxmlformats.org/drawingml/2006/main">
            <a:pPr algn="l">
              <a:lnSpc>
                <a:spcPct val="100000"/>
              </a:lnSpc>
              <a:buNone/>
              <a:defRPr sz="1350" b="0">
                <a:solidFill>
                  <a:srgbClr val="FFFFFF"/>
                </a:solidFill>
                <a:latin typeface="Calibri"/>
                <a:ea typeface="Calibri"/>
                <a:cs typeface="Calibri"/>
              </a:defRPr>
            </a:pPr>
            <a:r>
              <a:rPr sz="1350" b="0">
                <a:solidFill>
                  <a:srgbClr val="FFFFFF"/>
                </a:solidFill>
                <a:latin typeface="Calibri"/>
                <a:ea typeface="Calibri"/>
                <a:cs typeface="Calibri"/>
              </a:rPr>
              <a:t>review = review_task.output.pydantic</a:t>
            </a:r>
          </a:p>
        </p:txBody>
      </p:sp>
      <p:sp>
        <p:nvSpPr>
          <p:cNvPr id="15" name="teamlog-note">
            <a:extLst xmlns:a="http://schemas.openxmlformats.org/drawingml/2006/main">
              <a:ext uri="{FF2B5EF4-FFF2-40B4-BE49-F238E27FC236}">
                <a16:creationId xmlns:a16="http://schemas.microsoft.com/office/drawing/2014/main" id="{B50E214A-ED51-4BCC-92FE-E707EBFC6D33}"/>
              </a:ext>
            </a:extLst>
          </p:cNvPr>
          <p:cNvSpPr>
            <a:spLocks xmlns:a="http://schemas.openxmlformats.org/drawingml/2006/main" noGrp="1"/>
          </p:cNvSpPr>
          <p:nvPr/>
        </p:nvSpPr>
        <p:spPr>
          <a:xfrm xmlns:a="http://schemas.openxmlformats.org/drawingml/2006/main">
            <a:off x="647700" y="5324475"/>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a:solidFill>
                  <a:srgbClr val="D9D9FF"/>
                </a:solidFill>
                <a:latin typeface="Calibri"/>
                <a:ea typeface="Calibri"/>
                <a:cs typeface="Calibri"/>
              </a:defRPr>
            </a:pPr>
            <a:r>
              <a:rPr sz="1275" b="0">
                <a:solidFill>
                  <a:srgbClr val="D9D9FF"/>
                </a:solidFill>
                <a:latin typeface="Calibri"/>
                <a:ea typeface="Calibri"/>
                <a:cs typeface="Calibri"/>
              </a:rPr>
              <a:t>TeamLog notes are separate app state. Pass them as an input; `context` takes Task objects.</a:t>
            </a:r>
          </a:p>
        </p:txBody>
      </p:sp>
      <p:sp>
        <p:nvSpPr>
          <p:cNvPr id="16" name="governance-caveat">
            <a:extLst xmlns:a="http://schemas.openxmlformats.org/drawingml/2006/main">
              <a:ext uri="{FF2B5EF4-FFF2-40B4-BE49-F238E27FC236}">
                <a16:creationId xmlns:a16="http://schemas.microsoft.com/office/drawing/2014/main" id="{6D8A3375-3296-452B-BEF5-6B302873E0A0}"/>
              </a:ext>
            </a:extLst>
          </p:cNvPr>
          <p:cNvSpPr>
            <a:spLocks xmlns:a="http://schemas.openxmlformats.org/drawingml/2006/main" noGrp="1"/>
          </p:cNvSpPr>
          <p:nvPr/>
        </p:nvSpPr>
        <p:spPr>
          <a:xfrm xmlns:a="http://schemas.openxmlformats.org/drawingml/2006/main">
            <a:off x="647700" y="5657850"/>
            <a:ext cx="1085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a:solidFill>
                  <a:srgbClr val="FFFFFF"/>
                </a:solidFill>
                <a:latin typeface="Calibri"/>
                <a:ea typeface="Calibri"/>
                <a:cs typeface="Calibri"/>
              </a:defRPr>
            </a:pPr>
            <a:r>
              <a:rPr sz="1350" b="1">
                <a:solidFill>
                  <a:srgbClr val="FFFFFF"/>
                </a:solidFill>
                <a:latin typeface="Calibri"/>
                <a:ea typeface="Calibri"/>
                <a:cs typeface="Calibri"/>
              </a:rPr>
              <a:t>Pydantic checks structure and declared limits. Tests and reviewers assess correctness.</a:t>
            </a:r>
          </a:p>
        </p:txBody>
      </p:sp>
      <p:sp>
        <p:nvSpPr>
          <p:cNvPr id="17" name="source-citation">
            <a:extLst xmlns:a="http://schemas.openxmlformats.org/drawingml/2006/main">
              <a:ext uri="{FF2B5EF4-FFF2-40B4-BE49-F238E27FC236}">
                <a16:creationId xmlns:a16="http://schemas.microsoft.com/office/drawing/2014/main" id="{6C33DF71-7195-4793-817C-E39164BFFBF6}"/>
              </a:ext>
            </a:extLst>
          </p:cNvPr>
          <p:cNvSpPr>
            <a:spLocks xmlns:a="http://schemas.openxmlformats.org/drawingml/2006/main" noGrp="1"/>
          </p:cNvSpPr>
          <p:nvPr/>
        </p:nvSpPr>
        <p:spPr>
          <a:xfrm xmlns:a="http://schemas.openxmlformats.org/drawingml/2006/main">
            <a:off x="8143875" y="6153150"/>
            <a:ext cx="3105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750" b="0">
                <a:solidFill>
                  <a:srgbClr val="BFC2FF"/>
                </a:solidFill>
                <a:latin typeface="Calibri"/>
                <a:ea typeface="Calibri"/>
                <a:cs typeface="Calibri"/>
              </a:defRPr>
            </a:pPr>
            <a:r>
              <a:rPr sz="750" b="0">
                <a:solidFill>
                  <a:srgbClr val="BFC2FF"/>
                </a:solidFill>
                <a:latin typeface="Calibri"/>
                <a:ea typeface="Calibri"/>
                <a:cs typeface="Calibri"/>
              </a:rPr>
              <a:t>Cite: CrewAI Tasks · Pydantic Models</a:t>
            </a:r>
          </a:p>
        </p:txBody>
      </p:sp>
      <p:sp>
        <p:nvSpPr>
          <p:cNvPr id="18" name="page-number">
            <a:extLst xmlns:a="http://schemas.openxmlformats.org/drawingml/2006/main">
              <a:ext uri="{FF2B5EF4-FFF2-40B4-BE49-F238E27FC236}">
                <a16:creationId xmlns:a16="http://schemas.microsoft.com/office/drawing/2014/main" id="{03D82C73-1EBE-4B30-A2BE-95319B61236D}"/>
              </a:ext>
            </a:extLst>
          </p:cNvPr>
          <p:cNvSpPr>
            <a:spLocks xmlns:a="http://schemas.openxmlformats.org/drawingml/2006/main" noGrp="1"/>
          </p:cNvSpPr>
          <p:nvPr/>
        </p:nvSpPr>
        <p:spPr>
          <a:xfrm xmlns:a="http://schemas.openxmlformats.org/drawingml/2006/main">
            <a:off x="11601450" y="6153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0000"/>
              </a:lnSpc>
              <a:buNone/>
              <a:defRPr sz="975" b="0">
                <a:solidFill>
                  <a:srgbClr val="FFFFFF"/>
                </a:solidFill>
                <a:latin typeface="Calibri"/>
                <a:ea typeface="Calibri"/>
                <a:cs typeface="Calibri"/>
              </a:defRPr>
            </a:pPr>
            <a:r>
              <a:rPr sz="975" b="0">
                <a:solidFill>
                  <a:srgbClr val="FFFFFF"/>
                </a:solidFill>
                <a:latin typeface="Calibri"/>
                <a:ea typeface="Calibri"/>
                <a:cs typeface="Calibri"/>
              </a:rPr>
              <a:t>07</a:t>
            </a:r>
          </a:p>
        </p:txBody>
      </p:sp>
      <p:sp>
        <p:nvSpPr>
          <p:cNvPr id="19" name="footer-left">
            <a:extLst xmlns:a="http://schemas.openxmlformats.org/drawingml/2006/main">
              <a:ext uri="{FF2B5EF4-FFF2-40B4-BE49-F238E27FC236}">
                <a16:creationId xmlns:a16="http://schemas.microsoft.com/office/drawing/2014/main" id="{266E67D8-6A18-4627-8CC1-7650FF7E8BE7}"/>
              </a:ext>
            </a:extLst>
          </p:cNvPr>
          <p:cNvSpPr>
            <a:spLocks xmlns:a="http://schemas.openxmlformats.org/drawingml/2006/main" noGrp="1"/>
          </p:cNvSpPr>
          <p:nvPr/>
        </p:nvSpPr>
        <p:spPr>
          <a:xfrm xmlns:a="http://schemas.openxmlformats.org/drawingml/2006/main">
            <a:off x="314325" y="65246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900" b="0">
                <a:solidFill>
                  <a:srgbClr val="D7D8FF"/>
                </a:solidFill>
                <a:latin typeface="Calibri"/>
                <a:ea typeface="Calibri"/>
                <a:cs typeface="Calibri"/>
              </a:defRPr>
            </a:pPr>
            <a:r>
              <a:rPr sz="900" b="0">
                <a:solidFill>
                  <a:srgbClr val="D7D8FF"/>
                </a:solidFill>
                <a:latin typeface="Calibri"/>
                <a:ea typeface="Calibri"/>
                <a:cs typeface="Calibri"/>
              </a:rPr>
              <a:t>SDG AI Lab  ·  UN Technology  ·  ICPSD  ·  UNDP</a:t>
            </a:r>
          </a:p>
        </p:txBody>
      </p:sp>
    </p:spTree>
    <p:extLst>
      <p:ext uri="{BB962C8B-B14F-4D97-AF65-F5344CB8AC3E}">
        <p14:creationId xmlns:p14="http://schemas.microsoft.com/office/powerpoint/2010/main" val="5472368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42568F6-1199-4375-B01E-EE410F795E1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6D54C1BC-4A5B-469A-AEB1-45870292CE3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89A6017-8EF5-4AF5-87CF-180C2C6A0C5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D2F626B-E23D-403C-A160-C84CCE5543C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C7C2B2-A9AD-44CE-AE06-5BF5EE15D0C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1808503-4830-48CF-9570-54498C6D245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AAA5C7F-6DF4-4F30-9207-4910F146D3D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Vibe Coding</a:t>
            </a:r>
          </a:p>
        </p:txBody>
      </p:sp>
      <p:sp>
        <p:nvSpPr>
          <p:cNvPr id="8" name="">
            <a:extLst xmlns:a="http://schemas.openxmlformats.org/drawingml/2006/main">
              <a:ext uri="{FF2B5EF4-FFF2-40B4-BE49-F238E27FC236}">
                <a16:creationId xmlns:a16="http://schemas.microsoft.com/office/drawing/2014/main" id="{E3296F5F-6C05-4336-91AD-DAE5422C48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08</a:t>
            </a:r>
          </a:p>
        </p:txBody>
      </p:sp>
      <p:sp>
        <p:nvSpPr>
          <p:cNvPr id="9" name="">
            <a:extLst xmlns:a="http://schemas.openxmlformats.org/drawingml/2006/main">
              <a:ext uri="{FF2B5EF4-FFF2-40B4-BE49-F238E27FC236}">
                <a16:creationId xmlns:a16="http://schemas.microsoft.com/office/drawing/2014/main" id="{5495B916-7A3E-466E-A5DA-D4150FCB46F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BE74AF00-E8E3-45B6-BA14-ABDD7E00791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Single-Agent Ceiling</a:t>
            </a:r>
          </a:p>
        </p:txBody>
      </p:sp>
      <p:sp>
        <p:nvSpPr>
          <p:cNvPr id="11" name="">
            <a:extLst xmlns:a="http://schemas.openxmlformats.org/drawingml/2006/main">
              <a:ext uri="{FF2B5EF4-FFF2-40B4-BE49-F238E27FC236}">
                <a16:creationId xmlns:a16="http://schemas.microsoft.com/office/drawing/2014/main" id="{7D5B1BD8-4EDE-437D-BEEF-5912C1B84EC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80874694-3372-4393-B7D8-45FCB49D5F0E}"/>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Problem: one model must plan, code, test, and review itself.</a:t>
            </a:r>
          </a:p>
        </p:txBody>
      </p:sp>
      <p:sp>
        <p:nvSpPr>
          <p:cNvPr id="13" name="">
            <a:extLst xmlns:a="http://schemas.openxmlformats.org/drawingml/2006/main">
              <a:ext uri="{FF2B5EF4-FFF2-40B4-BE49-F238E27FC236}">
                <a16:creationId xmlns:a16="http://schemas.microsoft.com/office/drawing/2014/main" id="{6D5AEF5F-BC38-42A1-83E8-95C4EC4E59A7}"/>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FF8EDC78-D4F1-49E2-AECE-C72887DBBB9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Result: brittle outputs, hidden assumptions, no accountability.</a:t>
            </a:r>
          </a:p>
        </p:txBody>
      </p:sp>
      <p:sp>
        <p:nvSpPr>
          <p:cNvPr id="15" name="">
            <a:extLst xmlns:a="http://schemas.openxmlformats.org/drawingml/2006/main">
              <a:ext uri="{FF2B5EF4-FFF2-40B4-BE49-F238E27FC236}">
                <a16:creationId xmlns:a16="http://schemas.microsoft.com/office/drawing/2014/main" id="{8F2B3E08-1954-4CB5-A1E5-48F687523F4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D291A862-5932-41AD-908E-EFFD5867283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Vibe coding is not casual prompting at scale.</a:t>
            </a:r>
          </a:p>
        </p:txBody>
      </p:sp>
      <p:sp>
        <p:nvSpPr>
          <p:cNvPr id="17" name="">
            <a:extLst xmlns:a="http://schemas.openxmlformats.org/drawingml/2006/main">
              <a:ext uri="{FF2B5EF4-FFF2-40B4-BE49-F238E27FC236}">
                <a16:creationId xmlns:a16="http://schemas.microsoft.com/office/drawing/2014/main" id="{D3F1F789-8332-4630-8A12-7A0D2033B43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A4C07328-7981-4C3D-B09B-DE0A0A659FB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It is intent-driven software creation with roles, artifacts, and gates.</a:t>
            </a:r>
          </a:p>
        </p:txBody>
      </p:sp>
      <p:sp>
        <p:nvSpPr>
          <p:cNvPr id="19" name="">
            <a:extLst xmlns:a="http://schemas.openxmlformats.org/drawingml/2006/main">
              <a:ext uri="{FF2B5EF4-FFF2-40B4-BE49-F238E27FC236}">
                <a16:creationId xmlns:a16="http://schemas.microsoft.com/office/drawing/2014/main" id="{4F7D2017-FFE3-4EC7-9008-267745D58B0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First skill: managing delegation, not building a swarm.</a:t>
            </a:r>
          </a:p>
        </p:txBody>
      </p:sp>
      <p:sp>
        <p:nvSpPr>
          <p:cNvPr id="20" name="">
            <a:extLst xmlns:a="http://schemas.openxmlformats.org/drawingml/2006/main">
              <a:ext uri="{FF2B5EF4-FFF2-40B4-BE49-F238E27FC236}">
                <a16:creationId xmlns:a16="http://schemas.microsoft.com/office/drawing/2014/main" id="{335D0603-2CE8-495F-9B4C-0509E193C49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752023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C4227B5-A06B-411C-8E59-C048C87D836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63D607-C325-4D25-86A8-F43B497FA69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14EA56D-A2ED-49DA-B3FE-F6F40DA92EA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574E39A-DFBE-417C-86E0-C7777635F87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AF05266-9CFD-42CE-873E-3EBE09F0DD2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0DCE272-1DBD-4ADD-B606-4AEAAFB82AF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137619C-E2E2-4379-8069-7104CE714BC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processes</a:t>
            </a:r>
          </a:p>
        </p:txBody>
      </p:sp>
      <p:sp>
        <p:nvSpPr>
          <p:cNvPr id="8" name="">
            <a:extLst xmlns:a="http://schemas.openxmlformats.org/drawingml/2006/main">
              <a:ext uri="{FF2B5EF4-FFF2-40B4-BE49-F238E27FC236}">
                <a16:creationId xmlns:a16="http://schemas.microsoft.com/office/drawing/2014/main" id="{B1CC8D7D-A46E-4C4C-93D4-9B4D97C2146D}"/>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09</a:t>
            </a:r>
          </a:p>
        </p:txBody>
      </p:sp>
      <p:sp>
        <p:nvSpPr>
          <p:cNvPr id="9" name="">
            <a:extLst xmlns:a="http://schemas.openxmlformats.org/drawingml/2006/main">
              <a:ext uri="{FF2B5EF4-FFF2-40B4-BE49-F238E27FC236}">
                <a16:creationId xmlns:a16="http://schemas.microsoft.com/office/drawing/2014/main" id="{DD25CF91-5E92-4AFE-BA22-B641014A1A2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14BAE38E-20F7-4355-A50D-5AFCDF25D048}"/>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Processes: Sequential vs Hierarchical</a:t>
            </a:r>
          </a:p>
        </p:txBody>
      </p:sp>
      <p:sp>
        <p:nvSpPr>
          <p:cNvPr id="11" name="">
            <a:extLst xmlns:a="http://schemas.openxmlformats.org/drawingml/2006/main">
              <a:ext uri="{FF2B5EF4-FFF2-40B4-BE49-F238E27FC236}">
                <a16:creationId xmlns:a16="http://schemas.microsoft.com/office/drawing/2014/main" id="{A684CA99-DBB4-4BD3-A5CA-9CE6A6C13AB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8CF4926E-C6FF-4EC2-B5B1-F989D3FCC53F}"/>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E233BA45-DB72-485E-A028-38F01B29C802}"/>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Sequential</a:t>
            </a:r>
          </a:p>
        </p:txBody>
      </p:sp>
      <p:sp>
        <p:nvSpPr>
          <p:cNvPr id="14" name="">
            <a:extLst xmlns:a="http://schemas.openxmlformats.org/drawingml/2006/main">
              <a:ext uri="{FF2B5EF4-FFF2-40B4-BE49-F238E27FC236}">
                <a16:creationId xmlns:a16="http://schemas.microsoft.com/office/drawing/2014/main" id="{D6866DB0-6F13-4B03-B0C7-6AA03C5F40A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Hierarchical</a:t>
            </a:r>
          </a:p>
        </p:txBody>
      </p:sp>
      <p:sp>
        <p:nvSpPr>
          <p:cNvPr id="15" name="">
            <a:extLst xmlns:a="http://schemas.openxmlformats.org/drawingml/2006/main">
              <a:ext uri="{FF2B5EF4-FFF2-40B4-BE49-F238E27FC236}">
                <a16:creationId xmlns:a16="http://schemas.microsoft.com/office/drawing/2014/main" id="{FD41D0B8-A6F4-4322-89E8-CBB065241B28}"/>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601E47CE-AAAC-4EE7-A246-FE08A38E55D9}"/>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Process.sequential</a:t>
            </a:r>
          </a:p>
        </p:txBody>
      </p:sp>
      <p:sp>
        <p:nvSpPr>
          <p:cNvPr id="17" name="">
            <a:extLst xmlns:a="http://schemas.openxmlformats.org/drawingml/2006/main">
              <a:ext uri="{FF2B5EF4-FFF2-40B4-BE49-F238E27FC236}">
                <a16:creationId xmlns:a16="http://schemas.microsoft.com/office/drawing/2014/main" id="{317EB42D-E64C-4CBE-9662-E9841E861A90}"/>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92BCEEB2-A95B-43E9-AAC6-1BCBE931262E}"/>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Tasks run in order</a:t>
            </a:r>
          </a:p>
        </p:txBody>
      </p:sp>
      <p:sp>
        <p:nvSpPr>
          <p:cNvPr id="19" name="">
            <a:extLst xmlns:a="http://schemas.openxmlformats.org/drawingml/2006/main">
              <a:ext uri="{FF2B5EF4-FFF2-40B4-BE49-F238E27FC236}">
                <a16:creationId xmlns:a16="http://schemas.microsoft.com/office/drawing/2014/main" id="{FD1AAF28-1115-4F4A-9D38-99E91AE9354D}"/>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918D668-538F-4F7A-998E-FB7181E3A55A}"/>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fixed pipelines</a:t>
            </a:r>
          </a:p>
        </p:txBody>
      </p:sp>
      <p:sp>
        <p:nvSpPr>
          <p:cNvPr id="21" name="">
            <a:extLst xmlns:a="http://schemas.openxmlformats.org/drawingml/2006/main">
              <a:ext uri="{FF2B5EF4-FFF2-40B4-BE49-F238E27FC236}">
                <a16:creationId xmlns:a16="http://schemas.microsoft.com/office/drawing/2014/main" id="{10C078BD-69D7-4D42-9423-F120CB9C3EA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368F73B9-7F8A-477A-AAB9-5D8F032E1A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Transparent, easy to test</a:t>
            </a:r>
          </a:p>
        </p:txBody>
      </p:sp>
      <p:sp>
        <p:nvSpPr>
          <p:cNvPr id="23" name="">
            <a:extLst xmlns:a="http://schemas.openxmlformats.org/drawingml/2006/main">
              <a:ext uri="{FF2B5EF4-FFF2-40B4-BE49-F238E27FC236}">
                <a16:creationId xmlns:a16="http://schemas.microsoft.com/office/drawing/2014/main" id="{A737E7D4-B795-4450-8321-1F77E0A6FF5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7981C01-1682-42AA-B65F-6D2E5266A3B8}"/>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CrewAI: Process.hierarchical</a:t>
            </a:r>
          </a:p>
        </p:txBody>
      </p:sp>
      <p:sp>
        <p:nvSpPr>
          <p:cNvPr id="25" name="">
            <a:extLst xmlns:a="http://schemas.openxmlformats.org/drawingml/2006/main">
              <a:ext uri="{FF2B5EF4-FFF2-40B4-BE49-F238E27FC236}">
                <a16:creationId xmlns:a16="http://schemas.microsoft.com/office/drawing/2014/main" id="{50DDDDFF-F234-4DA2-B04C-BFAC2602F8B4}"/>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81C8A2C-5B45-46C6-824A-124680F8E988}"/>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Manager coordinates agents</a:t>
            </a:r>
          </a:p>
        </p:txBody>
      </p:sp>
      <p:sp>
        <p:nvSpPr>
          <p:cNvPr id="27" name="">
            <a:extLst xmlns:a="http://schemas.openxmlformats.org/drawingml/2006/main">
              <a:ext uri="{FF2B5EF4-FFF2-40B4-BE49-F238E27FC236}">
                <a16:creationId xmlns:a16="http://schemas.microsoft.com/office/drawing/2014/main" id="{47379A8A-1D9C-4156-9589-AAFB88144169}"/>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BBE33C73-31B6-40B8-A932-1AB8B7C9DDE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Best for dynamic delegation</a:t>
            </a:r>
          </a:p>
        </p:txBody>
      </p:sp>
      <p:sp>
        <p:nvSpPr>
          <p:cNvPr id="29" name="">
            <a:extLst xmlns:a="http://schemas.openxmlformats.org/drawingml/2006/main">
              <a:ext uri="{FF2B5EF4-FFF2-40B4-BE49-F238E27FC236}">
                <a16:creationId xmlns:a16="http://schemas.microsoft.com/office/drawing/2014/main" id="{45091DBE-3464-4443-802E-E8C984F0ACC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8F37731-B239-4A05-A21D-C1BF7976618E}"/>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Flexible, harder to debug</a:t>
            </a:r>
          </a:p>
        </p:txBody>
      </p:sp>
      <p:sp>
        <p:nvSpPr>
          <p:cNvPr id="31" name="">
            <a:extLst xmlns:a="http://schemas.openxmlformats.org/drawingml/2006/main">
              <a:ext uri="{FF2B5EF4-FFF2-40B4-BE49-F238E27FC236}">
                <a16:creationId xmlns:a16="http://schemas.microsoft.com/office/drawing/2014/main" id="{8F59BCAE-25E2-41A4-92AF-9E0FD0F6D4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CrewAI is used here as the production-framework comparison, not a replacement for governance.</a:t>
            </a:r>
          </a:p>
        </p:txBody>
      </p:sp>
    </p:spTree>
    <p:extLst>
      <p:ext uri="{BB962C8B-B14F-4D97-AF65-F5344CB8AC3E}">
        <p14:creationId xmlns:p14="http://schemas.microsoft.com/office/powerpoint/2010/main" val="10852556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7E7B67-843F-438F-A135-A196513446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E5460D7-0510-443B-A6A0-0BCF89231EB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2F0F3808-584B-49F2-9AA7-CB1A572FAD8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D90D3E6-AC5D-4D4E-963F-DB63F7FEDE3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resources/README.md: papers, videos, cited schemas.</a:t>
            </a:r>
          </a:p>
        </p:txBody>
      </p:sp>
      <p:sp>
        <p:nvSpPr>
          <p:cNvPr id="5" name="">
            <a:extLst xmlns:a="http://schemas.openxmlformats.org/drawingml/2006/main">
              <a:ext uri="{FF2B5EF4-FFF2-40B4-BE49-F238E27FC236}">
                <a16:creationId xmlns:a16="http://schemas.microsoft.com/office/drawing/2014/main" id="{EEC947B6-DC0A-4EC1-92AD-E464BF1F42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B3FE96-B943-496C-BBC4-47875F057A5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28AD390E-50ED-492C-927F-8C655A773E0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 course governance</a:t>
            </a:r>
          </a:p>
        </p:txBody>
      </p:sp>
      <p:sp>
        <p:nvSpPr>
          <p:cNvPr id="8" name="">
            <a:extLst xmlns:a="http://schemas.openxmlformats.org/drawingml/2006/main">
              <a:ext uri="{FF2B5EF4-FFF2-40B4-BE49-F238E27FC236}">
                <a16:creationId xmlns:a16="http://schemas.microsoft.com/office/drawing/2014/main" id="{39775550-F3F5-4374-B437-FE9DC218853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10</a:t>
            </a:r>
          </a:p>
        </p:txBody>
      </p:sp>
      <p:sp>
        <p:nvSpPr>
          <p:cNvPr id="9" name="">
            <a:extLst xmlns:a="http://schemas.openxmlformats.org/drawingml/2006/main">
              <a:ext uri="{FF2B5EF4-FFF2-40B4-BE49-F238E27FC236}">
                <a16:creationId xmlns:a16="http://schemas.microsoft.com/office/drawing/2014/main" id="{670CA90A-36F2-409F-8C18-2FFF57F09A00}"/>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34860CB0-5F8D-4A3B-886D-EEF2734F5E8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Five Production Failure Modes</a:t>
            </a:r>
          </a:p>
        </p:txBody>
      </p:sp>
      <p:sp>
        <p:nvSpPr>
          <p:cNvPr id="11" name="">
            <a:extLst xmlns:a="http://schemas.openxmlformats.org/drawingml/2006/main">
              <a:ext uri="{FF2B5EF4-FFF2-40B4-BE49-F238E27FC236}">
                <a16:creationId xmlns:a16="http://schemas.microsoft.com/office/drawing/2014/main" id="{B6A03124-AA62-4FD0-99FB-718A3549F21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E7EFE7F-9295-43A2-AD8F-BD699B1195A7}"/>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Role confusion — agent does too many things.</a:t>
            </a:r>
          </a:p>
        </p:txBody>
      </p:sp>
      <p:sp>
        <p:nvSpPr>
          <p:cNvPr id="13" name="">
            <a:extLst xmlns:a="http://schemas.openxmlformats.org/drawingml/2006/main">
              <a:ext uri="{FF2B5EF4-FFF2-40B4-BE49-F238E27FC236}">
                <a16:creationId xmlns:a16="http://schemas.microsoft.com/office/drawing/2014/main" id="{0C9D36CD-2FDE-419B-8FF9-1BA5447A08A9}"/>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7ABD720-6B54-4140-9DFC-0BB970B070E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Context loss — downstream agent never received upstream output.</a:t>
            </a:r>
          </a:p>
        </p:txBody>
      </p:sp>
      <p:sp>
        <p:nvSpPr>
          <p:cNvPr id="15" name="">
            <a:extLst xmlns:a="http://schemas.openxmlformats.org/drawingml/2006/main">
              <a:ext uri="{FF2B5EF4-FFF2-40B4-BE49-F238E27FC236}">
                <a16:creationId xmlns:a16="http://schemas.microsoft.com/office/drawing/2014/main" id="{7AC56163-F091-4DBC-97DE-DC49C87D025B}"/>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A23AE8F7-6D73-40B7-9DC5-2999B485479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Tool overreach — agent calls tools it should not have.</a:t>
            </a:r>
          </a:p>
        </p:txBody>
      </p:sp>
      <p:sp>
        <p:nvSpPr>
          <p:cNvPr id="17" name="">
            <a:extLst xmlns:a="http://schemas.openxmlformats.org/drawingml/2006/main">
              <a:ext uri="{FF2B5EF4-FFF2-40B4-BE49-F238E27FC236}">
                <a16:creationId xmlns:a16="http://schemas.microsoft.com/office/drawing/2014/main" id="{747BA76F-CB01-44E1-96A0-98C20462C606}"/>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823FFF13-1A07-4178-90B6-844953126E6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done criteria — agent never knows when to stop.</a:t>
            </a:r>
          </a:p>
        </p:txBody>
      </p:sp>
      <p:sp>
        <p:nvSpPr>
          <p:cNvPr id="19" name="">
            <a:extLst xmlns:a="http://schemas.openxmlformats.org/drawingml/2006/main">
              <a:ext uri="{FF2B5EF4-FFF2-40B4-BE49-F238E27FC236}">
                <a16:creationId xmlns:a16="http://schemas.microsoft.com/office/drawing/2014/main" id="{50852B91-F8E3-4AA2-96D3-19FE4A2FA006}"/>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0BCD88EF-BBB0-42D3-A085-2AEE09FFE492}"/>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No escalation path — failure loops silently instead of surfacing.</a:t>
            </a:r>
          </a:p>
        </p:txBody>
      </p:sp>
      <p:sp>
        <p:nvSpPr>
          <p:cNvPr id="21" name="">
            <a:extLst xmlns:a="http://schemas.openxmlformats.org/drawingml/2006/main">
              <a:ext uri="{FF2B5EF4-FFF2-40B4-BE49-F238E27FC236}">
                <a16:creationId xmlns:a16="http://schemas.microsoft.com/office/drawing/2014/main" id="{4A34453B-9EF3-4CE9-9BB2-258B9519B241}"/>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Boring is safe.</a:t>
            </a:r>
          </a:p>
        </p:txBody>
      </p:sp>
      <p:sp>
        <p:nvSpPr>
          <p:cNvPr id="22" name="">
            <a:extLst xmlns:a="http://schemas.openxmlformats.org/drawingml/2006/main">
              <a:ext uri="{FF2B5EF4-FFF2-40B4-BE49-F238E27FC236}">
                <a16:creationId xmlns:a16="http://schemas.microsoft.com/office/drawing/2014/main" id="{E73D7BCA-CA46-458A-A9F7-D2FD97D23F5B}"/>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6303101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62CADB-14E9-4557-ABAE-5C2859E51A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7FCCFB6-0E1B-4990-8E14-6880D3BED5D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AF8217B-DA16-420D-B77C-58435923F66D}"/>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9343BD4-76C2-4D80-81D9-762A65CB4AB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176EFE1-E543-460A-AC5C-CB52BE9B6EE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F6A22A4-E498-46EC-8001-F14675738D9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058BF85-7096-4723-9257-69CD1010BA5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delegation</a:t>
            </a:r>
          </a:p>
        </p:txBody>
      </p:sp>
      <p:sp>
        <p:nvSpPr>
          <p:cNvPr id="8" name="">
            <a:extLst xmlns:a="http://schemas.openxmlformats.org/drawingml/2006/main">
              <a:ext uri="{FF2B5EF4-FFF2-40B4-BE49-F238E27FC236}">
                <a16:creationId xmlns:a16="http://schemas.microsoft.com/office/drawing/2014/main" id="{A45D8926-AF49-4E33-B930-07902C22AFB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11</a:t>
            </a:r>
          </a:p>
        </p:txBody>
      </p:sp>
      <p:sp>
        <p:nvSpPr>
          <p:cNvPr id="9" name="">
            <a:extLst xmlns:a="http://schemas.openxmlformats.org/drawingml/2006/main">
              <a:ext uri="{FF2B5EF4-FFF2-40B4-BE49-F238E27FC236}">
                <a16:creationId xmlns:a16="http://schemas.microsoft.com/office/drawing/2014/main" id="{9F0F5FFD-3496-4ABD-A6F6-BA6A2C4782A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1 · Foundations &amp; Vibe Coding</a:t>
            </a:r>
          </a:p>
        </p:txBody>
      </p:sp>
      <p:sp>
        <p:nvSpPr>
          <p:cNvPr id="10" name="">
            <a:extLst xmlns:a="http://schemas.openxmlformats.org/drawingml/2006/main">
              <a:ext uri="{FF2B5EF4-FFF2-40B4-BE49-F238E27FC236}">
                <a16:creationId xmlns:a16="http://schemas.microsoft.com/office/drawing/2014/main" id="{2E2C5CEE-6512-4D49-B9CF-018F624BFC93}"/>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41E6D4DD-F2B5-4CBA-9760-2603C54D4D64}"/>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C629BF13-C1E5-4898-B9FB-13E805D6981B}"/>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first skill is not</a:t>
            </a:r>
          </a:p>
        </p:txBody>
      </p:sp>
      <p:sp>
        <p:nvSpPr>
          <p:cNvPr id="13" name="">
            <a:extLst xmlns:a="http://schemas.openxmlformats.org/drawingml/2006/main">
              <a:ext uri="{FF2B5EF4-FFF2-40B4-BE49-F238E27FC236}">
                <a16:creationId xmlns:a16="http://schemas.microsoft.com/office/drawing/2014/main" id="{8C94E664-0184-4F7C-8E77-106231516A98}"/>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building a swarm.</a:t>
            </a:r>
          </a:p>
        </p:txBody>
      </p:sp>
      <p:sp>
        <p:nvSpPr>
          <p:cNvPr id="14" name="">
            <a:extLst xmlns:a="http://schemas.openxmlformats.org/drawingml/2006/main">
              <a:ext uri="{FF2B5EF4-FFF2-40B4-BE49-F238E27FC236}">
                <a16:creationId xmlns:a16="http://schemas.microsoft.com/office/drawing/2014/main" id="{53BF86D7-567C-4B03-ADEE-A5C03DD798A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It is managing delegation.</a:t>
            </a:r>
          </a:p>
        </p:txBody>
      </p:sp>
    </p:spTree>
    <p:extLst>
      <p:ext uri="{BB962C8B-B14F-4D97-AF65-F5344CB8AC3E}">
        <p14:creationId xmlns:p14="http://schemas.microsoft.com/office/powerpoint/2010/main" val="37043211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DB6ECC-11BE-43BB-BE08-21538E3C18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8A1BE2A-503E-419D-920E-6F4D7A68471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0F1DB71-D90C-41FA-99FB-15AB2278ACF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3DCFDAD5-A344-49B1-8483-32579AA9AD4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8E01800-E2F7-469B-87B5-0DEB71B3E74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335CDC-9C6D-4AE4-ABAC-88EDDEAC52F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E1C72A-642C-45AF-9298-81BF01EE842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073A6F74-49A8-45E9-A91B-5B9E61644C6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12</a:t>
            </a:r>
          </a:p>
        </p:txBody>
      </p:sp>
      <p:sp>
        <p:nvSpPr>
          <p:cNvPr id="9" name="">
            <a:extLst xmlns:a="http://schemas.openxmlformats.org/drawingml/2006/main">
              <a:ext uri="{FF2B5EF4-FFF2-40B4-BE49-F238E27FC236}">
                <a16:creationId xmlns:a16="http://schemas.microsoft.com/office/drawing/2014/main" id="{09B85BFE-90FA-47DC-A238-2472C94CE6E2}"/>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02</a:t>
            </a:r>
          </a:p>
        </p:txBody>
      </p:sp>
      <p:sp>
        <p:nvSpPr>
          <p:cNvPr id="10" name="">
            <a:extLst xmlns:a="http://schemas.openxmlformats.org/drawingml/2006/main">
              <a:ext uri="{FF2B5EF4-FFF2-40B4-BE49-F238E27FC236}">
                <a16:creationId xmlns:a16="http://schemas.microsoft.com/office/drawing/2014/main" id="{5F8469F3-6A4E-49AE-B484-AAD5A3862A2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TeamLog &amp;</a:t>
            </a:r>
          </a:p>
          <a:p xmlns:a="http://schemas.openxmlformats.org/drawingml/2006/main">
            <a:pPr>
              <a:buNone/>
              <a:defRPr sz="3600">
                <a:solidFill>
                  <a:srgbClr val="FFFFFF"/>
                </a:solidFill>
              </a:defRPr>
            </a:pPr>
            <a:r>
              <a:rPr sz="3600">
                <a:solidFill>
                  <a:srgbClr val="FFFFFF"/>
                </a:solidFill>
              </a:rPr>
              <a:t>Theory of Mind</a:t>
            </a:r>
          </a:p>
        </p:txBody>
      </p:sp>
      <p:sp>
        <p:nvSpPr>
          <p:cNvPr id="11" name="">
            <a:extLst xmlns:a="http://schemas.openxmlformats.org/drawingml/2006/main">
              <a:ext uri="{FF2B5EF4-FFF2-40B4-BE49-F238E27FC236}">
                <a16:creationId xmlns:a16="http://schemas.microsoft.com/office/drawing/2014/main" id="{AAAC3616-9726-463A-9240-0085C66C4914}"/>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Alignment as shared commitments and retrievable state</a:t>
            </a:r>
          </a:p>
        </p:txBody>
      </p:sp>
      <p:sp>
        <p:nvSpPr>
          <p:cNvPr id="12" name="">
            <a:extLst xmlns:a="http://schemas.openxmlformats.org/drawingml/2006/main">
              <a:ext uri="{FF2B5EF4-FFF2-40B4-BE49-F238E27FC236}">
                <a16:creationId xmlns:a16="http://schemas.microsoft.com/office/drawing/2014/main" id="{EFF9076A-8E78-4FD0-A5E9-3FAE0A85C73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DBE49762-BBCE-433D-9401-E0B4C8A334D6}"/>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08189399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4923C8-1E47-4826-B764-7DF00ABDB4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5350067-B680-4F7D-BF4C-74E2CF07EEE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EE44CDA-A547-4B73-B84D-5F1D6DF116A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2330DA7-69AA-4D9A-AACE-B15F0D820B0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FE30668-B6E6-43FA-B9F7-F777A1FE561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D64E297-E672-47CC-A4CE-D25303403F8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26CCA33-5921-4929-9177-2C4ACCA395B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5C8C4E34-1B41-4072-8097-4B01044C2D2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13</a:t>
            </a:r>
          </a:p>
        </p:txBody>
      </p:sp>
      <p:sp>
        <p:nvSpPr>
          <p:cNvPr id="9" name="">
            <a:extLst xmlns:a="http://schemas.openxmlformats.org/drawingml/2006/main">
              <a:ext uri="{FF2B5EF4-FFF2-40B4-BE49-F238E27FC236}">
                <a16:creationId xmlns:a16="http://schemas.microsoft.com/office/drawing/2014/main" id="{4912BC8D-2A27-421D-AED7-F5F20997170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A6AA6F8B-94CD-457A-ADE9-D37B9E020F2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Agent Teams Misalign</a:t>
            </a:r>
          </a:p>
        </p:txBody>
      </p:sp>
      <p:sp>
        <p:nvSpPr>
          <p:cNvPr id="11" name="">
            <a:extLst xmlns:a="http://schemas.openxmlformats.org/drawingml/2006/main">
              <a:ext uri="{FF2B5EF4-FFF2-40B4-BE49-F238E27FC236}">
                <a16:creationId xmlns:a16="http://schemas.microsoft.com/office/drawing/2014/main" id="{645CC9CD-02CC-4142-B953-7BF1AC08B135}"/>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10733EAD-CE78-4BED-A533-D3E416DCD3C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Hidden constraints disappear between turns.</a:t>
            </a:r>
          </a:p>
        </p:txBody>
      </p:sp>
      <p:sp>
        <p:nvSpPr>
          <p:cNvPr id="13" name="">
            <a:extLst xmlns:a="http://schemas.openxmlformats.org/drawingml/2006/main">
              <a:ext uri="{FF2B5EF4-FFF2-40B4-BE49-F238E27FC236}">
                <a16:creationId xmlns:a16="http://schemas.microsoft.com/office/drawing/2014/main" id="{CD0FF6D7-1370-4A24-A0E5-202E5FAEEFD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710DB5A2-60E7-40BB-B34D-B6A9E02B93C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 local agent satisfies its task while violating the global mission.</a:t>
            </a:r>
          </a:p>
        </p:txBody>
      </p:sp>
      <p:sp>
        <p:nvSpPr>
          <p:cNvPr id="15" name="">
            <a:extLst xmlns:a="http://schemas.openxmlformats.org/drawingml/2006/main">
              <a:ext uri="{FF2B5EF4-FFF2-40B4-BE49-F238E27FC236}">
                <a16:creationId xmlns:a16="http://schemas.microsoft.com/office/drawing/2014/main" id="{333B1BE8-EBEC-4E6A-A563-3EF38B93160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989CB8F-96EA-4EDA-892A-ACE132CDD1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Long workflows erase context: the coder forgets the PM's constraint.</a:t>
            </a:r>
          </a:p>
        </p:txBody>
      </p:sp>
      <p:sp>
        <p:nvSpPr>
          <p:cNvPr id="17" name="">
            <a:extLst xmlns:a="http://schemas.openxmlformats.org/drawingml/2006/main">
              <a:ext uri="{FF2B5EF4-FFF2-40B4-BE49-F238E27FC236}">
                <a16:creationId xmlns:a16="http://schemas.microsoft.com/office/drawing/2014/main" id="{4F7166F6-14EC-480F-8DBE-85CA54776AA1}"/>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34AF888A-AD1D-4F8B-AA52-0E051A05143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Memory is governed data, not a prompt dump.</a:t>
            </a:r>
          </a:p>
        </p:txBody>
      </p:sp>
      <p:sp>
        <p:nvSpPr>
          <p:cNvPr id="19" name="">
            <a:extLst xmlns:a="http://schemas.openxmlformats.org/drawingml/2006/main">
              <a:ext uri="{FF2B5EF4-FFF2-40B4-BE49-F238E27FC236}">
                <a16:creationId xmlns:a16="http://schemas.microsoft.com/office/drawing/2014/main" id="{15035253-993C-40EA-BC5B-F27F1A81BF70}"/>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Alignment is a data architecture problem.</a:t>
            </a:r>
          </a:p>
        </p:txBody>
      </p:sp>
      <p:sp>
        <p:nvSpPr>
          <p:cNvPr id="20" name="">
            <a:extLst xmlns:a="http://schemas.openxmlformats.org/drawingml/2006/main">
              <a:ext uri="{FF2B5EF4-FFF2-40B4-BE49-F238E27FC236}">
                <a16:creationId xmlns:a16="http://schemas.microsoft.com/office/drawing/2014/main" id="{B5382FCE-3744-4D41-836E-E969237BF8AF}"/>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60535139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7903ADB-50E1-4094-A723-D1076DEC3A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A9B0AC7B-B1E2-44FF-A3B8-76A551B8DCD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06B8857-C412-460E-A32E-A50FE8B3033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E148F97-DC07-4D1F-A91E-BF3CB0EB89A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48795364-ED49-4336-B978-D4C1E613485B}"/>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7AF86FC6-2D16-4515-A952-CEE79F0929E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C3A46D6-8FCE-42DC-BFD9-5F5F874C3F28}"/>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ToM</a:t>
            </a:r>
          </a:p>
        </p:txBody>
      </p:sp>
      <p:sp>
        <p:nvSpPr>
          <p:cNvPr id="8" name="">
            <a:extLst xmlns:a="http://schemas.openxmlformats.org/drawingml/2006/main">
              <a:ext uri="{FF2B5EF4-FFF2-40B4-BE49-F238E27FC236}">
                <a16:creationId xmlns:a16="http://schemas.microsoft.com/office/drawing/2014/main" id="{1A1A2701-1E9C-4F24-A159-C25AD0DE5246}"/>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14</a:t>
            </a:r>
          </a:p>
        </p:txBody>
      </p:sp>
      <p:sp>
        <p:nvSpPr>
          <p:cNvPr id="9" name="">
            <a:extLst xmlns:a="http://schemas.openxmlformats.org/drawingml/2006/main">
              <a:ext uri="{FF2B5EF4-FFF2-40B4-BE49-F238E27FC236}">
                <a16:creationId xmlns:a16="http://schemas.microsoft.com/office/drawing/2014/main" id="{08314FC8-ECBC-4258-BC07-A7C1BAC405C9}"/>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6EE9A948-295D-43AE-B330-B3794607DFD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Patterns to Learn</a:t>
            </a:r>
          </a:p>
        </p:txBody>
      </p:sp>
      <p:sp>
        <p:nvSpPr>
          <p:cNvPr id="11" name="">
            <a:extLst xmlns:a="http://schemas.openxmlformats.org/drawingml/2006/main">
              <a:ext uri="{FF2B5EF4-FFF2-40B4-BE49-F238E27FC236}">
                <a16:creationId xmlns:a16="http://schemas.microsoft.com/office/drawing/2014/main" id="{141BD7C5-142A-4632-AD60-64EC1B060C75}"/>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9947208D-09A5-489F-A968-D2D308C054E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08EF8CDC-6FBF-420A-AF88-453AF41E2828}"/>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TeamLog</a:t>
            </a:r>
          </a:p>
        </p:txBody>
      </p:sp>
      <p:sp>
        <p:nvSpPr>
          <p:cNvPr id="14" name="">
            <a:extLst xmlns:a="http://schemas.openxmlformats.org/drawingml/2006/main">
              <a:ext uri="{FF2B5EF4-FFF2-40B4-BE49-F238E27FC236}">
                <a16:creationId xmlns:a16="http://schemas.microsoft.com/office/drawing/2014/main" id="{A20C3417-43BE-4292-BA9C-2B01FD6D1DF1}"/>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Theory of Mind</a:t>
            </a:r>
          </a:p>
        </p:txBody>
      </p:sp>
      <p:sp>
        <p:nvSpPr>
          <p:cNvPr id="15" name="">
            <a:extLst xmlns:a="http://schemas.openxmlformats.org/drawingml/2006/main">
              <a:ext uri="{FF2B5EF4-FFF2-40B4-BE49-F238E27FC236}">
                <a16:creationId xmlns:a16="http://schemas.microsoft.com/office/drawing/2014/main" id="{059E0254-93C3-42F4-A5E6-34C0358A6E79}"/>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E6F0169-BCF5-426B-9204-747EC48E9190}"/>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owns the promise?</a:t>
            </a:r>
          </a:p>
        </p:txBody>
      </p:sp>
      <p:sp>
        <p:nvSpPr>
          <p:cNvPr id="17" name="">
            <a:extLst xmlns:a="http://schemas.openxmlformats.org/drawingml/2006/main">
              <a:ext uri="{FF2B5EF4-FFF2-40B4-BE49-F238E27FC236}">
                <a16:creationId xmlns:a16="http://schemas.microsoft.com/office/drawing/2014/main" id="{6DC51DE1-531D-48C9-9067-DCBC7A8D589C}"/>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81C075F9-2150-42E9-A725-4DE6A8958F4F}"/>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Who can see it?</a:t>
            </a:r>
          </a:p>
        </p:txBody>
      </p:sp>
      <p:sp>
        <p:nvSpPr>
          <p:cNvPr id="19" name="">
            <a:extLst xmlns:a="http://schemas.openxmlformats.org/drawingml/2006/main">
              <a:ext uri="{FF2B5EF4-FFF2-40B4-BE49-F238E27FC236}">
                <a16:creationId xmlns:a16="http://schemas.microsoft.com/office/drawing/2014/main" id="{F5C4AF29-97D9-49C2-8511-F6B6D6B92392}"/>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FB2F401A-CCAC-4DE3-9CE2-E267049B8804}"/>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must be true before done?</a:t>
            </a:r>
          </a:p>
        </p:txBody>
      </p:sp>
      <p:sp>
        <p:nvSpPr>
          <p:cNvPr id="21" name="">
            <a:extLst xmlns:a="http://schemas.openxmlformats.org/drawingml/2006/main">
              <a:ext uri="{FF2B5EF4-FFF2-40B4-BE49-F238E27FC236}">
                <a16:creationId xmlns:a16="http://schemas.microsoft.com/office/drawing/2014/main" id="{19D366B8-5D17-46E4-A5E4-10906BFAED5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E2903214-C025-4576-B10F-E47E4981F51C}"/>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Commitments override local goals</a:t>
            </a:r>
          </a:p>
        </p:txBody>
      </p:sp>
      <p:sp>
        <p:nvSpPr>
          <p:cNvPr id="23" name="">
            <a:extLst xmlns:a="http://schemas.openxmlformats.org/drawingml/2006/main">
              <a:ext uri="{FF2B5EF4-FFF2-40B4-BE49-F238E27FC236}">
                <a16:creationId xmlns:a16="http://schemas.microsoft.com/office/drawing/2014/main" id="{48DC8878-D2C2-42E0-9C7A-1BCD60D45E75}"/>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D74B85B5-7175-4F73-A54D-549E63A1BBEC}"/>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does each teammate know?</a:t>
            </a:r>
          </a:p>
        </p:txBody>
      </p:sp>
      <p:sp>
        <p:nvSpPr>
          <p:cNvPr id="25" name="">
            <a:extLst xmlns:a="http://schemas.openxmlformats.org/drawingml/2006/main">
              <a:ext uri="{FF2B5EF4-FFF2-40B4-BE49-F238E27FC236}">
                <a16:creationId xmlns:a16="http://schemas.microsoft.com/office/drawing/2014/main" id="{1CF93AFF-4E67-4C3B-9BE8-41E8C2A66C33}"/>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B5D1BDE-2722-4CE3-95A8-081E40450220}"/>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are they missing?</a:t>
            </a:r>
          </a:p>
        </p:txBody>
      </p:sp>
      <p:sp>
        <p:nvSpPr>
          <p:cNvPr id="27" name="">
            <a:extLst xmlns:a="http://schemas.openxmlformats.org/drawingml/2006/main">
              <a:ext uri="{FF2B5EF4-FFF2-40B4-BE49-F238E27FC236}">
                <a16:creationId xmlns:a16="http://schemas.microsoft.com/office/drawing/2014/main" id="{A179D9D9-D0FF-4F4F-87B5-56FDD155AEEA}"/>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A5A77E-B33A-4927-B70D-79535183CFA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What should stay hidden?</a:t>
            </a:r>
          </a:p>
        </p:txBody>
      </p:sp>
      <p:sp>
        <p:nvSpPr>
          <p:cNvPr id="29" name="">
            <a:extLst xmlns:a="http://schemas.openxmlformats.org/drawingml/2006/main">
              <a:ext uri="{FF2B5EF4-FFF2-40B4-BE49-F238E27FC236}">
                <a16:creationId xmlns:a16="http://schemas.microsoft.com/office/drawing/2014/main" id="{0F8045D6-445A-4119-B265-2F46FCAE6228}"/>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CC0B4930-65F8-4704-A909-73525C3E6074}"/>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Memory = role-filtered retrieval</a:t>
            </a:r>
          </a:p>
        </p:txBody>
      </p:sp>
      <p:sp>
        <p:nvSpPr>
          <p:cNvPr id="31" name="">
            <a:extLst xmlns:a="http://schemas.openxmlformats.org/drawingml/2006/main">
              <a:ext uri="{FF2B5EF4-FFF2-40B4-BE49-F238E27FC236}">
                <a16:creationId xmlns:a16="http://schemas.microsoft.com/office/drawing/2014/main" id="{442F9A7C-172F-4300-B682-24189EF1721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Shared does not mean open.</a:t>
            </a:r>
          </a:p>
        </p:txBody>
      </p:sp>
    </p:spTree>
    <p:extLst>
      <p:ext uri="{BB962C8B-B14F-4D97-AF65-F5344CB8AC3E}">
        <p14:creationId xmlns:p14="http://schemas.microsoft.com/office/powerpoint/2010/main" val="66342746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209BDE5-BDF9-41F1-B6D8-1261734B3C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E7FD51BD-AC6C-4334-A8A0-98F86118608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3FF33602-2872-4AFA-B11F-3C56DA7B247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444A1A7-D6E8-427B-92B9-0B8B3F69FB5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9FC6B9B-6D64-40C7-BC4B-C37DF04F406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7E7937F-118C-4256-9525-D45C663D0A56}"/>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576CD11-3D29-40B7-999A-269FBC2B0DAF}"/>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Agentic RAG</a:t>
            </a:r>
          </a:p>
        </p:txBody>
      </p:sp>
      <p:sp>
        <p:nvSpPr>
          <p:cNvPr id="8" name="">
            <a:extLst xmlns:a="http://schemas.openxmlformats.org/drawingml/2006/main">
              <a:ext uri="{FF2B5EF4-FFF2-40B4-BE49-F238E27FC236}">
                <a16:creationId xmlns:a16="http://schemas.microsoft.com/office/drawing/2014/main" id="{80EE8708-19D8-4EBB-BA09-79FA6189B6A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15</a:t>
            </a:r>
          </a:p>
        </p:txBody>
      </p:sp>
      <p:sp>
        <p:nvSpPr>
          <p:cNvPr id="9" name="">
            <a:extLst xmlns:a="http://schemas.openxmlformats.org/drawingml/2006/main">
              <a:ext uri="{FF2B5EF4-FFF2-40B4-BE49-F238E27FC236}">
                <a16:creationId xmlns:a16="http://schemas.microsoft.com/office/drawing/2014/main" id="{499B7478-B722-4DB2-8FB5-296B100A0C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8FAD87B0-25D1-4615-BF26-8F54EBC5CCFE}"/>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Hidden Constraint Pattern</a:t>
            </a:r>
          </a:p>
        </p:txBody>
      </p:sp>
      <p:sp>
        <p:nvSpPr>
          <p:cNvPr id="11" name="">
            <a:extLst xmlns:a="http://schemas.openxmlformats.org/drawingml/2006/main">
              <a:ext uri="{FF2B5EF4-FFF2-40B4-BE49-F238E27FC236}">
                <a16:creationId xmlns:a16="http://schemas.microsoft.com/office/drawing/2014/main" id="{4A463B63-4B42-4B7D-BA84-5DDCD56C526B}"/>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6CAD5E12-546C-4B36-81A1-7AB860C267E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records: Use PostgreSQL for persistent storage.</a:t>
            </a:r>
          </a:p>
        </p:txBody>
      </p:sp>
      <p:sp>
        <p:nvSpPr>
          <p:cNvPr id="13" name="">
            <a:extLst xmlns:a="http://schemas.openxmlformats.org/drawingml/2006/main">
              <a:ext uri="{FF2B5EF4-FFF2-40B4-BE49-F238E27FC236}">
                <a16:creationId xmlns:a16="http://schemas.microsoft.com/office/drawing/2014/main" id="{9821EEE3-2B05-490B-A87B-B338D820A56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3A44CBC7-F8E6-4372-A2B9-B4BB6614F4D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prompt omits it under context-window pressure.</a:t>
            </a:r>
          </a:p>
        </p:txBody>
      </p:sp>
      <p:sp>
        <p:nvSpPr>
          <p:cNvPr id="15" name="">
            <a:extLst xmlns:a="http://schemas.openxmlformats.org/drawingml/2006/main">
              <a:ext uri="{FF2B5EF4-FFF2-40B4-BE49-F238E27FC236}">
                <a16:creationId xmlns:a16="http://schemas.microsoft.com/office/drawing/2014/main" id="{23590355-7D75-4019-AE11-4A5FB49BEC64}"/>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8B8DAB6A-E8F2-48DB-831C-B549F50646F7}"/>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Coder queries memory, retrieves the constraint, honors it.</a:t>
            </a:r>
          </a:p>
        </p:txBody>
      </p:sp>
      <p:sp>
        <p:nvSpPr>
          <p:cNvPr id="17" name="">
            <a:extLst xmlns:a="http://schemas.openxmlformats.org/drawingml/2006/main">
              <a:ext uri="{FF2B5EF4-FFF2-40B4-BE49-F238E27FC236}">
                <a16:creationId xmlns:a16="http://schemas.microsoft.com/office/drawing/2014/main" id="{8617F4BB-456F-4251-8C8C-43A912744A2B}"/>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1CE3BFB-D0B8-44A7-970E-48F4DD946C89}"/>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Security password records are not returned to the coder.</a:t>
            </a:r>
          </a:p>
        </p:txBody>
      </p:sp>
      <p:sp>
        <p:nvSpPr>
          <p:cNvPr id="19" name="">
            <a:extLst xmlns:a="http://schemas.openxmlformats.org/drawingml/2006/main">
              <a:ext uri="{FF2B5EF4-FFF2-40B4-BE49-F238E27FC236}">
                <a16:creationId xmlns:a16="http://schemas.microsoft.com/office/drawing/2014/main" id="{5A270BE1-2483-4C47-92BA-867B33F1BB0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Need-to-know is a data architecture rule.</a:t>
            </a:r>
          </a:p>
        </p:txBody>
      </p:sp>
      <p:sp>
        <p:nvSpPr>
          <p:cNvPr id="20" name="">
            <a:extLst xmlns:a="http://schemas.openxmlformats.org/drawingml/2006/main">
              <a:ext uri="{FF2B5EF4-FFF2-40B4-BE49-F238E27FC236}">
                <a16:creationId xmlns:a16="http://schemas.microsoft.com/office/drawing/2014/main" id="{7733A8C7-4F1E-4A8C-8039-B2E2A76E43D8}"/>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36008938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D06F09-0439-47E4-91CD-8E8B6F1A973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8D82DAE-0179-49DE-8C9D-86127AEC14B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1A31D7F-85DB-4256-A941-FB3892CCACA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012D6B7-705E-4C3D-AD11-DE45F73099C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28971C8-E51C-48DA-B2A2-56DD88B91DA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2827543-11D0-405B-8B14-00C9154F902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7139860-A04F-44DE-902F-9070E92435D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TeamLog + memory</a:t>
            </a:r>
          </a:p>
        </p:txBody>
      </p:sp>
      <p:sp>
        <p:nvSpPr>
          <p:cNvPr id="8" name="">
            <a:extLst xmlns:a="http://schemas.openxmlformats.org/drawingml/2006/main">
              <a:ext uri="{FF2B5EF4-FFF2-40B4-BE49-F238E27FC236}">
                <a16:creationId xmlns:a16="http://schemas.microsoft.com/office/drawing/2014/main" id="{29FA7EFB-A4DC-42BD-95FF-0577852E6DE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16</a:t>
            </a:r>
          </a:p>
        </p:txBody>
      </p:sp>
      <p:sp>
        <p:nvSpPr>
          <p:cNvPr id="9" name="">
            <a:extLst xmlns:a="http://schemas.openxmlformats.org/drawingml/2006/main">
              <a:ext uri="{FF2B5EF4-FFF2-40B4-BE49-F238E27FC236}">
                <a16:creationId xmlns:a16="http://schemas.microsoft.com/office/drawing/2014/main" id="{233143FF-38CA-4D87-9059-E2F4998A5A7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2 · TeamLog &amp; Theory of Mind</a:t>
            </a:r>
          </a:p>
        </p:txBody>
      </p:sp>
      <p:sp>
        <p:nvSpPr>
          <p:cNvPr id="10" name="">
            <a:extLst xmlns:a="http://schemas.openxmlformats.org/drawingml/2006/main">
              <a:ext uri="{FF2B5EF4-FFF2-40B4-BE49-F238E27FC236}">
                <a16:creationId xmlns:a16="http://schemas.microsoft.com/office/drawing/2014/main" id="{920B52AA-0AEA-4C75-8853-D2E9BF0A506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7C64057C-309D-491A-827A-50D09F1828A6}"/>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2243311-68C7-4D28-8DFB-3671280C33DF}"/>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Alignment is a</a:t>
            </a:r>
          </a:p>
        </p:txBody>
      </p:sp>
      <p:sp>
        <p:nvSpPr>
          <p:cNvPr id="13" name="">
            <a:extLst xmlns:a="http://schemas.openxmlformats.org/drawingml/2006/main">
              <a:ext uri="{FF2B5EF4-FFF2-40B4-BE49-F238E27FC236}">
                <a16:creationId xmlns:a16="http://schemas.microsoft.com/office/drawing/2014/main" id="{2CCAD060-7029-4CB6-B2EE-1BBDAAB0F9A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data architecture problem,</a:t>
            </a:r>
          </a:p>
        </p:txBody>
      </p:sp>
      <p:sp>
        <p:nvSpPr>
          <p:cNvPr id="14" name="">
            <a:extLst xmlns:a="http://schemas.openxmlformats.org/drawingml/2006/main">
              <a:ext uri="{FF2B5EF4-FFF2-40B4-BE49-F238E27FC236}">
                <a16:creationId xmlns:a16="http://schemas.microsoft.com/office/drawing/2014/main" id="{4C43B785-C705-4045-A85F-15B61943C73C}"/>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only prompting.</a:t>
            </a:r>
          </a:p>
        </p:txBody>
      </p:sp>
    </p:spTree>
    <p:extLst>
      <p:ext uri="{BB962C8B-B14F-4D97-AF65-F5344CB8AC3E}">
        <p14:creationId xmlns:p14="http://schemas.microsoft.com/office/powerpoint/2010/main" val="116744702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897AEF2-DCC7-4703-940A-C6F176C5EE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DF16A02F-F963-4E74-BC54-B73DAFFB62A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7B70B35-59D0-43A8-99F0-4D3E4FE2052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93283147-EF44-4BDB-A79E-68B0020C4AC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1922296-9151-4B3D-B1AA-138C5D3A57B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8292FE-08E3-4CDC-8EC9-2DF3E896A51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AD1C7BB-327B-435A-8B1D-1172134903A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RAG</a:t>
            </a:r>
          </a:p>
        </p:txBody>
      </p:sp>
      <p:sp>
        <p:nvSpPr>
          <p:cNvPr id="8" name="">
            <a:extLst xmlns:a="http://schemas.openxmlformats.org/drawingml/2006/main">
              <a:ext uri="{FF2B5EF4-FFF2-40B4-BE49-F238E27FC236}">
                <a16:creationId xmlns:a16="http://schemas.microsoft.com/office/drawing/2014/main" id="{59933767-3F35-4769-8D66-D6951A62F5F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17</a:t>
            </a:r>
          </a:p>
        </p:txBody>
      </p:sp>
      <p:sp>
        <p:nvSpPr>
          <p:cNvPr id="9" name="">
            <a:extLst xmlns:a="http://schemas.openxmlformats.org/drawingml/2006/main">
              <a:ext uri="{FF2B5EF4-FFF2-40B4-BE49-F238E27FC236}">
                <a16:creationId xmlns:a16="http://schemas.microsoft.com/office/drawing/2014/main" id="{1A9E4605-21DE-45D9-94F4-14C958B0F246}"/>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03</a:t>
            </a:r>
          </a:p>
        </p:txBody>
      </p:sp>
      <p:sp>
        <p:nvSpPr>
          <p:cNvPr id="10" name="">
            <a:extLst xmlns:a="http://schemas.openxmlformats.org/drawingml/2006/main">
              <a:ext uri="{FF2B5EF4-FFF2-40B4-BE49-F238E27FC236}">
                <a16:creationId xmlns:a16="http://schemas.microsoft.com/office/drawing/2014/main" id="{6786BA43-F050-4908-9865-621F4FB7EFAF}"/>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Agentic RAG</a:t>
            </a:r>
          </a:p>
          <a:p xmlns:a="http://schemas.openxmlformats.org/drawingml/2006/main">
            <a:pPr>
              <a:buNone/>
              <a:defRPr sz="3600">
                <a:solidFill>
                  <a:srgbClr val="FFFFFF"/>
                </a:solidFill>
              </a:defRPr>
            </a:pPr>
            <a:r>
              <a:rPr sz="3600">
                <a:solidFill>
                  <a:srgbClr val="FFFFFF"/>
                </a:solidFill>
              </a:rPr>
              <a:t>&amp; MCP</a:t>
            </a:r>
          </a:p>
        </p:txBody>
      </p:sp>
      <p:sp>
        <p:nvSpPr>
          <p:cNvPr id="11" name="">
            <a:extLst xmlns:a="http://schemas.openxmlformats.org/drawingml/2006/main">
              <a:ext uri="{FF2B5EF4-FFF2-40B4-BE49-F238E27FC236}">
                <a16:creationId xmlns:a16="http://schemas.microsoft.com/office/drawing/2014/main" id="{35C0F7B3-34DA-4DE8-BF6B-A8D29EFCFC16}"/>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The governed nervous system for tools, memory, and access</a:t>
            </a:r>
          </a:p>
        </p:txBody>
      </p:sp>
      <p:sp>
        <p:nvSpPr>
          <p:cNvPr id="12" name="">
            <a:extLst xmlns:a="http://schemas.openxmlformats.org/drawingml/2006/main">
              <a:ext uri="{FF2B5EF4-FFF2-40B4-BE49-F238E27FC236}">
                <a16:creationId xmlns:a16="http://schemas.microsoft.com/office/drawing/2014/main" id="{332799F5-B4BB-4D46-88E3-2B8F37B50FC7}"/>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76E066B9-A3E7-4EC3-AD8E-DB938243FA4B}"/>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assignment_syllabus.md: numbered assignments and Homework A-G.</a:t>
            </a:r>
          </a:p>
        </p:txBody>
      </p:sp>
    </p:spTree>
    <p:extLst>
      <p:ext uri="{BB962C8B-B14F-4D97-AF65-F5344CB8AC3E}">
        <p14:creationId xmlns:p14="http://schemas.microsoft.com/office/powerpoint/2010/main" val="52168515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10A14A4-1F68-40AB-B3C3-8A75A6213B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9A2447E-EFB8-4BD0-BE65-1535AC955845}"/>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2E7B588-9114-4A50-A73A-D17DD7A9BE7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87E269D9-BBDF-47FE-BA22-431F1EC5C9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D0D21ADD-9A6C-4E9A-BF64-BD0114C55AAA}"/>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EAA7EF-5D40-4F44-8C83-BA32D7134FC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4628277-212F-4967-AE00-E2B2135F1E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 Agentic RAG</a:t>
            </a:r>
          </a:p>
        </p:txBody>
      </p:sp>
      <p:sp>
        <p:nvSpPr>
          <p:cNvPr id="8" name="">
            <a:extLst xmlns:a="http://schemas.openxmlformats.org/drawingml/2006/main">
              <a:ext uri="{FF2B5EF4-FFF2-40B4-BE49-F238E27FC236}">
                <a16:creationId xmlns:a16="http://schemas.microsoft.com/office/drawing/2014/main" id="{F86AE94F-9DC9-499E-A4F8-80F7BAEEC3B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18</a:t>
            </a:r>
          </a:p>
        </p:txBody>
      </p:sp>
      <p:sp>
        <p:nvSpPr>
          <p:cNvPr id="9" name="">
            <a:extLst xmlns:a="http://schemas.openxmlformats.org/drawingml/2006/main">
              <a:ext uri="{FF2B5EF4-FFF2-40B4-BE49-F238E27FC236}">
                <a16:creationId xmlns:a16="http://schemas.microsoft.com/office/drawing/2014/main" id="{123EFB90-0F69-4222-A579-2C62316102D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55879645-4AB1-4F14-8CF3-EC319AB34809}"/>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Access Problem</a:t>
            </a:r>
          </a:p>
        </p:txBody>
      </p:sp>
      <p:sp>
        <p:nvSpPr>
          <p:cNvPr id="11" name="">
            <a:extLst xmlns:a="http://schemas.openxmlformats.org/drawingml/2006/main">
              <a:ext uri="{FF2B5EF4-FFF2-40B4-BE49-F238E27FC236}">
                <a16:creationId xmlns:a16="http://schemas.microsoft.com/office/drawing/2014/main" id="{AD22924B-2997-4DFE-9E21-8F6D1FD78FA0}"/>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30737916-2338-475B-B2D1-1C824CB736FB}"/>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Agents need code, tickets, docs, databases, and tests.</a:t>
            </a:r>
          </a:p>
        </p:txBody>
      </p:sp>
      <p:sp>
        <p:nvSpPr>
          <p:cNvPr id="13" name="">
            <a:extLst xmlns:a="http://schemas.openxmlformats.org/drawingml/2006/main">
              <a:ext uri="{FF2B5EF4-FFF2-40B4-BE49-F238E27FC236}">
                <a16:creationId xmlns:a16="http://schemas.microsoft.com/office/drawing/2014/main" id="{0290CC4E-90D5-42E4-A5AC-82A2A7F426E1}"/>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8FE8C4A1-961B-47AF-A002-F064A0636E81}"/>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Direct access creates security and reliability risk.</a:t>
            </a:r>
          </a:p>
        </p:txBody>
      </p:sp>
      <p:sp>
        <p:nvSpPr>
          <p:cNvPr id="15" name="">
            <a:extLst xmlns:a="http://schemas.openxmlformats.org/drawingml/2006/main">
              <a:ext uri="{FF2B5EF4-FFF2-40B4-BE49-F238E27FC236}">
                <a16:creationId xmlns:a16="http://schemas.microsoft.com/office/drawing/2014/main" id="{3B9332D5-3104-4EBC-AECF-910653C12FD5}"/>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B0BA56EA-DAC0-47DE-A287-278D4B15FE4D}"/>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Agentic RAG: agents choose sources, inspect evidence, decide next step.</a:t>
            </a:r>
          </a:p>
        </p:txBody>
      </p:sp>
      <p:sp>
        <p:nvSpPr>
          <p:cNvPr id="17" name="">
            <a:extLst xmlns:a="http://schemas.openxmlformats.org/drawingml/2006/main">
              <a:ext uri="{FF2B5EF4-FFF2-40B4-BE49-F238E27FC236}">
                <a16:creationId xmlns:a16="http://schemas.microsoft.com/office/drawing/2014/main" id="{60B76989-B60B-4852-935F-C9A31216C0A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76264BD6-1947-4B32-83E3-3D3B7F520EC6}"/>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MCP: a standard interface between agents and external tools.</a:t>
            </a:r>
          </a:p>
        </p:txBody>
      </p:sp>
      <p:sp>
        <p:nvSpPr>
          <p:cNvPr id="19" name="">
            <a:extLst xmlns:a="http://schemas.openxmlformats.org/drawingml/2006/main">
              <a:ext uri="{FF2B5EF4-FFF2-40B4-BE49-F238E27FC236}">
                <a16:creationId xmlns:a16="http://schemas.microsoft.com/office/drawing/2014/main" id="{A04EAC2C-7AF3-4381-949C-E9F88EDF23ED}"/>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RAG gives context. MCP gives action. Policy decides.</a:t>
            </a:r>
          </a:p>
        </p:txBody>
      </p:sp>
      <p:sp>
        <p:nvSpPr>
          <p:cNvPr id="20" name="">
            <a:extLst xmlns:a="http://schemas.openxmlformats.org/drawingml/2006/main">
              <a:ext uri="{FF2B5EF4-FFF2-40B4-BE49-F238E27FC236}">
                <a16:creationId xmlns:a16="http://schemas.microsoft.com/office/drawing/2014/main" id="{A18B519C-F52A-4D69-8C55-3A1B5278703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211293923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702C50A-090F-443B-856F-430A9035E2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029038-4B10-44EE-B950-6ABB42D3AC16}"/>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9EB86177-E7A8-460A-BB04-2BF43237FF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FF057B7-0678-4745-BB73-4DFF7DBD6775}"/>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54D5F30-BEE7-4919-80CA-560A2B9F062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E8A342D6-3E59-4C85-ACC0-794759F2C66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2842FB-5307-42C2-8213-EBDA17EB95F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protocol</a:t>
            </a:r>
          </a:p>
        </p:txBody>
      </p:sp>
      <p:sp>
        <p:nvSpPr>
          <p:cNvPr id="8" name="">
            <a:extLst xmlns:a="http://schemas.openxmlformats.org/drawingml/2006/main">
              <a:ext uri="{FF2B5EF4-FFF2-40B4-BE49-F238E27FC236}">
                <a16:creationId xmlns:a16="http://schemas.microsoft.com/office/drawing/2014/main" id="{29F8C665-AFCC-420C-A54C-28C75793C880}"/>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19</a:t>
            </a:r>
          </a:p>
        </p:txBody>
      </p:sp>
      <p:sp>
        <p:nvSpPr>
          <p:cNvPr id="9" name="">
            <a:extLst xmlns:a="http://schemas.openxmlformats.org/drawingml/2006/main">
              <a:ext uri="{FF2B5EF4-FFF2-40B4-BE49-F238E27FC236}">
                <a16:creationId xmlns:a16="http://schemas.microsoft.com/office/drawing/2014/main" id="{DB023AB0-FC5D-4FB7-9C41-045942294278}"/>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5D525E4-66BA-48BA-9BC2-95EFB8162FE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RAG vs MCP — What Each Does</a:t>
            </a:r>
          </a:p>
        </p:txBody>
      </p:sp>
      <p:sp>
        <p:nvSpPr>
          <p:cNvPr id="11" name="">
            <a:extLst xmlns:a="http://schemas.openxmlformats.org/drawingml/2006/main">
              <a:ext uri="{FF2B5EF4-FFF2-40B4-BE49-F238E27FC236}">
                <a16:creationId xmlns:a16="http://schemas.microsoft.com/office/drawing/2014/main" id="{1E06C389-FFE8-445C-9B54-F71A679A62D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EEB50E37-6818-4E52-A204-5DA35AF2B8AC}"/>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04426B1-F28D-4E2F-AEDD-0BC678453276}"/>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Agentic RAG</a:t>
            </a:r>
          </a:p>
        </p:txBody>
      </p:sp>
      <p:sp>
        <p:nvSpPr>
          <p:cNvPr id="14" name="">
            <a:extLst xmlns:a="http://schemas.openxmlformats.org/drawingml/2006/main">
              <a:ext uri="{FF2B5EF4-FFF2-40B4-BE49-F238E27FC236}">
                <a16:creationId xmlns:a16="http://schemas.microsoft.com/office/drawing/2014/main" id="{3EFB563B-DB93-4A4B-93EE-16F90B2AB2A7}"/>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MCP Gateway</a:t>
            </a:r>
          </a:p>
        </p:txBody>
      </p:sp>
      <p:sp>
        <p:nvSpPr>
          <p:cNvPr id="15" name="">
            <a:extLst xmlns:a="http://schemas.openxmlformats.org/drawingml/2006/main">
              <a:ext uri="{FF2B5EF4-FFF2-40B4-BE49-F238E27FC236}">
                <a16:creationId xmlns:a16="http://schemas.microsoft.com/office/drawing/2014/main" id="{2D55BBB9-972D-481D-92A9-0D9F1099382E}"/>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2E99A6D0-BCDE-40B6-8475-B591AEBD765E}"/>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Retrieve from shared memory</a:t>
            </a:r>
          </a:p>
        </p:txBody>
      </p:sp>
      <p:sp>
        <p:nvSpPr>
          <p:cNvPr id="17" name="">
            <a:extLst xmlns:a="http://schemas.openxmlformats.org/drawingml/2006/main">
              <a:ext uri="{FF2B5EF4-FFF2-40B4-BE49-F238E27FC236}">
                <a16:creationId xmlns:a16="http://schemas.microsoft.com/office/drawing/2014/main" id="{CEA44D84-DFB5-4CFC-A44F-708C58F36496}"/>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789611D7-25A5-49A6-9C49-C9DBEF583402}"/>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Filter by role and sensitivity</a:t>
            </a:r>
          </a:p>
        </p:txBody>
      </p:sp>
      <p:sp>
        <p:nvSpPr>
          <p:cNvPr id="19" name="">
            <a:extLst xmlns:a="http://schemas.openxmlformats.org/drawingml/2006/main">
              <a:ext uri="{FF2B5EF4-FFF2-40B4-BE49-F238E27FC236}">
                <a16:creationId xmlns:a16="http://schemas.microsoft.com/office/drawing/2014/main" id="{A977E76C-413D-4C8E-BD66-F15E9BD14084}"/>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972F9F06-54D8-4F33-9045-DCB522140FFC}"/>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Inspect evidence</a:t>
            </a:r>
          </a:p>
        </p:txBody>
      </p:sp>
      <p:sp>
        <p:nvSpPr>
          <p:cNvPr id="21" name="">
            <a:extLst xmlns:a="http://schemas.openxmlformats.org/drawingml/2006/main">
              <a:ext uri="{FF2B5EF4-FFF2-40B4-BE49-F238E27FC236}">
                <a16:creationId xmlns:a16="http://schemas.microsoft.com/office/drawing/2014/main" id="{7AAA9241-FD59-4225-A077-E993CF150A2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A88574D1-F60D-43A6-877F-5F1C6CE49B51}"/>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Govern context as input</a:t>
            </a:r>
          </a:p>
        </p:txBody>
      </p:sp>
      <p:sp>
        <p:nvSpPr>
          <p:cNvPr id="23" name="">
            <a:extLst xmlns:a="http://schemas.openxmlformats.org/drawingml/2006/main">
              <a:ext uri="{FF2B5EF4-FFF2-40B4-BE49-F238E27FC236}">
                <a16:creationId xmlns:a16="http://schemas.microsoft.com/office/drawing/2014/main" id="{20E639DB-333F-4A34-B041-2EF7EB46468B}"/>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599DC679-721B-40E4-A5C5-EAE80AC0716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Standard tool discovery</a:t>
            </a:r>
          </a:p>
        </p:txBody>
      </p:sp>
      <p:sp>
        <p:nvSpPr>
          <p:cNvPr id="25" name="">
            <a:extLst xmlns:a="http://schemas.openxmlformats.org/drawingml/2006/main">
              <a:ext uri="{FF2B5EF4-FFF2-40B4-BE49-F238E27FC236}">
                <a16:creationId xmlns:a16="http://schemas.microsoft.com/office/drawing/2014/main" id="{C5CD2234-3E6A-40CA-B78B-85CABCB9A460}"/>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C728B5BB-A885-49C1-B419-3CCB6EDA910B}"/>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Identity + tool + args + sensitivity</a:t>
            </a:r>
          </a:p>
        </p:txBody>
      </p:sp>
      <p:sp>
        <p:nvSpPr>
          <p:cNvPr id="27" name="">
            <a:extLst xmlns:a="http://schemas.openxmlformats.org/drawingml/2006/main">
              <a:ext uri="{FF2B5EF4-FFF2-40B4-BE49-F238E27FC236}">
                <a16:creationId xmlns:a16="http://schemas.microsoft.com/office/drawing/2014/main" id="{DC5953E8-73EC-4A32-AA78-E4430177162F}"/>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2328C5FE-3BA2-4CFB-8614-8E93DB31ABC2}"/>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Policy decides</a:t>
            </a:r>
          </a:p>
        </p:txBody>
      </p:sp>
      <p:sp>
        <p:nvSpPr>
          <p:cNvPr id="29" name="">
            <a:extLst xmlns:a="http://schemas.openxmlformats.org/drawingml/2006/main">
              <a:ext uri="{FF2B5EF4-FFF2-40B4-BE49-F238E27FC236}">
                <a16:creationId xmlns:a16="http://schemas.microsoft.com/office/drawing/2014/main" id="{B58D09A2-C3D5-4922-8FF4-547CB136FB26}"/>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4F99EE5D-9D30-4076-91FA-FE4DEF28581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invocation</a:t>
            </a:r>
          </a:p>
        </p:txBody>
      </p:sp>
      <p:sp>
        <p:nvSpPr>
          <p:cNvPr id="31" name="">
            <a:extLst xmlns:a="http://schemas.openxmlformats.org/drawingml/2006/main">
              <a:ext uri="{FF2B5EF4-FFF2-40B4-BE49-F238E27FC236}">
                <a16:creationId xmlns:a16="http://schemas.microsoft.com/office/drawing/2014/main" id="{B13FC5D2-1AB0-4E4F-A8DD-58CDCD341EDE}"/>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nervous system must be standardized before it is powerful.</a:t>
            </a:r>
          </a:p>
        </p:txBody>
      </p:sp>
    </p:spTree>
    <p:extLst>
      <p:ext uri="{BB962C8B-B14F-4D97-AF65-F5344CB8AC3E}">
        <p14:creationId xmlns:p14="http://schemas.microsoft.com/office/powerpoint/2010/main" val="2189116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A39CABB-A942-42C0-8F35-B69BDDBD02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E5E8D83-EAA6-4455-91C1-0A074B0368E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19AC2B-AEA1-4A83-9E7A-4D35C970CEC6}"/>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22EED25-CA36-434B-A8E9-F0B7AEC708D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FBC322AA-25E6-4BA5-9EF6-D13F3160437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9CFA0A1-B58F-4926-8135-02FDBEF22B3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4EE5357D-B354-452C-9D99-857D186212B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security</a:t>
            </a:r>
          </a:p>
        </p:txBody>
      </p:sp>
      <p:sp>
        <p:nvSpPr>
          <p:cNvPr id="8" name="">
            <a:extLst xmlns:a="http://schemas.openxmlformats.org/drawingml/2006/main">
              <a:ext uri="{FF2B5EF4-FFF2-40B4-BE49-F238E27FC236}">
                <a16:creationId xmlns:a16="http://schemas.microsoft.com/office/drawing/2014/main" id="{25E6D284-217A-4221-B2F7-0B2683FB1CD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20</a:t>
            </a:r>
          </a:p>
        </p:txBody>
      </p:sp>
      <p:sp>
        <p:nvSpPr>
          <p:cNvPr id="9" name="">
            <a:extLst xmlns:a="http://schemas.openxmlformats.org/drawingml/2006/main">
              <a:ext uri="{FF2B5EF4-FFF2-40B4-BE49-F238E27FC236}">
                <a16:creationId xmlns:a16="http://schemas.microsoft.com/office/drawing/2014/main" id="{89ACE716-9B5D-4155-9574-F374E6AFC91C}"/>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8D07297-4534-487E-99E7-FE061E7C75A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Zero-Trust Tool Boundary</a:t>
            </a:r>
          </a:p>
        </p:txBody>
      </p:sp>
      <p:sp>
        <p:nvSpPr>
          <p:cNvPr id="11" name="">
            <a:extLst xmlns:a="http://schemas.openxmlformats.org/drawingml/2006/main">
              <a:ext uri="{FF2B5EF4-FFF2-40B4-BE49-F238E27FC236}">
                <a16:creationId xmlns:a16="http://schemas.microsoft.com/office/drawing/2014/main" id="{2B6B421D-BDCA-4F88-A43F-709B2ACA4CE1}"/>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FC348B22-1CE6-4D76-91AC-EC46DC9395F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Do not ask: does the model want this tool?</a:t>
            </a:r>
          </a:p>
        </p:txBody>
      </p:sp>
      <p:sp>
        <p:nvSpPr>
          <p:cNvPr id="13" name="">
            <a:extLst xmlns:a="http://schemas.openxmlformats.org/drawingml/2006/main">
              <a:ext uri="{FF2B5EF4-FFF2-40B4-BE49-F238E27FC236}">
                <a16:creationId xmlns:a16="http://schemas.microsoft.com/office/drawing/2014/main" id="{C486AE07-37BA-4B8E-AE9D-E11B6CA69DCD}"/>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AD56FD42-E57C-4870-AF2B-204594696D0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Ask: does policy allow this identity to use this tool for this data?</a:t>
            </a:r>
          </a:p>
        </p:txBody>
      </p:sp>
      <p:sp>
        <p:nvSpPr>
          <p:cNvPr id="15" name="">
            <a:extLst xmlns:a="http://schemas.openxmlformats.org/drawingml/2006/main">
              <a:ext uri="{FF2B5EF4-FFF2-40B4-BE49-F238E27FC236}">
                <a16:creationId xmlns:a16="http://schemas.microsoft.com/office/drawing/2014/main" id="{576E5ABC-72A4-4F68-A619-98C248541711}"/>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EFE4F111-1C40-4039-AF75-0469F68D0279}"/>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Agent → ToolRequest → Policy Gate → MCP Server → ToolResult.</a:t>
            </a:r>
          </a:p>
        </p:txBody>
      </p:sp>
      <p:sp>
        <p:nvSpPr>
          <p:cNvPr id="17" name="">
            <a:extLst xmlns:a="http://schemas.openxmlformats.org/drawingml/2006/main">
              <a:ext uri="{FF2B5EF4-FFF2-40B4-BE49-F238E27FC236}">
                <a16:creationId xmlns:a16="http://schemas.microsoft.com/office/drawing/2014/main" id="{28F467B1-E810-4DEE-B784-249E0F152B6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CCCA52CC-72DF-4012-A132-3FA591B4EAE7}"/>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Threats: prompt injection, tool overreach, context leakage, stale permissions.</a:t>
            </a:r>
          </a:p>
        </p:txBody>
      </p:sp>
      <p:sp>
        <p:nvSpPr>
          <p:cNvPr id="19" name="">
            <a:extLst xmlns:a="http://schemas.openxmlformats.org/drawingml/2006/main">
              <a:ext uri="{FF2B5EF4-FFF2-40B4-BE49-F238E27FC236}">
                <a16:creationId xmlns:a16="http://schemas.microsoft.com/office/drawing/2014/main" id="{9CCF5669-0D12-4DC7-9010-CF6F3484A3F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tool gateway is the bouncer.</a:t>
            </a:r>
          </a:p>
        </p:txBody>
      </p:sp>
      <p:sp>
        <p:nvSpPr>
          <p:cNvPr id="20" name="">
            <a:extLst xmlns:a="http://schemas.openxmlformats.org/drawingml/2006/main">
              <a:ext uri="{FF2B5EF4-FFF2-40B4-BE49-F238E27FC236}">
                <a16:creationId xmlns:a16="http://schemas.microsoft.com/office/drawing/2014/main" id="{C6B85E72-E09C-49B5-B25B-A4012F3DD9F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988131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CE18CF-8221-4115-A865-1BB01690A1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20F78BC-570A-4D65-8D0F-C5F7B4EE69A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DCFAD0A-50D8-403A-9082-6926F7DBD0C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02E0ADE-5B95-4A61-A537-FF5BAA5EAD8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037E989-AC28-4DA4-B6C3-FD8483AE1F96}"/>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173E833-B080-48F1-8F19-9A69825D5C4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5674373-1EE6-454D-987B-15406A3B29B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MCP governance</a:t>
            </a:r>
          </a:p>
        </p:txBody>
      </p:sp>
      <p:sp>
        <p:nvSpPr>
          <p:cNvPr id="8" name="">
            <a:extLst xmlns:a="http://schemas.openxmlformats.org/drawingml/2006/main">
              <a:ext uri="{FF2B5EF4-FFF2-40B4-BE49-F238E27FC236}">
                <a16:creationId xmlns:a16="http://schemas.microsoft.com/office/drawing/2014/main" id="{71515212-2386-4118-8D81-6B0E13F1D33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21</a:t>
            </a:r>
          </a:p>
        </p:txBody>
      </p:sp>
      <p:sp>
        <p:nvSpPr>
          <p:cNvPr id="9" name="">
            <a:extLst xmlns:a="http://schemas.openxmlformats.org/drawingml/2006/main">
              <a:ext uri="{FF2B5EF4-FFF2-40B4-BE49-F238E27FC236}">
                <a16:creationId xmlns:a16="http://schemas.microsoft.com/office/drawing/2014/main" id="{C95CA44F-9F83-4744-951C-C422D3931087}"/>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3 · Agentic RAG &amp; MCP</a:t>
            </a:r>
          </a:p>
        </p:txBody>
      </p:sp>
      <p:sp>
        <p:nvSpPr>
          <p:cNvPr id="10" name="">
            <a:extLst xmlns:a="http://schemas.openxmlformats.org/drawingml/2006/main">
              <a:ext uri="{FF2B5EF4-FFF2-40B4-BE49-F238E27FC236}">
                <a16:creationId xmlns:a16="http://schemas.microsoft.com/office/drawing/2014/main" id="{4A5EECEA-F035-4A84-A0D9-62A7B2A484C0}"/>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625109E7-32B4-4C73-92E1-38D5AEDF01A3}"/>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A60D908B-E779-4357-86AA-AFD2230048ED}"/>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The nervous system must be</a:t>
            </a:r>
          </a:p>
        </p:txBody>
      </p:sp>
      <p:sp>
        <p:nvSpPr>
          <p:cNvPr id="13" name="">
            <a:extLst xmlns:a="http://schemas.openxmlformats.org/drawingml/2006/main">
              <a:ext uri="{FF2B5EF4-FFF2-40B4-BE49-F238E27FC236}">
                <a16:creationId xmlns:a16="http://schemas.microsoft.com/office/drawing/2014/main" id="{D20D2C13-97C4-4EA6-B38F-B443187D8360}"/>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standardized and governed</a:t>
            </a:r>
          </a:p>
        </p:txBody>
      </p:sp>
      <p:sp>
        <p:nvSpPr>
          <p:cNvPr id="14" name="">
            <a:extLst xmlns:a="http://schemas.openxmlformats.org/drawingml/2006/main">
              <a:ext uri="{FF2B5EF4-FFF2-40B4-BE49-F238E27FC236}">
                <a16:creationId xmlns:a16="http://schemas.microsoft.com/office/drawing/2014/main" id="{CF701A02-9FB2-4CF8-9E80-A1402B113DD9}"/>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before it is powerful.</a:t>
            </a:r>
          </a:p>
        </p:txBody>
      </p:sp>
    </p:spTree>
    <p:extLst>
      <p:ext uri="{BB962C8B-B14F-4D97-AF65-F5344CB8AC3E}">
        <p14:creationId xmlns:p14="http://schemas.microsoft.com/office/powerpoint/2010/main" val="191895219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70D8293-2FD1-4ADB-98AE-4A7393B700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6AE987-652D-4E33-AA85-F9F591E9527A}"/>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E24309F-9476-4F3A-820B-F765FFF552D4}"/>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295CFBE-0798-485A-AB61-D50A69B0154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BCE211E7-04E4-48FE-A61A-6F33E1AA6AF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2BD9FA2-10CC-4762-973C-0E9A8260BBC1}"/>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2C61D1A-DCD7-4AF8-A91E-755CCCEB99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38D0E538-3121-41FC-98C1-87E7FCE3B74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22</a:t>
            </a:r>
          </a:p>
        </p:txBody>
      </p:sp>
      <p:sp>
        <p:nvSpPr>
          <p:cNvPr id="9" name="">
            <a:extLst xmlns:a="http://schemas.openxmlformats.org/drawingml/2006/main">
              <a:ext uri="{FF2B5EF4-FFF2-40B4-BE49-F238E27FC236}">
                <a16:creationId xmlns:a16="http://schemas.microsoft.com/office/drawing/2014/main" id="{9F6FC6A3-2E7C-4EEF-837C-2C0F36B284FA}"/>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04</a:t>
            </a:r>
          </a:p>
        </p:txBody>
      </p:sp>
      <p:sp>
        <p:nvSpPr>
          <p:cNvPr id="10" name="">
            <a:extLst xmlns:a="http://schemas.openxmlformats.org/drawingml/2006/main">
              <a:ext uri="{FF2B5EF4-FFF2-40B4-BE49-F238E27FC236}">
                <a16:creationId xmlns:a16="http://schemas.microsoft.com/office/drawing/2014/main" id="{8BF9837A-2551-4359-A503-21D940D4037E}"/>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Pydantic AI</a:t>
            </a:r>
          </a:p>
          <a:p xmlns:a="http://schemas.openxmlformats.org/drawingml/2006/main">
            <a:pPr>
              <a:buNone/>
              <a:defRPr sz="3600">
                <a:solidFill>
                  <a:srgbClr val="FFFFFF"/>
                </a:solidFill>
              </a:defRPr>
            </a:pPr>
            <a:r>
              <a:rPr sz="3600">
                <a:solidFill>
                  <a:srgbClr val="FFFFFF"/>
                </a:solidFill>
              </a:rPr>
              <a:t>&amp; Type Safety</a:t>
            </a:r>
          </a:p>
        </p:txBody>
      </p:sp>
      <p:sp>
        <p:nvSpPr>
          <p:cNvPr id="11" name="">
            <a:extLst xmlns:a="http://schemas.openxmlformats.org/drawingml/2006/main">
              <a:ext uri="{FF2B5EF4-FFF2-40B4-BE49-F238E27FC236}">
                <a16:creationId xmlns:a16="http://schemas.microsoft.com/office/drawing/2014/main" id="{E752C0DC-8666-49D6-BF8D-7CF476D2F568}"/>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Typed contracts for production delegation</a:t>
            </a:r>
          </a:p>
        </p:txBody>
      </p:sp>
      <p:sp>
        <p:nvSpPr>
          <p:cNvPr id="12" name="">
            <a:extLst xmlns:a="http://schemas.openxmlformats.org/drawingml/2006/main">
              <a:ext uri="{FF2B5EF4-FFF2-40B4-BE49-F238E27FC236}">
                <a16:creationId xmlns:a16="http://schemas.microsoft.com/office/drawing/2014/main" id="{B7220C31-BEF3-4F54-BCD7-BBD9C7F07DF5}"/>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4CB43421-036C-4F0A-941F-68002020680C}"/>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60839722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3890B41-C06B-454A-A4AB-314F747ECF9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37E6E53-C3FD-4ECF-90FB-344FBE2831C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84AB9772-6FB8-449B-9682-8EF6382A1027}"/>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AF76ADAE-A88E-444B-966B-754DC1E085B4}"/>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1D98F57-A87C-4190-92C9-BD03F05F035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2423887-27AC-466D-ADCF-113F8B78C73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6186326-66F8-49CF-B08E-D4BFBCD2176A}"/>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AI</a:t>
            </a:r>
          </a:p>
        </p:txBody>
      </p:sp>
      <p:sp>
        <p:nvSpPr>
          <p:cNvPr id="8" name="">
            <a:extLst xmlns:a="http://schemas.openxmlformats.org/drawingml/2006/main">
              <a:ext uri="{FF2B5EF4-FFF2-40B4-BE49-F238E27FC236}">
                <a16:creationId xmlns:a16="http://schemas.microsoft.com/office/drawing/2014/main" id="{7AB618FE-0169-4AB9-92D2-B1DDAC87B5A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23</a:t>
            </a:r>
          </a:p>
        </p:txBody>
      </p:sp>
      <p:sp>
        <p:nvSpPr>
          <p:cNvPr id="9" name="">
            <a:extLst xmlns:a="http://schemas.openxmlformats.org/drawingml/2006/main">
              <a:ext uri="{FF2B5EF4-FFF2-40B4-BE49-F238E27FC236}">
                <a16:creationId xmlns:a16="http://schemas.microsoft.com/office/drawing/2014/main" id="{06ACE5F9-1A9C-4423-A621-E0AB471A5DD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D3F11E0D-46CB-4E80-997B-0312491EF3A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Why Raw Text Breaks</a:t>
            </a:r>
          </a:p>
        </p:txBody>
      </p:sp>
      <p:sp>
        <p:nvSpPr>
          <p:cNvPr id="11" name="">
            <a:extLst xmlns:a="http://schemas.openxmlformats.org/drawingml/2006/main">
              <a:ext uri="{FF2B5EF4-FFF2-40B4-BE49-F238E27FC236}">
                <a16:creationId xmlns:a16="http://schemas.microsoft.com/office/drawing/2014/main" id="{2C6CDDDB-FAD2-4B8C-8202-667B1BBE49D7}"/>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5F2D8AC5-F427-4866-A617-96F9D6D0D92A}"/>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Raw LLM output is flexible; production systems need reliable fields.</a:t>
            </a:r>
          </a:p>
        </p:txBody>
      </p:sp>
      <p:sp>
        <p:nvSpPr>
          <p:cNvPr id="13" name="">
            <a:extLst xmlns:a="http://schemas.openxmlformats.org/drawingml/2006/main">
              <a:ext uri="{FF2B5EF4-FFF2-40B4-BE49-F238E27FC236}">
                <a16:creationId xmlns:a16="http://schemas.microsoft.com/office/drawing/2014/main" id="{937981A4-D55E-4907-8D96-F425AF312F2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EF495104-97A1-47DA-BD55-9DEA56A14067}"/>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PM emits TaskSpec. Coder emits CodePatch. QA emits TestResult.</a:t>
            </a:r>
          </a:p>
        </p:txBody>
      </p:sp>
      <p:sp>
        <p:nvSpPr>
          <p:cNvPr id="15" name="">
            <a:extLst xmlns:a="http://schemas.openxmlformats.org/drawingml/2006/main">
              <a:ext uri="{FF2B5EF4-FFF2-40B4-BE49-F238E27FC236}">
                <a16:creationId xmlns:a16="http://schemas.microsoft.com/office/drawing/2014/main" id="{3B400C55-86E5-4501-829A-03D627872B79}"/>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2511E57-443C-450F-872D-435C549289A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Pydantic is the customs checkpoint: valid artifacts cross.</a:t>
            </a:r>
          </a:p>
        </p:txBody>
      </p:sp>
      <p:sp>
        <p:nvSpPr>
          <p:cNvPr id="17" name="">
            <a:extLst xmlns:a="http://schemas.openxmlformats.org/drawingml/2006/main">
              <a:ext uri="{FF2B5EF4-FFF2-40B4-BE49-F238E27FC236}">
                <a16:creationId xmlns:a16="http://schemas.microsoft.com/office/drawing/2014/main" id="{FB851C19-E7A1-4266-80CD-4C075AABDC1E}"/>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9C296A3-B20E-46E0-9B7E-E23DB53B084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Validation errors become structured feedback for repair.</a:t>
            </a:r>
          </a:p>
        </p:txBody>
      </p:sp>
      <p:sp>
        <p:nvSpPr>
          <p:cNvPr id="19" name="">
            <a:extLst xmlns:a="http://schemas.openxmlformats.org/drawingml/2006/main">
              <a:ext uri="{FF2B5EF4-FFF2-40B4-BE49-F238E27FC236}">
                <a16:creationId xmlns:a16="http://schemas.microsoft.com/office/drawing/2014/main" id="{366C3C4D-B0FD-406C-8AA0-FFBA82843A06}"/>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Schema drift is silent. Pydantic makes it loud.</a:t>
            </a:r>
          </a:p>
        </p:txBody>
      </p:sp>
      <p:sp>
        <p:nvSpPr>
          <p:cNvPr id="20" name="">
            <a:extLst xmlns:a="http://schemas.openxmlformats.org/drawingml/2006/main">
              <a:ext uri="{FF2B5EF4-FFF2-40B4-BE49-F238E27FC236}">
                <a16:creationId xmlns:a16="http://schemas.microsoft.com/office/drawing/2014/main" id="{105A36A7-1C7C-40CA-B8DC-1A0A23E94486}"/>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45814466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E795D5-E65D-4D3B-8A13-D6CC3433A1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BCD3388-E700-4142-8764-366DD256C8D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7ED282E-A88D-4E47-8672-EA3A111D7A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E1C051CD-834B-4F1B-810B-D6EF109096A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FF855C-FC4B-49E9-AD0C-76E0022FA035}"/>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9455D0B-3C68-44F1-8ACF-49E2FF9B28C3}"/>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A55223A-0FE2-4C77-B4E4-0F27C8322BE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Pydantic validators</a:t>
            </a:r>
          </a:p>
        </p:txBody>
      </p:sp>
      <p:sp>
        <p:nvSpPr>
          <p:cNvPr id="8" name="">
            <a:extLst xmlns:a="http://schemas.openxmlformats.org/drawingml/2006/main">
              <a:ext uri="{FF2B5EF4-FFF2-40B4-BE49-F238E27FC236}">
                <a16:creationId xmlns:a16="http://schemas.microsoft.com/office/drawing/2014/main" id="{72E0150C-5692-4537-A610-B9D40303F0B9}"/>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24</a:t>
            </a:r>
          </a:p>
        </p:txBody>
      </p:sp>
      <p:sp>
        <p:nvSpPr>
          <p:cNvPr id="9" name="">
            <a:extLst xmlns:a="http://schemas.openxmlformats.org/drawingml/2006/main">
              <a:ext uri="{FF2B5EF4-FFF2-40B4-BE49-F238E27FC236}">
                <a16:creationId xmlns:a16="http://schemas.microsoft.com/office/drawing/2014/main" id="{D58BF40E-B3E5-4F1A-B513-7E1E67AD355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CF6A45D5-B707-4B28-9D87-BA0FAA3EAC8C}"/>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Strict Schema Rules</a:t>
            </a:r>
          </a:p>
        </p:txBody>
      </p:sp>
      <p:sp>
        <p:nvSpPr>
          <p:cNvPr id="11" name="">
            <a:extLst xmlns:a="http://schemas.openxmlformats.org/drawingml/2006/main">
              <a:ext uri="{FF2B5EF4-FFF2-40B4-BE49-F238E27FC236}">
                <a16:creationId xmlns:a16="http://schemas.microsoft.com/office/drawing/2014/main" id="{6743AD79-AB70-4153-AC8F-BD2E14ACA87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EA884D83-9043-4581-BDB4-0C7D7A89F009}"/>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Use extra='forbid' to reject hallucinated fields.</a:t>
            </a:r>
          </a:p>
        </p:txBody>
      </p:sp>
      <p:sp>
        <p:nvSpPr>
          <p:cNvPr id="13" name="">
            <a:extLst xmlns:a="http://schemas.openxmlformats.org/drawingml/2006/main">
              <a:ext uri="{FF2B5EF4-FFF2-40B4-BE49-F238E27FC236}">
                <a16:creationId xmlns:a16="http://schemas.microsoft.com/office/drawing/2014/main" id="{EF426944-F73F-4BDF-87A7-B10ABF839710}"/>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56C850C6-01FC-46AE-BAF4-D38A1484857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Validate field lengths and constrain enums.</a:t>
            </a:r>
          </a:p>
        </p:txBody>
      </p:sp>
      <p:sp>
        <p:nvSpPr>
          <p:cNvPr id="15" name="">
            <a:extLst xmlns:a="http://schemas.openxmlformats.org/drawingml/2006/main">
              <a:ext uri="{FF2B5EF4-FFF2-40B4-BE49-F238E27FC236}">
                <a16:creationId xmlns:a16="http://schemas.microsoft.com/office/drawing/2014/main" id="{60D95727-779B-4B52-8DBA-70AA274187BF}"/>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0238801D-0ACD-4C07-BB60-E87367197D42}"/>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Reject unsafe file paths before they reach the filesystem.</a:t>
            </a:r>
          </a:p>
        </p:txBody>
      </p:sp>
      <p:sp>
        <p:nvSpPr>
          <p:cNvPr id="17" name="">
            <a:extLst xmlns:a="http://schemas.openxmlformats.org/drawingml/2006/main">
              <a:ext uri="{FF2B5EF4-FFF2-40B4-BE49-F238E27FC236}">
                <a16:creationId xmlns:a16="http://schemas.microsoft.com/office/drawing/2014/main" id="{14DBB736-8FB1-4E83-81AF-1692647ECBD3}"/>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B5C19778-1C92-4A78-877F-11D26DFEC155}"/>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Test valid inputs, invalid inputs, empty lists, extra fields, unsafe paths.</a:t>
            </a:r>
          </a:p>
        </p:txBody>
      </p:sp>
      <p:sp>
        <p:nvSpPr>
          <p:cNvPr id="19" name="">
            <a:extLst xmlns:a="http://schemas.openxmlformats.org/drawingml/2006/main">
              <a:ext uri="{FF2B5EF4-FFF2-40B4-BE49-F238E27FC236}">
                <a16:creationId xmlns:a16="http://schemas.microsoft.com/office/drawing/2014/main" id="{ECD6EA94-598A-436A-A5EE-7DE4742C2B4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Test contracts as rigorously as code.</a:t>
            </a:r>
          </a:p>
        </p:txBody>
      </p:sp>
      <p:sp>
        <p:nvSpPr>
          <p:cNvPr id="20" name="">
            <a:extLst xmlns:a="http://schemas.openxmlformats.org/drawingml/2006/main">
              <a:ext uri="{FF2B5EF4-FFF2-40B4-BE49-F238E27FC236}">
                <a16:creationId xmlns:a16="http://schemas.microsoft.com/office/drawing/2014/main" id="{24E35836-23C5-46E3-84E9-6F4866582EE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79873385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D4D387-198E-4826-9B5D-BE8C3B58AE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80988A83-FA35-4FE7-AC42-B97E9FCE6AF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145CEA2-7A7C-4863-9846-04ED4A7D9B9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B600959-DFEF-488A-82C2-484D41A1F00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736BD4E-ACA1-4ADB-B90D-CEAE4604AEBF}"/>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C639543-00D9-43B1-9332-8A23D767772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F03DD6F6-6C65-484B-9429-50614E7E047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Type-safe delegation</a:t>
            </a:r>
          </a:p>
        </p:txBody>
      </p:sp>
      <p:sp>
        <p:nvSpPr>
          <p:cNvPr id="8" name="">
            <a:extLst xmlns:a="http://schemas.openxmlformats.org/drawingml/2006/main">
              <a:ext uri="{FF2B5EF4-FFF2-40B4-BE49-F238E27FC236}">
                <a16:creationId xmlns:a16="http://schemas.microsoft.com/office/drawing/2014/main" id="{A9514A70-D9BA-4497-BF99-B55BE7F0E01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25</a:t>
            </a:r>
          </a:p>
        </p:txBody>
      </p:sp>
      <p:sp>
        <p:nvSpPr>
          <p:cNvPr id="9" name="">
            <a:extLst xmlns:a="http://schemas.openxmlformats.org/drawingml/2006/main">
              <a:ext uri="{FF2B5EF4-FFF2-40B4-BE49-F238E27FC236}">
                <a16:creationId xmlns:a16="http://schemas.microsoft.com/office/drawing/2014/main" id="{F60B6BFB-96A1-4EF7-B359-2A61E0996D28}"/>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4 · Pydantic AI &amp; Type Safety</a:t>
            </a:r>
          </a:p>
        </p:txBody>
      </p:sp>
      <p:sp>
        <p:nvSpPr>
          <p:cNvPr id="10" name="">
            <a:extLst xmlns:a="http://schemas.openxmlformats.org/drawingml/2006/main">
              <a:ext uri="{FF2B5EF4-FFF2-40B4-BE49-F238E27FC236}">
                <a16:creationId xmlns:a16="http://schemas.microsoft.com/office/drawing/2014/main" id="{8999C29B-830F-46D7-9741-710DCED24351}"/>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1C9E5824-A59D-4142-9FE9-9862C1D2CCBD}"/>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FD3F5ACB-F03F-43AD-875F-4A12502CD0C3}"/>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Type safety is how</a:t>
            </a:r>
          </a:p>
        </p:txBody>
      </p:sp>
      <p:sp>
        <p:nvSpPr>
          <p:cNvPr id="13" name="">
            <a:extLst xmlns:a="http://schemas.openxmlformats.org/drawingml/2006/main">
              <a:ext uri="{FF2B5EF4-FFF2-40B4-BE49-F238E27FC236}">
                <a16:creationId xmlns:a16="http://schemas.microsoft.com/office/drawing/2014/main" id="{B7AF4566-BA3F-44CE-88D1-CF147F63FC05}"/>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agent conversation becomes</a:t>
            </a:r>
          </a:p>
        </p:txBody>
      </p:sp>
      <p:sp>
        <p:nvSpPr>
          <p:cNvPr id="14" name="">
            <a:extLst xmlns:a="http://schemas.openxmlformats.org/drawingml/2006/main">
              <a:ext uri="{FF2B5EF4-FFF2-40B4-BE49-F238E27FC236}">
                <a16:creationId xmlns:a16="http://schemas.microsoft.com/office/drawing/2014/main" id="{984A122E-3ED7-466E-931D-A84965BBE4BE}"/>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software architecture.</a:t>
            </a:r>
          </a:p>
        </p:txBody>
      </p:sp>
    </p:spTree>
    <p:extLst>
      <p:ext uri="{BB962C8B-B14F-4D97-AF65-F5344CB8AC3E}">
        <p14:creationId xmlns:p14="http://schemas.microsoft.com/office/powerpoint/2010/main" val="127329689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E2F56B-E751-456A-BC32-3B64A7FB8D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35AF5893-E49D-4F3E-8FED-BB2C5833A37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90E2311-5FD8-4DA4-AFEA-B541433191F0}"/>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489EF0E3-5F70-4150-9A65-B67D94FA3A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347602FE-315B-4D24-A9E5-734EC84F519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37E757F-D5E3-4650-A035-AB33CD68575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CAD2A1E-A4E7-4886-BAD4-465F6D6AAAA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75A6ACB7-7018-4A6D-AA75-81BC26F60A21}"/>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26</a:t>
            </a:r>
          </a:p>
        </p:txBody>
      </p:sp>
      <p:sp>
        <p:nvSpPr>
          <p:cNvPr id="9" name="">
            <a:extLst xmlns:a="http://schemas.openxmlformats.org/drawingml/2006/main">
              <a:ext uri="{FF2B5EF4-FFF2-40B4-BE49-F238E27FC236}">
                <a16:creationId xmlns:a16="http://schemas.microsoft.com/office/drawing/2014/main" id="{FF002C4C-6DBF-4641-9F50-FD51C21277E5}"/>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05</a:t>
            </a:r>
          </a:p>
        </p:txBody>
      </p:sp>
      <p:sp>
        <p:nvSpPr>
          <p:cNvPr id="10" name="">
            <a:extLst xmlns:a="http://schemas.openxmlformats.org/drawingml/2006/main">
              <a:ext uri="{FF2B5EF4-FFF2-40B4-BE49-F238E27FC236}">
                <a16:creationId xmlns:a16="http://schemas.microsoft.com/office/drawing/2014/main" id="{EDC007C1-F420-4747-9DF7-32541F69CEA1}"/>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Fugu Routing &amp;</a:t>
            </a:r>
          </a:p>
          <a:p xmlns:a="http://schemas.openxmlformats.org/drawingml/2006/main">
            <a:pPr>
              <a:buNone/>
              <a:defRPr sz="3600">
                <a:solidFill>
                  <a:srgbClr val="FFFFFF"/>
                </a:solidFill>
              </a:defRPr>
            </a:pPr>
            <a:r>
              <a:rPr sz="3600">
                <a:solidFill>
                  <a:srgbClr val="FFFFFF"/>
                </a:solidFill>
              </a:rPr>
              <a:t>ChatDev Self-Repair</a:t>
            </a:r>
          </a:p>
        </p:txBody>
      </p:sp>
      <p:sp>
        <p:nvSpPr>
          <p:cNvPr id="11" name="">
            <a:extLst xmlns:a="http://schemas.openxmlformats.org/drawingml/2006/main">
              <a:ext uri="{FF2B5EF4-FFF2-40B4-BE49-F238E27FC236}">
                <a16:creationId xmlns:a16="http://schemas.microsoft.com/office/drawing/2014/main" id="{3F113FE4-6C94-4155-A23C-BF9B1B1805E1}"/>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Dynamic routing, bounded correction, and recovery loops</a:t>
            </a:r>
          </a:p>
        </p:txBody>
      </p:sp>
      <p:sp>
        <p:nvSpPr>
          <p:cNvPr id="12" name="">
            <a:extLst xmlns:a="http://schemas.openxmlformats.org/drawingml/2006/main">
              <a:ext uri="{FF2B5EF4-FFF2-40B4-BE49-F238E27FC236}">
                <a16:creationId xmlns:a16="http://schemas.microsoft.com/office/drawing/2014/main" id="{1E35F63A-7FF3-40D0-B23F-2C2192540283}"/>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512C84A2-26AC-4547-AAD7-EF119D358CA8}"/>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2051564603"/>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40B7E35-F126-4EE9-9C73-0C88C48B7A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DEB0657-E7FA-45D0-9E18-C1A55D86CB9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D0A6854-1D08-4650-AF2F-66E3B22A31DC}"/>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CE778451-5915-4ACA-8123-AB3DD96EA3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22477C2-C824-4DDC-ABE8-BE53380BDD0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AE3055BC-16AC-45F9-841D-EB07CA1CD3C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6F91636-B669-41F7-988F-C62C6261D783}"/>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 Fugu</a:t>
            </a:r>
          </a:p>
        </p:txBody>
      </p:sp>
      <p:sp>
        <p:nvSpPr>
          <p:cNvPr id="8" name="">
            <a:extLst xmlns:a="http://schemas.openxmlformats.org/drawingml/2006/main">
              <a:ext uri="{FF2B5EF4-FFF2-40B4-BE49-F238E27FC236}">
                <a16:creationId xmlns:a16="http://schemas.microsoft.com/office/drawing/2014/main" id="{9664A87C-70C4-4D2D-8B27-797A7E0D7BE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27</a:t>
            </a:r>
          </a:p>
        </p:txBody>
      </p:sp>
      <p:sp>
        <p:nvSpPr>
          <p:cNvPr id="9" name="">
            <a:extLst xmlns:a="http://schemas.openxmlformats.org/drawingml/2006/main">
              <a:ext uri="{FF2B5EF4-FFF2-40B4-BE49-F238E27FC236}">
                <a16:creationId xmlns:a16="http://schemas.microsoft.com/office/drawing/2014/main" id="{11325C41-F106-4B5C-AE6A-4172E74F9DE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9C871E43-A9C5-43AA-94F6-B6577C0E592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Two Reflexes Every Team Needs</a:t>
            </a:r>
          </a:p>
        </p:txBody>
      </p:sp>
      <p:sp>
        <p:nvSpPr>
          <p:cNvPr id="11" name="">
            <a:extLst xmlns:a="http://schemas.openxmlformats.org/drawingml/2006/main">
              <a:ext uri="{FF2B5EF4-FFF2-40B4-BE49-F238E27FC236}">
                <a16:creationId xmlns:a16="http://schemas.microsoft.com/office/drawing/2014/main" id="{826D3A2E-1896-4E30-A1D2-285B42DB51AA}"/>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1BF8D65D-179C-4CF2-A5BB-F1EA01F75CD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9EB1613A-408C-4AD8-BEA4-B11F9F735D5B}"/>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Fugu Routing</a:t>
            </a:r>
          </a:p>
        </p:txBody>
      </p:sp>
      <p:sp>
        <p:nvSpPr>
          <p:cNvPr id="14" name="">
            <a:extLst xmlns:a="http://schemas.openxmlformats.org/drawingml/2006/main">
              <a:ext uri="{FF2B5EF4-FFF2-40B4-BE49-F238E27FC236}">
                <a16:creationId xmlns:a16="http://schemas.microsoft.com/office/drawing/2014/main" id="{3C35DB1C-9348-47B6-BD4B-CBF4BEC6949A}"/>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ChatDev Repair</a:t>
            </a:r>
          </a:p>
        </p:txBody>
      </p:sp>
      <p:sp>
        <p:nvSpPr>
          <p:cNvPr id="15" name="">
            <a:extLst xmlns:a="http://schemas.openxmlformats.org/drawingml/2006/main">
              <a:ext uri="{FF2B5EF4-FFF2-40B4-BE49-F238E27FC236}">
                <a16:creationId xmlns:a16="http://schemas.microsoft.com/office/drawing/2014/main" id="{F6F99881-96D2-4B1E-8405-90E53AC9460C}"/>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D3614B83-865A-498E-905E-CF1C07CB1504}"/>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Simple task → fast, cheap worker</a:t>
            </a:r>
          </a:p>
        </p:txBody>
      </p:sp>
      <p:sp>
        <p:nvSpPr>
          <p:cNvPr id="17" name="">
            <a:extLst xmlns:a="http://schemas.openxmlformats.org/drawingml/2006/main">
              <a:ext uri="{FF2B5EF4-FFF2-40B4-BE49-F238E27FC236}">
                <a16:creationId xmlns:a16="http://schemas.microsoft.com/office/drawing/2014/main" id="{BFD8B473-D40F-4CDD-844C-65873DFFC392}"/>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2B10C21E-7110-4D47-A788-50FC981BD6BB}"/>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Complex task → deeper, slower worker</a:t>
            </a:r>
          </a:p>
        </p:txBody>
      </p:sp>
      <p:sp>
        <p:nvSpPr>
          <p:cNvPr id="19" name="">
            <a:extLst xmlns:a="http://schemas.openxmlformats.org/drawingml/2006/main">
              <a:ext uri="{FF2B5EF4-FFF2-40B4-BE49-F238E27FC236}">
                <a16:creationId xmlns:a16="http://schemas.microsoft.com/office/drawing/2014/main" id="{A2161092-8A68-4D39-B2C5-3C84F98B2D07}"/>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E514A025-179E-4A75-99BE-8B06C53444D1}"/>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Signals: complexity, risk, cost, latency</a:t>
            </a:r>
          </a:p>
        </p:txBody>
      </p:sp>
      <p:sp>
        <p:nvSpPr>
          <p:cNvPr id="21" name="">
            <a:extLst xmlns:a="http://schemas.openxmlformats.org/drawingml/2006/main">
              <a:ext uri="{FF2B5EF4-FFF2-40B4-BE49-F238E27FC236}">
                <a16:creationId xmlns:a16="http://schemas.microsoft.com/office/drawing/2014/main" id="{C20D54A9-FDD3-40F5-B49C-7EF794EEBF21}"/>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BDD386D6-5A1E-4B5B-95A8-6B47BF65B456}"/>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Log every route decision</a:t>
            </a:r>
          </a:p>
        </p:txBody>
      </p:sp>
      <p:sp>
        <p:nvSpPr>
          <p:cNvPr id="23" name="">
            <a:extLst xmlns:a="http://schemas.openxmlformats.org/drawingml/2006/main">
              <a:ext uri="{FF2B5EF4-FFF2-40B4-BE49-F238E27FC236}">
                <a16:creationId xmlns:a16="http://schemas.microsoft.com/office/drawing/2014/main" id="{11827119-B8CB-4A9C-BF40-C088B22473E2}"/>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950246D4-F6B8-41E3-902F-89CCF7FBF225}"/>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writes, tester fails</a:t>
            </a:r>
          </a:p>
        </p:txBody>
      </p:sp>
      <p:sp>
        <p:nvSpPr>
          <p:cNvPr id="25" name="">
            <a:extLst xmlns:a="http://schemas.openxmlformats.org/drawingml/2006/main">
              <a:ext uri="{FF2B5EF4-FFF2-40B4-BE49-F238E27FC236}">
                <a16:creationId xmlns:a16="http://schemas.microsoft.com/office/drawing/2014/main" id="{0F0A3046-A272-4493-8C12-19CDD23E8F6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3F72912F-1A0C-409D-B8E7-D50DB5553F8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Reviewer sends evidence</a:t>
            </a:r>
          </a:p>
        </p:txBody>
      </p:sp>
      <p:sp>
        <p:nvSpPr>
          <p:cNvPr id="27" name="">
            <a:extLst xmlns:a="http://schemas.openxmlformats.org/drawingml/2006/main">
              <a:ext uri="{FF2B5EF4-FFF2-40B4-BE49-F238E27FC236}">
                <a16:creationId xmlns:a16="http://schemas.microsoft.com/office/drawing/2014/main" id="{89AC802F-EA49-45A6-BFF8-9950D3967D4D}"/>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405B3B8A-D53A-4D63-9C34-4DEADD5DF7B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Developer repairs with context</a:t>
            </a:r>
          </a:p>
        </p:txBody>
      </p:sp>
      <p:sp>
        <p:nvSpPr>
          <p:cNvPr id="29" name="">
            <a:extLst xmlns:a="http://schemas.openxmlformats.org/drawingml/2006/main">
              <a:ext uri="{FF2B5EF4-FFF2-40B4-BE49-F238E27FC236}">
                <a16:creationId xmlns:a16="http://schemas.microsoft.com/office/drawing/2014/main" id="{8306DDE9-88F4-43F5-A14E-E7092297F592}"/>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A651CE8C-7B18-4E8F-8712-0E1E122CB36F}"/>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Max repairs: 2, then escalate</a:t>
            </a:r>
          </a:p>
        </p:txBody>
      </p:sp>
      <p:sp>
        <p:nvSpPr>
          <p:cNvPr id="31" name="">
            <a:extLst xmlns:a="http://schemas.openxmlformats.org/drawingml/2006/main">
              <a:ext uri="{FF2B5EF4-FFF2-40B4-BE49-F238E27FC236}">
                <a16:creationId xmlns:a16="http://schemas.microsoft.com/office/drawing/2014/main" id="{370BADCD-0268-446D-8297-F81437C48EA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Reflexes make teams resilient only when bounded.</a:t>
            </a:r>
          </a:p>
        </p:txBody>
      </p:sp>
    </p:spTree>
    <p:extLst>
      <p:ext uri="{BB962C8B-B14F-4D97-AF65-F5344CB8AC3E}">
        <p14:creationId xmlns:p14="http://schemas.microsoft.com/office/powerpoint/2010/main" val="149355387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0F68580-D47F-45CD-8497-39CAC827CA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5CFF4CB4-90D8-46B9-8B00-1E1AA932A188}"/>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C3AE5493-D35E-4E17-910C-5B4B98D4C7E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DB47E4B-2D86-4CC9-819E-73351712B8AA}"/>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3CB4F25-452C-40B4-81E3-0BFAC0EE59D9}"/>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63449946-1605-4982-8773-71BE07B51895}"/>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B63B2665-75BA-40A7-86A0-88FBFAA058F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self-repair</a:t>
            </a:r>
          </a:p>
        </p:txBody>
      </p:sp>
      <p:sp>
        <p:nvSpPr>
          <p:cNvPr id="8" name="">
            <a:extLst xmlns:a="http://schemas.openxmlformats.org/drawingml/2006/main">
              <a:ext uri="{FF2B5EF4-FFF2-40B4-BE49-F238E27FC236}">
                <a16:creationId xmlns:a16="http://schemas.microsoft.com/office/drawing/2014/main" id="{13200B70-83F4-4497-8149-921BDBF6764A}"/>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28</a:t>
            </a:r>
          </a:p>
        </p:txBody>
      </p:sp>
      <p:sp>
        <p:nvSpPr>
          <p:cNvPr id="9" name="">
            <a:extLst xmlns:a="http://schemas.openxmlformats.org/drawingml/2006/main">
              <a:ext uri="{FF2B5EF4-FFF2-40B4-BE49-F238E27FC236}">
                <a16:creationId xmlns:a16="http://schemas.microsoft.com/office/drawing/2014/main" id="{F8FAB8E6-1F73-4E1E-B1B5-9CB4AC794EA5}"/>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C9F8BDCE-8915-4F56-AF39-07F36E639231}"/>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The Bounded Repair Loop</a:t>
            </a:r>
          </a:p>
        </p:txBody>
      </p:sp>
      <p:sp>
        <p:nvSpPr>
          <p:cNvPr id="11" name="">
            <a:extLst xmlns:a="http://schemas.openxmlformats.org/drawingml/2006/main">
              <a:ext uri="{FF2B5EF4-FFF2-40B4-BE49-F238E27FC236}">
                <a16:creationId xmlns:a16="http://schemas.microsoft.com/office/drawing/2014/main" id="{2760DA14-FBDC-457C-AD9B-1C9B3750E2E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7C11B69B-D4CB-44B7-84AB-86BD11726CD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Flow: Task → Router → Coder → QA → Reviewer → Repair Memory → Coder.</a:t>
            </a:r>
          </a:p>
        </p:txBody>
      </p:sp>
      <p:sp>
        <p:nvSpPr>
          <p:cNvPr id="13" name="">
            <a:extLst xmlns:a="http://schemas.openxmlformats.org/drawingml/2006/main">
              <a:ext uri="{FF2B5EF4-FFF2-40B4-BE49-F238E27FC236}">
                <a16:creationId xmlns:a16="http://schemas.microsoft.com/office/drawing/2014/main" id="{0EACD489-7F46-4906-A4E8-407B5BBE52BC}"/>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76F412E-BB51-4AD6-B96A-A28DC32B1ABD}"/>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Store failing test, error log, expected behavior, prior patch rationale.</a:t>
            </a:r>
          </a:p>
        </p:txBody>
      </p:sp>
      <p:sp>
        <p:nvSpPr>
          <p:cNvPr id="15" name="">
            <a:extLst xmlns:a="http://schemas.openxmlformats.org/drawingml/2006/main">
              <a:ext uri="{FF2B5EF4-FFF2-40B4-BE49-F238E27FC236}">
                <a16:creationId xmlns:a16="http://schemas.microsoft.com/office/drawing/2014/main" id="{5F72F3F6-4541-446E-A139-5C30F549B81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3B26AD67-5CB9-4D6E-BB5E-C201BA412376}"/>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Budget: Research 2, Writing 2, Evaluation 1, Manager 0.</a:t>
            </a:r>
          </a:p>
        </p:txBody>
      </p:sp>
      <p:sp>
        <p:nvSpPr>
          <p:cNvPr id="17" name="">
            <a:extLst xmlns:a="http://schemas.openxmlformats.org/drawingml/2006/main">
              <a:ext uri="{FF2B5EF4-FFF2-40B4-BE49-F238E27FC236}">
                <a16:creationId xmlns:a16="http://schemas.microsoft.com/office/drawing/2014/main" id="{17478B65-3C2D-4F90-A772-0EAF455C1F40}"/>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7386E46-C930-45AD-9181-614BFDAF5D9E}"/>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On exceed: ESCALATED_TO_HUMAN, never silent failure.</a:t>
            </a:r>
          </a:p>
        </p:txBody>
      </p:sp>
      <p:sp>
        <p:nvSpPr>
          <p:cNvPr id="19" name="">
            <a:extLst xmlns:a="http://schemas.openxmlformats.org/drawingml/2006/main">
              <a:ext uri="{FF2B5EF4-FFF2-40B4-BE49-F238E27FC236}">
                <a16:creationId xmlns:a16="http://schemas.microsoft.com/office/drawing/2014/main" id="{5DEC169C-7A4D-4CB1-B0A3-E9B7F0753497}"/>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The repair loop must have an exit.</a:t>
            </a:r>
          </a:p>
        </p:txBody>
      </p:sp>
      <p:sp>
        <p:nvSpPr>
          <p:cNvPr id="20" name="">
            <a:extLst xmlns:a="http://schemas.openxmlformats.org/drawingml/2006/main">
              <a:ext uri="{FF2B5EF4-FFF2-40B4-BE49-F238E27FC236}">
                <a16:creationId xmlns:a16="http://schemas.microsoft.com/office/drawing/2014/main" id="{0462F2CB-C7DB-4A6C-A621-5FF26D4F130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53188312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Main blue field">
            <a:extLst xmlns:a="http://schemas.openxmlformats.org/drawingml/2006/main">
              <a:ext uri="{FF2B5EF4-FFF2-40B4-BE49-F238E27FC236}">
                <a16:creationId xmlns:a16="http://schemas.microsoft.com/office/drawing/2014/main" id="{B6DDB24D-638C-4AAD-A11E-244339DFA8B3}"/>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2" name="Navy footer band">
            <a:extLst xmlns:a="http://schemas.openxmlformats.org/drawingml/2006/main">
              <a:ext uri="{FF2B5EF4-FFF2-40B4-BE49-F238E27FC236}">
                <a16:creationId xmlns:a16="http://schemas.microsoft.com/office/drawing/2014/main" id="{65DD40B2-342F-40BE-BA28-6B21114F1A4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3" name="Organization header left">
            <a:extLst xmlns:a="http://schemas.openxmlformats.org/drawingml/2006/main">
              <a:ext uri="{FF2B5EF4-FFF2-40B4-BE49-F238E27FC236}">
                <a16:creationId xmlns:a16="http://schemas.microsoft.com/office/drawing/2014/main" id="{C992FA3F-CAFA-43A9-A8B5-805C7F0319EF}"/>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050" b="0">
                <a:solidFill>
                  <a:srgbClr val="1F2330"/>
                </a:solidFill>
                <a:latin typeface="Calibri"/>
                <a:ea typeface="Calibri"/>
                <a:cs typeface="Calibri"/>
              </a:defRPr>
            </a:pPr>
            <a:r>
              <a:rPr sz="1050" b="0">
                <a:solidFill>
                  <a:srgbClr val="1F2330"/>
                </a:solidFill>
                <a:latin typeface="Calibri"/>
                <a:ea typeface="Calibri"/>
                <a:cs typeface="Calibri"/>
              </a:rPr>
              <a:t>frontier tech leaders</a:t>
            </a:r>
          </a:p>
        </p:txBody>
      </p:sp>
      <p:sp>
        <p:nvSpPr>
          <p:cNvPr id="4" name="Organization header right">
            <a:extLst xmlns:a="http://schemas.openxmlformats.org/drawingml/2006/main">
              <a:ext uri="{FF2B5EF4-FFF2-40B4-BE49-F238E27FC236}">
                <a16:creationId xmlns:a16="http://schemas.microsoft.com/office/drawing/2014/main" id="{30C1E5F8-8B0E-4B08-BD28-76101970C5A6}"/>
              </a:ext>
            </a:extLst>
          </p:cNvPr>
          <p:cNvSpPr>
            <a:spLocks xmlns:a="http://schemas.openxmlformats.org/drawingml/2006/main" noGrp="1"/>
          </p:cNvSpPr>
          <p:nvPr/>
        </p:nvSpPr>
        <p:spPr>
          <a:xfrm xmlns:a="http://schemas.openxmlformats.org/drawingml/2006/main">
            <a:off x="8667750" y="133350"/>
            <a:ext cx="3286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5" name="Organization footer">
            <a:extLst xmlns:a="http://schemas.openxmlformats.org/drawingml/2006/main">
              <a:ext uri="{FF2B5EF4-FFF2-40B4-BE49-F238E27FC236}">
                <a16:creationId xmlns:a16="http://schemas.microsoft.com/office/drawing/2014/main" id="{5F7866ED-3BC5-4EE6-A87F-63D2B7540132}"/>
              </a:ext>
            </a:extLst>
          </p:cNvPr>
          <p:cNvSpPr>
            <a:spLocks xmlns:a="http://schemas.openxmlformats.org/drawingml/2006/main" noGrp="1"/>
          </p:cNvSpPr>
          <p:nvPr/>
        </p:nvSpPr>
        <p:spPr>
          <a:xfrm xmlns:a="http://schemas.openxmlformats.org/drawingml/2006/main">
            <a:off x="228600" y="66294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6" name="Source footer">
            <a:extLst xmlns:a="http://schemas.openxmlformats.org/drawingml/2006/main">
              <a:ext uri="{FF2B5EF4-FFF2-40B4-BE49-F238E27FC236}">
                <a16:creationId xmlns:a16="http://schemas.microsoft.com/office/drawing/2014/main" id="{CD9B7B49-91C1-4DE7-9221-FF9A303688C3}"/>
              </a:ext>
            </a:extLst>
          </p:cNvPr>
          <p:cNvSpPr>
            <a:spLocks xmlns:a="http://schemas.openxmlformats.org/drawingml/2006/main" noGrp="1"/>
          </p:cNvSpPr>
          <p:nvPr/>
        </p:nvSpPr>
        <p:spPr>
          <a:xfrm xmlns:a="http://schemas.openxmlformats.org/drawingml/2006/main">
            <a:off x="7734300" y="6134100"/>
            <a:ext cx="3543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b="0">
                <a:solidFill>
                  <a:srgbClr val="BFC2FF"/>
                </a:solidFill>
                <a:latin typeface="Calibri"/>
                <a:ea typeface="Calibri"/>
                <a:cs typeface="Calibri"/>
              </a:defRPr>
            </a:pPr>
            <a:r>
              <a:rPr sz="750" b="0">
                <a:solidFill>
                  <a:srgbClr val="BFC2FF"/>
                </a:solidFill>
                <a:latin typeface="Calibri"/>
                <a:ea typeface="Calibri"/>
                <a:cs typeface="Calibri"/>
              </a:rPr>
              <a:t>Sources: Sakana Fugu · TRINITY</a:t>
            </a:r>
          </a:p>
        </p:txBody>
      </p:sp>
      <p:sp>
        <p:nvSpPr>
          <p:cNvPr id="7" name="Slide number">
            <a:extLst xmlns:a="http://schemas.openxmlformats.org/drawingml/2006/main">
              <a:ext uri="{FF2B5EF4-FFF2-40B4-BE49-F238E27FC236}">
                <a16:creationId xmlns:a16="http://schemas.microsoft.com/office/drawing/2014/main" id="{3F384ACA-D646-4D63-A339-61D35C2C9E8D}"/>
              </a:ext>
            </a:extLst>
          </p:cNvPr>
          <p:cNvSpPr>
            <a:spLocks xmlns:a="http://schemas.openxmlformats.org/drawingml/2006/main" noGrp="1"/>
          </p:cNvSpPr>
          <p:nvPr/>
        </p:nvSpPr>
        <p:spPr>
          <a:xfrm xmlns:a="http://schemas.openxmlformats.org/drawingml/2006/main">
            <a:off x="11677650" y="6134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75" b="0">
                <a:solidFill>
                  <a:srgbClr val="FFFFFF"/>
                </a:solidFill>
                <a:latin typeface="Calibri"/>
                <a:ea typeface="Calibri"/>
                <a:cs typeface="Calibri"/>
              </a:defRPr>
            </a:pPr>
            <a:r>
              <a:rPr sz="975" b="0">
                <a:solidFill>
                  <a:srgbClr val="FFFFFF"/>
                </a:solidFill>
                <a:latin typeface="Calibri"/>
                <a:ea typeface="Calibri"/>
                <a:cs typeface="Calibri"/>
              </a:rPr>
              <a:t>29</a:t>
            </a:r>
          </a:p>
        </p:txBody>
      </p:sp>
      <p:sp>
        <p:nvSpPr>
          <p:cNvPr id="8" name="Module label">
            <a:extLst xmlns:a="http://schemas.openxmlformats.org/drawingml/2006/main">
              <a:ext uri="{FF2B5EF4-FFF2-40B4-BE49-F238E27FC236}">
                <a16:creationId xmlns:a16="http://schemas.microsoft.com/office/drawing/2014/main" id="{744E3F4B-A393-4993-80B5-8C2D822E986C}"/>
              </a:ext>
            </a:extLst>
          </p:cNvPr>
          <p:cNvSpPr>
            <a:spLocks xmlns:a="http://schemas.openxmlformats.org/drawingml/2006/main" noGrp="1"/>
          </p:cNvSpPr>
          <p:nvPr/>
        </p:nvSpPr>
        <p:spPr>
          <a:xfrm xmlns:a="http://schemas.openxmlformats.org/drawingml/2006/main">
            <a:off x="495300" y="5524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050" b="0">
                <a:solidFill>
                  <a:srgbClr val="BFC2FF"/>
                </a:solidFill>
                <a:latin typeface="Calibri"/>
                <a:ea typeface="Calibri"/>
                <a:cs typeface="Calibri"/>
              </a:defRPr>
            </a:pPr>
            <a:r>
              <a:rPr sz="1050" b="0">
                <a:solidFill>
                  <a:srgbClr val="BFC2FF"/>
                </a:solidFill>
                <a:latin typeface="Calibri"/>
                <a:ea typeface="Calibri"/>
                <a:cs typeface="Calibri"/>
              </a:rPr>
              <a:t>Module 5 · Fugu Routing &amp; ChatDev Self-Repair</a:t>
            </a:r>
          </a:p>
        </p:txBody>
      </p:sp>
      <p:sp>
        <p:nvSpPr>
          <p:cNvPr id="9" name="Slide title">
            <a:extLst xmlns:a="http://schemas.openxmlformats.org/drawingml/2006/main">
              <a:ext uri="{FF2B5EF4-FFF2-40B4-BE49-F238E27FC236}">
                <a16:creationId xmlns:a16="http://schemas.microsoft.com/office/drawing/2014/main" id="{F691B836-ED91-4E7E-903A-35EFFB6C3FD8}"/>
              </a:ext>
            </a:extLst>
          </p:cNvPr>
          <p:cNvSpPr>
            <a:spLocks xmlns:a="http://schemas.openxmlformats.org/drawingml/2006/main" noGrp="1"/>
          </p:cNvSpPr>
          <p:nvPr/>
        </p:nvSpPr>
        <p:spPr>
          <a:xfrm xmlns:a="http://schemas.openxmlformats.org/drawingml/2006/main">
            <a:off x="495300" y="819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b="0">
                <a:solidFill>
                  <a:srgbClr val="FFFFFF"/>
                </a:solidFill>
                <a:latin typeface="Calibri"/>
                <a:ea typeface="Calibri"/>
                <a:cs typeface="Calibri"/>
              </a:defRPr>
            </a:pPr>
            <a:r>
              <a:rPr sz="3225" b="0">
                <a:solidFill>
                  <a:srgbClr val="FFFFFF"/>
                </a:solidFill>
                <a:latin typeface="Calibri"/>
                <a:ea typeface="Calibri"/>
                <a:cs typeface="Calibri"/>
              </a:rPr>
              <a:t>Fugu-Ultra: Workflow and Access Lists</a:t>
            </a:r>
          </a:p>
        </p:txBody>
      </p:sp>
      <p:sp>
        <p:nvSpPr>
          <p:cNvPr id="10" name="Research mechanism label">
            <a:extLst xmlns:a="http://schemas.openxmlformats.org/drawingml/2006/main">
              <a:ext uri="{FF2B5EF4-FFF2-40B4-BE49-F238E27FC236}">
                <a16:creationId xmlns:a16="http://schemas.microsoft.com/office/drawing/2014/main" id="{CD704C08-F24C-4135-89E5-8657B0822BC3}"/>
              </a:ext>
            </a:extLst>
          </p:cNvPr>
          <p:cNvSpPr>
            <a:spLocks xmlns:a="http://schemas.openxmlformats.org/drawingml/2006/main" noGrp="1"/>
          </p:cNvSpPr>
          <p:nvPr/>
        </p:nvSpPr>
        <p:spPr>
          <a:xfrm xmlns:a="http://schemas.openxmlformats.org/drawingml/2006/main">
            <a:off x="609600" y="16192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200" b="1">
                <a:solidFill>
                  <a:srgbClr val="FF3B30"/>
                </a:solidFill>
                <a:latin typeface="Calibri"/>
                <a:ea typeface="Calibri"/>
                <a:cs typeface="Calibri"/>
              </a:defRPr>
            </a:pPr>
            <a:r>
              <a:rPr sz="1200" b="1">
                <a:solidFill>
                  <a:srgbClr val="FF3B30"/>
                </a:solidFill>
                <a:latin typeface="Calibri"/>
                <a:ea typeface="Calibri"/>
                <a:cs typeface="Calibri"/>
              </a:rPr>
              <a:t>FUGU-ULTRA MECHANISM</a:t>
            </a:r>
          </a:p>
        </p:txBody>
      </p:sp>
      <p:sp>
        <p:nvSpPr>
          <p:cNvPr id="11" name="Research mechanism description">
            <a:extLst xmlns:a="http://schemas.openxmlformats.org/drawingml/2006/main">
              <a:ext uri="{FF2B5EF4-FFF2-40B4-BE49-F238E27FC236}">
                <a16:creationId xmlns:a16="http://schemas.microsoft.com/office/drawing/2014/main" id="{BFDE9051-A43E-4B68-9AC9-C900E207767C}"/>
              </a:ext>
            </a:extLst>
          </p:cNvPr>
          <p:cNvSpPr>
            <a:spLocks xmlns:a="http://schemas.openxmlformats.org/drawingml/2006/main" noGrp="1"/>
          </p:cNvSpPr>
          <p:nvPr/>
        </p:nvSpPr>
        <p:spPr>
          <a:xfrm xmlns:a="http://schemas.openxmlformats.org/drawingml/2006/main">
            <a:off x="609600" y="18859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650" b="0">
                <a:solidFill>
                  <a:srgbClr val="FFFFFF"/>
                </a:solidFill>
                <a:latin typeface="Calibri"/>
                <a:ea typeface="Calibri"/>
                <a:cs typeface="Calibri"/>
              </a:defRPr>
            </a:pPr>
            <a:r>
              <a:rPr sz="1650" b="0">
                <a:solidFill>
                  <a:srgbClr val="FFFFFF"/>
                </a:solidFill>
                <a:latin typeface="Calibri"/>
                <a:ea typeface="Calibri"/>
                <a:cs typeface="Calibri"/>
              </a:rPr>
              <a:t>The Conductor assigns each step a worker and subtask. An access list selects which earlier subtask results enter that worker’s context.</a:t>
            </a:r>
          </a:p>
        </p:txBody>
      </p:sp>
      <p:sp>
        <p:nvSpPr>
          <p:cNvPr id="12" name="Section divider">
            <a:extLst xmlns:a="http://schemas.openxmlformats.org/drawingml/2006/main">
              <a:ext uri="{FF2B5EF4-FFF2-40B4-BE49-F238E27FC236}">
                <a16:creationId xmlns:a16="http://schemas.microsoft.com/office/drawing/2014/main" id="{3464AA31-26C2-4D36-BF39-E70109B458DB}"/>
              </a:ext>
            </a:extLst>
          </p:cNvPr>
          <p:cNvSpPr>
            <a:spLocks xmlns:a="http://schemas.openxmlformats.org/drawingml/2006/main" noGrp="1"/>
          </p:cNvSpPr>
          <p:nvPr/>
        </p:nvSpPr>
        <p:spPr>
          <a:xfrm xmlns:a="http://schemas.openxmlformats.org/drawingml/2006/main">
            <a:off x="609600" y="2647950"/>
            <a:ext cx="10972800" cy="9525"/>
          </a:xfrm>
          <a:prstGeom xmlns:a="http://schemas.openxmlformats.org/drawingml/2006/main" prst="rect">
            <a:avLst/>
          </a:prstGeom>
          <a:solidFill xmlns:a="http://schemas.openxmlformats.org/drawingml/2006/main">
            <a:srgbClr val="8184ED"/>
          </a:solidFill>
          <a:ln xmlns:a="http://schemas.openxmlformats.org/drawingml/2006/main" w="0">
            <a:solidFill>
              <a:srgbClr val="8184ED"/>
            </a:solidFill>
            <a:prstDash val="solid"/>
          </a:ln>
        </p:spPr>
      </p:sp>
      <p:sp>
        <p:nvSpPr>
          <p:cNvPr id="13" name="Exercise label">
            <a:extLst xmlns:a="http://schemas.openxmlformats.org/drawingml/2006/main">
              <a:ext uri="{FF2B5EF4-FFF2-40B4-BE49-F238E27FC236}">
                <a16:creationId xmlns:a16="http://schemas.microsoft.com/office/drawing/2014/main" id="{43939790-7FEF-4A72-A050-39AF3C3E1795}"/>
              </a:ext>
            </a:extLst>
          </p:cNvPr>
          <p:cNvSpPr>
            <a:spLocks xmlns:a="http://schemas.openxmlformats.org/drawingml/2006/main" noGrp="1"/>
          </p:cNvSpPr>
          <p:nvPr/>
        </p:nvSpPr>
        <p:spPr>
          <a:xfrm xmlns:a="http://schemas.openxmlformats.org/drawingml/2006/main">
            <a:off x="609600" y="2781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200" b="1">
                <a:solidFill>
                  <a:srgbClr val="FF3B30"/>
                </a:solidFill>
                <a:latin typeface="Calibri"/>
                <a:ea typeface="Calibri"/>
                <a:cs typeface="Calibri"/>
              </a:defRPr>
            </a:pPr>
            <a:r>
              <a:rPr sz="1200" b="1">
                <a:solidFill>
                  <a:srgbClr val="FF3B30"/>
                </a:solidFill>
                <a:latin typeface="Calibri"/>
                <a:ea typeface="Calibri"/>
                <a:cs typeface="Calibri"/>
              </a:rPr>
              <a:t>LEARNER EXERCISE · DEV → TEST → REVIEW → REPAIR → ESCALATE</a:t>
            </a:r>
          </a:p>
        </p:txBody>
      </p:sp>
      <p:sp>
        <p:nvSpPr>
          <p:cNvPr id="14" name="Exercise stage 1">
            <a:extLst xmlns:a="http://schemas.openxmlformats.org/drawingml/2006/main">
              <a:ext uri="{FF2B5EF4-FFF2-40B4-BE49-F238E27FC236}">
                <a16:creationId xmlns:a16="http://schemas.microsoft.com/office/drawing/2014/main" id="{154C4B11-346A-44BE-A7DA-FE38CCC4713A}"/>
              </a:ext>
            </a:extLst>
          </p:cNvPr>
          <p:cNvSpPr>
            <a:spLocks xmlns:a="http://schemas.openxmlformats.org/drawingml/2006/main" noGrp="1"/>
          </p:cNvSpPr>
          <p:nvPr/>
        </p:nvSpPr>
        <p:spPr>
          <a:xfrm xmlns:a="http://schemas.openxmlformats.org/drawingml/2006/main">
            <a:off x="1219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1</a:t>
            </a:r>
          </a:p>
        </p:txBody>
      </p:sp>
      <p:sp>
        <p:nvSpPr>
          <p:cNvPr id="15" name="Exercise stage 1 title">
            <a:extLst xmlns:a="http://schemas.openxmlformats.org/drawingml/2006/main">
              <a:ext uri="{FF2B5EF4-FFF2-40B4-BE49-F238E27FC236}">
                <a16:creationId xmlns:a16="http://schemas.microsoft.com/office/drawing/2014/main" id="{97678CDB-77E0-4F99-BE40-453506852EDC}"/>
              </a:ext>
            </a:extLst>
          </p:cNvPr>
          <p:cNvSpPr>
            <a:spLocks xmlns:a="http://schemas.openxmlformats.org/drawingml/2006/main" noGrp="1"/>
          </p:cNvSpPr>
          <p:nvPr/>
        </p:nvSpPr>
        <p:spPr>
          <a:xfrm xmlns:a="http://schemas.openxmlformats.org/drawingml/2006/main">
            <a:off x="523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DEVELOP</a:t>
            </a:r>
          </a:p>
        </p:txBody>
      </p:sp>
      <p:sp>
        <p:nvSpPr>
          <p:cNvPr id="16" name="Exercise stage 1 description">
            <a:extLst xmlns:a="http://schemas.openxmlformats.org/drawingml/2006/main">
              <a:ext uri="{FF2B5EF4-FFF2-40B4-BE49-F238E27FC236}">
                <a16:creationId xmlns:a16="http://schemas.microsoft.com/office/drawing/2014/main" id="{2E630BD2-987E-4EF6-8D33-84CCA34559F9}"/>
              </a:ext>
            </a:extLst>
          </p:cNvPr>
          <p:cNvSpPr>
            <a:spLocks xmlns:a="http://schemas.openxmlformats.org/drawingml/2006/main" noGrp="1"/>
          </p:cNvSpPr>
          <p:nvPr/>
        </p:nvSpPr>
        <p:spPr>
          <a:xfrm xmlns:a="http://schemas.openxmlformats.org/drawingml/2006/main">
            <a:off x="523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0">
                <a:solidFill>
                  <a:srgbClr val="FFFFFF"/>
                </a:solidFill>
                <a:latin typeface="Calibri"/>
                <a:ea typeface="Calibri"/>
                <a:cs typeface="Calibri"/>
              </a:defRPr>
            </a:pPr>
            <a:r>
              <a:rPr sz="1200" b="0">
                <a:solidFill>
                  <a:srgbClr val="FFFFFF"/>
                </a:solidFill>
                <a:latin typeface="Calibri"/>
                <a:ea typeface="Calibri"/>
                <a:cs typeface="Calibri"/>
              </a:rPr>
              <a:t>Coder drafts the change.</a:t>
            </a:r>
          </a:p>
        </p:txBody>
      </p:sp>
      <p:sp>
        <p:nvSpPr>
          <p:cNvPr id="17" name="Exercise connector 1">
            <a:extLst xmlns:a="http://schemas.openxmlformats.org/drawingml/2006/main">
              <a:ext uri="{FF2B5EF4-FFF2-40B4-BE49-F238E27FC236}">
                <a16:creationId xmlns:a16="http://schemas.microsoft.com/office/drawing/2014/main" id="{E4C1869D-5223-4642-B90B-E07CE4DAC7BD}"/>
              </a:ext>
            </a:extLst>
          </p:cNvPr>
          <p:cNvSpPr>
            <a:spLocks xmlns:a="http://schemas.openxmlformats.org/drawingml/2006/main" noGrp="1"/>
          </p:cNvSpPr>
          <p:nvPr/>
        </p:nvSpPr>
        <p:spPr>
          <a:xfrm xmlns:a="http://schemas.openxmlformats.org/drawingml/2006/main">
            <a:off x="2476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buNone/>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18" name="Exercise stage 2">
            <a:extLst xmlns:a="http://schemas.openxmlformats.org/drawingml/2006/main">
              <a:ext uri="{FF2B5EF4-FFF2-40B4-BE49-F238E27FC236}">
                <a16:creationId xmlns:a16="http://schemas.microsoft.com/office/drawing/2014/main" id="{81F3DF3A-F58E-408B-BC06-7B6E39EF59F2}"/>
              </a:ext>
            </a:extLst>
          </p:cNvPr>
          <p:cNvSpPr>
            <a:spLocks xmlns:a="http://schemas.openxmlformats.org/drawingml/2006/main" noGrp="1"/>
          </p:cNvSpPr>
          <p:nvPr/>
        </p:nvSpPr>
        <p:spPr>
          <a:xfrm xmlns:a="http://schemas.openxmlformats.org/drawingml/2006/main">
            <a:off x="3505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2</a:t>
            </a:r>
          </a:p>
        </p:txBody>
      </p:sp>
      <p:sp>
        <p:nvSpPr>
          <p:cNvPr id="19" name="Exercise stage 2 title">
            <a:extLst xmlns:a="http://schemas.openxmlformats.org/drawingml/2006/main">
              <a:ext uri="{FF2B5EF4-FFF2-40B4-BE49-F238E27FC236}">
                <a16:creationId xmlns:a16="http://schemas.microsoft.com/office/drawing/2014/main" id="{A6DD2DA0-FF2E-47BA-9872-59C82E3BDF2A}"/>
              </a:ext>
            </a:extLst>
          </p:cNvPr>
          <p:cNvSpPr>
            <a:spLocks xmlns:a="http://schemas.openxmlformats.org/drawingml/2006/main" noGrp="1"/>
          </p:cNvSpPr>
          <p:nvPr/>
        </p:nvSpPr>
        <p:spPr>
          <a:xfrm xmlns:a="http://schemas.openxmlformats.org/drawingml/2006/main">
            <a:off x="2809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TEST</a:t>
            </a:r>
          </a:p>
        </p:txBody>
      </p:sp>
      <p:sp>
        <p:nvSpPr>
          <p:cNvPr id="20" name="Exercise stage 2 description">
            <a:extLst xmlns:a="http://schemas.openxmlformats.org/drawingml/2006/main">
              <a:ext uri="{FF2B5EF4-FFF2-40B4-BE49-F238E27FC236}">
                <a16:creationId xmlns:a16="http://schemas.microsoft.com/office/drawing/2014/main" id="{BCAC1C08-B3C7-4D96-8E65-E0FD898C3BC9}"/>
              </a:ext>
            </a:extLst>
          </p:cNvPr>
          <p:cNvSpPr>
            <a:spLocks xmlns:a="http://schemas.openxmlformats.org/drawingml/2006/main" noGrp="1"/>
          </p:cNvSpPr>
          <p:nvPr/>
        </p:nvSpPr>
        <p:spPr>
          <a:xfrm xmlns:a="http://schemas.openxmlformats.org/drawingml/2006/main">
            <a:off x="2809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0">
                <a:solidFill>
                  <a:srgbClr val="FFFFFF"/>
                </a:solidFill>
                <a:latin typeface="Calibri"/>
                <a:ea typeface="Calibri"/>
                <a:cs typeface="Calibri"/>
              </a:defRPr>
            </a:pPr>
            <a:r>
              <a:rPr sz="1200" b="0">
                <a:solidFill>
                  <a:srgbClr val="FFFFFF"/>
                </a:solidFill>
                <a:latin typeface="Calibri"/>
                <a:ea typeface="Calibri"/>
                <a:cs typeface="Calibri"/>
              </a:rPr>
              <a:t>QA runs the checks and records failures.</a:t>
            </a:r>
          </a:p>
        </p:txBody>
      </p:sp>
      <p:sp>
        <p:nvSpPr>
          <p:cNvPr id="21" name="Exercise connector 2">
            <a:extLst xmlns:a="http://schemas.openxmlformats.org/drawingml/2006/main">
              <a:ext uri="{FF2B5EF4-FFF2-40B4-BE49-F238E27FC236}">
                <a16:creationId xmlns:a16="http://schemas.microsoft.com/office/drawing/2014/main" id="{F9C56C1F-F5C7-4BBC-AC22-D91DC8A1B65A}"/>
              </a:ext>
            </a:extLst>
          </p:cNvPr>
          <p:cNvSpPr>
            <a:spLocks xmlns:a="http://schemas.openxmlformats.org/drawingml/2006/main" noGrp="1"/>
          </p:cNvSpPr>
          <p:nvPr/>
        </p:nvSpPr>
        <p:spPr>
          <a:xfrm xmlns:a="http://schemas.openxmlformats.org/drawingml/2006/main">
            <a:off x="4762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buNone/>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22" name="Exercise stage 3">
            <a:extLst xmlns:a="http://schemas.openxmlformats.org/drawingml/2006/main">
              <a:ext uri="{FF2B5EF4-FFF2-40B4-BE49-F238E27FC236}">
                <a16:creationId xmlns:a16="http://schemas.microsoft.com/office/drawing/2014/main" id="{8A58007E-1966-4A8B-8E12-6D2721224DA5}"/>
              </a:ext>
            </a:extLst>
          </p:cNvPr>
          <p:cNvSpPr>
            <a:spLocks xmlns:a="http://schemas.openxmlformats.org/drawingml/2006/main" noGrp="1"/>
          </p:cNvSpPr>
          <p:nvPr/>
        </p:nvSpPr>
        <p:spPr>
          <a:xfrm xmlns:a="http://schemas.openxmlformats.org/drawingml/2006/main">
            <a:off x="5791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3</a:t>
            </a:r>
          </a:p>
        </p:txBody>
      </p:sp>
      <p:sp>
        <p:nvSpPr>
          <p:cNvPr id="23" name="Exercise stage 3 title">
            <a:extLst xmlns:a="http://schemas.openxmlformats.org/drawingml/2006/main">
              <a:ext uri="{FF2B5EF4-FFF2-40B4-BE49-F238E27FC236}">
                <a16:creationId xmlns:a16="http://schemas.microsoft.com/office/drawing/2014/main" id="{A94FC210-B1FC-48A4-8252-EE9018455028}"/>
              </a:ext>
            </a:extLst>
          </p:cNvPr>
          <p:cNvSpPr>
            <a:spLocks xmlns:a="http://schemas.openxmlformats.org/drawingml/2006/main" noGrp="1"/>
          </p:cNvSpPr>
          <p:nvPr/>
        </p:nvSpPr>
        <p:spPr>
          <a:xfrm xmlns:a="http://schemas.openxmlformats.org/drawingml/2006/main">
            <a:off x="5095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REVIEW</a:t>
            </a:r>
          </a:p>
        </p:txBody>
      </p:sp>
      <p:sp>
        <p:nvSpPr>
          <p:cNvPr id="24" name="Exercise stage 3 description">
            <a:extLst xmlns:a="http://schemas.openxmlformats.org/drawingml/2006/main">
              <a:ext uri="{FF2B5EF4-FFF2-40B4-BE49-F238E27FC236}">
                <a16:creationId xmlns:a16="http://schemas.microsoft.com/office/drawing/2014/main" id="{7750A147-73E4-4697-88D7-87B25194B4B7}"/>
              </a:ext>
            </a:extLst>
          </p:cNvPr>
          <p:cNvSpPr>
            <a:spLocks xmlns:a="http://schemas.openxmlformats.org/drawingml/2006/main" noGrp="1"/>
          </p:cNvSpPr>
          <p:nvPr/>
        </p:nvSpPr>
        <p:spPr>
          <a:xfrm xmlns:a="http://schemas.openxmlformats.org/drawingml/2006/main">
            <a:off x="5095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0">
                <a:solidFill>
                  <a:srgbClr val="FFFFFF"/>
                </a:solidFill>
                <a:latin typeface="Calibri"/>
                <a:ea typeface="Calibri"/>
                <a:cs typeface="Calibri"/>
              </a:defRPr>
            </a:pPr>
            <a:r>
              <a:rPr sz="1200" b="0">
                <a:solidFill>
                  <a:srgbClr val="FFFFFF"/>
                </a:solidFill>
                <a:latin typeface="Calibri"/>
                <a:ea typeface="Calibri"/>
                <a:cs typeface="Calibri"/>
              </a:rPr>
              <a:t>Verifier returns evidence; the access list scopes what the coder sees.</a:t>
            </a:r>
          </a:p>
        </p:txBody>
      </p:sp>
      <p:sp>
        <p:nvSpPr>
          <p:cNvPr id="25" name="Exercise connector 3">
            <a:extLst xmlns:a="http://schemas.openxmlformats.org/drawingml/2006/main">
              <a:ext uri="{FF2B5EF4-FFF2-40B4-BE49-F238E27FC236}">
                <a16:creationId xmlns:a16="http://schemas.microsoft.com/office/drawing/2014/main" id="{D68F214C-9CE3-4766-9E54-E03A3ACE2F89}"/>
              </a:ext>
            </a:extLst>
          </p:cNvPr>
          <p:cNvSpPr>
            <a:spLocks xmlns:a="http://schemas.openxmlformats.org/drawingml/2006/main" noGrp="1"/>
          </p:cNvSpPr>
          <p:nvPr/>
        </p:nvSpPr>
        <p:spPr>
          <a:xfrm xmlns:a="http://schemas.openxmlformats.org/drawingml/2006/main">
            <a:off x="7048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buNone/>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26" name="Exercise stage 4">
            <a:extLst xmlns:a="http://schemas.openxmlformats.org/drawingml/2006/main">
              <a:ext uri="{FF2B5EF4-FFF2-40B4-BE49-F238E27FC236}">
                <a16:creationId xmlns:a16="http://schemas.microsoft.com/office/drawing/2014/main" id="{5BBDA9E9-8610-4879-A73E-C69DA2EC025D}"/>
              </a:ext>
            </a:extLst>
          </p:cNvPr>
          <p:cNvSpPr>
            <a:spLocks xmlns:a="http://schemas.openxmlformats.org/drawingml/2006/main" noGrp="1"/>
          </p:cNvSpPr>
          <p:nvPr/>
        </p:nvSpPr>
        <p:spPr>
          <a:xfrm xmlns:a="http://schemas.openxmlformats.org/drawingml/2006/main">
            <a:off x="8077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4</a:t>
            </a:r>
          </a:p>
        </p:txBody>
      </p:sp>
      <p:sp>
        <p:nvSpPr>
          <p:cNvPr id="27" name="Exercise stage 4 title">
            <a:extLst xmlns:a="http://schemas.openxmlformats.org/drawingml/2006/main">
              <a:ext uri="{FF2B5EF4-FFF2-40B4-BE49-F238E27FC236}">
                <a16:creationId xmlns:a16="http://schemas.microsoft.com/office/drawing/2014/main" id="{63A9491D-C1C2-487D-A164-728DC6879771}"/>
              </a:ext>
            </a:extLst>
          </p:cNvPr>
          <p:cNvSpPr>
            <a:spLocks xmlns:a="http://schemas.openxmlformats.org/drawingml/2006/main" noGrp="1"/>
          </p:cNvSpPr>
          <p:nvPr/>
        </p:nvSpPr>
        <p:spPr>
          <a:xfrm xmlns:a="http://schemas.openxmlformats.org/drawingml/2006/main">
            <a:off x="7381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REPAIR</a:t>
            </a:r>
          </a:p>
        </p:txBody>
      </p:sp>
      <p:sp>
        <p:nvSpPr>
          <p:cNvPr id="28" name="Exercise stage 4 description">
            <a:extLst xmlns:a="http://schemas.openxmlformats.org/drawingml/2006/main">
              <a:ext uri="{FF2B5EF4-FFF2-40B4-BE49-F238E27FC236}">
                <a16:creationId xmlns:a16="http://schemas.microsoft.com/office/drawing/2014/main" id="{666B4A94-5F9F-4CE8-BEA9-4C143D082F4A}"/>
              </a:ext>
            </a:extLst>
          </p:cNvPr>
          <p:cNvSpPr>
            <a:spLocks xmlns:a="http://schemas.openxmlformats.org/drawingml/2006/main" noGrp="1"/>
          </p:cNvSpPr>
          <p:nvPr/>
        </p:nvSpPr>
        <p:spPr>
          <a:xfrm xmlns:a="http://schemas.openxmlformats.org/drawingml/2006/main">
            <a:off x="7381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0">
                <a:solidFill>
                  <a:srgbClr val="FFFFFF"/>
                </a:solidFill>
                <a:latin typeface="Calibri"/>
                <a:ea typeface="Calibri"/>
                <a:cs typeface="Calibri"/>
              </a:defRPr>
            </a:pPr>
            <a:r>
              <a:rPr sz="1200" b="0">
                <a:solidFill>
                  <a:srgbClr val="FFFFFF"/>
                </a:solidFill>
                <a:latin typeface="Calibri"/>
                <a:ea typeface="Calibri"/>
                <a:cs typeface="Calibri"/>
              </a:rPr>
              <a:t>Coder gets at most 3 repair retries.</a:t>
            </a:r>
          </a:p>
        </p:txBody>
      </p:sp>
      <p:sp>
        <p:nvSpPr>
          <p:cNvPr id="29" name="Exercise connector 4">
            <a:extLst xmlns:a="http://schemas.openxmlformats.org/drawingml/2006/main">
              <a:ext uri="{FF2B5EF4-FFF2-40B4-BE49-F238E27FC236}">
                <a16:creationId xmlns:a16="http://schemas.microsoft.com/office/drawing/2014/main" id="{483BD3A1-0193-4EC4-A203-B9142EEE377E}"/>
              </a:ext>
            </a:extLst>
          </p:cNvPr>
          <p:cNvSpPr>
            <a:spLocks xmlns:a="http://schemas.openxmlformats.org/drawingml/2006/main" noGrp="1"/>
          </p:cNvSpPr>
          <p:nvPr/>
        </p:nvSpPr>
        <p:spPr>
          <a:xfrm xmlns:a="http://schemas.openxmlformats.org/drawingml/2006/main">
            <a:off x="9334500" y="342900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765"/>
          </a:bodyPr>
          <a:lstStyle xmlns:a="http://schemas.openxmlformats.org/drawingml/2006/main"/>
          <a:p xmlns:a="http://schemas.openxmlformats.org/drawingml/2006/main">
            <a:pPr algn="ctr">
              <a:buNone/>
              <a:defRPr sz="2025" b="0">
                <a:solidFill>
                  <a:srgbClr val="FF3B30"/>
                </a:solidFill>
                <a:latin typeface="Calibri"/>
                <a:ea typeface="Calibri"/>
                <a:cs typeface="Calibri"/>
              </a:defRPr>
            </a:pPr>
            <a:r>
              <a:rPr sz="2025" b="0">
                <a:solidFill>
                  <a:srgbClr val="FF3B30"/>
                </a:solidFill>
                <a:latin typeface="Calibri"/>
                <a:ea typeface="Calibri"/>
                <a:cs typeface="Calibri"/>
              </a:rPr>
              <a:t>→</a:t>
            </a:r>
          </a:p>
        </p:txBody>
      </p:sp>
      <p:sp>
        <p:nvSpPr>
          <p:cNvPr id="30" name="Exercise stage 5">
            <a:extLst xmlns:a="http://schemas.openxmlformats.org/drawingml/2006/main">
              <a:ext uri="{FF2B5EF4-FFF2-40B4-BE49-F238E27FC236}">
                <a16:creationId xmlns:a16="http://schemas.microsoft.com/office/drawing/2014/main" id="{56F705A3-53C9-40BE-86E0-EA7130373C64}"/>
              </a:ext>
            </a:extLst>
          </p:cNvPr>
          <p:cNvSpPr>
            <a:spLocks xmlns:a="http://schemas.openxmlformats.org/drawingml/2006/main" noGrp="1"/>
          </p:cNvSpPr>
          <p:nvPr/>
        </p:nvSpPr>
        <p:spPr>
          <a:xfrm xmlns:a="http://schemas.openxmlformats.org/drawingml/2006/main">
            <a:off x="10363200" y="3295650"/>
            <a:ext cx="552450" cy="552450"/>
          </a:xfrm>
          <a:prstGeom xmlns:a="http://schemas.openxmlformats.org/drawingml/2006/main" prst="ellipse">
            <a:avLst/>
          </a:prstGeom>
          <a:solidFill xmlns:a="http://schemas.openxmlformats.org/drawingml/2006/main">
            <a:srgbClr val="FF3B30"/>
          </a:solidFill>
          <a:ln xmlns:a="http://schemas.openxmlformats.org/drawingml/2006/main" w="0">
            <a:solidFill>
              <a:srgbClr val="FF3B30"/>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5</a:t>
            </a:r>
          </a:p>
        </p:txBody>
      </p:sp>
      <p:sp>
        <p:nvSpPr>
          <p:cNvPr id="31" name="Exercise stage 5 title">
            <a:extLst xmlns:a="http://schemas.openxmlformats.org/drawingml/2006/main">
              <a:ext uri="{FF2B5EF4-FFF2-40B4-BE49-F238E27FC236}">
                <a16:creationId xmlns:a16="http://schemas.microsoft.com/office/drawing/2014/main" id="{3AC09E2F-40BE-48A9-9AA1-9C7AE553311A}"/>
              </a:ext>
            </a:extLst>
          </p:cNvPr>
          <p:cNvSpPr>
            <a:spLocks xmlns:a="http://schemas.openxmlformats.org/drawingml/2006/main" noGrp="1"/>
          </p:cNvSpPr>
          <p:nvPr/>
        </p:nvSpPr>
        <p:spPr>
          <a:xfrm xmlns:a="http://schemas.openxmlformats.org/drawingml/2006/main">
            <a:off x="9667875" y="3943350"/>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ESCALATE</a:t>
            </a:r>
          </a:p>
        </p:txBody>
      </p:sp>
      <p:sp>
        <p:nvSpPr>
          <p:cNvPr id="32" name="Exercise stage 5 description">
            <a:extLst xmlns:a="http://schemas.openxmlformats.org/drawingml/2006/main">
              <a:ext uri="{FF2B5EF4-FFF2-40B4-BE49-F238E27FC236}">
                <a16:creationId xmlns:a16="http://schemas.microsoft.com/office/drawing/2014/main" id="{36E0D32D-26FE-42D5-B169-496F0F13D080}"/>
              </a:ext>
            </a:extLst>
          </p:cNvPr>
          <p:cNvSpPr>
            <a:spLocks xmlns:a="http://schemas.openxmlformats.org/drawingml/2006/main" noGrp="1"/>
          </p:cNvSpPr>
          <p:nvPr/>
        </p:nvSpPr>
        <p:spPr>
          <a:xfrm xmlns:a="http://schemas.openxmlformats.org/drawingml/2006/main">
            <a:off x="9667875" y="4257675"/>
            <a:ext cx="19431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00" b="0">
                <a:solidFill>
                  <a:srgbClr val="FFFFFF"/>
                </a:solidFill>
                <a:latin typeface="Calibri"/>
                <a:ea typeface="Calibri"/>
                <a:cs typeface="Calibri"/>
              </a:defRPr>
            </a:pPr>
            <a:r>
              <a:rPr sz="1200" b="0">
                <a:solidFill>
                  <a:srgbClr val="FFFFFF"/>
                </a:solidFill>
                <a:latin typeface="Calibri"/>
                <a:ea typeface="Calibri"/>
                <a:cs typeface="Calibri"/>
              </a:rPr>
              <a:t>Route to a human after the 4th failed check.</a:t>
            </a:r>
          </a:p>
        </p:txBody>
      </p:sp>
      <p:sp>
        <p:nvSpPr>
          <p:cNvPr id="33" name="Course policy distinction">
            <a:extLst xmlns:a="http://schemas.openxmlformats.org/drawingml/2006/main">
              <a:ext uri="{FF2B5EF4-FFF2-40B4-BE49-F238E27FC236}">
                <a16:creationId xmlns:a16="http://schemas.microsoft.com/office/drawing/2014/main" id="{B04CA091-B9C8-483F-83A2-B8C9405CA20B}"/>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275" b="0">
                <a:solidFill>
                  <a:srgbClr val="BFC2FF"/>
                </a:solidFill>
                <a:latin typeface="Calibri"/>
                <a:ea typeface="Calibri"/>
                <a:cs typeface="Calibri"/>
              </a:defRPr>
            </a:pPr>
            <a:r>
              <a:rPr sz="1275" b="0">
                <a:solidFill>
                  <a:srgbClr val="BFC2FF"/>
                </a:solidFill>
                <a:latin typeface="Calibri"/>
                <a:ea typeface="Calibri"/>
                <a:cs typeface="Calibri"/>
              </a:rPr>
              <a:t>The three-retry cap and human escalation are course rules. The Fugu-Ultra paper describes workflow planning and context access, not this fixed repair sequence.</a:t>
            </a:r>
          </a:p>
        </p:txBody>
      </p:sp>
    </p:spTree>
    <p:extLst>
      <p:ext uri="{BB962C8B-B14F-4D97-AF65-F5344CB8AC3E}">
        <p14:creationId xmlns:p14="http://schemas.microsoft.com/office/powerpoint/2010/main" val="13380689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ain blue field">
            <a:extLst xmlns:a="http://schemas.openxmlformats.org/drawingml/2006/main">
              <a:ext uri="{FF2B5EF4-FFF2-40B4-BE49-F238E27FC236}">
                <a16:creationId xmlns:a16="http://schemas.microsoft.com/office/drawing/2014/main" id="{E9FEDDEF-D8FA-4B3B-9993-1CC91A3BF68E}"/>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2" name="Navy footer band">
            <a:extLst xmlns:a="http://schemas.openxmlformats.org/drawingml/2006/main">
              <a:ext uri="{FF2B5EF4-FFF2-40B4-BE49-F238E27FC236}">
                <a16:creationId xmlns:a16="http://schemas.microsoft.com/office/drawing/2014/main" id="{57CF8592-F05E-4C53-9886-EC3DEF8236D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3" name="Organization header left">
            <a:extLst xmlns:a="http://schemas.openxmlformats.org/drawingml/2006/main">
              <a:ext uri="{FF2B5EF4-FFF2-40B4-BE49-F238E27FC236}">
                <a16:creationId xmlns:a16="http://schemas.microsoft.com/office/drawing/2014/main" id="{BC15B8E0-C5F2-4BEC-9A51-3ED957F1A39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050" b="0">
                <a:solidFill>
                  <a:srgbClr val="1F2330"/>
                </a:solidFill>
                <a:latin typeface="Calibri"/>
                <a:ea typeface="Calibri"/>
                <a:cs typeface="Calibri"/>
              </a:defRPr>
            </a:pPr>
            <a:r>
              <a:rPr sz="1050" b="0">
                <a:solidFill>
                  <a:srgbClr val="1F2330"/>
                </a:solidFill>
                <a:latin typeface="Calibri"/>
                <a:ea typeface="Calibri"/>
                <a:cs typeface="Calibri"/>
              </a:rPr>
              <a:t>frontier tech leaders</a:t>
            </a:r>
          </a:p>
        </p:txBody>
      </p:sp>
      <p:sp>
        <p:nvSpPr>
          <p:cNvPr id="4" name="Organization header right">
            <a:extLst xmlns:a="http://schemas.openxmlformats.org/drawingml/2006/main">
              <a:ext uri="{FF2B5EF4-FFF2-40B4-BE49-F238E27FC236}">
                <a16:creationId xmlns:a16="http://schemas.microsoft.com/office/drawing/2014/main" id="{734B0B85-219E-4A45-B6A5-D9940650C7FA}"/>
              </a:ext>
            </a:extLst>
          </p:cNvPr>
          <p:cNvSpPr>
            <a:spLocks xmlns:a="http://schemas.openxmlformats.org/drawingml/2006/main" noGrp="1"/>
          </p:cNvSpPr>
          <p:nvPr/>
        </p:nvSpPr>
        <p:spPr>
          <a:xfrm xmlns:a="http://schemas.openxmlformats.org/drawingml/2006/main">
            <a:off x="8667750" y="133350"/>
            <a:ext cx="3286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00" b="0">
                <a:solidFill>
                  <a:srgbClr val="555555"/>
                </a:solidFill>
                <a:latin typeface="Calibri"/>
                <a:ea typeface="Calibri"/>
                <a:cs typeface="Calibri"/>
              </a:defRPr>
            </a:pPr>
            <a:r>
              <a:rPr sz="900" b="0">
                <a:solidFill>
                  <a:srgbClr val="555555"/>
                </a:solidFill>
                <a:latin typeface="Calibri"/>
                <a:ea typeface="Calibri"/>
                <a:cs typeface="Calibri"/>
              </a:rPr>
              <a:t>SDG AI Lab  ·  UN Technology  ·  ICPSD  ·  UNDP</a:t>
            </a:r>
          </a:p>
        </p:txBody>
      </p:sp>
      <p:sp>
        <p:nvSpPr>
          <p:cNvPr id="5" name="Organization footer">
            <a:extLst xmlns:a="http://schemas.openxmlformats.org/drawingml/2006/main">
              <a:ext uri="{FF2B5EF4-FFF2-40B4-BE49-F238E27FC236}">
                <a16:creationId xmlns:a16="http://schemas.microsoft.com/office/drawing/2014/main" id="{ED9CF551-E139-40E3-B124-E7D18A46BD58}"/>
              </a:ext>
            </a:extLst>
          </p:cNvPr>
          <p:cNvSpPr>
            <a:spLocks xmlns:a="http://schemas.openxmlformats.org/drawingml/2006/main" noGrp="1"/>
          </p:cNvSpPr>
          <p:nvPr/>
        </p:nvSpPr>
        <p:spPr>
          <a:xfrm xmlns:a="http://schemas.openxmlformats.org/drawingml/2006/main">
            <a:off x="228600" y="66294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00" b="0">
                <a:solidFill>
                  <a:srgbClr val="BFC2FF"/>
                </a:solidFill>
                <a:latin typeface="Calibri"/>
                <a:ea typeface="Calibri"/>
                <a:cs typeface="Calibri"/>
              </a:defRPr>
            </a:pPr>
            <a:r>
              <a:rPr sz="900" b="0">
                <a:solidFill>
                  <a:srgbClr val="BFC2FF"/>
                </a:solidFill>
                <a:latin typeface="Calibri"/>
                <a:ea typeface="Calibri"/>
                <a:cs typeface="Calibri"/>
              </a:rPr>
              <a:t>SDG AI Lab  ·  UN Technology  ·  ICPSD  ·  UNDP</a:t>
            </a:r>
          </a:p>
        </p:txBody>
      </p:sp>
      <p:sp>
        <p:nvSpPr>
          <p:cNvPr id="6" name="Source footer">
            <a:extLst xmlns:a="http://schemas.openxmlformats.org/drawingml/2006/main">
              <a:ext uri="{FF2B5EF4-FFF2-40B4-BE49-F238E27FC236}">
                <a16:creationId xmlns:a16="http://schemas.microsoft.com/office/drawing/2014/main" id="{035E6F75-0D93-4E55-90CD-65BFBAB7E6CB}"/>
              </a:ext>
            </a:extLst>
          </p:cNvPr>
          <p:cNvSpPr>
            <a:spLocks xmlns:a="http://schemas.openxmlformats.org/drawingml/2006/main" noGrp="1"/>
          </p:cNvSpPr>
          <p:nvPr/>
        </p:nvSpPr>
        <p:spPr>
          <a:xfrm xmlns:a="http://schemas.openxmlformats.org/drawingml/2006/main">
            <a:off x="7734300" y="6134100"/>
            <a:ext cx="3543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750" b="0">
                <a:solidFill>
                  <a:srgbClr val="BFC2FF"/>
                </a:solidFill>
                <a:latin typeface="Calibri"/>
                <a:ea typeface="Calibri"/>
                <a:cs typeface="Calibri"/>
              </a:defRPr>
            </a:pPr>
            <a:r>
              <a:rPr sz="750" b="0">
                <a:solidFill>
                  <a:srgbClr val="BFC2FF"/>
                </a:solidFill>
                <a:latin typeface="Calibri"/>
                <a:ea typeface="Calibri"/>
                <a:cs typeface="Calibri"/>
              </a:rPr>
              <a:t>Sources: Sakana Fugu · Claude Code docs</a:t>
            </a:r>
          </a:p>
        </p:txBody>
      </p:sp>
      <p:sp>
        <p:nvSpPr>
          <p:cNvPr id="7" name="Slide number">
            <a:extLst xmlns:a="http://schemas.openxmlformats.org/drawingml/2006/main">
              <a:ext uri="{FF2B5EF4-FFF2-40B4-BE49-F238E27FC236}">
                <a16:creationId xmlns:a16="http://schemas.microsoft.com/office/drawing/2014/main" id="{6B82AD3A-53C0-44DC-B7AD-0F7411B60D7D}"/>
              </a:ext>
            </a:extLst>
          </p:cNvPr>
          <p:cNvSpPr>
            <a:spLocks xmlns:a="http://schemas.openxmlformats.org/drawingml/2006/main" noGrp="1"/>
          </p:cNvSpPr>
          <p:nvPr/>
        </p:nvSpPr>
        <p:spPr>
          <a:xfrm xmlns:a="http://schemas.openxmlformats.org/drawingml/2006/main">
            <a:off x="11677650" y="6134100"/>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buNone/>
              <a:defRPr sz="975" b="0">
                <a:solidFill>
                  <a:srgbClr val="FFFFFF"/>
                </a:solidFill>
                <a:latin typeface="Calibri"/>
                <a:ea typeface="Calibri"/>
                <a:cs typeface="Calibri"/>
              </a:defRPr>
            </a:pPr>
            <a:r>
              <a:rPr sz="975" b="0">
                <a:solidFill>
                  <a:srgbClr val="FFFFFF"/>
                </a:solidFill>
                <a:latin typeface="Calibri"/>
                <a:ea typeface="Calibri"/>
                <a:cs typeface="Calibri"/>
              </a:rPr>
              <a:t>30</a:t>
            </a:r>
          </a:p>
        </p:txBody>
      </p:sp>
      <p:sp>
        <p:nvSpPr>
          <p:cNvPr id="8" name="Module label">
            <a:extLst xmlns:a="http://schemas.openxmlformats.org/drawingml/2006/main">
              <a:ext uri="{FF2B5EF4-FFF2-40B4-BE49-F238E27FC236}">
                <a16:creationId xmlns:a16="http://schemas.microsoft.com/office/drawing/2014/main" id="{658361FF-C85B-4C36-AF59-452129865B28}"/>
              </a:ext>
            </a:extLst>
          </p:cNvPr>
          <p:cNvSpPr>
            <a:spLocks xmlns:a="http://schemas.openxmlformats.org/drawingml/2006/main" noGrp="1"/>
          </p:cNvSpPr>
          <p:nvPr/>
        </p:nvSpPr>
        <p:spPr>
          <a:xfrm xmlns:a="http://schemas.openxmlformats.org/drawingml/2006/main">
            <a:off x="495300" y="552450"/>
            <a:ext cx="581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050" b="0">
                <a:solidFill>
                  <a:srgbClr val="BFC2FF"/>
                </a:solidFill>
                <a:latin typeface="Calibri"/>
                <a:ea typeface="Calibri"/>
                <a:cs typeface="Calibri"/>
              </a:defRPr>
            </a:pPr>
            <a:r>
              <a:rPr sz="1050" b="0">
                <a:solidFill>
                  <a:srgbClr val="BFC2FF"/>
                </a:solidFill>
                <a:latin typeface="Calibri"/>
                <a:ea typeface="Calibri"/>
                <a:cs typeface="Calibri"/>
              </a:rPr>
              <a:t>Module 5 · Fugu Routing &amp; ChatDev Self-Repair</a:t>
            </a:r>
          </a:p>
        </p:txBody>
      </p:sp>
      <p:sp>
        <p:nvSpPr>
          <p:cNvPr id="9" name="Slide title">
            <a:extLst xmlns:a="http://schemas.openxmlformats.org/drawingml/2006/main">
              <a:ext uri="{FF2B5EF4-FFF2-40B4-BE49-F238E27FC236}">
                <a16:creationId xmlns:a16="http://schemas.microsoft.com/office/drawing/2014/main" id="{8811D81C-FAAF-4CFF-A612-1BFFABCB8126}"/>
              </a:ext>
            </a:extLst>
          </p:cNvPr>
          <p:cNvSpPr>
            <a:spLocks xmlns:a="http://schemas.openxmlformats.org/drawingml/2006/main" noGrp="1"/>
          </p:cNvSpPr>
          <p:nvPr/>
        </p:nvSpPr>
        <p:spPr>
          <a:xfrm xmlns:a="http://schemas.openxmlformats.org/drawingml/2006/main">
            <a:off x="495300" y="819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3225" b="0">
                <a:solidFill>
                  <a:srgbClr val="FFFFFF"/>
                </a:solidFill>
                <a:latin typeface="Calibri"/>
                <a:ea typeface="Calibri"/>
                <a:cs typeface="Calibri"/>
              </a:defRPr>
            </a:pPr>
            <a:r>
              <a:rPr sz="3225" b="0">
                <a:solidFill>
                  <a:srgbClr val="FFFFFF"/>
                </a:solidFill>
                <a:latin typeface="Calibri"/>
                <a:ea typeface="Calibri"/>
                <a:cs typeface="Calibri"/>
              </a:rPr>
              <a:t>Workflow Controls: Fugu-Ultra and Claude Code</a:t>
            </a:r>
          </a:p>
        </p:txBody>
      </p:sp>
      <p:sp>
        <p:nvSpPr>
          <p:cNvPr id="10" name="Comparison framing">
            <a:extLst xmlns:a="http://schemas.openxmlformats.org/drawingml/2006/main">
              <a:ext uri="{FF2B5EF4-FFF2-40B4-BE49-F238E27FC236}">
                <a16:creationId xmlns:a16="http://schemas.microsoft.com/office/drawing/2014/main" id="{1B17EBFA-4A02-49E8-B5BC-C73E5713F8B1}"/>
              </a:ext>
            </a:extLst>
          </p:cNvPr>
          <p:cNvSpPr>
            <a:spLocks xmlns:a="http://schemas.openxmlformats.org/drawingml/2006/main" noGrp="1"/>
          </p:cNvSpPr>
          <p:nvPr/>
        </p:nvSpPr>
        <p:spPr>
          <a:xfrm xmlns:a="http://schemas.openxmlformats.org/drawingml/2006/main">
            <a:off x="609600" y="15240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425" b="0">
                <a:solidFill>
                  <a:srgbClr val="BFC2FF"/>
                </a:solidFill>
                <a:latin typeface="Calibri"/>
                <a:ea typeface="Calibri"/>
                <a:cs typeface="Calibri"/>
              </a:defRPr>
            </a:pPr>
            <a:r>
              <a:rPr sz="1425" b="0">
                <a:solidFill>
                  <a:srgbClr val="BFC2FF"/>
                </a:solidFill>
                <a:latin typeface="Calibri"/>
                <a:ea typeface="Calibri"/>
                <a:cs typeface="Calibri"/>
              </a:rPr>
              <a:t>Compare context visibility, action permissions, and workspace isolation as separate controls.</a:t>
            </a:r>
          </a:p>
        </p:txBody>
      </p:sp>
      <p:graphicFrame>
        <p:nvGraphicFramePr>
          <p:cNvPr id="25" name=""/>
          <p:cNvGraphicFramePr/>
          <p:nvPr/>
        </p:nvGraphicFramePr>
        <p:xfrm>
          <a:off xmlns:a="http://schemas.openxmlformats.org/drawingml/2006/main" x="609600" y="1943100"/>
          <a:ext xmlns:a="http://schemas.openxmlformats.org/drawingml/2006/main" cx="10972800" cy="3486150"/>
        </p:xfrm>
        <a:graphic xmlns:a="http://schemas.openxmlformats.org/drawingml/2006/main">
          <a:graphicData uri="http://schemas.openxmlformats.org/drawingml/2006/table">
            <a:tbl>
              <a:tblPr firstRow="0" bandRow="0" bandCol="0"/>
              <a:tblGrid>
                <a:gridCol w="1752600"/>
                <a:gridCol w="4610100"/>
                <a:gridCol w="4610100"/>
              </a:tblGrid>
              <a:tr h="457200">
                <a:tc>
                  <a:txBody>
                    <a:bodyPr wrap="square" lIns="95250" tIns="57150" rIns="95250" bIns="57150">
                      <a:normAutofit/>
                    </a:bodyPr>
                    <a:lstStyle/>
                    <a:p>
                      <a:pPr algn="l">
                        <a:buNone/>
                      </a:pPr>
                      <a:r>
                        <a:rPr sz="1275" b="1">
                          <a:solidFill>
                            <a:srgbClr val="FFFFFF"/>
                          </a:solidFill>
                          <a:latin typeface="Calibri"/>
                          <a:ea typeface="Calibri"/>
                          <a:cs typeface="Calibri"/>
                        </a:rPr>
                        <a:t>CONTROL</a:t>
                      </a:r>
                    </a:p>
                  </a:txBody>
                  <a:tcPr marL="91440" marR="91440" marT="45720" marB="45720" anchor="ctr">
                    <a:solidFill>
                      <a:srgbClr val="2225AD"/>
                    </a:solidFill>
                  </a:tcPr>
                </a:tc>
                <a:tc>
                  <a:txBody>
                    <a:bodyPr wrap="square" lIns="95250" tIns="57150" rIns="95250" bIns="57150">
                      <a:normAutofit/>
                    </a:bodyPr>
                    <a:lstStyle/>
                    <a:p>
                      <a:pPr algn="l">
                        <a:buNone/>
                      </a:pPr>
                      <a:r>
                        <a:rPr sz="1275" b="1">
                          <a:solidFill>
                            <a:srgbClr val="FFFFFF"/>
                          </a:solidFill>
                          <a:latin typeface="Calibri"/>
                          <a:ea typeface="Calibri"/>
                          <a:cs typeface="Calibri"/>
                        </a:rPr>
                        <a:t>FUGU-ULTRA</a:t>
                      </a:r>
                    </a:p>
                  </a:txBody>
                  <a:tcPr marL="91440" marR="91440" marT="45720" marB="45720" anchor="ctr">
                    <a:solidFill>
                      <a:srgbClr val="2225AD"/>
                    </a:solidFill>
                  </a:tcPr>
                </a:tc>
                <a:tc>
                  <a:txBody>
                    <a:bodyPr wrap="square" lIns="95250" tIns="57150" rIns="95250" bIns="57150">
                      <a:normAutofit/>
                    </a:bodyPr>
                    <a:lstStyle/>
                    <a:p>
                      <a:pPr algn="l">
                        <a:buNone/>
                      </a:pPr>
                      <a:r>
                        <a:rPr sz="1275" b="1">
                          <a:solidFill>
                            <a:srgbClr val="FFFFFF"/>
                          </a:solidFill>
                          <a:latin typeface="Calibri"/>
                          <a:ea typeface="Calibri"/>
                          <a:cs typeface="Calibri"/>
                        </a:rPr>
                        <a:t>CLAUDE CODE</a:t>
                      </a:r>
                    </a:p>
                  </a:txBody>
                  <a:tcPr marL="91440" marR="91440" marT="45720" marB="45720" anchor="ctr">
                    <a:solidFill>
                      <a:srgbClr val="2225AD"/>
                    </a:solidFill>
                  </a:tcPr>
                </a:tc>
              </a:tr>
              <a:tr h="757238">
                <a:tc>
                  <a:txBody>
                    <a:bodyPr wrap="square" lIns="95250" tIns="57150" rIns="95250" bIns="57150">
                      <a:normAutofit/>
                    </a:bodyPr>
                    <a:lstStyle/>
                    <a:p>
                      <a:pPr algn="l">
                        <a:buNone/>
                      </a:pPr>
                      <a:r>
                        <a:rPr sz="1275" b="1">
                          <a:solidFill>
                            <a:srgbClr val="FFFFFF"/>
                          </a:solidFill>
                          <a:latin typeface="Calibri"/>
                          <a:ea typeface="Calibri"/>
                          <a:cs typeface="Calibri"/>
                        </a:rPr>
                        <a:t>Orchestration</a:t>
                      </a:r>
                    </a:p>
                  </a:txBody>
                  <a:tcPr marL="91440" marR="91440" marT="45720" marB="45720" anchor="ctr">
                    <a:solidFill>
                      <a:srgbClr val="2225AD"/>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A learned Conductor builds task-specific steps over a heterogeneous worker pool.</a:t>
                      </a:r>
                    </a:p>
                  </a:txBody>
                  <a:tcPr marL="91440" marR="91440" marT="45720" marB="45720" anchor="ctr">
                    <a:solidFill>
                      <a:srgbClr val="2D2FC4"/>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Subagents report to a lead; agent teams share tasks and messages. Subagent models are configurable.</a:t>
                      </a:r>
                    </a:p>
                  </a:txBody>
                  <a:tcPr marL="91440" marR="91440" marT="45720" marB="45720" anchor="ctr">
                    <a:solidFill>
                      <a:srgbClr val="2D2FC4"/>
                    </a:solidFill>
                  </a:tcPr>
                </a:tc>
              </a:tr>
              <a:tr h="757238">
                <a:tc>
                  <a:txBody>
                    <a:bodyPr wrap="square" lIns="95250" tIns="57150" rIns="95250" bIns="57150">
                      <a:normAutofit/>
                    </a:bodyPr>
                    <a:lstStyle/>
                    <a:p>
                      <a:pPr algn="l">
                        <a:buNone/>
                      </a:pPr>
                      <a:r>
                        <a:rPr sz="1275" b="1">
                          <a:solidFill>
                            <a:srgbClr val="FFFFFF"/>
                          </a:solidFill>
                          <a:latin typeface="Calibri"/>
                          <a:ea typeface="Calibri"/>
                          <a:cs typeface="Calibri"/>
                        </a:rPr>
                        <a:t>Context flow</a:t>
                      </a:r>
                    </a:p>
                  </a:txBody>
                  <a:tcPr marL="91440" marR="91440" marT="45720" marB="45720" anchor="ctr">
                    <a:solidFill>
                      <a:srgbClr val="2225AD"/>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Each access list selects which earlier subtask results enter a worker’s context.</a:t>
                      </a:r>
                    </a:p>
                  </a:txBody>
                  <a:tcPr marL="91440" marR="91440" marT="45720" marB="45720" anchor="ctr">
                    <a:solidFill>
                      <a:srgbClr val="2D2FC4"/>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Subagents start fresh; forks inherit the full conversation. Teammates use separate context.</a:t>
                      </a:r>
                    </a:p>
                  </a:txBody>
                  <a:tcPr marL="91440" marR="91440" marT="45720" marB="45720" anchor="ctr">
                    <a:solidFill>
                      <a:srgbClr val="2D2FC4"/>
                    </a:solidFill>
                  </a:tcPr>
                </a:tc>
              </a:tr>
              <a:tr h="757238">
                <a:tc>
                  <a:txBody>
                    <a:bodyPr wrap="square" lIns="95250" tIns="57150" rIns="95250" bIns="57150">
                      <a:normAutofit/>
                    </a:bodyPr>
                    <a:lstStyle/>
                    <a:p>
                      <a:pPr algn="l">
                        <a:buNone/>
                      </a:pPr>
                      <a:r>
                        <a:rPr sz="1275" b="1">
                          <a:solidFill>
                            <a:srgbClr val="FFFFFF"/>
                          </a:solidFill>
                          <a:latin typeface="Calibri"/>
                          <a:ea typeface="Calibri"/>
                          <a:cs typeface="Calibri"/>
                        </a:rPr>
                        <a:t>Tool and file access</a:t>
                      </a:r>
                    </a:p>
                  </a:txBody>
                  <a:tcPr marL="91440" marR="91440" marT="45720" marB="45720" anchor="ctr">
                    <a:solidFill>
                      <a:srgbClr val="2225AD"/>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Access lists control context visibility. Tool permissions and file access are separate.</a:t>
                      </a:r>
                    </a:p>
                  </a:txBody>
                  <a:tcPr marL="91440" marR="91440" marT="45720" marB="45720" anchor="ctr">
                    <a:solidFill>
                      <a:srgbClr val="2D2FC4"/>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Tool permissions limit actions. Worktree isolation separates file edits.</a:t>
                      </a:r>
                    </a:p>
                  </a:txBody>
                  <a:tcPr marL="91440" marR="91440" marT="45720" marB="45720" anchor="ctr">
                    <a:solidFill>
                      <a:srgbClr val="2D2FC4"/>
                    </a:solidFill>
                  </a:tcPr>
                </a:tc>
              </a:tr>
              <a:tr h="757238">
                <a:tc>
                  <a:txBody>
                    <a:bodyPr wrap="square" lIns="95250" tIns="57150" rIns="95250" bIns="57150">
                      <a:normAutofit/>
                    </a:bodyPr>
                    <a:lstStyle/>
                    <a:p>
                      <a:pPr algn="l">
                        <a:buNone/>
                      </a:pPr>
                      <a:r>
                        <a:rPr sz="1275" b="1">
                          <a:solidFill>
                            <a:srgbClr val="FFFFFF"/>
                          </a:solidFill>
                          <a:latin typeface="Calibri"/>
                          <a:ea typeface="Calibri"/>
                          <a:cs typeface="Calibri"/>
                        </a:rPr>
                        <a:t>Operations</a:t>
                      </a:r>
                    </a:p>
                  </a:txBody>
                  <a:tcPr marL="91440" marR="91440" marT="45720" marB="45720" anchor="ctr">
                    <a:solidFill>
                      <a:srgbClr val="2225AD"/>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Multi-step workflows add latency. Run visibility depends on the product surface.</a:t>
                      </a:r>
                    </a:p>
                  </a:txBody>
                  <a:tcPr marL="91440" marR="91440" marT="45720" marB="45720" anchor="ctr">
                    <a:solidFill>
                      <a:srgbClr val="2D2FC4"/>
                    </a:solidFill>
                  </a:tcPr>
                </a:tc>
                <a:tc>
                  <a:txBody>
                    <a:bodyPr wrap="square" lIns="95250" tIns="57150" rIns="95250" bIns="57150">
                      <a:normAutofit/>
                    </a:bodyPr>
                    <a:lstStyle/>
                    <a:p>
                      <a:pPr algn="l">
                        <a:buNone/>
                      </a:pPr>
                      <a:r>
                        <a:rPr sz="1313" b="0">
                          <a:solidFill>
                            <a:srgbClr val="FFFFFF"/>
                          </a:solidFill>
                          <a:latin typeface="Calibri"/>
                          <a:ea typeface="Calibri"/>
                          <a:cs typeface="Calibri"/>
                        </a:rPr>
                        <a:t>Teams add token use and coordination overhead. Costs vary with model and run.</a:t>
                      </a:r>
                    </a:p>
                  </a:txBody>
                  <a:tcPr marL="91440" marR="91440" marT="45720" marB="45720" anchor="ctr">
                    <a:solidFill>
                      <a:srgbClr val="2D2FC4"/>
                    </a:solidFill>
                  </a:tcPr>
                </a:tc>
              </a:tr>
            </a:tbl>
          </a:graphicData>
        </a:graphic>
      </p:graphicFrame>
      <p:sp>
        <p:nvSpPr>
          <p:cNvPr id="12" name="Comparison takeaway">
            <a:extLst xmlns:a="http://schemas.openxmlformats.org/drawingml/2006/main">
              <a:ext uri="{FF2B5EF4-FFF2-40B4-BE49-F238E27FC236}">
                <a16:creationId xmlns:a16="http://schemas.microsoft.com/office/drawing/2014/main" id="{6D4D77FC-C529-4579-BB9E-BD08C0B50FF7}"/>
              </a:ext>
            </a:extLst>
          </p:cNvPr>
          <p:cNvSpPr>
            <a:spLocks xmlns:a="http://schemas.openxmlformats.org/drawingml/2006/main" noGrp="1"/>
          </p:cNvSpPr>
          <p:nvPr/>
        </p:nvSpPr>
        <p:spPr>
          <a:xfrm xmlns:a="http://schemas.openxmlformats.org/drawingml/2006/main">
            <a:off x="609600" y="55816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1350" b="1">
                <a:solidFill>
                  <a:srgbClr val="FFFFFF"/>
                </a:solidFill>
                <a:latin typeface="Calibri"/>
                <a:ea typeface="Calibri"/>
                <a:cs typeface="Calibri"/>
              </a:defRPr>
            </a:pPr>
            <a:r>
              <a:rPr sz="1350" b="1">
                <a:solidFill>
                  <a:srgbClr val="FFFFFF"/>
                </a:solidFill>
                <a:latin typeface="Calibri"/>
                <a:ea typeface="Calibri"/>
                <a:cs typeface="Calibri"/>
              </a:rPr>
              <a:t>Cross-model diversity may combine complementary strengths. Independent evidence still decides whether a result is correct.</a:t>
            </a:r>
          </a:p>
        </p:txBody>
      </p:sp>
    </p:spTree>
    <p:extLst>
      <p:ext uri="{BB962C8B-B14F-4D97-AF65-F5344CB8AC3E}">
        <p14:creationId xmlns:p14="http://schemas.microsoft.com/office/powerpoint/2010/main" val="177075563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B64729-4E43-4B6D-908B-B13D0FF04E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AC1D025-CC97-4592-80F0-EF878BD76ED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D632AD97-D79B-4A8F-9622-608AB83B1D02}"/>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BFC1C1A9-4DC5-4F85-8F0A-611A08C26FC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0E96ACB-6C59-4FFA-B433-B67EE12985F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21E5C793-9626-48BA-B7A6-D5437A78877D}"/>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AB5AFA0-4019-40D1-9B64-301EA1FF43A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ChatDev bounded repair</a:t>
            </a:r>
          </a:p>
        </p:txBody>
      </p:sp>
      <p:sp>
        <p:nvSpPr>
          <p:cNvPr id="8" name="">
            <a:extLst xmlns:a="http://schemas.openxmlformats.org/drawingml/2006/main">
              <a:ext uri="{FF2B5EF4-FFF2-40B4-BE49-F238E27FC236}">
                <a16:creationId xmlns:a16="http://schemas.microsoft.com/office/drawing/2014/main" id="{F1946E7C-BD66-4359-A296-5A3374009BC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31</a:t>
            </a:r>
          </a:p>
        </p:txBody>
      </p:sp>
      <p:sp>
        <p:nvSpPr>
          <p:cNvPr id="9" name="">
            <a:extLst xmlns:a="http://schemas.openxmlformats.org/drawingml/2006/main">
              <a:ext uri="{FF2B5EF4-FFF2-40B4-BE49-F238E27FC236}">
                <a16:creationId xmlns:a16="http://schemas.microsoft.com/office/drawing/2014/main" id="{FBB5FC12-71EA-456D-B969-E10C08B5B9AB}"/>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5 · Fugu Routing &amp; ChatDev Self-Repair</a:t>
            </a:r>
          </a:p>
        </p:txBody>
      </p:sp>
      <p:sp>
        <p:nvSpPr>
          <p:cNvPr id="10" name="">
            <a:extLst xmlns:a="http://schemas.openxmlformats.org/drawingml/2006/main">
              <a:ext uri="{FF2B5EF4-FFF2-40B4-BE49-F238E27FC236}">
                <a16:creationId xmlns:a16="http://schemas.microsoft.com/office/drawing/2014/main" id="{81851E94-B59D-485E-9508-6E2BB58F8449}"/>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191792E-54D2-4D54-8064-B0B50486033E}"/>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B6BB48B4-7B5E-4283-9C77-8320033740A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Reflexes make agent teams</a:t>
            </a:r>
          </a:p>
        </p:txBody>
      </p:sp>
      <p:sp>
        <p:nvSpPr>
          <p:cNvPr id="13" name="">
            <a:extLst xmlns:a="http://schemas.openxmlformats.org/drawingml/2006/main">
              <a:ext uri="{FF2B5EF4-FFF2-40B4-BE49-F238E27FC236}">
                <a16:creationId xmlns:a16="http://schemas.microsoft.com/office/drawing/2014/main" id="{D2D82359-EC1A-4220-8429-D13BAA6FCE7E}"/>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resilient,</a:t>
            </a:r>
          </a:p>
        </p:txBody>
      </p:sp>
      <p:sp>
        <p:nvSpPr>
          <p:cNvPr id="14" name="">
            <a:extLst xmlns:a="http://schemas.openxmlformats.org/drawingml/2006/main">
              <a:ext uri="{FF2B5EF4-FFF2-40B4-BE49-F238E27FC236}">
                <a16:creationId xmlns:a16="http://schemas.microsoft.com/office/drawing/2014/main" id="{355F3C35-0C2E-4886-B10B-3D9C55B2CC00}"/>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only when bounded.</a:t>
            </a:r>
          </a:p>
        </p:txBody>
      </p:sp>
    </p:spTree>
    <p:extLst>
      <p:ext uri="{BB962C8B-B14F-4D97-AF65-F5344CB8AC3E}">
        <p14:creationId xmlns:p14="http://schemas.microsoft.com/office/powerpoint/2010/main" val="2331808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312051E-D82C-4F97-8304-7FDBCAB125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BECB99A-5E0D-4348-B88E-E0131166338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62D9B58-B732-4099-94A2-D6C2CCD44DB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3FA64E9-BFD8-479B-8E22-37D84939D071}"/>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AB9682FE-01C2-43E7-96C4-7A7A51932A08}"/>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BE757348-B166-4454-BAD1-C5E89B4E4FE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58BFF16F-83EB-49CC-A95E-08CABF06F092}"/>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 Zero Trust</a:t>
            </a:r>
          </a:p>
        </p:txBody>
      </p:sp>
      <p:sp>
        <p:nvSpPr>
          <p:cNvPr id="8" name="">
            <a:extLst xmlns:a="http://schemas.openxmlformats.org/drawingml/2006/main">
              <a:ext uri="{FF2B5EF4-FFF2-40B4-BE49-F238E27FC236}">
                <a16:creationId xmlns:a16="http://schemas.microsoft.com/office/drawing/2014/main" id="{CF89BDBF-8053-4A68-A42E-D8CF6E779A0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32</a:t>
            </a:r>
          </a:p>
        </p:txBody>
      </p:sp>
      <p:sp>
        <p:nvSpPr>
          <p:cNvPr id="9" name="">
            <a:extLst xmlns:a="http://schemas.openxmlformats.org/drawingml/2006/main">
              <a:ext uri="{FF2B5EF4-FFF2-40B4-BE49-F238E27FC236}">
                <a16:creationId xmlns:a16="http://schemas.microsoft.com/office/drawing/2014/main" id="{7E13F3C7-CFF9-4F02-A459-292C507515CD}"/>
              </a:ext>
            </a:extLst>
          </p:cNvPr>
          <p:cNvSpPr>
            <a:spLocks xmlns:a="http://schemas.openxmlformats.org/drawingml/2006/main" noGrp="1"/>
          </p:cNvSpPr>
          <p:nvPr/>
        </p:nvSpPr>
        <p:spPr>
          <a:xfrm xmlns:a="http://schemas.openxmlformats.org/drawingml/2006/main">
            <a:off x="552450" y="1257300"/>
            <a:ext cx="1047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400" b="1">
                <a:solidFill>
                  <a:srgbClr val="FFFFFF"/>
                </a:solidFill>
              </a:defRPr>
            </a:pPr>
            <a:r>
              <a:rPr sz="5400" b="1">
                <a:solidFill>
                  <a:srgbClr val="FFFFFF"/>
                </a:solidFill>
              </a:rPr>
              <a:t>06</a:t>
            </a:r>
          </a:p>
        </p:txBody>
      </p:sp>
      <p:sp>
        <p:nvSpPr>
          <p:cNvPr id="10" name="">
            <a:extLst xmlns:a="http://schemas.openxmlformats.org/drawingml/2006/main">
              <a:ext uri="{FF2B5EF4-FFF2-40B4-BE49-F238E27FC236}">
                <a16:creationId xmlns:a16="http://schemas.microsoft.com/office/drawing/2014/main" id="{16FC39F5-BABF-40A6-A312-CD3750111125}"/>
              </a:ext>
            </a:extLst>
          </p:cNvPr>
          <p:cNvSpPr>
            <a:spLocks xmlns:a="http://schemas.openxmlformats.org/drawingml/2006/main" noGrp="1"/>
          </p:cNvSpPr>
          <p:nvPr/>
        </p:nvSpPr>
        <p:spPr>
          <a:xfrm xmlns:a="http://schemas.openxmlformats.org/drawingml/2006/main">
            <a:off x="1714500" y="1257300"/>
            <a:ext cx="5905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600">
                <a:solidFill>
                  <a:srgbClr val="FFFFFF"/>
                </a:solidFill>
              </a:defRPr>
            </a:pPr>
            <a:r>
              <a:rPr sz="3600">
                <a:solidFill>
                  <a:srgbClr val="FFFFFF"/>
                </a:solidFill>
              </a:rPr>
              <a:t>Internet of Agents</a:t>
            </a:r>
          </a:p>
          <a:p xmlns:a="http://schemas.openxmlformats.org/drawingml/2006/main">
            <a:pPr>
              <a:buNone/>
              <a:defRPr sz="3600">
                <a:solidFill>
                  <a:srgbClr val="FFFFFF"/>
                </a:solidFill>
              </a:defRPr>
            </a:pPr>
            <a:r>
              <a:rPr sz="3600">
                <a:solidFill>
                  <a:srgbClr val="FFFFFF"/>
                </a:solidFill>
              </a:rPr>
              <a:t>&amp; Zero Trust</a:t>
            </a:r>
          </a:p>
        </p:txBody>
      </p:sp>
      <p:sp>
        <p:nvSpPr>
          <p:cNvPr id="11" name="">
            <a:extLst xmlns:a="http://schemas.openxmlformats.org/drawingml/2006/main">
              <a:ext uri="{FF2B5EF4-FFF2-40B4-BE49-F238E27FC236}">
                <a16:creationId xmlns:a16="http://schemas.microsoft.com/office/drawing/2014/main" id="{D65B0090-551E-4BDC-B9C0-65E75A73D66C}"/>
              </a:ext>
            </a:extLst>
          </p:cNvPr>
          <p:cNvSpPr>
            <a:spLocks xmlns:a="http://schemas.openxmlformats.org/drawingml/2006/main" noGrp="1"/>
          </p:cNvSpPr>
          <p:nvPr/>
        </p:nvSpPr>
        <p:spPr>
          <a:xfrm xmlns:a="http://schemas.openxmlformats.org/drawingml/2006/main">
            <a:off x="552450" y="26670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BFC2FF"/>
                </a:solidFill>
              </a:defRPr>
            </a:pPr>
            <a:r>
              <a:rPr sz="1800">
                <a:solidFill>
                  <a:srgbClr val="BFC2FF"/>
                </a:solidFill>
              </a:rPr>
              <a:t>Enterprise-scale interoperability and governance</a:t>
            </a:r>
          </a:p>
        </p:txBody>
      </p:sp>
      <p:sp>
        <p:nvSpPr>
          <p:cNvPr id="12" name="">
            <a:extLst xmlns:a="http://schemas.openxmlformats.org/drawingml/2006/main">
              <a:ext uri="{FF2B5EF4-FFF2-40B4-BE49-F238E27FC236}">
                <a16:creationId xmlns:a16="http://schemas.microsoft.com/office/drawing/2014/main" id="{F2E9A046-41E0-4D0E-B1B7-ED8B760BF13B}"/>
              </a:ext>
            </a:extLst>
          </p:cNvPr>
          <p:cNvSpPr>
            <a:spLocks xmlns:a="http://schemas.openxmlformats.org/drawingml/2006/main" noGrp="1"/>
          </p:cNvSpPr>
          <p:nvPr/>
        </p:nvSpPr>
        <p:spPr>
          <a:xfrm xmlns:a="http://schemas.openxmlformats.org/drawingml/2006/main">
            <a:off x="552450" y="4476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BFC2FF"/>
                </a:solidFill>
              </a:defRPr>
            </a:pPr>
            <a:r>
              <a:rPr sz="1125" b="1">
                <a:solidFill>
                  <a:srgbClr val="BFC2FF"/>
                </a:solidFill>
              </a:rPr>
              <a:t>JOURNEY  ▸</a:t>
            </a:r>
          </a:p>
        </p:txBody>
      </p:sp>
      <p:sp>
        <p:nvSpPr>
          <p:cNvPr id="13" name="">
            <a:extLst xmlns:a="http://schemas.openxmlformats.org/drawingml/2006/main">
              <a:ext uri="{FF2B5EF4-FFF2-40B4-BE49-F238E27FC236}">
                <a16:creationId xmlns:a16="http://schemas.microsoft.com/office/drawing/2014/main" id="{866AB8AE-90ED-41D0-87C6-40C08E918DC7}"/>
              </a:ext>
            </a:extLst>
          </p:cNvPr>
          <p:cNvSpPr>
            <a:spLocks xmlns:a="http://schemas.openxmlformats.org/drawingml/2006/main" noGrp="1"/>
          </p:cNvSpPr>
          <p:nvPr/>
        </p:nvSpPr>
        <p:spPr>
          <a:xfrm xmlns:a="http://schemas.openxmlformats.org/drawingml/2006/main">
            <a:off x="2000250" y="44767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FFFFFF"/>
                </a:solidFill>
              </a:defRPr>
            </a:pPr>
            <a:r>
              <a:rPr sz="1200">
                <a:solidFill>
                  <a:srgbClr val="FFFFFF"/>
                </a:solidFill>
              </a:rPr>
              <a:t>Foundations  →  Memory &amp; Mind  →  RAG &amp; MCP  →  Type Safety  →  Routing &amp; Repair  →  Zero Trust</a:t>
            </a:r>
          </a:p>
        </p:txBody>
      </p:sp>
    </p:spTree>
    <p:extLst>
      <p:ext uri="{BB962C8B-B14F-4D97-AF65-F5344CB8AC3E}">
        <p14:creationId xmlns:p14="http://schemas.microsoft.com/office/powerpoint/2010/main" val="1637018598"/>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E2B5FD1-E7CB-4D2D-ADC9-D488E24F62A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CC48B850-E666-4A4D-B4D0-C6810F6D988B}"/>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B575715F-BB73-446F-A4E4-303D7E3DBAF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E3D5FD1-DEC8-4CB5-86BA-CD1D3FA1B6ED}"/>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956D706-3AA7-4EA8-922D-CBEBDCD9E98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898806C-DE72-4F29-9D7E-C673CC50C690}"/>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6F20257-1C15-4538-A1A3-D92BCF57392B}"/>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Cisco IoA</a:t>
            </a:r>
          </a:p>
        </p:txBody>
      </p:sp>
      <p:sp>
        <p:nvSpPr>
          <p:cNvPr id="8" name="">
            <a:extLst xmlns:a="http://schemas.openxmlformats.org/drawingml/2006/main">
              <a:ext uri="{FF2B5EF4-FFF2-40B4-BE49-F238E27FC236}">
                <a16:creationId xmlns:a16="http://schemas.microsoft.com/office/drawing/2014/main" id="{90841D45-6DD6-4F34-A3AB-CE9AD08EF8FB}"/>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33</a:t>
            </a:r>
          </a:p>
        </p:txBody>
      </p:sp>
      <p:sp>
        <p:nvSpPr>
          <p:cNvPr id="9" name="">
            <a:extLst xmlns:a="http://schemas.openxmlformats.org/drawingml/2006/main">
              <a:ext uri="{FF2B5EF4-FFF2-40B4-BE49-F238E27FC236}">
                <a16:creationId xmlns:a16="http://schemas.microsoft.com/office/drawing/2014/main" id="{0F864291-3AEC-4692-B6A0-EBFC68DE7E66}"/>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BBC775E9-A93B-45E8-998E-6C50F3869BA5}"/>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From Local Team to Ecosystem</a:t>
            </a:r>
          </a:p>
        </p:txBody>
      </p:sp>
      <p:sp>
        <p:nvSpPr>
          <p:cNvPr id="11" name="">
            <a:extLst xmlns:a="http://schemas.openxmlformats.org/drawingml/2006/main">
              <a:ext uri="{FF2B5EF4-FFF2-40B4-BE49-F238E27FC236}">
                <a16:creationId xmlns:a16="http://schemas.microsoft.com/office/drawing/2014/main" id="{1F1753B4-3AD4-48B4-A4C9-2599D80B93B9}"/>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0F74822E-2763-421C-B53C-F1014FFFE864}"/>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Enterprise agents collaborate across teams, vendors, and tools.</a:t>
            </a:r>
          </a:p>
        </p:txBody>
      </p:sp>
      <p:sp>
        <p:nvSpPr>
          <p:cNvPr id="13" name="">
            <a:extLst xmlns:a="http://schemas.openxmlformats.org/drawingml/2006/main">
              <a:ext uri="{FF2B5EF4-FFF2-40B4-BE49-F238E27FC236}">
                <a16:creationId xmlns:a16="http://schemas.microsoft.com/office/drawing/2014/main" id="{C6CF77DC-2B3F-4867-98A3-10BBF9131556}"/>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D0C14656-BE2F-42DD-AEC4-60D384AEE7FE}"/>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Every agent needs organization, role, trust tier, identity.</a:t>
            </a:r>
          </a:p>
        </p:txBody>
      </p:sp>
      <p:sp>
        <p:nvSpPr>
          <p:cNvPr id="15" name="">
            <a:extLst xmlns:a="http://schemas.openxmlformats.org/drawingml/2006/main">
              <a:ext uri="{FF2B5EF4-FFF2-40B4-BE49-F238E27FC236}">
                <a16:creationId xmlns:a16="http://schemas.microsoft.com/office/drawing/2014/main" id="{08DF6367-6659-4A4F-AEC6-44CD4DE74F70}"/>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50617127-4CE3-4345-900F-FF76632FCE2E}"/>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A2A messages need schemas, provenance, and policy-aware routing.</a:t>
            </a:r>
          </a:p>
        </p:txBody>
      </p:sp>
      <p:sp>
        <p:nvSpPr>
          <p:cNvPr id="17" name="">
            <a:extLst xmlns:a="http://schemas.openxmlformats.org/drawingml/2006/main">
              <a:ext uri="{FF2B5EF4-FFF2-40B4-BE49-F238E27FC236}">
                <a16:creationId xmlns:a16="http://schemas.microsoft.com/office/drawing/2014/main" id="{34044CEE-8F43-410C-A7DB-B3293701AE9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98ED2F93-F77D-4815-BA65-455BD159FEB0}"/>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Governance matrix: agents × tools × data classes × message types.</a:t>
            </a:r>
          </a:p>
        </p:txBody>
      </p:sp>
      <p:sp>
        <p:nvSpPr>
          <p:cNvPr id="19" name="">
            <a:extLst xmlns:a="http://schemas.openxmlformats.org/drawingml/2006/main">
              <a:ext uri="{FF2B5EF4-FFF2-40B4-BE49-F238E27FC236}">
                <a16:creationId xmlns:a16="http://schemas.microsoft.com/office/drawing/2014/main" id="{0768C298-F3E5-4F8D-BC05-19B96322424E}"/>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Enterprise multi-agent AI is a governed network.</a:t>
            </a:r>
          </a:p>
        </p:txBody>
      </p:sp>
      <p:sp>
        <p:nvSpPr>
          <p:cNvPr id="20" name="">
            <a:extLst xmlns:a="http://schemas.openxmlformats.org/drawingml/2006/main">
              <a:ext uri="{FF2B5EF4-FFF2-40B4-BE49-F238E27FC236}">
                <a16:creationId xmlns:a16="http://schemas.microsoft.com/office/drawing/2014/main" id="{99EAAFEF-9CD2-4115-8396-AC8E0E4E1B00}"/>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04244266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5530343-9393-4DE8-9084-9364346037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25F3A8D-1A25-4366-BAAD-46FCE515317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F7E87D4D-F40A-42FB-8A40-44C7FFC236E8}"/>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3C85403-86E1-44FE-B7A8-8672303C83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EC3EBCA-A2F2-4907-88F1-C020224498D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9024ADDB-0E84-4823-819F-D22AA8C3AACF}"/>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841CB83E-9B12-4282-B196-C92202E558DE}"/>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OWASP + A2A</a:t>
            </a:r>
          </a:p>
        </p:txBody>
      </p:sp>
      <p:sp>
        <p:nvSpPr>
          <p:cNvPr id="8" name="">
            <a:extLst xmlns:a="http://schemas.openxmlformats.org/drawingml/2006/main">
              <a:ext uri="{FF2B5EF4-FFF2-40B4-BE49-F238E27FC236}">
                <a16:creationId xmlns:a16="http://schemas.microsoft.com/office/drawing/2014/main" id="{AB328B23-F1A8-4C82-B554-B70FBCEBEF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34</a:t>
            </a:r>
          </a:p>
        </p:txBody>
      </p:sp>
      <p:sp>
        <p:nvSpPr>
          <p:cNvPr id="9" name="">
            <a:extLst xmlns:a="http://schemas.openxmlformats.org/drawingml/2006/main">
              <a:ext uri="{FF2B5EF4-FFF2-40B4-BE49-F238E27FC236}">
                <a16:creationId xmlns:a16="http://schemas.microsoft.com/office/drawing/2014/main" id="{02760B9C-095B-4682-893D-A2B9948BB2ED}"/>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91836EFE-B8BE-4DFE-B1B8-350003A99337}"/>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Threat Model &amp; Controls</a:t>
            </a:r>
          </a:p>
        </p:txBody>
      </p:sp>
      <p:sp>
        <p:nvSpPr>
          <p:cNvPr id="11" name="">
            <a:extLst xmlns:a="http://schemas.openxmlformats.org/drawingml/2006/main">
              <a:ext uri="{FF2B5EF4-FFF2-40B4-BE49-F238E27FC236}">
                <a16:creationId xmlns:a16="http://schemas.microsoft.com/office/drawing/2014/main" id="{0DF89095-ED0A-4616-810B-459A5FD7B92D}"/>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B1D5E6A2-0CCC-427A-9B5D-512CDAE5973A}"/>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5A4DABA2-B3C4-4618-BF14-BF5683CCB15F}"/>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What Can Go Wrong</a:t>
            </a:r>
          </a:p>
        </p:txBody>
      </p:sp>
      <p:sp>
        <p:nvSpPr>
          <p:cNvPr id="14" name="">
            <a:extLst xmlns:a="http://schemas.openxmlformats.org/drawingml/2006/main">
              <a:ext uri="{FF2B5EF4-FFF2-40B4-BE49-F238E27FC236}">
                <a16:creationId xmlns:a16="http://schemas.microsoft.com/office/drawing/2014/main" id="{2CBC60DA-479D-4828-9D13-BA481C4A2C15}"/>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Governance Controls</a:t>
            </a:r>
          </a:p>
        </p:txBody>
      </p:sp>
      <p:sp>
        <p:nvSpPr>
          <p:cNvPr id="15" name="">
            <a:extLst xmlns:a="http://schemas.openxmlformats.org/drawingml/2006/main">
              <a:ext uri="{FF2B5EF4-FFF2-40B4-BE49-F238E27FC236}">
                <a16:creationId xmlns:a16="http://schemas.microsoft.com/office/drawing/2014/main" id="{338458B0-3817-4AE6-9299-8908311E508D}"/>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9C3A1F7B-AB32-4C7C-BD77-BA3EBEFDD9FC}"/>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Prompt injection from payload</a:t>
            </a:r>
          </a:p>
        </p:txBody>
      </p:sp>
      <p:sp>
        <p:nvSpPr>
          <p:cNvPr id="17" name="">
            <a:extLst xmlns:a="http://schemas.openxmlformats.org/drawingml/2006/main">
              <a:ext uri="{FF2B5EF4-FFF2-40B4-BE49-F238E27FC236}">
                <a16:creationId xmlns:a16="http://schemas.microsoft.com/office/drawing/2014/main" id="{82EB1A25-55B7-4023-BF7D-5D0A90962AED}"/>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B6134335-3529-4969-BFF8-633DD4D9A650}"/>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Tool misuse by impersonated agent</a:t>
            </a:r>
          </a:p>
        </p:txBody>
      </p:sp>
      <p:sp>
        <p:nvSpPr>
          <p:cNvPr id="19" name="">
            <a:extLst xmlns:a="http://schemas.openxmlformats.org/drawingml/2006/main">
              <a:ext uri="{FF2B5EF4-FFF2-40B4-BE49-F238E27FC236}">
                <a16:creationId xmlns:a16="http://schemas.microsoft.com/office/drawing/2014/main" id="{3A56AE5C-40A4-4BF1-93C7-BB598CEA9DD8}"/>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FC2C073-498C-4ACD-AD95-E7EC022533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Context exfiltration across orgs</a:t>
            </a:r>
          </a:p>
        </p:txBody>
      </p:sp>
      <p:sp>
        <p:nvSpPr>
          <p:cNvPr id="21" name="">
            <a:extLst xmlns:a="http://schemas.openxmlformats.org/drawingml/2006/main">
              <a:ext uri="{FF2B5EF4-FFF2-40B4-BE49-F238E27FC236}">
                <a16:creationId xmlns:a16="http://schemas.microsoft.com/office/drawing/2014/main" id="{4ED8F6BE-0C39-4B75-BB8C-C5E7C1D3ECC5}"/>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4F954B16-F7C7-4EF4-8F3F-39755344CB90}"/>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Unbounded agent-to-agent delegation</a:t>
            </a:r>
          </a:p>
        </p:txBody>
      </p:sp>
      <p:sp>
        <p:nvSpPr>
          <p:cNvPr id="23" name="">
            <a:extLst xmlns:a="http://schemas.openxmlformats.org/drawingml/2006/main">
              <a:ext uri="{FF2B5EF4-FFF2-40B4-BE49-F238E27FC236}">
                <a16:creationId xmlns:a16="http://schemas.microsoft.com/office/drawing/2014/main" id="{DA7889BC-3259-49ED-B932-43595C7C02FD}"/>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2793EB92-D041-41B7-AA70-99A19AAB2F8D}"/>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Stale permissions</a:t>
            </a:r>
          </a:p>
        </p:txBody>
      </p:sp>
      <p:sp>
        <p:nvSpPr>
          <p:cNvPr id="25" name="">
            <a:extLst xmlns:a="http://schemas.openxmlformats.org/drawingml/2006/main">
              <a:ext uri="{FF2B5EF4-FFF2-40B4-BE49-F238E27FC236}">
                <a16:creationId xmlns:a16="http://schemas.microsoft.com/office/drawing/2014/main" id="{84900231-8AD6-4706-9D1A-6954B20F8C5F}"/>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EC3BE6CB-E6CF-45FC-847A-669946CFFEC4}"/>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Schema checks on A2A messages</a:t>
            </a:r>
          </a:p>
        </p:txBody>
      </p:sp>
      <p:sp>
        <p:nvSpPr>
          <p:cNvPr id="27" name="">
            <a:extLst xmlns:a="http://schemas.openxmlformats.org/drawingml/2006/main">
              <a:ext uri="{FF2B5EF4-FFF2-40B4-BE49-F238E27FC236}">
                <a16:creationId xmlns:a16="http://schemas.microsoft.com/office/drawing/2014/main" id="{EAD62606-7BC2-442E-9928-0514EAC44F0F}"/>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982C71BD-7474-4A73-83CB-9F9D3BFCB647}"/>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Dead-letter denied payloads</a:t>
            </a:r>
          </a:p>
        </p:txBody>
      </p:sp>
      <p:sp>
        <p:nvSpPr>
          <p:cNvPr id="29" name="">
            <a:extLst xmlns:a="http://schemas.openxmlformats.org/drawingml/2006/main">
              <a:ext uri="{FF2B5EF4-FFF2-40B4-BE49-F238E27FC236}">
                <a16:creationId xmlns:a16="http://schemas.microsoft.com/office/drawing/2014/main" id="{C917462C-2452-4235-8908-DDF13E9B05D5}"/>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61287211-5215-40AC-8C7A-7A4636B56F05}"/>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Audit every route and tool call</a:t>
            </a:r>
          </a:p>
        </p:txBody>
      </p:sp>
      <p:sp>
        <p:nvSpPr>
          <p:cNvPr id="31" name="">
            <a:extLst xmlns:a="http://schemas.openxmlformats.org/drawingml/2006/main">
              <a:ext uri="{FF2B5EF4-FFF2-40B4-BE49-F238E27FC236}">
                <a16:creationId xmlns:a16="http://schemas.microsoft.com/office/drawing/2014/main" id="{BAE82350-C0A1-43F3-B6DE-6E989269E059}"/>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5718C6A7-4A4A-48E4-9FFA-D32E097BAD7D}"/>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Trust tiers: internal, partner, public</a:t>
            </a:r>
          </a:p>
        </p:txBody>
      </p:sp>
      <p:sp>
        <p:nvSpPr>
          <p:cNvPr id="33" name="">
            <a:extLst xmlns:a="http://schemas.openxmlformats.org/drawingml/2006/main">
              <a:ext uri="{FF2B5EF4-FFF2-40B4-BE49-F238E27FC236}">
                <a16:creationId xmlns:a16="http://schemas.microsoft.com/office/drawing/2014/main" id="{F4475EFF-3802-4C12-87CE-E9884554F9E2}"/>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BED1B790-FD0F-46C9-85EC-EE158F0FF068}"/>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No action without policy approval</a:t>
            </a:r>
          </a:p>
        </p:txBody>
      </p:sp>
      <p:sp>
        <p:nvSpPr>
          <p:cNvPr id="35" name="">
            <a:extLst xmlns:a="http://schemas.openxmlformats.org/drawingml/2006/main">
              <a:ext uri="{FF2B5EF4-FFF2-40B4-BE49-F238E27FC236}">
                <a16:creationId xmlns:a16="http://schemas.microsoft.com/office/drawing/2014/main" id="{6952BDDC-092D-4383-91BA-F8533F88018C}"/>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Log route decisions, tool calls, denials, schema failures, and repairs.</a:t>
            </a:r>
          </a:p>
        </p:txBody>
      </p:sp>
    </p:spTree>
    <p:extLst>
      <p:ext uri="{BB962C8B-B14F-4D97-AF65-F5344CB8AC3E}">
        <p14:creationId xmlns:p14="http://schemas.microsoft.com/office/powerpoint/2010/main" val="2068322120"/>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DBB4A69-B4C2-4E10-A3AA-AAA4ACD408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F443A035-2CDA-4425-A2D0-C4327918A3A4}"/>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EFE6799-F628-4696-AF40-CA251CE5C0BA}"/>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1998F4A-43BF-46E7-9FD8-604AA544753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226B53A4-3E2F-4B4B-A9F8-2F188C0AAD9C}"/>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F45596E6-C74A-476F-AC6F-479419729344}"/>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AF5263F-5180-4404-8419-76760BA7AF1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IoA ecosystem</a:t>
            </a:r>
          </a:p>
        </p:txBody>
      </p:sp>
      <p:sp>
        <p:nvSpPr>
          <p:cNvPr id="8" name="">
            <a:extLst xmlns:a="http://schemas.openxmlformats.org/drawingml/2006/main">
              <a:ext uri="{FF2B5EF4-FFF2-40B4-BE49-F238E27FC236}">
                <a16:creationId xmlns:a16="http://schemas.microsoft.com/office/drawing/2014/main" id="{2F3F942D-3345-49F0-A7E1-A4F59CE84578}"/>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35</a:t>
            </a:r>
          </a:p>
        </p:txBody>
      </p:sp>
      <p:sp>
        <p:nvSpPr>
          <p:cNvPr id="9" name="">
            <a:extLst xmlns:a="http://schemas.openxmlformats.org/drawingml/2006/main">
              <a:ext uri="{FF2B5EF4-FFF2-40B4-BE49-F238E27FC236}">
                <a16:creationId xmlns:a16="http://schemas.microsoft.com/office/drawing/2014/main" id="{538A217F-F861-4062-B147-3609EF4BB293}"/>
              </a:ext>
            </a:extLst>
          </p:cNvPr>
          <p:cNvSpPr>
            <a:spLocks xmlns:a="http://schemas.openxmlformats.org/drawingml/2006/main" noGrp="1"/>
          </p:cNvSpPr>
          <p:nvPr/>
        </p:nvSpPr>
        <p:spPr>
          <a:xfrm xmlns:a="http://schemas.openxmlformats.org/drawingml/2006/main">
            <a:off x="495300" y="552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Module 6 · Internet of Agents &amp; Zero Trust</a:t>
            </a:r>
          </a:p>
        </p:txBody>
      </p:sp>
      <p:sp>
        <p:nvSpPr>
          <p:cNvPr id="10" name="">
            <a:extLst xmlns:a="http://schemas.openxmlformats.org/drawingml/2006/main">
              <a:ext uri="{FF2B5EF4-FFF2-40B4-BE49-F238E27FC236}">
                <a16:creationId xmlns:a16="http://schemas.microsoft.com/office/drawing/2014/main" id="{C7FA0716-9AED-4176-96CE-5F2EF19F741A}"/>
              </a:ext>
            </a:extLst>
          </p:cNvPr>
          <p:cNvSpPr>
            <a:spLocks xmlns:a="http://schemas.openxmlformats.org/drawingml/2006/main" noGrp="1"/>
          </p:cNvSpPr>
          <p:nvPr/>
        </p:nvSpPr>
        <p:spPr>
          <a:xfrm xmlns:a="http://schemas.openxmlformats.org/drawingml/2006/main">
            <a:off x="495300" y="8382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Key Takeaway</a:t>
            </a:r>
          </a:p>
        </p:txBody>
      </p:sp>
      <p:sp>
        <p:nvSpPr>
          <p:cNvPr id="11" name="">
            <a:extLst xmlns:a="http://schemas.openxmlformats.org/drawingml/2006/main">
              <a:ext uri="{FF2B5EF4-FFF2-40B4-BE49-F238E27FC236}">
                <a16:creationId xmlns:a16="http://schemas.microsoft.com/office/drawing/2014/main" id="{D386527F-204C-49EC-B5CB-D5D0D6BC4AA2}"/>
              </a:ext>
            </a:extLst>
          </p:cNvPr>
          <p:cNvSpPr>
            <a:spLocks xmlns:a="http://schemas.openxmlformats.org/drawingml/2006/main" noGrp="1"/>
          </p:cNvSpPr>
          <p:nvPr/>
        </p:nvSpPr>
        <p:spPr>
          <a:xfrm xmlns:a="http://schemas.openxmlformats.org/drawingml/2006/main">
            <a:off x="495300" y="1676400"/>
            <a:ext cx="2381250" cy="57150"/>
          </a:xfrm>
          <a:prstGeom xmlns:a="http://schemas.openxmlformats.org/drawingml/2006/main" prst="rect">
            <a:avLst/>
          </a:prstGeom>
          <a:solidFill xmlns:a="http://schemas.openxmlformats.org/drawingml/2006/main">
            <a:srgbClr val="FF3B30"/>
          </a:solidFill>
          <a:ln xmlns:a="http://schemas.openxmlformats.org/drawingml/2006/main" w="0">
            <a:solidFill>
              <a:srgbClr val="FF3B30"/>
            </a:solidFill>
            <a:prstDash val="solid"/>
          </a:ln>
        </p:spPr>
      </p:sp>
      <p:sp>
        <p:nvSpPr>
          <p:cNvPr id="12" name="">
            <a:extLst xmlns:a="http://schemas.openxmlformats.org/drawingml/2006/main">
              <a:ext uri="{FF2B5EF4-FFF2-40B4-BE49-F238E27FC236}">
                <a16:creationId xmlns:a16="http://schemas.microsoft.com/office/drawing/2014/main" id="{45B243F9-0328-4966-AF2A-C719F9B38662}"/>
              </a:ext>
            </a:extLst>
          </p:cNvPr>
          <p:cNvSpPr>
            <a:spLocks xmlns:a="http://schemas.openxmlformats.org/drawingml/2006/main" noGrp="1"/>
          </p:cNvSpPr>
          <p:nvPr/>
        </p:nvSpPr>
        <p:spPr>
          <a:xfrm xmlns:a="http://schemas.openxmlformats.org/drawingml/2006/main">
            <a:off x="952500" y="22860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Enterprise multi-agent AI</a:t>
            </a:r>
          </a:p>
        </p:txBody>
      </p:sp>
      <p:sp>
        <p:nvSpPr>
          <p:cNvPr id="13" name="">
            <a:extLst xmlns:a="http://schemas.openxmlformats.org/drawingml/2006/main">
              <a:ext uri="{FF2B5EF4-FFF2-40B4-BE49-F238E27FC236}">
                <a16:creationId xmlns:a16="http://schemas.microsoft.com/office/drawing/2014/main" id="{4865FEDF-49B3-4DC6-90E3-BCDD0ECE1111}"/>
              </a:ext>
            </a:extLst>
          </p:cNvPr>
          <p:cNvSpPr>
            <a:spLocks xmlns:a="http://schemas.openxmlformats.org/drawingml/2006/main" noGrp="1"/>
          </p:cNvSpPr>
          <p:nvPr/>
        </p:nvSpPr>
        <p:spPr>
          <a:xfrm xmlns:a="http://schemas.openxmlformats.org/drawingml/2006/main">
            <a:off x="952500" y="29718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is a governed network,</a:t>
            </a:r>
          </a:p>
        </p:txBody>
      </p:sp>
      <p:sp>
        <p:nvSpPr>
          <p:cNvPr id="14" name="">
            <a:extLst xmlns:a="http://schemas.openxmlformats.org/drawingml/2006/main">
              <a:ext uri="{FF2B5EF4-FFF2-40B4-BE49-F238E27FC236}">
                <a16:creationId xmlns:a16="http://schemas.microsoft.com/office/drawing/2014/main" id="{CE8CB8E8-296C-485F-A8EE-124059EBA7F4}"/>
              </a:ext>
            </a:extLst>
          </p:cNvPr>
          <p:cNvSpPr>
            <a:spLocks xmlns:a="http://schemas.openxmlformats.org/drawingml/2006/main" noGrp="1"/>
          </p:cNvSpPr>
          <p:nvPr/>
        </p:nvSpPr>
        <p:spPr>
          <a:xfrm xmlns:a="http://schemas.openxmlformats.org/drawingml/2006/main">
            <a:off x="952500" y="3657600"/>
            <a:ext cx="9334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300" b="1">
                <a:solidFill>
                  <a:srgbClr val="FFFFFF"/>
                </a:solidFill>
              </a:defRPr>
            </a:pPr>
            <a:r>
              <a:rPr sz="3300" b="1">
                <a:solidFill>
                  <a:srgbClr val="FFFFFF"/>
                </a:solidFill>
              </a:rPr>
              <a:t>not a bigger chat room.</a:t>
            </a:r>
          </a:p>
        </p:txBody>
      </p:sp>
    </p:spTree>
    <p:extLst>
      <p:ext uri="{BB962C8B-B14F-4D97-AF65-F5344CB8AC3E}">
        <p14:creationId xmlns:p14="http://schemas.microsoft.com/office/powerpoint/2010/main" val="140722564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78B82B48-82B6-407F-A754-C2C02481A1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93E04BCD-6947-49AF-B3CC-ED56C7E1D05F}"/>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A2F89467-F80A-425E-A5A1-FD4E46DE79CE}"/>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65585B84-BD7D-4F4A-97A4-7233D4A4E5FB}"/>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AF0E25C-55D2-4801-92C9-65223EE8B45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3417B062-C223-42C2-B2A3-E43B416E49E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6EC29FD9-5D9F-498A-9B5C-1E610EA9320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Ex5 capstone specification</a:t>
            </a:r>
          </a:p>
        </p:txBody>
      </p:sp>
      <p:sp>
        <p:nvSpPr>
          <p:cNvPr id="8" name="">
            <a:extLst xmlns:a="http://schemas.openxmlformats.org/drawingml/2006/main">
              <a:ext uri="{FF2B5EF4-FFF2-40B4-BE49-F238E27FC236}">
                <a16:creationId xmlns:a16="http://schemas.microsoft.com/office/drawing/2014/main" id="{9D394733-D166-404C-84CC-B09929E5C5E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36</a:t>
            </a:r>
          </a:p>
        </p:txBody>
      </p:sp>
      <p:sp>
        <p:nvSpPr>
          <p:cNvPr id="9" name="">
            <a:extLst xmlns:a="http://schemas.openxmlformats.org/drawingml/2006/main">
              <a:ext uri="{FF2B5EF4-FFF2-40B4-BE49-F238E27FC236}">
                <a16:creationId xmlns:a16="http://schemas.microsoft.com/office/drawing/2014/main" id="{62234EE4-57FF-4E13-8BB2-72DFAAF4DDF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Capstone · Target Architecture</a:t>
            </a:r>
          </a:p>
        </p:txBody>
      </p:sp>
      <p:sp>
        <p:nvSpPr>
          <p:cNvPr id="10" name="">
            <a:extLst xmlns:a="http://schemas.openxmlformats.org/drawingml/2006/main">
              <a:ext uri="{FF2B5EF4-FFF2-40B4-BE49-F238E27FC236}">
                <a16:creationId xmlns:a16="http://schemas.microsoft.com/office/drawing/2014/main" id="{7F0C4A04-15D0-4028-AFDF-418C80992BB0}"/>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Capstone Pipeline: Virtual Software Company</a:t>
            </a:r>
          </a:p>
        </p:txBody>
      </p:sp>
      <p:sp>
        <p:nvSpPr>
          <p:cNvPr id="11" name="">
            <a:extLst xmlns:a="http://schemas.openxmlformats.org/drawingml/2006/main">
              <a:ext uri="{FF2B5EF4-FFF2-40B4-BE49-F238E27FC236}">
                <a16:creationId xmlns:a16="http://schemas.microsoft.com/office/drawing/2014/main" id="{85983521-F933-4C8A-A88A-977FA240CC81}"/>
              </a:ext>
            </a:extLst>
          </p:cNvPr>
          <p:cNvSpPr>
            <a:spLocks xmlns:a="http://schemas.openxmlformats.org/drawingml/2006/main" noGrp="1"/>
          </p:cNvSpPr>
          <p:nvPr/>
        </p:nvSpPr>
        <p:spPr>
          <a:xfrm xmlns:a="http://schemas.openxmlformats.org/drawingml/2006/main">
            <a:off x="514350" y="1600200"/>
            <a:ext cx="1116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350" b="1">
                <a:solidFill>
                  <a:srgbClr val="D8DBFF"/>
                </a:solidFill>
                <a:latin typeface="Calibri"/>
                <a:ea typeface="Calibri"/>
                <a:cs typeface="Calibri"/>
              </a:defRPr>
            </a:pPr>
            <a:r>
              <a:rPr sz="1350" b="1">
                <a:solidFill>
                  <a:srgbClr val="D8DBFF"/>
                </a:solidFill>
                <a:latin typeface="Calibri"/>
                <a:ea typeface="Calibri"/>
                <a:cs typeface="Calibri"/>
              </a:rPr>
              <a:t>RAW ISSUE / EXTERNAL REQUEST</a:t>
            </a:r>
          </a:p>
        </p:txBody>
      </p:sp>
      <p:sp>
        <p:nvSpPr>
          <p:cNvPr id="12" name="editable diagram card">
            <a:extLst xmlns:a="http://schemas.openxmlformats.org/drawingml/2006/main">
              <a:ext uri="{FF2B5EF4-FFF2-40B4-BE49-F238E27FC236}">
                <a16:creationId xmlns:a16="http://schemas.microsoft.com/office/drawing/2014/main" id="{E61AE9C4-2159-4DF9-ABE2-B58711544F18}"/>
              </a:ext>
            </a:extLst>
          </p:cNvPr>
          <p:cNvSpPr>
            <a:spLocks xmlns:a="http://schemas.openxmlformats.org/drawingml/2006/main" noGrp="1"/>
          </p:cNvSpPr>
          <p:nvPr/>
        </p:nvSpPr>
        <p:spPr>
          <a:xfrm xmlns:a="http://schemas.openxmlformats.org/drawingml/2006/main">
            <a:off x="5143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3" name="">
            <a:extLst xmlns:a="http://schemas.openxmlformats.org/drawingml/2006/main">
              <a:ext uri="{FF2B5EF4-FFF2-40B4-BE49-F238E27FC236}">
                <a16:creationId xmlns:a16="http://schemas.microsoft.com/office/drawing/2014/main" id="{18FD6CFC-579F-4969-8E9E-D53860AA2A04}"/>
              </a:ext>
            </a:extLst>
          </p:cNvPr>
          <p:cNvSpPr>
            <a:spLocks xmlns:a="http://schemas.openxmlformats.org/drawingml/2006/main" noGrp="1"/>
          </p:cNvSpPr>
          <p:nvPr/>
        </p:nvSpPr>
        <p:spPr>
          <a:xfrm xmlns:a="http://schemas.openxmlformats.org/drawingml/2006/main">
            <a:off x="6286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1 · API GATEWAY</a:t>
            </a:r>
          </a:p>
        </p:txBody>
      </p:sp>
      <p:sp>
        <p:nvSpPr>
          <p:cNvPr id="14" name="">
            <a:extLst xmlns:a="http://schemas.openxmlformats.org/drawingml/2006/main">
              <a:ext uri="{FF2B5EF4-FFF2-40B4-BE49-F238E27FC236}">
                <a16:creationId xmlns:a16="http://schemas.microsoft.com/office/drawing/2014/main" id="{95CB5965-CD90-467B-9594-DD837007F0C6}"/>
              </a:ext>
            </a:extLst>
          </p:cNvPr>
          <p:cNvSpPr>
            <a:spLocks xmlns:a="http://schemas.openxmlformats.org/drawingml/2006/main" noGrp="1"/>
          </p:cNvSpPr>
          <p:nvPr/>
        </p:nvSpPr>
        <p:spPr>
          <a:xfrm xmlns:a="http://schemas.openxmlformats.org/drawingml/2006/main">
            <a:off x="6381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Validate request</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Map identity</a:t>
            </a:r>
          </a:p>
        </p:txBody>
      </p:sp>
      <p:sp>
        <p:nvSpPr>
          <p:cNvPr id="15" name="">
            <a:extLst xmlns:a="http://schemas.openxmlformats.org/drawingml/2006/main">
              <a:ext uri="{FF2B5EF4-FFF2-40B4-BE49-F238E27FC236}">
                <a16:creationId xmlns:a16="http://schemas.microsoft.com/office/drawing/2014/main" id="{8FD39360-D498-4838-AE3B-5FCFD75897A6}"/>
              </a:ext>
            </a:extLst>
          </p:cNvPr>
          <p:cNvSpPr>
            <a:spLocks xmlns:a="http://schemas.openxmlformats.org/drawingml/2006/main" noGrp="1"/>
          </p:cNvSpPr>
          <p:nvPr/>
        </p:nvSpPr>
        <p:spPr>
          <a:xfrm xmlns:a="http://schemas.openxmlformats.org/drawingml/2006/main">
            <a:off x="20955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16" name="editable diagram card">
            <a:extLst xmlns:a="http://schemas.openxmlformats.org/drawingml/2006/main">
              <a:ext uri="{FF2B5EF4-FFF2-40B4-BE49-F238E27FC236}">
                <a16:creationId xmlns:a16="http://schemas.microsoft.com/office/drawing/2014/main" id="{DF1D7EF8-BD1C-4244-8041-91E25BEBF3BA}"/>
              </a:ext>
            </a:extLst>
          </p:cNvPr>
          <p:cNvSpPr>
            <a:spLocks xmlns:a="http://schemas.openxmlformats.org/drawingml/2006/main" noGrp="1"/>
          </p:cNvSpPr>
          <p:nvPr/>
        </p:nvSpPr>
        <p:spPr>
          <a:xfrm xmlns:a="http://schemas.openxmlformats.org/drawingml/2006/main">
            <a:off x="24003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17" name="">
            <a:extLst xmlns:a="http://schemas.openxmlformats.org/drawingml/2006/main">
              <a:ext uri="{FF2B5EF4-FFF2-40B4-BE49-F238E27FC236}">
                <a16:creationId xmlns:a16="http://schemas.microsoft.com/office/drawing/2014/main" id="{DA6EF542-1DB5-46EB-AB91-D0B63576BFAC}"/>
              </a:ext>
            </a:extLst>
          </p:cNvPr>
          <p:cNvSpPr>
            <a:spLocks xmlns:a="http://schemas.openxmlformats.org/drawingml/2006/main" noGrp="1"/>
          </p:cNvSpPr>
          <p:nvPr/>
        </p:nvSpPr>
        <p:spPr>
          <a:xfrm xmlns:a="http://schemas.openxmlformats.org/drawingml/2006/main">
            <a:off x="25146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89378"/>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2 · PM + TECH LEAD</a:t>
            </a:r>
          </a:p>
        </p:txBody>
      </p:sp>
      <p:sp>
        <p:nvSpPr>
          <p:cNvPr id="18" name="">
            <a:extLst xmlns:a="http://schemas.openxmlformats.org/drawingml/2006/main">
              <a:ext uri="{FF2B5EF4-FFF2-40B4-BE49-F238E27FC236}">
                <a16:creationId xmlns:a16="http://schemas.microsoft.com/office/drawing/2014/main" id="{8F17AAFC-2922-4EF6-8BF5-4B1429DBDDA1}"/>
              </a:ext>
            </a:extLst>
          </p:cNvPr>
          <p:cNvSpPr>
            <a:spLocks xmlns:a="http://schemas.openxmlformats.org/drawingml/2006/main" noGrp="1"/>
          </p:cNvSpPr>
          <p:nvPr/>
        </p:nvSpPr>
        <p:spPr>
          <a:xfrm xmlns:a="http://schemas.openxmlformats.org/drawingml/2006/main">
            <a:off x="25241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TaskSpec</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SubTasks</a:t>
            </a:r>
          </a:p>
        </p:txBody>
      </p:sp>
      <p:sp>
        <p:nvSpPr>
          <p:cNvPr id="19" name="">
            <a:extLst xmlns:a="http://schemas.openxmlformats.org/drawingml/2006/main">
              <a:ext uri="{FF2B5EF4-FFF2-40B4-BE49-F238E27FC236}">
                <a16:creationId xmlns:a16="http://schemas.microsoft.com/office/drawing/2014/main" id="{AF10F14E-C5D7-40F7-88AE-B47EE4141344}"/>
              </a:ext>
            </a:extLst>
          </p:cNvPr>
          <p:cNvSpPr>
            <a:spLocks xmlns:a="http://schemas.openxmlformats.org/drawingml/2006/main" noGrp="1"/>
          </p:cNvSpPr>
          <p:nvPr/>
        </p:nvSpPr>
        <p:spPr>
          <a:xfrm xmlns:a="http://schemas.openxmlformats.org/drawingml/2006/main">
            <a:off x="39814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0" name="editable diagram card">
            <a:extLst xmlns:a="http://schemas.openxmlformats.org/drawingml/2006/main">
              <a:ext uri="{FF2B5EF4-FFF2-40B4-BE49-F238E27FC236}">
                <a16:creationId xmlns:a16="http://schemas.microsoft.com/office/drawing/2014/main" id="{D4354889-B34A-4C1C-828C-2A0258DBA32E}"/>
              </a:ext>
            </a:extLst>
          </p:cNvPr>
          <p:cNvSpPr>
            <a:spLocks xmlns:a="http://schemas.openxmlformats.org/drawingml/2006/main" noGrp="1"/>
          </p:cNvSpPr>
          <p:nvPr/>
        </p:nvSpPr>
        <p:spPr>
          <a:xfrm xmlns:a="http://schemas.openxmlformats.org/drawingml/2006/main">
            <a:off x="42862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75AEA97F-C850-4B7D-A56C-BF78D0B249C0}"/>
              </a:ext>
            </a:extLst>
          </p:cNvPr>
          <p:cNvSpPr>
            <a:spLocks xmlns:a="http://schemas.openxmlformats.org/drawingml/2006/main" noGrp="1"/>
          </p:cNvSpPr>
          <p:nvPr/>
        </p:nvSpPr>
        <p:spPr>
          <a:xfrm xmlns:a="http://schemas.openxmlformats.org/drawingml/2006/main">
            <a:off x="44005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3 · CODER</a:t>
            </a:r>
          </a:p>
        </p:txBody>
      </p:sp>
      <p:sp>
        <p:nvSpPr>
          <p:cNvPr id="22" name="">
            <a:extLst xmlns:a="http://schemas.openxmlformats.org/drawingml/2006/main">
              <a:ext uri="{FF2B5EF4-FFF2-40B4-BE49-F238E27FC236}">
                <a16:creationId xmlns:a16="http://schemas.microsoft.com/office/drawing/2014/main" id="{A740F9F1-50FB-4A9C-B4FA-AA68152D7EC7}"/>
              </a:ext>
            </a:extLst>
          </p:cNvPr>
          <p:cNvSpPr>
            <a:spLocks xmlns:a="http://schemas.openxmlformats.org/drawingml/2006/main" noGrp="1"/>
          </p:cNvSpPr>
          <p:nvPr/>
        </p:nvSpPr>
        <p:spPr>
          <a:xfrm xmlns:a="http://schemas.openxmlformats.org/drawingml/2006/main">
            <a:off x="44100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Create CodePatch</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through tool gate</a:t>
            </a:r>
          </a:p>
        </p:txBody>
      </p:sp>
      <p:sp>
        <p:nvSpPr>
          <p:cNvPr id="23" name="">
            <a:extLst xmlns:a="http://schemas.openxmlformats.org/drawingml/2006/main">
              <a:ext uri="{FF2B5EF4-FFF2-40B4-BE49-F238E27FC236}">
                <a16:creationId xmlns:a16="http://schemas.microsoft.com/office/drawing/2014/main" id="{DA24FB87-BF44-42DD-9129-87512EA19EA7}"/>
              </a:ext>
            </a:extLst>
          </p:cNvPr>
          <p:cNvSpPr>
            <a:spLocks xmlns:a="http://schemas.openxmlformats.org/drawingml/2006/main" noGrp="1"/>
          </p:cNvSpPr>
          <p:nvPr/>
        </p:nvSpPr>
        <p:spPr>
          <a:xfrm xmlns:a="http://schemas.openxmlformats.org/drawingml/2006/main">
            <a:off x="58674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4" name="editable diagram card">
            <a:extLst xmlns:a="http://schemas.openxmlformats.org/drawingml/2006/main">
              <a:ext uri="{FF2B5EF4-FFF2-40B4-BE49-F238E27FC236}">
                <a16:creationId xmlns:a16="http://schemas.microsoft.com/office/drawing/2014/main" id="{349A0742-3413-4289-9775-D97C6CE3B20A}"/>
              </a:ext>
            </a:extLst>
          </p:cNvPr>
          <p:cNvSpPr>
            <a:spLocks xmlns:a="http://schemas.openxmlformats.org/drawingml/2006/main" noGrp="1"/>
          </p:cNvSpPr>
          <p:nvPr/>
        </p:nvSpPr>
        <p:spPr>
          <a:xfrm xmlns:a="http://schemas.openxmlformats.org/drawingml/2006/main">
            <a:off x="61722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5" name="">
            <a:extLst xmlns:a="http://schemas.openxmlformats.org/drawingml/2006/main">
              <a:ext uri="{FF2B5EF4-FFF2-40B4-BE49-F238E27FC236}">
                <a16:creationId xmlns:a16="http://schemas.microsoft.com/office/drawing/2014/main" id="{9546D4B6-D49F-4A0E-968A-E4917E78C719}"/>
              </a:ext>
            </a:extLst>
          </p:cNvPr>
          <p:cNvSpPr>
            <a:spLocks xmlns:a="http://schemas.openxmlformats.org/drawingml/2006/main" noGrp="1"/>
          </p:cNvSpPr>
          <p:nvPr/>
        </p:nvSpPr>
        <p:spPr>
          <a:xfrm xmlns:a="http://schemas.openxmlformats.org/drawingml/2006/main">
            <a:off x="62865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4 · QA TESTER</a:t>
            </a:r>
          </a:p>
        </p:txBody>
      </p:sp>
      <p:sp>
        <p:nvSpPr>
          <p:cNvPr id="26" name="">
            <a:extLst xmlns:a="http://schemas.openxmlformats.org/drawingml/2006/main">
              <a:ext uri="{FF2B5EF4-FFF2-40B4-BE49-F238E27FC236}">
                <a16:creationId xmlns:a16="http://schemas.microsoft.com/office/drawing/2014/main" id="{C166A7C2-7658-458E-A4FC-D76C9982775A}"/>
              </a:ext>
            </a:extLst>
          </p:cNvPr>
          <p:cNvSpPr>
            <a:spLocks xmlns:a="http://schemas.openxmlformats.org/drawingml/2006/main" noGrp="1"/>
          </p:cNvSpPr>
          <p:nvPr/>
        </p:nvSpPr>
        <p:spPr>
          <a:xfrm xmlns:a="http://schemas.openxmlformats.org/drawingml/2006/main">
            <a:off x="62960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EXECUTE_TESTS</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Return TestResult</a:t>
            </a:r>
          </a:p>
        </p:txBody>
      </p:sp>
      <p:sp>
        <p:nvSpPr>
          <p:cNvPr id="27" name="">
            <a:extLst xmlns:a="http://schemas.openxmlformats.org/drawingml/2006/main">
              <a:ext uri="{FF2B5EF4-FFF2-40B4-BE49-F238E27FC236}">
                <a16:creationId xmlns:a16="http://schemas.microsoft.com/office/drawing/2014/main" id="{ED2FF608-7B60-4915-AEE7-85E4908E93B8}"/>
              </a:ext>
            </a:extLst>
          </p:cNvPr>
          <p:cNvSpPr>
            <a:spLocks xmlns:a="http://schemas.openxmlformats.org/drawingml/2006/main" noGrp="1"/>
          </p:cNvSpPr>
          <p:nvPr/>
        </p:nvSpPr>
        <p:spPr>
          <a:xfrm xmlns:a="http://schemas.openxmlformats.org/drawingml/2006/main">
            <a:off x="775335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28" name="editable diagram card">
            <a:extLst xmlns:a="http://schemas.openxmlformats.org/drawingml/2006/main">
              <a:ext uri="{FF2B5EF4-FFF2-40B4-BE49-F238E27FC236}">
                <a16:creationId xmlns:a16="http://schemas.microsoft.com/office/drawing/2014/main" id="{1B16BA9D-E077-46FF-A590-D95C9107A5E9}"/>
              </a:ext>
            </a:extLst>
          </p:cNvPr>
          <p:cNvSpPr>
            <a:spLocks xmlns:a="http://schemas.openxmlformats.org/drawingml/2006/main" noGrp="1"/>
          </p:cNvSpPr>
          <p:nvPr/>
        </p:nvSpPr>
        <p:spPr>
          <a:xfrm xmlns:a="http://schemas.openxmlformats.org/drawingml/2006/main">
            <a:off x="805815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555FE0"/>
            </a:solidFill>
            <a:prstDash val="solid"/>
          </a:ln>
        </p:spPr>
      </p:sp>
      <p:sp>
        <p:nvSpPr>
          <p:cNvPr id="29" name="">
            <a:extLst xmlns:a="http://schemas.openxmlformats.org/drawingml/2006/main">
              <a:ext uri="{FF2B5EF4-FFF2-40B4-BE49-F238E27FC236}">
                <a16:creationId xmlns:a16="http://schemas.microsoft.com/office/drawing/2014/main" id="{5E79CBFD-6BAD-47F1-B22A-11EB3261A041}"/>
              </a:ext>
            </a:extLst>
          </p:cNvPr>
          <p:cNvSpPr>
            <a:spLocks xmlns:a="http://schemas.openxmlformats.org/drawingml/2006/main" noGrp="1"/>
          </p:cNvSpPr>
          <p:nvPr/>
        </p:nvSpPr>
        <p:spPr>
          <a:xfrm xmlns:a="http://schemas.openxmlformats.org/drawingml/2006/main">
            <a:off x="817245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5 · SECURITY</a:t>
            </a:r>
          </a:p>
        </p:txBody>
      </p:sp>
      <p:sp>
        <p:nvSpPr>
          <p:cNvPr id="30" name="">
            <a:extLst xmlns:a="http://schemas.openxmlformats.org/drawingml/2006/main">
              <a:ext uri="{FF2B5EF4-FFF2-40B4-BE49-F238E27FC236}">
                <a16:creationId xmlns:a16="http://schemas.microsoft.com/office/drawing/2014/main" id="{2B0130D4-AFCA-49A6-84A9-B0B6581659BD}"/>
              </a:ext>
            </a:extLst>
          </p:cNvPr>
          <p:cNvSpPr>
            <a:spLocks xmlns:a="http://schemas.openxmlformats.org/drawingml/2006/main" noGrp="1"/>
          </p:cNvSpPr>
          <p:nvPr/>
        </p:nvSpPr>
        <p:spPr>
          <a:xfrm xmlns:a="http://schemas.openxmlformats.org/drawingml/2006/main">
            <a:off x="818197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Review tool use</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and unsafe code</a:t>
            </a:r>
          </a:p>
        </p:txBody>
      </p:sp>
      <p:sp>
        <p:nvSpPr>
          <p:cNvPr id="31" name="">
            <a:extLst xmlns:a="http://schemas.openxmlformats.org/drawingml/2006/main">
              <a:ext uri="{FF2B5EF4-FFF2-40B4-BE49-F238E27FC236}">
                <a16:creationId xmlns:a16="http://schemas.microsoft.com/office/drawing/2014/main" id="{7C82B6FF-7832-40BA-B73B-34C81C1B658A}"/>
              </a:ext>
            </a:extLst>
          </p:cNvPr>
          <p:cNvSpPr>
            <a:spLocks xmlns:a="http://schemas.openxmlformats.org/drawingml/2006/main" noGrp="1"/>
          </p:cNvSpPr>
          <p:nvPr/>
        </p:nvSpPr>
        <p:spPr>
          <a:xfrm xmlns:a="http://schemas.openxmlformats.org/drawingml/2006/main">
            <a:off x="9639300" y="2571750"/>
            <a:ext cx="2952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800" b="1">
                <a:solidFill>
                  <a:srgbClr val="F04B25"/>
                </a:solidFill>
                <a:latin typeface="Calibri"/>
                <a:ea typeface="Calibri"/>
                <a:cs typeface="Calibri"/>
              </a:defRPr>
            </a:pPr>
            <a:r>
              <a:rPr sz="1800" b="1">
                <a:solidFill>
                  <a:srgbClr val="F04B25"/>
                </a:solidFill>
                <a:latin typeface="Calibri"/>
                <a:ea typeface="Calibri"/>
                <a:cs typeface="Calibri"/>
              </a:rPr>
              <a:t>→</a:t>
            </a:r>
          </a:p>
        </p:txBody>
      </p:sp>
      <p:sp>
        <p:nvSpPr>
          <p:cNvPr id="32" name="editable diagram card">
            <a:extLst xmlns:a="http://schemas.openxmlformats.org/drawingml/2006/main">
              <a:ext uri="{FF2B5EF4-FFF2-40B4-BE49-F238E27FC236}">
                <a16:creationId xmlns:a16="http://schemas.microsoft.com/office/drawing/2014/main" id="{89045880-9AEA-448B-9D75-D1B52E7C942A}"/>
              </a:ext>
            </a:extLst>
          </p:cNvPr>
          <p:cNvSpPr>
            <a:spLocks xmlns:a="http://schemas.openxmlformats.org/drawingml/2006/main" noGrp="1"/>
          </p:cNvSpPr>
          <p:nvPr/>
        </p:nvSpPr>
        <p:spPr>
          <a:xfrm xmlns:a="http://schemas.openxmlformats.org/drawingml/2006/main">
            <a:off x="9944100" y="2076450"/>
            <a:ext cx="1562100" cy="1352550"/>
          </a:xfrm>
          <a:prstGeom xmlns:a="http://schemas.openxmlformats.org/drawingml/2006/main" prst="roundRect">
            <a:avLst>
              <a:gd name="adj" fmla="val 5634"/>
            </a:avLst>
          </a:prstGeom>
          <a:solidFill xmlns:a="http://schemas.openxmlformats.org/drawingml/2006/main">
            <a:srgbClr val="292EAA"/>
          </a:solidFill>
          <a:ln xmlns:a="http://schemas.openxmlformats.org/drawingml/2006/main" w="13335">
            <a:solidFill>
              <a:srgbClr val="F04B25"/>
            </a:solidFill>
            <a:prstDash val="solid"/>
          </a:ln>
        </p:spPr>
      </p:sp>
      <p:sp>
        <p:nvSpPr>
          <p:cNvPr id="33" name="">
            <a:extLst xmlns:a="http://schemas.openxmlformats.org/drawingml/2006/main">
              <a:ext uri="{FF2B5EF4-FFF2-40B4-BE49-F238E27FC236}">
                <a16:creationId xmlns:a16="http://schemas.microsoft.com/office/drawing/2014/main" id="{84ADD00D-DA9F-42E4-97FB-35FDC03A3798}"/>
              </a:ext>
            </a:extLst>
          </p:cNvPr>
          <p:cNvSpPr>
            <a:spLocks xmlns:a="http://schemas.openxmlformats.org/drawingml/2006/main" noGrp="1"/>
          </p:cNvSpPr>
          <p:nvPr/>
        </p:nvSpPr>
        <p:spPr>
          <a:xfrm xmlns:a="http://schemas.openxmlformats.org/drawingml/2006/main">
            <a:off x="10058400" y="2162175"/>
            <a:ext cx="133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6 · RELEASE</a:t>
            </a:r>
          </a:p>
        </p:txBody>
      </p:sp>
      <p:sp>
        <p:nvSpPr>
          <p:cNvPr id="34" name="">
            <a:extLst xmlns:a="http://schemas.openxmlformats.org/drawingml/2006/main">
              <a:ext uri="{FF2B5EF4-FFF2-40B4-BE49-F238E27FC236}">
                <a16:creationId xmlns:a16="http://schemas.microsoft.com/office/drawing/2014/main" id="{FF5C47D6-1EB0-450F-ACFF-7665F3270864}"/>
              </a:ext>
            </a:extLst>
          </p:cNvPr>
          <p:cNvSpPr>
            <a:spLocks xmlns:a="http://schemas.openxmlformats.org/drawingml/2006/main" noGrp="1"/>
          </p:cNvSpPr>
          <p:nvPr/>
        </p:nvSpPr>
        <p:spPr>
          <a:xfrm xmlns:a="http://schemas.openxmlformats.org/drawingml/2006/main">
            <a:off x="10067925" y="2543175"/>
            <a:ext cx="13144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SHIPPED or</a:t>
            </a:r>
          </a:p>
          <a:p xmlns:a="http://schemas.openxmlformats.org/drawingml/2006/main">
            <a:pPr algn="ctr">
              <a:buNone/>
              <a:defRPr sz="1125" b="0">
                <a:solidFill>
                  <a:srgbClr val="D8DBFF"/>
                </a:solidFill>
                <a:latin typeface="Calibri"/>
                <a:ea typeface="Calibri"/>
                <a:cs typeface="Calibri"/>
              </a:defRPr>
            </a:pPr>
            <a:r>
              <a:rPr sz="1125" b="0">
                <a:solidFill>
                  <a:srgbClr val="D8DBFF"/>
                </a:solidFill>
                <a:latin typeface="Calibri"/>
                <a:ea typeface="Calibri"/>
                <a:cs typeface="Calibri"/>
              </a:rPr>
              <a:t>ESCALATED</a:t>
            </a:r>
          </a:p>
        </p:txBody>
      </p:sp>
      <p:sp>
        <p:nvSpPr>
          <p:cNvPr id="35" name="editable diagram card">
            <a:extLst xmlns:a="http://schemas.openxmlformats.org/drawingml/2006/main">
              <a:ext uri="{FF2B5EF4-FFF2-40B4-BE49-F238E27FC236}">
                <a16:creationId xmlns:a16="http://schemas.microsoft.com/office/drawing/2014/main" id="{6E337584-D50D-42D4-9FF4-CE3855AAAC24}"/>
              </a:ext>
            </a:extLst>
          </p:cNvPr>
          <p:cNvSpPr>
            <a:spLocks xmlns:a="http://schemas.openxmlformats.org/drawingml/2006/main" noGrp="1"/>
          </p:cNvSpPr>
          <p:nvPr/>
        </p:nvSpPr>
        <p:spPr>
          <a:xfrm xmlns:a="http://schemas.openxmlformats.org/drawingml/2006/main">
            <a:off x="1943100" y="3714750"/>
            <a:ext cx="8305800" cy="704850"/>
          </a:xfrm>
          <a:prstGeom xmlns:a="http://schemas.openxmlformats.org/drawingml/2006/main" prst="roundRect">
            <a:avLst>
              <a:gd name="adj" fmla="val 10811"/>
            </a:avLst>
          </a:prstGeom>
          <a:solidFill xmlns:a="http://schemas.openxmlformats.org/drawingml/2006/main">
            <a:srgbClr val="292EAA"/>
          </a:solidFill>
          <a:ln xmlns:a="http://schemas.openxmlformats.org/drawingml/2006/main" w="13335">
            <a:solidFill>
              <a:srgbClr val="555FE0"/>
            </a:solidFill>
            <a:prstDash val="solid"/>
          </a:ln>
        </p:spPr>
      </p:sp>
      <p:sp>
        <p:nvSpPr>
          <p:cNvPr id="36" name="">
            <a:extLst xmlns:a="http://schemas.openxmlformats.org/drawingml/2006/main">
              <a:ext uri="{FF2B5EF4-FFF2-40B4-BE49-F238E27FC236}">
                <a16:creationId xmlns:a16="http://schemas.microsoft.com/office/drawing/2014/main" id="{3208C320-DAA0-4CE7-A01B-A2892D479033}"/>
              </a:ext>
            </a:extLst>
          </p:cNvPr>
          <p:cNvSpPr>
            <a:spLocks xmlns:a="http://schemas.openxmlformats.org/drawingml/2006/main" noGrp="1"/>
          </p:cNvSpPr>
          <p:nvPr/>
        </p:nvSpPr>
        <p:spPr>
          <a:xfrm xmlns:a="http://schemas.openxmlformats.org/drawingml/2006/main">
            <a:off x="2057400" y="3800475"/>
            <a:ext cx="807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BOUNDED REPAIR LOOP</a:t>
            </a:r>
          </a:p>
        </p:txBody>
      </p:sp>
      <p:sp>
        <p:nvSpPr>
          <p:cNvPr id="37" name="">
            <a:extLst xmlns:a="http://schemas.openxmlformats.org/drawingml/2006/main">
              <a:ext uri="{FF2B5EF4-FFF2-40B4-BE49-F238E27FC236}">
                <a16:creationId xmlns:a16="http://schemas.microsoft.com/office/drawing/2014/main" id="{782304A2-1618-4026-B5EA-84602C01868B}"/>
              </a:ext>
            </a:extLst>
          </p:cNvPr>
          <p:cNvSpPr>
            <a:spLocks xmlns:a="http://schemas.openxmlformats.org/drawingml/2006/main" noGrp="1"/>
          </p:cNvSpPr>
          <p:nvPr/>
        </p:nvSpPr>
        <p:spPr>
          <a:xfrm xmlns:a="http://schemas.openxmlformats.org/drawingml/2006/main">
            <a:off x="2066925" y="4010025"/>
            <a:ext cx="8058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QA failure → Coder for at most 2 repairs; unresolved risk → human escalation with an audit record.</a:t>
            </a:r>
          </a:p>
        </p:txBody>
      </p:sp>
      <p:sp>
        <p:nvSpPr>
          <p:cNvPr id="38" name="">
            <a:extLst xmlns:a="http://schemas.openxmlformats.org/drawingml/2006/main">
              <a:ext uri="{FF2B5EF4-FFF2-40B4-BE49-F238E27FC236}">
                <a16:creationId xmlns:a16="http://schemas.microsoft.com/office/drawing/2014/main" id="{6F01F0A4-87C4-494C-8B00-02449223F6CF}"/>
              </a:ext>
            </a:extLst>
          </p:cNvPr>
          <p:cNvSpPr>
            <a:spLocks xmlns:a="http://schemas.openxmlformats.org/drawingml/2006/main" noGrp="1"/>
          </p:cNvSpPr>
          <p:nvPr/>
        </p:nvSpPr>
        <p:spPr>
          <a:xfrm xmlns:a="http://schemas.openxmlformats.org/drawingml/2006/main">
            <a:off x="762000" y="4591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Router + role-filtered shared memory coordinate the handoffs across the pipeline.</a:t>
            </a:r>
          </a:p>
        </p:txBody>
      </p:sp>
      <p:sp>
        <p:nvSpPr>
          <p:cNvPr id="39" name="">
            <a:extLst xmlns:a="http://schemas.openxmlformats.org/drawingml/2006/main">
              <a:ext uri="{FF2B5EF4-FFF2-40B4-BE49-F238E27FC236}">
                <a16:creationId xmlns:a16="http://schemas.microsoft.com/office/drawing/2014/main" id="{91161F1D-0C41-4B9F-9038-3CFA24BD539A}"/>
              </a:ext>
            </a:extLst>
          </p:cNvPr>
          <p:cNvSpPr>
            <a:spLocks xmlns:a="http://schemas.openxmlformats.org/drawingml/2006/main" noGrp="1"/>
          </p:cNvSpPr>
          <p:nvPr/>
        </p:nvSpPr>
        <p:spPr>
          <a:xfrm xmlns:a="http://schemas.openxmlformats.org/drawingml/2006/main">
            <a:off x="742950" y="4953000"/>
            <a:ext cx="10706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25" b="0">
                <a:solidFill>
                  <a:srgbClr val="BFC5FF"/>
                </a:solidFill>
                <a:latin typeface="Calibri"/>
                <a:ea typeface="Calibri"/>
                <a:cs typeface="Calibri"/>
              </a:defRPr>
            </a:pPr>
            <a:r>
              <a:rPr sz="1125" b="0">
                <a:solidFill>
                  <a:srgbClr val="BFC5FF"/>
                </a:solidFill>
                <a:latin typeface="Calibri"/>
                <a:ea typeface="Calibri"/>
                <a:cs typeface="Calibri"/>
              </a:rPr>
              <a:t>This is the capstone target design: deterministic inputs and repository checks provide evidence; no live model or fixed test count is required.</a:t>
            </a:r>
          </a:p>
        </p:txBody>
      </p:sp>
    </p:spTree>
    <p:extLst>
      <p:ext uri="{BB962C8B-B14F-4D97-AF65-F5344CB8AC3E}">
        <p14:creationId xmlns:p14="http://schemas.microsoft.com/office/powerpoint/2010/main" val="40816572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FC3B274-9F01-4B42-90E5-01A773BFAB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7D9477CA-A011-4A5C-BCB4-CFB62CDC965D}"/>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550D7B40-3664-4026-815D-0541C7E6D80B}"/>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72A7D437-63E2-4E27-BCD7-0063656FB1FC}"/>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8F92AA85-FCDC-43A1-B301-810E605F58CD}"/>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449C4776-48CC-4A36-A72A-9E29E9533FFA}"/>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E1CAE878-6B3F-4EA0-812D-97FD43B5E32C}"/>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Resource library</a:t>
            </a:r>
          </a:p>
        </p:txBody>
      </p:sp>
      <p:sp>
        <p:nvSpPr>
          <p:cNvPr id="8" name="">
            <a:extLst xmlns:a="http://schemas.openxmlformats.org/drawingml/2006/main">
              <a:ext uri="{FF2B5EF4-FFF2-40B4-BE49-F238E27FC236}">
                <a16:creationId xmlns:a16="http://schemas.microsoft.com/office/drawing/2014/main" id="{19DF5109-221F-471C-A693-A38427DADA07}"/>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37</a:t>
            </a:r>
          </a:p>
        </p:txBody>
      </p:sp>
      <p:sp>
        <p:nvSpPr>
          <p:cNvPr id="9" name="">
            <a:extLst xmlns:a="http://schemas.openxmlformats.org/drawingml/2006/main">
              <a:ext uri="{FF2B5EF4-FFF2-40B4-BE49-F238E27FC236}">
                <a16:creationId xmlns:a16="http://schemas.microsoft.com/office/drawing/2014/main" id="{8E1E9352-F9C5-4742-AE21-12DF931B719B}"/>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0184782C-C491-4D89-A3B0-136801B3514D}"/>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Critical Assets — How They Fit</a:t>
            </a:r>
          </a:p>
        </p:txBody>
      </p:sp>
      <p:sp>
        <p:nvSpPr>
          <p:cNvPr id="11" name="">
            <a:extLst xmlns:a="http://schemas.openxmlformats.org/drawingml/2006/main">
              <a:ext uri="{FF2B5EF4-FFF2-40B4-BE49-F238E27FC236}">
                <a16:creationId xmlns:a16="http://schemas.microsoft.com/office/drawing/2014/main" id="{19DE1C8F-EEC6-4E55-BE62-4A322477787C}"/>
              </a:ext>
            </a:extLst>
          </p:cNvPr>
          <p:cNvSpPr>
            <a:spLocks xmlns:a="http://schemas.openxmlformats.org/drawingml/2006/main" noGrp="1"/>
          </p:cNvSpPr>
          <p:nvPr/>
        </p:nvSpPr>
        <p:spPr>
          <a:xfrm xmlns:a="http://schemas.openxmlformats.org/drawingml/2006/main">
            <a:off x="781050" y="17526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2" name="">
            <a:extLst xmlns:a="http://schemas.openxmlformats.org/drawingml/2006/main">
              <a:ext uri="{FF2B5EF4-FFF2-40B4-BE49-F238E27FC236}">
                <a16:creationId xmlns:a16="http://schemas.microsoft.com/office/drawing/2014/main" id="{AB732EFE-55AB-4521-91E9-79B80E7657AD}"/>
              </a:ext>
            </a:extLst>
          </p:cNvPr>
          <p:cNvSpPr>
            <a:spLocks xmlns:a="http://schemas.openxmlformats.org/drawingml/2006/main" noGrp="1"/>
          </p:cNvSpPr>
          <p:nvPr/>
        </p:nvSpPr>
        <p:spPr>
          <a:xfrm xmlns:a="http://schemas.openxmlformats.org/drawingml/2006/main">
            <a:off x="1085850" y="17526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course_overview.md: promise, philosophy, module map, success criteria.</a:t>
            </a:r>
          </a:p>
        </p:txBody>
      </p:sp>
      <p:sp>
        <p:nvSpPr>
          <p:cNvPr id="13" name="">
            <a:extLst xmlns:a="http://schemas.openxmlformats.org/drawingml/2006/main">
              <a:ext uri="{FF2B5EF4-FFF2-40B4-BE49-F238E27FC236}">
                <a16:creationId xmlns:a16="http://schemas.microsoft.com/office/drawing/2014/main" id="{9ED0F4E0-3219-49A1-99ED-0D37A779EA63}"/>
              </a:ext>
            </a:extLst>
          </p:cNvPr>
          <p:cNvSpPr>
            <a:spLocks xmlns:a="http://schemas.openxmlformats.org/drawingml/2006/main" noGrp="1"/>
          </p:cNvSpPr>
          <p:nvPr/>
        </p:nvSpPr>
        <p:spPr>
          <a:xfrm xmlns:a="http://schemas.openxmlformats.org/drawingml/2006/main">
            <a:off x="781050" y="21907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4" name="">
            <a:extLst xmlns:a="http://schemas.openxmlformats.org/drawingml/2006/main">
              <a:ext uri="{FF2B5EF4-FFF2-40B4-BE49-F238E27FC236}">
                <a16:creationId xmlns:a16="http://schemas.microsoft.com/office/drawing/2014/main" id="{9FFF2809-E6F2-4706-A085-693A99E6E783}"/>
              </a:ext>
            </a:extLst>
          </p:cNvPr>
          <p:cNvSpPr>
            <a:spLocks xmlns:a="http://schemas.openxmlformats.org/drawingml/2006/main" noGrp="1"/>
          </p:cNvSpPr>
          <p:nvPr/>
        </p:nvSpPr>
        <p:spPr>
          <a:xfrm xmlns:a="http://schemas.openxmlformats.org/drawingml/2006/main">
            <a:off x="1085850" y="21907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README.md: workspace map, assets, quick start, teaching order.</a:t>
            </a:r>
          </a:p>
        </p:txBody>
      </p:sp>
      <p:sp>
        <p:nvSpPr>
          <p:cNvPr id="15" name="">
            <a:extLst xmlns:a="http://schemas.openxmlformats.org/drawingml/2006/main">
              <a:ext uri="{FF2B5EF4-FFF2-40B4-BE49-F238E27FC236}">
                <a16:creationId xmlns:a16="http://schemas.microsoft.com/office/drawing/2014/main" id="{4AD1876D-BA99-4DF0-9C0F-AF65085DC868}"/>
              </a:ext>
            </a:extLst>
          </p:cNvPr>
          <p:cNvSpPr>
            <a:spLocks xmlns:a="http://schemas.openxmlformats.org/drawingml/2006/main" noGrp="1"/>
          </p:cNvSpPr>
          <p:nvPr/>
        </p:nvSpPr>
        <p:spPr>
          <a:xfrm xmlns:a="http://schemas.openxmlformats.org/drawingml/2006/main">
            <a:off x="781050" y="26289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6" name="">
            <a:extLst xmlns:a="http://schemas.openxmlformats.org/drawingml/2006/main">
              <a:ext uri="{FF2B5EF4-FFF2-40B4-BE49-F238E27FC236}">
                <a16:creationId xmlns:a16="http://schemas.microsoft.com/office/drawing/2014/main" id="{13EBC225-8078-4C8A-9EBE-7E54BDEDB800}"/>
              </a:ext>
            </a:extLst>
          </p:cNvPr>
          <p:cNvSpPr>
            <a:spLocks xmlns:a="http://schemas.openxmlformats.org/drawingml/2006/main" noGrp="1"/>
          </p:cNvSpPr>
          <p:nvPr/>
        </p:nvSpPr>
        <p:spPr>
          <a:xfrm xmlns:a="http://schemas.openxmlformats.org/drawingml/2006/main">
            <a:off x="1085850" y="26289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assignment_syllabus.md: numbered assignments and Homework A-G.</a:t>
            </a:r>
          </a:p>
        </p:txBody>
      </p:sp>
      <p:sp>
        <p:nvSpPr>
          <p:cNvPr id="17" name="">
            <a:extLst xmlns:a="http://schemas.openxmlformats.org/drawingml/2006/main">
              <a:ext uri="{FF2B5EF4-FFF2-40B4-BE49-F238E27FC236}">
                <a16:creationId xmlns:a16="http://schemas.microsoft.com/office/drawing/2014/main" id="{C6ADDD95-218C-45FF-868D-CCAB62D1DFA4}"/>
              </a:ext>
            </a:extLst>
          </p:cNvPr>
          <p:cNvSpPr>
            <a:spLocks xmlns:a="http://schemas.openxmlformats.org/drawingml/2006/main" noGrp="1"/>
          </p:cNvSpPr>
          <p:nvPr/>
        </p:nvSpPr>
        <p:spPr>
          <a:xfrm xmlns:a="http://schemas.openxmlformats.org/drawingml/2006/main">
            <a:off x="781050" y="3067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18" name="">
            <a:extLst xmlns:a="http://schemas.openxmlformats.org/drawingml/2006/main">
              <a:ext uri="{FF2B5EF4-FFF2-40B4-BE49-F238E27FC236}">
                <a16:creationId xmlns:a16="http://schemas.microsoft.com/office/drawing/2014/main" id="{01C0A8AF-8C2C-43EB-892A-6D456639BD72}"/>
              </a:ext>
            </a:extLst>
          </p:cNvPr>
          <p:cNvSpPr>
            <a:spLocks xmlns:a="http://schemas.openxmlformats.org/drawingml/2006/main" noGrp="1"/>
          </p:cNvSpPr>
          <p:nvPr/>
        </p:nvSpPr>
        <p:spPr>
          <a:xfrm xmlns:a="http://schemas.openxmlformats.org/drawingml/2006/main">
            <a:off x="1085850" y="306705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resources/README.md: papers, videos, cited schemas.</a:t>
            </a:r>
          </a:p>
        </p:txBody>
      </p:sp>
      <p:sp>
        <p:nvSpPr>
          <p:cNvPr id="19" name="">
            <a:extLst xmlns:a="http://schemas.openxmlformats.org/drawingml/2006/main">
              <a:ext uri="{FF2B5EF4-FFF2-40B4-BE49-F238E27FC236}">
                <a16:creationId xmlns:a16="http://schemas.microsoft.com/office/drawing/2014/main" id="{5BBFE298-054B-4526-84F5-CFD9B13B03C7}"/>
              </a:ext>
            </a:extLst>
          </p:cNvPr>
          <p:cNvSpPr>
            <a:spLocks xmlns:a="http://schemas.openxmlformats.org/drawingml/2006/main" noGrp="1"/>
          </p:cNvSpPr>
          <p:nvPr/>
        </p:nvSpPr>
        <p:spPr>
          <a:xfrm xmlns:a="http://schemas.openxmlformats.org/drawingml/2006/main">
            <a:off x="781050" y="35052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3B30"/>
                </a:solidFill>
              </a:defRPr>
            </a:pPr>
            <a:r>
              <a:rPr sz="1575" b="1">
                <a:solidFill>
                  <a:srgbClr val="FF3B30"/>
                </a:solidFill>
              </a:rPr>
              <a:t>→</a:t>
            </a:r>
          </a:p>
        </p:txBody>
      </p:sp>
      <p:sp>
        <p:nvSpPr>
          <p:cNvPr id="20" name="">
            <a:extLst xmlns:a="http://schemas.openxmlformats.org/drawingml/2006/main">
              <a:ext uri="{FF2B5EF4-FFF2-40B4-BE49-F238E27FC236}">
                <a16:creationId xmlns:a16="http://schemas.microsoft.com/office/drawing/2014/main" id="{4039E5E1-45C6-47F5-9D45-C24493C33525}"/>
              </a:ext>
            </a:extLst>
          </p:cNvPr>
          <p:cNvSpPr>
            <a:spLocks xmlns:a="http://schemas.openxmlformats.org/drawingml/2006/main" noGrp="1"/>
          </p:cNvSpPr>
          <p:nvPr/>
        </p:nvSpPr>
        <p:spPr>
          <a:xfrm xmlns:a="http://schemas.openxmlformats.org/drawingml/2006/main">
            <a:off x="1085850" y="3505200"/>
            <a:ext cx="9505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crewai_learning: Homework G readiness and coding-agent teams.</a:t>
            </a:r>
          </a:p>
        </p:txBody>
      </p:sp>
      <p:sp>
        <p:nvSpPr>
          <p:cNvPr id="21" name="">
            <a:extLst xmlns:a="http://schemas.openxmlformats.org/drawingml/2006/main">
              <a:ext uri="{FF2B5EF4-FFF2-40B4-BE49-F238E27FC236}">
                <a16:creationId xmlns:a16="http://schemas.microsoft.com/office/drawing/2014/main" id="{E8DA4B6F-6DB2-404C-B4C2-73B796193294}"/>
              </a:ext>
            </a:extLst>
          </p:cNvPr>
          <p:cNvSpPr>
            <a:spLocks xmlns:a="http://schemas.openxmlformats.org/drawingml/2006/main" noGrp="1"/>
          </p:cNvSpPr>
          <p:nvPr/>
        </p:nvSpPr>
        <p:spPr>
          <a:xfrm xmlns:a="http://schemas.openxmlformats.org/drawingml/2006/main">
            <a:off x="781050" y="447675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FFFFFF"/>
                </a:solidFill>
              </a:defRPr>
            </a:pPr>
            <a:r>
              <a:rPr sz="1950" b="1">
                <a:solidFill>
                  <a:srgbClr val="FFFFFF"/>
                </a:solidFill>
              </a:rPr>
              <a:t>Use documents as teaching aids, not slide copy.</a:t>
            </a:r>
          </a:p>
        </p:txBody>
      </p:sp>
      <p:sp>
        <p:nvSpPr>
          <p:cNvPr id="22" name="">
            <a:extLst xmlns:a="http://schemas.openxmlformats.org/drawingml/2006/main">
              <a:ext uri="{FF2B5EF4-FFF2-40B4-BE49-F238E27FC236}">
                <a16:creationId xmlns:a16="http://schemas.microsoft.com/office/drawing/2014/main" id="{2E2D1D77-3B67-4E6A-993B-7638F2660DE1}"/>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One slide, one idea, one practice.</a:t>
            </a:r>
          </a:p>
        </p:txBody>
      </p:sp>
    </p:spTree>
    <p:extLst>
      <p:ext uri="{BB962C8B-B14F-4D97-AF65-F5344CB8AC3E}">
        <p14:creationId xmlns:p14="http://schemas.microsoft.com/office/powerpoint/2010/main" val="145492024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392211C-EDD6-4B3A-BB24-F8DCAD57B7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FBD7345-6312-4E84-B44B-020B7030E967}"/>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E76FFA1B-263D-4AC2-8976-7B5978A4966F}"/>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F813EBB2-9651-48B7-A04F-60AF2005BE6E}"/>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E513C172-D5CA-45B3-A781-F29D760E9DF4}"/>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55FA81EB-2A02-42F0-829E-F7EA2F16D57B}"/>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A7364037-1D5B-4840-87AF-FCD6625CD0E5}"/>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notebook labs + mock adapter</a:t>
            </a:r>
          </a:p>
        </p:txBody>
      </p:sp>
      <p:sp>
        <p:nvSpPr>
          <p:cNvPr id="8" name="">
            <a:extLst xmlns:a="http://schemas.openxmlformats.org/drawingml/2006/main">
              <a:ext uri="{FF2B5EF4-FFF2-40B4-BE49-F238E27FC236}">
                <a16:creationId xmlns:a16="http://schemas.microsoft.com/office/drawing/2014/main" id="{B390F6B1-E636-4AB9-8126-88EECA769004}"/>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38</a:t>
            </a:r>
          </a:p>
        </p:txBody>
      </p:sp>
      <p:sp>
        <p:nvSpPr>
          <p:cNvPr id="9" name="">
            <a:extLst xmlns:a="http://schemas.openxmlformats.org/drawingml/2006/main">
              <a:ext uri="{FF2B5EF4-FFF2-40B4-BE49-F238E27FC236}">
                <a16:creationId xmlns:a16="http://schemas.microsoft.com/office/drawing/2014/main" id="{7323ED6B-5B0A-445E-89BF-0A410FF5001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Course Architecture</a:t>
            </a:r>
          </a:p>
        </p:txBody>
      </p:sp>
      <p:sp>
        <p:nvSpPr>
          <p:cNvPr id="10" name="">
            <a:extLst xmlns:a="http://schemas.openxmlformats.org/drawingml/2006/main">
              <a:ext uri="{FF2B5EF4-FFF2-40B4-BE49-F238E27FC236}">
                <a16:creationId xmlns:a16="http://schemas.microsoft.com/office/drawing/2014/main" id="{5307567B-9833-4F9C-BC72-DDFA3ACD684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Three Layers, One Governance Shell</a:t>
            </a:r>
          </a:p>
        </p:txBody>
      </p:sp>
      <p:sp>
        <p:nvSpPr>
          <p:cNvPr id="11" name="editable governance shell">
            <a:extLst xmlns:a="http://schemas.openxmlformats.org/drawingml/2006/main">
              <a:ext uri="{FF2B5EF4-FFF2-40B4-BE49-F238E27FC236}">
                <a16:creationId xmlns:a16="http://schemas.microsoft.com/office/drawing/2014/main" id="{B9FA65BC-45A9-4B50-92DE-1BE9E52D9287}"/>
              </a:ext>
            </a:extLst>
          </p:cNvPr>
          <p:cNvSpPr>
            <a:spLocks xmlns:a="http://schemas.openxmlformats.org/drawingml/2006/main" noGrp="1"/>
          </p:cNvSpPr>
          <p:nvPr/>
        </p:nvSpPr>
        <p:spPr>
          <a:xfrm xmlns:a="http://schemas.openxmlformats.org/drawingml/2006/main">
            <a:off x="495300" y="1581150"/>
            <a:ext cx="11201400" cy="933450"/>
          </a:xfrm>
          <a:prstGeom xmlns:a="http://schemas.openxmlformats.org/drawingml/2006/main" prst="roundRect">
            <a:avLst>
              <a:gd name="adj" fmla="val 8163"/>
            </a:avLst>
          </a:prstGeom>
          <a:solidFill xmlns:a="http://schemas.openxmlformats.org/drawingml/2006/main">
            <a:srgbClr val="292EAA"/>
          </a:solidFill>
          <a:ln xmlns:a="http://schemas.openxmlformats.org/drawingml/2006/main" w="15240">
            <a:solidFill>
              <a:srgbClr val="555FE0"/>
            </a:solidFill>
            <a:prstDash val="solid"/>
          </a:ln>
        </p:spPr>
      </p:sp>
      <p:sp>
        <p:nvSpPr>
          <p:cNvPr id="12" name="">
            <a:extLst xmlns:a="http://schemas.openxmlformats.org/drawingml/2006/main">
              <a:ext uri="{FF2B5EF4-FFF2-40B4-BE49-F238E27FC236}">
                <a16:creationId xmlns:a16="http://schemas.microsoft.com/office/drawing/2014/main" id="{0A069CEB-64EA-4B88-8C8F-B96D9C8EC0A1}"/>
              </a:ext>
            </a:extLst>
          </p:cNvPr>
          <p:cNvSpPr>
            <a:spLocks xmlns:a="http://schemas.openxmlformats.org/drawingml/2006/main" noGrp="1"/>
          </p:cNvSpPr>
          <p:nvPr/>
        </p:nvSpPr>
        <p:spPr>
          <a:xfrm xmlns:a="http://schemas.openxmlformats.org/drawingml/2006/main">
            <a:off x="647700" y="1657350"/>
            <a:ext cx="1089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D8DBFF"/>
                </a:solidFill>
                <a:latin typeface="Calibri"/>
                <a:ea typeface="Calibri"/>
                <a:cs typeface="Calibri"/>
              </a:defRPr>
            </a:pPr>
            <a:r>
              <a:rPr sz="1200" b="1">
                <a:solidFill>
                  <a:srgbClr val="D8DBFF"/>
                </a:solidFill>
                <a:latin typeface="Calibri"/>
                <a:ea typeface="Calibri"/>
                <a:cs typeface="Calibri"/>
              </a:rPr>
              <a:t>GOVERNANCE SHELL</a:t>
            </a:r>
          </a:p>
        </p:txBody>
      </p:sp>
      <p:sp>
        <p:nvSpPr>
          <p:cNvPr id="13" name="editable diagram card">
            <a:extLst xmlns:a="http://schemas.openxmlformats.org/drawingml/2006/main">
              <a:ext uri="{FF2B5EF4-FFF2-40B4-BE49-F238E27FC236}">
                <a16:creationId xmlns:a16="http://schemas.microsoft.com/office/drawing/2014/main" id="{D6CF201B-C780-47BC-8901-F4FC72D33C53}"/>
              </a:ext>
            </a:extLst>
          </p:cNvPr>
          <p:cNvSpPr>
            <a:spLocks xmlns:a="http://schemas.openxmlformats.org/drawingml/2006/main" noGrp="1"/>
          </p:cNvSpPr>
          <p:nvPr/>
        </p:nvSpPr>
        <p:spPr>
          <a:xfrm xmlns:a="http://schemas.openxmlformats.org/drawingml/2006/main">
            <a:off x="68580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A89955-C9DD-4A48-8E88-15A0E79EAE3A}"/>
              </a:ext>
            </a:extLst>
          </p:cNvPr>
          <p:cNvSpPr>
            <a:spLocks xmlns:a="http://schemas.openxmlformats.org/drawingml/2006/main" noGrp="1"/>
          </p:cNvSpPr>
          <p:nvPr/>
        </p:nvSpPr>
        <p:spPr>
          <a:xfrm xmlns:a="http://schemas.openxmlformats.org/drawingml/2006/main">
            <a:off x="80010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PYDANTIC CONTRACTS</a:t>
            </a:r>
          </a:p>
        </p:txBody>
      </p:sp>
      <p:sp>
        <p:nvSpPr>
          <p:cNvPr id="15" name="editable diagram card">
            <a:extLst xmlns:a="http://schemas.openxmlformats.org/drawingml/2006/main">
              <a:ext uri="{FF2B5EF4-FFF2-40B4-BE49-F238E27FC236}">
                <a16:creationId xmlns:a16="http://schemas.microsoft.com/office/drawing/2014/main" id="{17217D3B-4C63-470C-B533-BEFC90927266}"/>
              </a:ext>
            </a:extLst>
          </p:cNvPr>
          <p:cNvSpPr>
            <a:spLocks xmlns:a="http://schemas.openxmlformats.org/drawingml/2006/main" noGrp="1"/>
          </p:cNvSpPr>
          <p:nvPr/>
        </p:nvSpPr>
        <p:spPr>
          <a:xfrm xmlns:a="http://schemas.openxmlformats.org/drawingml/2006/main">
            <a:off x="4486275"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80487-632D-4B29-8878-14DF23C5F350}"/>
              </a:ext>
            </a:extLst>
          </p:cNvPr>
          <p:cNvSpPr>
            <a:spLocks xmlns:a="http://schemas.openxmlformats.org/drawingml/2006/main" noGrp="1"/>
          </p:cNvSpPr>
          <p:nvPr/>
        </p:nvSpPr>
        <p:spPr>
          <a:xfrm xmlns:a="http://schemas.openxmlformats.org/drawingml/2006/main">
            <a:off x="4600575"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MCP-STYLE TOOL GATE</a:t>
            </a:r>
          </a:p>
        </p:txBody>
      </p:sp>
      <p:sp>
        <p:nvSpPr>
          <p:cNvPr id="17" name="editable diagram card">
            <a:extLst xmlns:a="http://schemas.openxmlformats.org/drawingml/2006/main">
              <a:ext uri="{FF2B5EF4-FFF2-40B4-BE49-F238E27FC236}">
                <a16:creationId xmlns:a16="http://schemas.microsoft.com/office/drawing/2014/main" id="{5B01A119-527D-4001-A4F6-28B9281C31D9}"/>
              </a:ext>
            </a:extLst>
          </p:cNvPr>
          <p:cNvSpPr>
            <a:spLocks xmlns:a="http://schemas.openxmlformats.org/drawingml/2006/main" noGrp="1"/>
          </p:cNvSpPr>
          <p:nvPr/>
        </p:nvSpPr>
        <p:spPr>
          <a:xfrm xmlns:a="http://schemas.openxmlformats.org/drawingml/2006/main">
            <a:off x="8286750" y="1971675"/>
            <a:ext cx="3219450" cy="409575"/>
          </a:xfrm>
          <a:prstGeom xmlns:a="http://schemas.openxmlformats.org/drawingml/2006/main" prst="roundRect">
            <a:avLst>
              <a:gd name="adj" fmla="val 18605"/>
            </a:avLst>
          </a:prstGeom>
          <a:solidFill xmlns:a="http://schemas.openxmlformats.org/drawingml/2006/main">
            <a:srgbClr val="292EA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CF9AF0-D3F3-49C0-BFB3-8ED48F45EC50}"/>
              </a:ext>
            </a:extLst>
          </p:cNvPr>
          <p:cNvSpPr>
            <a:spLocks xmlns:a="http://schemas.openxmlformats.org/drawingml/2006/main" noGrp="1"/>
          </p:cNvSpPr>
          <p:nvPr/>
        </p:nvSpPr>
        <p:spPr>
          <a:xfrm xmlns:a="http://schemas.openxmlformats.org/drawingml/2006/main">
            <a:off x="8401050" y="205740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1">
                <a:solidFill>
                  <a:srgbClr val="FFFFFF"/>
                </a:solidFill>
                <a:latin typeface="Calibri"/>
                <a:ea typeface="Calibri"/>
                <a:cs typeface="Calibri"/>
              </a:defRPr>
            </a:pPr>
            <a:r>
              <a:rPr sz="1163" b="1">
                <a:solidFill>
                  <a:srgbClr val="FFFFFF"/>
                </a:solidFill>
                <a:latin typeface="Calibri"/>
                <a:ea typeface="Calibri"/>
                <a:cs typeface="Calibri"/>
              </a:rPr>
              <a:t>BOUNDED REPAIR + ESCALATION</a:t>
            </a:r>
          </a:p>
        </p:txBody>
      </p:sp>
      <p:sp>
        <p:nvSpPr>
          <p:cNvPr id="19" name="editable diagram card">
            <a:extLst xmlns:a="http://schemas.openxmlformats.org/drawingml/2006/main">
              <a:ext uri="{FF2B5EF4-FFF2-40B4-BE49-F238E27FC236}">
                <a16:creationId xmlns:a16="http://schemas.microsoft.com/office/drawing/2014/main" id="{2FAF07FC-644C-4412-B11D-7037A0177C42}"/>
              </a:ext>
            </a:extLst>
          </p:cNvPr>
          <p:cNvSpPr>
            <a:spLocks xmlns:a="http://schemas.openxmlformats.org/drawingml/2006/main" noGrp="1"/>
          </p:cNvSpPr>
          <p:nvPr/>
        </p:nvSpPr>
        <p:spPr>
          <a:xfrm xmlns:a="http://schemas.openxmlformats.org/drawingml/2006/main">
            <a:off x="49530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0" name="">
            <a:extLst xmlns:a="http://schemas.openxmlformats.org/drawingml/2006/main">
              <a:ext uri="{FF2B5EF4-FFF2-40B4-BE49-F238E27FC236}">
                <a16:creationId xmlns:a16="http://schemas.microsoft.com/office/drawing/2014/main" id="{9C417017-380F-4D95-9007-425950C6712A}"/>
              </a:ext>
            </a:extLst>
          </p:cNvPr>
          <p:cNvSpPr>
            <a:spLocks xmlns:a="http://schemas.openxmlformats.org/drawingml/2006/main" noGrp="1"/>
          </p:cNvSpPr>
          <p:nvPr/>
        </p:nvSpPr>
        <p:spPr>
          <a:xfrm xmlns:a="http://schemas.openxmlformats.org/drawingml/2006/main">
            <a:off x="60960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1 · DETERMINISTIC CORE</a:t>
            </a:r>
          </a:p>
        </p:txBody>
      </p:sp>
      <p:sp>
        <p:nvSpPr>
          <p:cNvPr id="21" name="">
            <a:extLst xmlns:a="http://schemas.openxmlformats.org/drawingml/2006/main">
              <a:ext uri="{FF2B5EF4-FFF2-40B4-BE49-F238E27FC236}">
                <a16:creationId xmlns:a16="http://schemas.microsoft.com/office/drawing/2014/main" id="{94A8A4C0-F146-4E30-B06E-704DF2FF068A}"/>
              </a:ext>
            </a:extLst>
          </p:cNvPr>
          <p:cNvSpPr>
            <a:spLocks xmlns:a="http://schemas.openxmlformats.org/drawingml/2006/main" noGrp="1"/>
          </p:cNvSpPr>
          <p:nvPr/>
        </p:nvSpPr>
        <p:spPr>
          <a:xfrm xmlns:a="http://schemas.openxmlformats.org/drawingml/2006/main">
            <a:off x="61912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Local inputs and predictable mocks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Free at runtime; no provider key</a:t>
            </a:r>
          </a:p>
        </p:txBody>
      </p:sp>
      <p:sp>
        <p:nvSpPr>
          <p:cNvPr id="22" name="editable diagram card">
            <a:extLst xmlns:a="http://schemas.openxmlformats.org/drawingml/2006/main">
              <a:ext uri="{FF2B5EF4-FFF2-40B4-BE49-F238E27FC236}">
                <a16:creationId xmlns:a16="http://schemas.microsoft.com/office/drawing/2014/main" id="{1CA9B9B8-2732-4E6A-AB02-C5AD2023FF92}"/>
              </a:ext>
            </a:extLst>
          </p:cNvPr>
          <p:cNvSpPr>
            <a:spLocks xmlns:a="http://schemas.openxmlformats.org/drawingml/2006/main" noGrp="1"/>
          </p:cNvSpPr>
          <p:nvPr/>
        </p:nvSpPr>
        <p:spPr>
          <a:xfrm xmlns:a="http://schemas.openxmlformats.org/drawingml/2006/main">
            <a:off x="4333875"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3" name="">
            <a:extLst xmlns:a="http://schemas.openxmlformats.org/drawingml/2006/main">
              <a:ext uri="{FF2B5EF4-FFF2-40B4-BE49-F238E27FC236}">
                <a16:creationId xmlns:a16="http://schemas.microsoft.com/office/drawing/2014/main" id="{EB6982EA-C213-43EE-BF20-2342D93234BA}"/>
              </a:ext>
            </a:extLst>
          </p:cNvPr>
          <p:cNvSpPr>
            <a:spLocks xmlns:a="http://schemas.openxmlformats.org/drawingml/2006/main" noGrp="1"/>
          </p:cNvSpPr>
          <p:nvPr/>
        </p:nvSpPr>
        <p:spPr>
          <a:xfrm xmlns:a="http://schemas.openxmlformats.org/drawingml/2006/main">
            <a:off x="4448175"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2 · FAILURE PRACTICE</a:t>
            </a:r>
          </a:p>
        </p:txBody>
      </p:sp>
      <p:sp>
        <p:nvSpPr>
          <p:cNvPr id="24" name="">
            <a:extLst xmlns:a="http://schemas.openxmlformats.org/drawingml/2006/main">
              <a:ext uri="{FF2B5EF4-FFF2-40B4-BE49-F238E27FC236}">
                <a16:creationId xmlns:a16="http://schemas.microsoft.com/office/drawing/2014/main" id="{9BDF8AA4-160F-49CB-9BD7-CD42B2F4931B}"/>
              </a:ext>
            </a:extLst>
          </p:cNvPr>
          <p:cNvSpPr>
            <a:spLocks xmlns:a="http://schemas.openxmlformats.org/drawingml/2006/main" noGrp="1"/>
          </p:cNvSpPr>
          <p:nvPr/>
        </p:nvSpPr>
        <p:spPr>
          <a:xfrm xmlns:a="http://schemas.openxmlformats.org/drawingml/2006/main">
            <a:off x="4457700"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Repeatable bad JSON, invalid fields, and unsafe tool attempts</a:t>
            </a:r>
          </a:p>
          <a:p xmlns:a="http://schemas.openxmlformats.org/drawingml/2006/main">
            <a:r>
              <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Learners repair the gate</a:t>
            </a:r>
          </a:p>
        </p:txBody>
      </p:sp>
      <p:sp>
        <p:nvSpPr>
          <p:cNvPr id="25" name="editable diagram card">
            <a:extLst xmlns:a="http://schemas.openxmlformats.org/drawingml/2006/main">
              <a:ext uri="{FF2B5EF4-FFF2-40B4-BE49-F238E27FC236}">
                <a16:creationId xmlns:a16="http://schemas.microsoft.com/office/drawing/2014/main" id="{8F3F9650-A0C9-47CF-9066-1E05426ABA69}"/>
              </a:ext>
            </a:extLst>
          </p:cNvPr>
          <p:cNvSpPr>
            <a:spLocks xmlns:a="http://schemas.openxmlformats.org/drawingml/2006/main" noGrp="1"/>
          </p:cNvSpPr>
          <p:nvPr/>
        </p:nvSpPr>
        <p:spPr>
          <a:xfrm xmlns:a="http://schemas.openxmlformats.org/drawingml/2006/main">
            <a:off x="8172450" y="2781300"/>
            <a:ext cx="3524250" cy="1952625"/>
          </a:xfrm>
          <a:prstGeom xmlns:a="http://schemas.openxmlformats.org/drawingml/2006/main" prst="roundRect">
            <a:avLst>
              <a:gd name="adj" fmla="val 3902"/>
            </a:avLst>
          </a:prstGeom>
          <a:solidFill xmlns:a="http://schemas.openxmlformats.org/drawingml/2006/main">
            <a:srgbClr val="292EAA"/>
          </a:solidFill>
          <a:ln xmlns:a="http://schemas.openxmlformats.org/drawingml/2006/main" w="13335">
            <a:solidFill>
              <a:srgbClr val="555FE0"/>
            </a:solidFill>
            <a:prstDash val="solid"/>
          </a:ln>
        </p:spPr>
      </p:sp>
      <p:sp>
        <p:nvSpPr>
          <p:cNvPr id="26" name="">
            <a:extLst xmlns:a="http://schemas.openxmlformats.org/drawingml/2006/main">
              <a:ext uri="{FF2B5EF4-FFF2-40B4-BE49-F238E27FC236}">
                <a16:creationId xmlns:a16="http://schemas.microsoft.com/office/drawing/2014/main" id="{B1A3E684-D3FE-4AAC-B403-139E171933C9}"/>
              </a:ext>
            </a:extLst>
          </p:cNvPr>
          <p:cNvSpPr>
            <a:spLocks xmlns:a="http://schemas.openxmlformats.org/drawingml/2006/main" noGrp="1"/>
          </p:cNvSpPr>
          <p:nvPr/>
        </p:nvSpPr>
        <p:spPr>
          <a:xfrm xmlns:a="http://schemas.openxmlformats.org/drawingml/2006/main">
            <a:off x="8286750" y="2867025"/>
            <a:ext cx="32956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LAYER 3 · OPTIONAL LIVE MODEL</a:t>
            </a:r>
          </a:p>
        </p:txBody>
      </p:sp>
      <p:sp>
        <p:nvSpPr>
          <p:cNvPr id="27" name="">
            <a:extLst xmlns:a="http://schemas.openxmlformats.org/drawingml/2006/main">
              <a:ext uri="{FF2B5EF4-FFF2-40B4-BE49-F238E27FC236}">
                <a16:creationId xmlns:a16="http://schemas.microsoft.com/office/drawing/2014/main" id="{FFAF3AA3-AFB3-4F11-854C-8E5A57AF7A92}"/>
              </a:ext>
            </a:extLst>
          </p:cNvPr>
          <p:cNvSpPr>
            <a:spLocks xmlns:a="http://schemas.openxmlformats.org/drawingml/2006/main" noGrp="1"/>
          </p:cNvSpPr>
          <p:nvPr/>
        </p:nvSpPr>
        <p:spPr>
          <a:xfrm xmlns:a="http://schemas.openxmlformats.org/drawingml/2006/main">
            <a:off x="8296275" y="3314700"/>
            <a:ext cx="3276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Same contracts and tool policies surround live output</a:t>
            </a:r>
          </a:p>
          <a:p xmlns:a="http://schemas.openxmlformats.org/drawingml/2006/main">
            <a:r>
              <a:t/>
            </a:r>
          </a:p>
          <a:p xmlns:a="http://schemas.openxmlformats.org/drawingml/2006/main">
            <a:pPr algn="ctr">
              <a:buNone/>
              <a:defRPr sz="1163" b="0">
                <a:solidFill>
                  <a:srgbClr val="D8DBFF"/>
                </a:solidFill>
                <a:latin typeface="Calibri"/>
                <a:ea typeface="Calibri"/>
                <a:cs typeface="Calibri"/>
              </a:defRPr>
            </a:pPr>
            <a:r>
              <a:rPr sz="1163" b="0">
                <a:solidFill>
                  <a:srgbClr val="D8DBFF"/>
                </a:solidFill>
                <a:latin typeface="Calibri"/>
                <a:ea typeface="Calibri"/>
                <a:cs typeface="Calibri"/>
              </a:rPr>
              <a:t>Current live cells use OpenAI; Groq is not wired by default</a:t>
            </a:r>
          </a:p>
        </p:txBody>
      </p:sp>
      <p:sp>
        <p:nvSpPr>
          <p:cNvPr id="28" name="">
            <a:extLst xmlns:a="http://schemas.openxmlformats.org/drawingml/2006/main">
              <a:ext uri="{FF2B5EF4-FFF2-40B4-BE49-F238E27FC236}">
                <a16:creationId xmlns:a16="http://schemas.microsoft.com/office/drawing/2014/main" id="{0C7D3B79-985C-48F4-A915-3DE47F79E9C4}"/>
              </a:ext>
            </a:extLst>
          </p:cNvPr>
          <p:cNvSpPr>
            <a:spLocks xmlns:a="http://schemas.openxmlformats.org/drawingml/2006/main" noGrp="1"/>
          </p:cNvSpPr>
          <p:nvPr/>
        </p:nvSpPr>
        <p:spPr>
          <a:xfrm xmlns:a="http://schemas.openxmlformats.org/drawingml/2006/main">
            <a:off x="742950" y="5010150"/>
            <a:ext cx="10706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00" b="1">
                <a:solidFill>
                  <a:srgbClr val="FFFFFF"/>
                </a:solidFill>
                <a:latin typeface="Calibri"/>
                <a:ea typeface="Calibri"/>
                <a:cs typeface="Calibri"/>
              </a:defRPr>
            </a:pPr>
            <a:r>
              <a:rPr sz="1200" b="1">
                <a:solidFill>
                  <a:srgbClr val="FFFFFF"/>
                </a:solidFill>
                <a:latin typeface="Calibri"/>
                <a:ea typeface="Calibri"/>
                <a:cs typeface="Calibri"/>
              </a:rPr>
              <a:t>Groq is a possible provider for a separately configured extension; it is not required for JupyterLab, labs, or practical work.</a:t>
            </a:r>
          </a:p>
        </p:txBody>
      </p:sp>
    </p:spTree>
    <p:extLst>
      <p:ext uri="{BB962C8B-B14F-4D97-AF65-F5344CB8AC3E}">
        <p14:creationId xmlns:p14="http://schemas.microsoft.com/office/powerpoint/2010/main" val="161519758"/>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E4D47F1-D6A1-4198-BDA4-E7840AF8BD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189DDB35-FE92-461D-83DA-3A4B98988592}"/>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05130596-6347-4837-9D2A-999BD8CAE233}"/>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0D4AFB0-ECDF-4606-997B-424FD3397993}"/>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953E9C67-9A57-4B2D-B895-D403201338E2}"/>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0B4A909F-C476-4069-8C1A-872E800B5B4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6C56B70-B670-4CB0-B10B-BCA8B8A80B3D}"/>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5-part architecture</a:t>
            </a:r>
          </a:p>
        </p:txBody>
      </p:sp>
      <p:sp>
        <p:nvSpPr>
          <p:cNvPr id="8" name="">
            <a:extLst xmlns:a="http://schemas.openxmlformats.org/drawingml/2006/main">
              <a:ext uri="{FF2B5EF4-FFF2-40B4-BE49-F238E27FC236}">
                <a16:creationId xmlns:a16="http://schemas.microsoft.com/office/drawing/2014/main" id="{6191DDF1-F488-4941-905E-C30FE87BDB4C}"/>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39</a:t>
            </a:r>
          </a:p>
        </p:txBody>
      </p:sp>
      <p:sp>
        <p:nvSpPr>
          <p:cNvPr id="9" name="">
            <a:extLst xmlns:a="http://schemas.openxmlformats.org/drawingml/2006/main">
              <a:ext uri="{FF2B5EF4-FFF2-40B4-BE49-F238E27FC236}">
                <a16:creationId xmlns:a16="http://schemas.microsoft.com/office/drawing/2014/main" id="{8E3B640D-11D0-4128-AA22-C8A3CAB347FA}"/>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1D4C3C15-BB06-43AC-8BD5-C805CFB6C96F}"/>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Brain → Body → Ecosystem</a:t>
            </a:r>
          </a:p>
        </p:txBody>
      </p:sp>
      <p:sp>
        <p:nvSpPr>
          <p:cNvPr id="11" name="">
            <a:extLst xmlns:a="http://schemas.openxmlformats.org/drawingml/2006/main">
              <a:ext uri="{FF2B5EF4-FFF2-40B4-BE49-F238E27FC236}">
                <a16:creationId xmlns:a16="http://schemas.microsoft.com/office/drawing/2014/main" id="{621A6F59-7811-47A2-8AEE-A0D98D69F150}"/>
              </a:ext>
            </a:extLst>
          </p:cNvPr>
          <p:cNvSpPr>
            <a:spLocks xmlns:a="http://schemas.openxmlformats.org/drawingml/2006/main" noGrp="1"/>
          </p:cNvSpPr>
          <p:nvPr/>
        </p:nvSpPr>
        <p:spPr>
          <a:xfrm xmlns:a="http://schemas.openxmlformats.org/drawingml/2006/main">
            <a:off x="5143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2" name="">
            <a:extLst xmlns:a="http://schemas.openxmlformats.org/drawingml/2006/main">
              <a:ext uri="{FF2B5EF4-FFF2-40B4-BE49-F238E27FC236}">
                <a16:creationId xmlns:a16="http://schemas.microsoft.com/office/drawing/2014/main" id="{7DA271D6-DCFD-450C-BA02-A6AD6A2CAF9E}"/>
              </a:ext>
            </a:extLst>
          </p:cNvPr>
          <p:cNvSpPr>
            <a:spLocks xmlns:a="http://schemas.openxmlformats.org/drawingml/2006/main" noGrp="1"/>
          </p:cNvSpPr>
          <p:nvPr/>
        </p:nvSpPr>
        <p:spPr>
          <a:xfrm xmlns:a="http://schemas.openxmlformats.org/drawingml/2006/main">
            <a:off x="6343650" y="1504950"/>
            <a:ext cx="5334000" cy="3714750"/>
          </a:xfrm>
          <a:prstGeom xmlns:a="http://schemas.openxmlformats.org/drawingml/2006/main" prst="rect">
            <a:avLst/>
          </a:prstGeom>
          <a:solidFill xmlns:a="http://schemas.openxmlformats.org/drawingml/2006/main">
            <a:srgbClr val="2930B8"/>
          </a:solidFill>
          <a:ln xmlns:a="http://schemas.openxmlformats.org/drawingml/2006/main" w="9525">
            <a:solidFill>
              <a:srgbClr val="444BE0"/>
            </a:solidFill>
            <a:prstDash val="solid"/>
          </a:ln>
        </p:spPr>
      </p:sp>
      <p:sp>
        <p:nvSpPr>
          <p:cNvPr id="13" name="">
            <a:extLst xmlns:a="http://schemas.openxmlformats.org/drawingml/2006/main">
              <a:ext uri="{FF2B5EF4-FFF2-40B4-BE49-F238E27FC236}">
                <a16:creationId xmlns:a16="http://schemas.microsoft.com/office/drawing/2014/main" id="{4F5B6AF3-42CF-4F02-896D-15932FF69924}"/>
              </a:ext>
            </a:extLst>
          </p:cNvPr>
          <p:cNvSpPr>
            <a:spLocks xmlns:a="http://schemas.openxmlformats.org/drawingml/2006/main" noGrp="1"/>
          </p:cNvSpPr>
          <p:nvPr/>
        </p:nvSpPr>
        <p:spPr>
          <a:xfrm xmlns:a="http://schemas.openxmlformats.org/drawingml/2006/main">
            <a:off x="8001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Operating Anatomy</a:t>
            </a:r>
          </a:p>
        </p:txBody>
      </p:sp>
      <p:sp>
        <p:nvSpPr>
          <p:cNvPr id="14" name="">
            <a:extLst xmlns:a="http://schemas.openxmlformats.org/drawingml/2006/main">
              <a:ext uri="{FF2B5EF4-FFF2-40B4-BE49-F238E27FC236}">
                <a16:creationId xmlns:a16="http://schemas.microsoft.com/office/drawing/2014/main" id="{9DB17A40-DF2C-4682-AA93-86606BCF9E4D}"/>
              </a:ext>
            </a:extLst>
          </p:cNvPr>
          <p:cNvSpPr>
            <a:spLocks xmlns:a="http://schemas.openxmlformats.org/drawingml/2006/main" noGrp="1"/>
          </p:cNvSpPr>
          <p:nvPr/>
        </p:nvSpPr>
        <p:spPr>
          <a:xfrm xmlns:a="http://schemas.openxmlformats.org/drawingml/2006/main">
            <a:off x="6629400" y="18478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100" b="1">
                <a:solidFill>
                  <a:srgbClr val="FFFFFF"/>
                </a:solidFill>
              </a:defRPr>
            </a:pPr>
            <a:r>
              <a:rPr sz="2100" b="1">
                <a:solidFill>
                  <a:srgbClr val="FFFFFF"/>
                </a:solidFill>
              </a:rPr>
              <a:t>Management Meaning</a:t>
            </a:r>
          </a:p>
        </p:txBody>
      </p:sp>
      <p:sp>
        <p:nvSpPr>
          <p:cNvPr id="15" name="">
            <a:extLst xmlns:a="http://schemas.openxmlformats.org/drawingml/2006/main">
              <a:ext uri="{FF2B5EF4-FFF2-40B4-BE49-F238E27FC236}">
                <a16:creationId xmlns:a16="http://schemas.microsoft.com/office/drawing/2014/main" id="{85E65C3D-5B39-4AA5-80A4-209CE75233BA}"/>
              </a:ext>
            </a:extLst>
          </p:cNvPr>
          <p:cNvSpPr>
            <a:spLocks xmlns:a="http://schemas.openxmlformats.org/drawingml/2006/main" noGrp="1"/>
          </p:cNvSpPr>
          <p:nvPr/>
        </p:nvSpPr>
        <p:spPr>
          <a:xfrm xmlns:a="http://schemas.openxmlformats.org/drawingml/2006/main">
            <a:off x="8001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6" name="">
            <a:extLst xmlns:a="http://schemas.openxmlformats.org/drawingml/2006/main">
              <a:ext uri="{FF2B5EF4-FFF2-40B4-BE49-F238E27FC236}">
                <a16:creationId xmlns:a16="http://schemas.microsoft.com/office/drawing/2014/main" id="{0A225637-4C4B-4729-BD1D-B7121E4AB61A}"/>
              </a:ext>
            </a:extLst>
          </p:cNvPr>
          <p:cNvSpPr>
            <a:spLocks xmlns:a="http://schemas.openxmlformats.org/drawingml/2006/main" noGrp="1"/>
          </p:cNvSpPr>
          <p:nvPr/>
        </p:nvSpPr>
        <p:spPr>
          <a:xfrm xmlns:a="http://schemas.openxmlformats.org/drawingml/2006/main">
            <a:off x="11049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Brain: TeamLog + Theory of Mind</a:t>
            </a:r>
          </a:p>
        </p:txBody>
      </p:sp>
      <p:sp>
        <p:nvSpPr>
          <p:cNvPr id="17" name="">
            <a:extLst xmlns:a="http://schemas.openxmlformats.org/drawingml/2006/main">
              <a:ext uri="{FF2B5EF4-FFF2-40B4-BE49-F238E27FC236}">
                <a16:creationId xmlns:a16="http://schemas.microsoft.com/office/drawing/2014/main" id="{1C4D88DC-388C-42FB-8A31-1B74D323C48F}"/>
              </a:ext>
            </a:extLst>
          </p:cNvPr>
          <p:cNvSpPr>
            <a:spLocks xmlns:a="http://schemas.openxmlformats.org/drawingml/2006/main" noGrp="1"/>
          </p:cNvSpPr>
          <p:nvPr/>
        </p:nvSpPr>
        <p:spPr>
          <a:xfrm xmlns:a="http://schemas.openxmlformats.org/drawingml/2006/main">
            <a:off x="8001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18" name="">
            <a:extLst xmlns:a="http://schemas.openxmlformats.org/drawingml/2006/main">
              <a:ext uri="{FF2B5EF4-FFF2-40B4-BE49-F238E27FC236}">
                <a16:creationId xmlns:a16="http://schemas.microsoft.com/office/drawing/2014/main" id="{DC3B3849-46C6-4A2F-8BC5-F63F6E1C4645}"/>
              </a:ext>
            </a:extLst>
          </p:cNvPr>
          <p:cNvSpPr>
            <a:spLocks xmlns:a="http://schemas.openxmlformats.org/drawingml/2006/main" noGrp="1"/>
          </p:cNvSpPr>
          <p:nvPr/>
        </p:nvSpPr>
        <p:spPr>
          <a:xfrm xmlns:a="http://schemas.openxmlformats.org/drawingml/2006/main">
            <a:off x="11049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Nervous system: Agentic RAG + MCP</a:t>
            </a:r>
          </a:p>
        </p:txBody>
      </p:sp>
      <p:sp>
        <p:nvSpPr>
          <p:cNvPr id="19" name="">
            <a:extLst xmlns:a="http://schemas.openxmlformats.org/drawingml/2006/main">
              <a:ext uri="{FF2B5EF4-FFF2-40B4-BE49-F238E27FC236}">
                <a16:creationId xmlns:a16="http://schemas.microsoft.com/office/drawing/2014/main" id="{607849DF-C5CF-4299-AFD6-3DB057BCF30F}"/>
              </a:ext>
            </a:extLst>
          </p:cNvPr>
          <p:cNvSpPr>
            <a:spLocks xmlns:a="http://schemas.openxmlformats.org/drawingml/2006/main" noGrp="1"/>
          </p:cNvSpPr>
          <p:nvPr/>
        </p:nvSpPr>
        <p:spPr>
          <a:xfrm xmlns:a="http://schemas.openxmlformats.org/drawingml/2006/main">
            <a:off x="8001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0" name="">
            <a:extLst xmlns:a="http://schemas.openxmlformats.org/drawingml/2006/main">
              <a:ext uri="{FF2B5EF4-FFF2-40B4-BE49-F238E27FC236}">
                <a16:creationId xmlns:a16="http://schemas.microsoft.com/office/drawing/2014/main" id="{87BC4D41-0F47-4C28-A4F6-EE6359AEBEA7}"/>
              </a:ext>
            </a:extLst>
          </p:cNvPr>
          <p:cNvSpPr>
            <a:spLocks xmlns:a="http://schemas.openxmlformats.org/drawingml/2006/main" noGrp="1"/>
          </p:cNvSpPr>
          <p:nvPr/>
        </p:nvSpPr>
        <p:spPr>
          <a:xfrm xmlns:a="http://schemas.openxmlformats.org/drawingml/2006/main">
            <a:off x="11049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Body: Pydantic + orchestration</a:t>
            </a:r>
          </a:p>
        </p:txBody>
      </p:sp>
      <p:sp>
        <p:nvSpPr>
          <p:cNvPr id="21" name="">
            <a:extLst xmlns:a="http://schemas.openxmlformats.org/drawingml/2006/main">
              <a:ext uri="{FF2B5EF4-FFF2-40B4-BE49-F238E27FC236}">
                <a16:creationId xmlns:a16="http://schemas.microsoft.com/office/drawing/2014/main" id="{97967393-D0D1-4B0C-B203-EE781F6F87BF}"/>
              </a:ext>
            </a:extLst>
          </p:cNvPr>
          <p:cNvSpPr>
            <a:spLocks xmlns:a="http://schemas.openxmlformats.org/drawingml/2006/main" noGrp="1"/>
          </p:cNvSpPr>
          <p:nvPr/>
        </p:nvSpPr>
        <p:spPr>
          <a:xfrm xmlns:a="http://schemas.openxmlformats.org/drawingml/2006/main">
            <a:off x="8001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2" name="">
            <a:extLst xmlns:a="http://schemas.openxmlformats.org/drawingml/2006/main">
              <a:ext uri="{FF2B5EF4-FFF2-40B4-BE49-F238E27FC236}">
                <a16:creationId xmlns:a16="http://schemas.microsoft.com/office/drawing/2014/main" id="{961E342F-6A39-4E39-957B-721B53F5E3FE}"/>
              </a:ext>
            </a:extLst>
          </p:cNvPr>
          <p:cNvSpPr>
            <a:spLocks xmlns:a="http://schemas.openxmlformats.org/drawingml/2006/main" noGrp="1"/>
          </p:cNvSpPr>
          <p:nvPr/>
        </p:nvSpPr>
        <p:spPr>
          <a:xfrm xmlns:a="http://schemas.openxmlformats.org/drawingml/2006/main">
            <a:off x="11049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Reflexes: routing + repair</a:t>
            </a:r>
          </a:p>
        </p:txBody>
      </p:sp>
      <p:sp>
        <p:nvSpPr>
          <p:cNvPr id="23" name="">
            <a:extLst xmlns:a="http://schemas.openxmlformats.org/drawingml/2006/main">
              <a:ext uri="{FF2B5EF4-FFF2-40B4-BE49-F238E27FC236}">
                <a16:creationId xmlns:a16="http://schemas.microsoft.com/office/drawing/2014/main" id="{4E9AF261-A660-41E7-A269-8874D1BD2099}"/>
              </a:ext>
            </a:extLst>
          </p:cNvPr>
          <p:cNvSpPr>
            <a:spLocks xmlns:a="http://schemas.openxmlformats.org/drawingml/2006/main" noGrp="1"/>
          </p:cNvSpPr>
          <p:nvPr/>
        </p:nvSpPr>
        <p:spPr>
          <a:xfrm xmlns:a="http://schemas.openxmlformats.org/drawingml/2006/main">
            <a:off x="8001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4" name="">
            <a:extLst xmlns:a="http://schemas.openxmlformats.org/drawingml/2006/main">
              <a:ext uri="{FF2B5EF4-FFF2-40B4-BE49-F238E27FC236}">
                <a16:creationId xmlns:a16="http://schemas.microsoft.com/office/drawing/2014/main" id="{0BCFEAA0-AB19-49DB-900D-45C376ACA179}"/>
              </a:ext>
            </a:extLst>
          </p:cNvPr>
          <p:cNvSpPr>
            <a:spLocks xmlns:a="http://schemas.openxmlformats.org/drawingml/2006/main" noGrp="1"/>
          </p:cNvSpPr>
          <p:nvPr/>
        </p:nvSpPr>
        <p:spPr>
          <a:xfrm xmlns:a="http://schemas.openxmlformats.org/drawingml/2006/main">
            <a:off x="11049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Ecosystem: API + A2A + zero trust</a:t>
            </a:r>
          </a:p>
        </p:txBody>
      </p:sp>
      <p:sp>
        <p:nvSpPr>
          <p:cNvPr id="25" name="">
            <a:extLst xmlns:a="http://schemas.openxmlformats.org/drawingml/2006/main">
              <a:ext uri="{FF2B5EF4-FFF2-40B4-BE49-F238E27FC236}">
                <a16:creationId xmlns:a16="http://schemas.microsoft.com/office/drawing/2014/main" id="{04A9EBCD-3C91-4DF8-9233-BDF27E8DEB21}"/>
              </a:ext>
            </a:extLst>
          </p:cNvPr>
          <p:cNvSpPr>
            <a:spLocks xmlns:a="http://schemas.openxmlformats.org/drawingml/2006/main" noGrp="1"/>
          </p:cNvSpPr>
          <p:nvPr/>
        </p:nvSpPr>
        <p:spPr>
          <a:xfrm xmlns:a="http://schemas.openxmlformats.org/drawingml/2006/main">
            <a:off x="6629400" y="24574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6" name="">
            <a:extLst xmlns:a="http://schemas.openxmlformats.org/drawingml/2006/main">
              <a:ext uri="{FF2B5EF4-FFF2-40B4-BE49-F238E27FC236}">
                <a16:creationId xmlns:a16="http://schemas.microsoft.com/office/drawing/2014/main" id="{14EA5FFC-0A7D-4A41-B174-F9E826916BE0}"/>
              </a:ext>
            </a:extLst>
          </p:cNvPr>
          <p:cNvSpPr>
            <a:spLocks xmlns:a="http://schemas.openxmlformats.org/drawingml/2006/main" noGrp="1"/>
          </p:cNvSpPr>
          <p:nvPr/>
        </p:nvSpPr>
        <p:spPr>
          <a:xfrm xmlns:a="http://schemas.openxmlformats.org/drawingml/2006/main">
            <a:off x="6934200" y="24574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align the team</a:t>
            </a:r>
          </a:p>
        </p:txBody>
      </p:sp>
      <p:sp>
        <p:nvSpPr>
          <p:cNvPr id="27" name="">
            <a:extLst xmlns:a="http://schemas.openxmlformats.org/drawingml/2006/main">
              <a:ext uri="{FF2B5EF4-FFF2-40B4-BE49-F238E27FC236}">
                <a16:creationId xmlns:a16="http://schemas.microsoft.com/office/drawing/2014/main" id="{824489A4-7A9F-429A-864C-AC261A2DF24C}"/>
              </a:ext>
            </a:extLst>
          </p:cNvPr>
          <p:cNvSpPr>
            <a:spLocks xmlns:a="http://schemas.openxmlformats.org/drawingml/2006/main" noGrp="1"/>
          </p:cNvSpPr>
          <p:nvPr/>
        </p:nvSpPr>
        <p:spPr>
          <a:xfrm xmlns:a="http://schemas.openxmlformats.org/drawingml/2006/main">
            <a:off x="6629400" y="29146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28" name="">
            <a:extLst xmlns:a="http://schemas.openxmlformats.org/drawingml/2006/main">
              <a:ext uri="{FF2B5EF4-FFF2-40B4-BE49-F238E27FC236}">
                <a16:creationId xmlns:a16="http://schemas.microsoft.com/office/drawing/2014/main" id="{A2C5D06D-F081-4F6C-A868-14E40367F26D}"/>
              </a:ext>
            </a:extLst>
          </p:cNvPr>
          <p:cNvSpPr>
            <a:spLocks xmlns:a="http://schemas.openxmlformats.org/drawingml/2006/main" noGrp="1"/>
          </p:cNvSpPr>
          <p:nvPr/>
        </p:nvSpPr>
        <p:spPr>
          <a:xfrm xmlns:a="http://schemas.openxmlformats.org/drawingml/2006/main">
            <a:off x="6934200" y="29146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route context and tools</a:t>
            </a:r>
          </a:p>
        </p:txBody>
      </p:sp>
      <p:sp>
        <p:nvSpPr>
          <p:cNvPr id="29" name="">
            <a:extLst xmlns:a="http://schemas.openxmlformats.org/drawingml/2006/main">
              <a:ext uri="{FF2B5EF4-FFF2-40B4-BE49-F238E27FC236}">
                <a16:creationId xmlns:a16="http://schemas.microsoft.com/office/drawing/2014/main" id="{67F0BDE6-2631-4D62-B56F-DE23A94AAB6C}"/>
              </a:ext>
            </a:extLst>
          </p:cNvPr>
          <p:cNvSpPr>
            <a:spLocks xmlns:a="http://schemas.openxmlformats.org/drawingml/2006/main" noGrp="1"/>
          </p:cNvSpPr>
          <p:nvPr/>
        </p:nvSpPr>
        <p:spPr>
          <a:xfrm xmlns:a="http://schemas.openxmlformats.org/drawingml/2006/main">
            <a:off x="6629400" y="3371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0" name="">
            <a:extLst xmlns:a="http://schemas.openxmlformats.org/drawingml/2006/main">
              <a:ext uri="{FF2B5EF4-FFF2-40B4-BE49-F238E27FC236}">
                <a16:creationId xmlns:a16="http://schemas.microsoft.com/office/drawing/2014/main" id="{77AAF4C7-6A3E-4132-A26A-1C306FEF8A46}"/>
              </a:ext>
            </a:extLst>
          </p:cNvPr>
          <p:cNvSpPr>
            <a:spLocks xmlns:a="http://schemas.openxmlformats.org/drawingml/2006/main" noGrp="1"/>
          </p:cNvSpPr>
          <p:nvPr/>
        </p:nvSpPr>
        <p:spPr>
          <a:xfrm xmlns:a="http://schemas.openxmlformats.org/drawingml/2006/main">
            <a:off x="6934200" y="33718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make handoffs executable</a:t>
            </a:r>
          </a:p>
        </p:txBody>
      </p:sp>
      <p:sp>
        <p:nvSpPr>
          <p:cNvPr id="31" name="">
            <a:extLst xmlns:a="http://schemas.openxmlformats.org/drawingml/2006/main">
              <a:ext uri="{FF2B5EF4-FFF2-40B4-BE49-F238E27FC236}">
                <a16:creationId xmlns:a16="http://schemas.microsoft.com/office/drawing/2014/main" id="{05D6E989-BA8F-4529-BF25-A1351CF158EA}"/>
              </a:ext>
            </a:extLst>
          </p:cNvPr>
          <p:cNvSpPr>
            <a:spLocks xmlns:a="http://schemas.openxmlformats.org/drawingml/2006/main" noGrp="1"/>
          </p:cNvSpPr>
          <p:nvPr/>
        </p:nvSpPr>
        <p:spPr>
          <a:xfrm xmlns:a="http://schemas.openxmlformats.org/drawingml/2006/main">
            <a:off x="6629400" y="3829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2" name="">
            <a:extLst xmlns:a="http://schemas.openxmlformats.org/drawingml/2006/main">
              <a:ext uri="{FF2B5EF4-FFF2-40B4-BE49-F238E27FC236}">
                <a16:creationId xmlns:a16="http://schemas.microsoft.com/office/drawing/2014/main" id="{9A9DAE7F-2045-4755-909D-F00CFBECADD8}"/>
              </a:ext>
            </a:extLst>
          </p:cNvPr>
          <p:cNvSpPr>
            <a:spLocks xmlns:a="http://schemas.openxmlformats.org/drawingml/2006/main" noGrp="1"/>
          </p:cNvSpPr>
          <p:nvPr/>
        </p:nvSpPr>
        <p:spPr>
          <a:xfrm xmlns:a="http://schemas.openxmlformats.org/drawingml/2006/main">
            <a:off x="6934200" y="38290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recover within bounds</a:t>
            </a:r>
          </a:p>
        </p:txBody>
      </p:sp>
      <p:sp>
        <p:nvSpPr>
          <p:cNvPr id="33" name="">
            <a:extLst xmlns:a="http://schemas.openxmlformats.org/drawingml/2006/main">
              <a:ext uri="{FF2B5EF4-FFF2-40B4-BE49-F238E27FC236}">
                <a16:creationId xmlns:a16="http://schemas.microsoft.com/office/drawing/2014/main" id="{9588CE2D-C24A-46B0-A3DE-841A6D1E5105}"/>
              </a:ext>
            </a:extLst>
          </p:cNvPr>
          <p:cNvSpPr>
            <a:spLocks xmlns:a="http://schemas.openxmlformats.org/drawingml/2006/main" noGrp="1"/>
          </p:cNvSpPr>
          <p:nvPr/>
        </p:nvSpPr>
        <p:spPr>
          <a:xfrm xmlns:a="http://schemas.openxmlformats.org/drawingml/2006/main">
            <a:off x="6629400" y="42862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F3B30"/>
                </a:solidFill>
              </a:defRPr>
            </a:pPr>
            <a:r>
              <a:rPr sz="1350" b="1">
                <a:solidFill>
                  <a:srgbClr val="FF3B30"/>
                </a:solidFill>
              </a:rPr>
              <a:t>→</a:t>
            </a:r>
          </a:p>
        </p:txBody>
      </p:sp>
      <p:sp>
        <p:nvSpPr>
          <p:cNvPr id="34" name="">
            <a:extLst xmlns:a="http://schemas.openxmlformats.org/drawingml/2006/main">
              <a:ext uri="{FF2B5EF4-FFF2-40B4-BE49-F238E27FC236}">
                <a16:creationId xmlns:a16="http://schemas.microsoft.com/office/drawing/2014/main" id="{26EFD280-7C07-4AAA-AA7A-B6E03052585B}"/>
              </a:ext>
            </a:extLst>
          </p:cNvPr>
          <p:cNvSpPr>
            <a:spLocks xmlns:a="http://schemas.openxmlformats.org/drawingml/2006/main" noGrp="1"/>
          </p:cNvSpPr>
          <p:nvPr/>
        </p:nvSpPr>
        <p:spPr>
          <a:xfrm xmlns:a="http://schemas.openxmlformats.org/drawingml/2006/main">
            <a:off x="6934200" y="4286250"/>
            <a:ext cx="426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interoperate safely</a:t>
            </a:r>
          </a:p>
        </p:txBody>
      </p:sp>
      <p:sp>
        <p:nvSpPr>
          <p:cNvPr id="35" name="">
            <a:extLst xmlns:a="http://schemas.openxmlformats.org/drawingml/2006/main">
              <a:ext uri="{FF2B5EF4-FFF2-40B4-BE49-F238E27FC236}">
                <a16:creationId xmlns:a16="http://schemas.microsoft.com/office/drawing/2014/main" id="{51557D64-2223-456D-BD12-578614F011DA}"/>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The anatomy keeps the course from becoming a tool tutorial.</a:t>
            </a:r>
          </a:p>
        </p:txBody>
      </p:sp>
    </p:spTree>
    <p:extLst>
      <p:ext uri="{BB962C8B-B14F-4D97-AF65-F5344CB8AC3E}">
        <p14:creationId xmlns:p14="http://schemas.microsoft.com/office/powerpoint/2010/main" val="39860980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C10F2E-2A64-42D9-AFE0-DF75238EA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2756A2C7-9A12-4657-A4E3-B79253BFE14C}"/>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17A1207C-B470-4332-83D3-8047DF730AF5}"/>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27E2605-DEE7-4D93-93B6-815A7C642417}"/>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7E2BF6EE-784C-4178-A85B-6B33E576CF10}"/>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C9E98AA5-49BC-4165-959A-DB8A45C7BE79}"/>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9B49D3FD-6CF7-490F-BF44-287DB2CED3B1}"/>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NB8-NB11 + Assignment 12</a:t>
            </a:r>
          </a:p>
        </p:txBody>
      </p:sp>
      <p:sp>
        <p:nvSpPr>
          <p:cNvPr id="8" name="">
            <a:extLst xmlns:a="http://schemas.openxmlformats.org/drawingml/2006/main">
              <a:ext uri="{FF2B5EF4-FFF2-40B4-BE49-F238E27FC236}">
                <a16:creationId xmlns:a16="http://schemas.microsoft.com/office/drawing/2014/main" id="{D8BEEE5B-B5AF-4006-8D20-A55252838183}"/>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40</a:t>
            </a:r>
          </a:p>
        </p:txBody>
      </p:sp>
      <p:sp>
        <p:nvSpPr>
          <p:cNvPr id="9" name="">
            <a:extLst xmlns:a="http://schemas.openxmlformats.org/drawingml/2006/main">
              <a:ext uri="{FF2B5EF4-FFF2-40B4-BE49-F238E27FC236}">
                <a16:creationId xmlns:a16="http://schemas.microsoft.com/office/drawing/2014/main" id="{0C3EFC54-99AE-47FF-AB45-17F8DAB429D4}"/>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Alignment Bridge</a:t>
            </a:r>
          </a:p>
        </p:txBody>
      </p:sp>
      <p:sp>
        <p:nvSpPr>
          <p:cNvPr id="10" name="">
            <a:extLst xmlns:a="http://schemas.openxmlformats.org/drawingml/2006/main">
              <a:ext uri="{FF2B5EF4-FFF2-40B4-BE49-F238E27FC236}">
                <a16:creationId xmlns:a16="http://schemas.microsoft.com/office/drawing/2014/main" id="{92D5B450-C57B-4420-B19E-6E69EFA1DA84}"/>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You can Build labs after the Six Modules</a:t>
            </a:r>
          </a:p>
        </p:txBody>
      </p:sp>
      <p:sp>
        <p:nvSpPr>
          <p:cNvPr id="11" name="">
            <a:extLst xmlns:a="http://schemas.openxmlformats.org/drawingml/2006/main">
              <a:ext uri="{FF2B5EF4-FFF2-40B4-BE49-F238E27FC236}">
                <a16:creationId xmlns:a16="http://schemas.microsoft.com/office/drawing/2014/main" id="{F06379B8-46B5-4B3B-8F21-CB1693756E4B}"/>
              </a:ext>
            </a:extLst>
          </p:cNvPr>
          <p:cNvSpPr>
            <a:spLocks xmlns:a="http://schemas.openxmlformats.org/drawingml/2006/main" noGrp="1"/>
          </p:cNvSpPr>
          <p:nvPr/>
        </p:nvSpPr>
        <p:spPr>
          <a:xfrm xmlns:a="http://schemas.openxmlformats.org/drawingml/2006/main">
            <a:off x="781050" y="16764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75" b="1">
                <a:solidFill>
                  <a:srgbClr val="FFFFFF"/>
                </a:solidFill>
              </a:defRPr>
            </a:pPr>
            <a:r>
              <a:rPr sz="1875" b="1">
                <a:solidFill>
                  <a:srgbClr val="FFFFFF"/>
                </a:solidFill>
              </a:rPr>
              <a:t>Bridge from classroom concepts to production operating surfaces:</a:t>
            </a:r>
          </a:p>
        </p:txBody>
      </p:sp>
      <p:sp>
        <p:nvSpPr>
          <p:cNvPr id="12" name="">
            <a:extLst xmlns:a="http://schemas.openxmlformats.org/drawingml/2006/main">
              <a:ext uri="{FF2B5EF4-FFF2-40B4-BE49-F238E27FC236}">
                <a16:creationId xmlns:a16="http://schemas.microsoft.com/office/drawing/2014/main" id="{50E43C8E-8034-46EF-BBD2-9BA0BA17C4A0}"/>
              </a:ext>
            </a:extLst>
          </p:cNvPr>
          <p:cNvSpPr>
            <a:spLocks xmlns:a="http://schemas.openxmlformats.org/drawingml/2006/main" noGrp="1"/>
          </p:cNvSpPr>
          <p:nvPr/>
        </p:nvSpPr>
        <p:spPr>
          <a:xfrm xmlns:a="http://schemas.openxmlformats.org/drawingml/2006/main">
            <a:off x="876300" y="23050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3" name="">
            <a:extLst xmlns:a="http://schemas.openxmlformats.org/drawingml/2006/main">
              <a:ext uri="{FF2B5EF4-FFF2-40B4-BE49-F238E27FC236}">
                <a16:creationId xmlns:a16="http://schemas.microsoft.com/office/drawing/2014/main" id="{65F37F53-4ACB-4558-825C-5A66299760B9}"/>
              </a:ext>
            </a:extLst>
          </p:cNvPr>
          <p:cNvSpPr>
            <a:spLocks xmlns:a="http://schemas.openxmlformats.org/drawingml/2006/main" noGrp="1"/>
          </p:cNvSpPr>
          <p:nvPr/>
        </p:nvSpPr>
        <p:spPr>
          <a:xfrm xmlns:a="http://schemas.openxmlformats.org/drawingml/2006/main">
            <a:off x="1200150" y="23050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Classroom concepts → NB8 API Boundary</a:t>
            </a:r>
          </a:p>
        </p:txBody>
      </p:sp>
      <p:sp>
        <p:nvSpPr>
          <p:cNvPr id="14" name="">
            <a:extLst xmlns:a="http://schemas.openxmlformats.org/drawingml/2006/main">
              <a:ext uri="{FF2B5EF4-FFF2-40B4-BE49-F238E27FC236}">
                <a16:creationId xmlns:a16="http://schemas.microsoft.com/office/drawing/2014/main" id="{02BA057A-4D9F-4FC9-AD90-40E855FA0AEF}"/>
              </a:ext>
            </a:extLst>
          </p:cNvPr>
          <p:cNvSpPr>
            <a:spLocks xmlns:a="http://schemas.openxmlformats.org/drawingml/2006/main" noGrp="1"/>
          </p:cNvSpPr>
          <p:nvPr/>
        </p:nvSpPr>
        <p:spPr>
          <a:xfrm xmlns:a="http://schemas.openxmlformats.org/drawingml/2006/main">
            <a:off x="5657850" y="23050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external events become governed TaskSpec work.</a:t>
            </a:r>
          </a:p>
        </p:txBody>
      </p:sp>
      <p:sp>
        <p:nvSpPr>
          <p:cNvPr id="15" name="">
            <a:extLst xmlns:a="http://schemas.openxmlformats.org/drawingml/2006/main">
              <a:ext uri="{FF2B5EF4-FFF2-40B4-BE49-F238E27FC236}">
                <a16:creationId xmlns:a16="http://schemas.microsoft.com/office/drawing/2014/main" id="{BBEFAA7D-A366-4AB9-8E36-FDB96A34FC93}"/>
              </a:ext>
            </a:extLst>
          </p:cNvPr>
          <p:cNvSpPr>
            <a:spLocks xmlns:a="http://schemas.openxmlformats.org/drawingml/2006/main" noGrp="1"/>
          </p:cNvSpPr>
          <p:nvPr/>
        </p:nvSpPr>
        <p:spPr>
          <a:xfrm xmlns:a="http://schemas.openxmlformats.org/drawingml/2006/main">
            <a:off x="876300" y="28575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6" name="">
            <a:extLst xmlns:a="http://schemas.openxmlformats.org/drawingml/2006/main">
              <a:ext uri="{FF2B5EF4-FFF2-40B4-BE49-F238E27FC236}">
                <a16:creationId xmlns:a16="http://schemas.microsoft.com/office/drawing/2014/main" id="{1B8D5087-6805-4AA0-A964-9AEE9EFE2672}"/>
              </a:ext>
            </a:extLst>
          </p:cNvPr>
          <p:cNvSpPr>
            <a:spLocks xmlns:a="http://schemas.openxmlformats.org/drawingml/2006/main" noGrp="1"/>
          </p:cNvSpPr>
          <p:nvPr/>
        </p:nvSpPr>
        <p:spPr>
          <a:xfrm xmlns:a="http://schemas.openxmlformats.org/drawingml/2006/main">
            <a:off x="1200150" y="2857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NB8 → NB9 Advanced Orchestration</a:t>
            </a:r>
          </a:p>
        </p:txBody>
      </p:sp>
      <p:sp>
        <p:nvSpPr>
          <p:cNvPr id="17" name="">
            <a:extLst xmlns:a="http://schemas.openxmlformats.org/drawingml/2006/main">
              <a:ext uri="{FF2B5EF4-FFF2-40B4-BE49-F238E27FC236}">
                <a16:creationId xmlns:a16="http://schemas.microsoft.com/office/drawing/2014/main" id="{BD14B363-25B7-4FB0-A490-15236DB88463}"/>
              </a:ext>
            </a:extLst>
          </p:cNvPr>
          <p:cNvSpPr>
            <a:spLocks xmlns:a="http://schemas.openxmlformats.org/drawingml/2006/main" noGrp="1"/>
          </p:cNvSpPr>
          <p:nvPr/>
        </p:nvSpPr>
        <p:spPr>
          <a:xfrm xmlns:a="http://schemas.openxmlformats.org/drawingml/2006/main">
            <a:off x="5657850" y="28575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typed delegation, scaffolds, debate, and routing decisions.</a:t>
            </a:r>
          </a:p>
        </p:txBody>
      </p:sp>
      <p:sp>
        <p:nvSpPr>
          <p:cNvPr id="18" name="">
            <a:extLst xmlns:a="http://schemas.openxmlformats.org/drawingml/2006/main">
              <a:ext uri="{FF2B5EF4-FFF2-40B4-BE49-F238E27FC236}">
                <a16:creationId xmlns:a16="http://schemas.microsoft.com/office/drawing/2014/main" id="{93909673-EF0A-4308-96F9-96FB09BB6E22}"/>
              </a:ext>
            </a:extLst>
          </p:cNvPr>
          <p:cNvSpPr>
            <a:spLocks xmlns:a="http://schemas.openxmlformats.org/drawingml/2006/main" noGrp="1"/>
          </p:cNvSpPr>
          <p:nvPr/>
        </p:nvSpPr>
        <p:spPr>
          <a:xfrm xmlns:a="http://schemas.openxmlformats.org/drawingml/2006/main">
            <a:off x="876300" y="34099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19" name="">
            <a:extLst xmlns:a="http://schemas.openxmlformats.org/drawingml/2006/main">
              <a:ext uri="{FF2B5EF4-FFF2-40B4-BE49-F238E27FC236}">
                <a16:creationId xmlns:a16="http://schemas.microsoft.com/office/drawing/2014/main" id="{21678924-6584-4D6F-80EC-56C252FE0DD1}"/>
              </a:ext>
            </a:extLst>
          </p:cNvPr>
          <p:cNvSpPr>
            <a:spLocks xmlns:a="http://schemas.openxmlformats.org/drawingml/2006/main" noGrp="1"/>
          </p:cNvSpPr>
          <p:nvPr/>
        </p:nvSpPr>
        <p:spPr>
          <a:xfrm xmlns:a="http://schemas.openxmlformats.org/drawingml/2006/main">
            <a:off x="1200150" y="34099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NB9 → NB10 Vibe Coding CEO Interface</a:t>
            </a:r>
          </a:p>
        </p:txBody>
      </p:sp>
      <p:sp>
        <p:nvSpPr>
          <p:cNvPr id="20" name="">
            <a:extLst xmlns:a="http://schemas.openxmlformats.org/drawingml/2006/main">
              <a:ext uri="{FF2B5EF4-FFF2-40B4-BE49-F238E27FC236}">
                <a16:creationId xmlns:a16="http://schemas.microsoft.com/office/drawing/2014/main" id="{8F6C7CBE-5100-4385-A97C-7EDA3EB8CBBD}"/>
              </a:ext>
            </a:extLst>
          </p:cNvPr>
          <p:cNvSpPr>
            <a:spLocks xmlns:a="http://schemas.openxmlformats.org/drawingml/2006/main" noGrp="1"/>
          </p:cNvSpPr>
          <p:nvPr/>
        </p:nvSpPr>
        <p:spPr>
          <a:xfrm xmlns:a="http://schemas.openxmlformats.org/drawingml/2006/main">
            <a:off x="5657850" y="34099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human steering updates commitments without breaking contracts.</a:t>
            </a:r>
          </a:p>
        </p:txBody>
      </p:sp>
      <p:sp>
        <p:nvSpPr>
          <p:cNvPr id="21" name="">
            <a:extLst xmlns:a="http://schemas.openxmlformats.org/drawingml/2006/main">
              <a:ext uri="{FF2B5EF4-FFF2-40B4-BE49-F238E27FC236}">
                <a16:creationId xmlns:a16="http://schemas.microsoft.com/office/drawing/2014/main" id="{A386E746-9AD7-4326-8C4F-C4C74D384195}"/>
              </a:ext>
            </a:extLst>
          </p:cNvPr>
          <p:cNvSpPr>
            <a:spLocks xmlns:a="http://schemas.openxmlformats.org/drawingml/2006/main" noGrp="1"/>
          </p:cNvSpPr>
          <p:nvPr/>
        </p:nvSpPr>
        <p:spPr>
          <a:xfrm xmlns:a="http://schemas.openxmlformats.org/drawingml/2006/main">
            <a:off x="876300" y="396240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2" name="">
            <a:extLst xmlns:a="http://schemas.openxmlformats.org/drawingml/2006/main">
              <a:ext uri="{FF2B5EF4-FFF2-40B4-BE49-F238E27FC236}">
                <a16:creationId xmlns:a16="http://schemas.microsoft.com/office/drawing/2014/main" id="{1463ACC5-34E7-4213-AB89-70B2BC877ACB}"/>
              </a:ext>
            </a:extLst>
          </p:cNvPr>
          <p:cNvSpPr>
            <a:spLocks xmlns:a="http://schemas.openxmlformats.org/drawingml/2006/main" noGrp="1"/>
          </p:cNvSpPr>
          <p:nvPr/>
        </p:nvSpPr>
        <p:spPr>
          <a:xfrm xmlns:a="http://schemas.openxmlformats.org/drawingml/2006/main">
            <a:off x="1200150" y="39624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NB10 → Assignment 12 From Whisper to Shipped Code</a:t>
            </a:r>
          </a:p>
        </p:txBody>
      </p:sp>
      <p:sp>
        <p:nvSpPr>
          <p:cNvPr id="23" name="">
            <a:extLst xmlns:a="http://schemas.openxmlformats.org/drawingml/2006/main">
              <a:ext uri="{FF2B5EF4-FFF2-40B4-BE49-F238E27FC236}">
                <a16:creationId xmlns:a16="http://schemas.microsoft.com/office/drawing/2014/main" id="{B16E4ED3-7EAD-4301-B51E-29D0DC6756EA}"/>
              </a:ext>
            </a:extLst>
          </p:cNvPr>
          <p:cNvSpPr>
            <a:spLocks xmlns:a="http://schemas.openxmlformats.org/drawingml/2006/main" noGrp="1"/>
          </p:cNvSpPr>
          <p:nvPr/>
        </p:nvSpPr>
        <p:spPr>
          <a:xfrm xmlns:a="http://schemas.openxmlformats.org/drawingml/2006/main">
            <a:off x="5657850" y="39624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connect human intent, scaffold, debate, TeamLog, and release.</a:t>
            </a:r>
          </a:p>
        </p:txBody>
      </p:sp>
      <p:sp>
        <p:nvSpPr>
          <p:cNvPr id="24" name="">
            <a:extLst xmlns:a="http://schemas.openxmlformats.org/drawingml/2006/main">
              <a:ext uri="{FF2B5EF4-FFF2-40B4-BE49-F238E27FC236}">
                <a16:creationId xmlns:a16="http://schemas.microsoft.com/office/drawing/2014/main" id="{93A025B1-3D9D-4D6D-A2E7-44BC1FC533AF}"/>
              </a:ext>
            </a:extLst>
          </p:cNvPr>
          <p:cNvSpPr>
            <a:spLocks xmlns:a="http://schemas.openxmlformats.org/drawingml/2006/main" noGrp="1"/>
          </p:cNvSpPr>
          <p:nvPr/>
        </p:nvSpPr>
        <p:spPr>
          <a:xfrm xmlns:a="http://schemas.openxmlformats.org/drawingml/2006/main">
            <a:off x="876300" y="4514850"/>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FF3B30"/>
                </a:solidFill>
              </a:defRPr>
            </a:pPr>
            <a:r>
              <a:rPr sz="1650" b="1">
                <a:solidFill>
                  <a:srgbClr val="FF3B30"/>
                </a:solidFill>
              </a:rPr>
              <a:t>→</a:t>
            </a:r>
          </a:p>
        </p:txBody>
      </p:sp>
      <p:sp>
        <p:nvSpPr>
          <p:cNvPr id="25" name="">
            <a:extLst xmlns:a="http://schemas.openxmlformats.org/drawingml/2006/main">
              <a:ext uri="{FF2B5EF4-FFF2-40B4-BE49-F238E27FC236}">
                <a16:creationId xmlns:a16="http://schemas.microsoft.com/office/drawing/2014/main" id="{DA777412-6CDA-4CED-A080-B123C3A35B58}"/>
              </a:ext>
            </a:extLst>
          </p:cNvPr>
          <p:cNvSpPr>
            <a:spLocks xmlns:a="http://schemas.openxmlformats.org/drawingml/2006/main" noGrp="1"/>
          </p:cNvSpPr>
          <p:nvPr/>
        </p:nvSpPr>
        <p:spPr>
          <a:xfrm xmlns:a="http://schemas.openxmlformats.org/drawingml/2006/main">
            <a:off x="1200150" y="45148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FFFFFF"/>
                </a:solidFill>
              </a:defRPr>
            </a:pPr>
            <a:r>
              <a:rPr sz="1500" b="1">
                <a:solidFill>
                  <a:srgbClr val="FFFFFF"/>
                </a:solidFill>
              </a:rPr>
              <a:t>NB11 → CrewAI Learning</a:t>
            </a:r>
          </a:p>
        </p:txBody>
      </p:sp>
      <p:sp>
        <p:nvSpPr>
          <p:cNvPr id="26" name="">
            <a:extLst xmlns:a="http://schemas.openxmlformats.org/drawingml/2006/main">
              <a:ext uri="{FF2B5EF4-FFF2-40B4-BE49-F238E27FC236}">
                <a16:creationId xmlns:a16="http://schemas.microsoft.com/office/drawing/2014/main" id="{78C034DD-08D4-4DDC-8487-6963D984EC96}"/>
              </a:ext>
            </a:extLst>
          </p:cNvPr>
          <p:cNvSpPr>
            <a:spLocks xmlns:a="http://schemas.openxmlformats.org/drawingml/2006/main" noGrp="1"/>
          </p:cNvSpPr>
          <p:nvPr/>
        </p:nvSpPr>
        <p:spPr>
          <a:xfrm xmlns:a="http://schemas.openxmlformats.org/drawingml/2006/main">
            <a:off x="5657850" y="451485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FFFFFF"/>
                </a:solidFill>
              </a:defRPr>
            </a:pPr>
            <a:r>
              <a:rPr sz="1350">
                <a:solidFill>
                  <a:srgbClr val="FFFFFF"/>
                </a:solidFill>
              </a:rPr>
              <a:t>Goal: design Coder, QA, Review agents with optional live execution.</a:t>
            </a:r>
          </a:p>
        </p:txBody>
      </p:sp>
      <p:sp>
        <p:nvSpPr>
          <p:cNvPr id="27" name="">
            <a:extLst xmlns:a="http://schemas.openxmlformats.org/drawingml/2006/main">
              <a:ext uri="{FF2B5EF4-FFF2-40B4-BE49-F238E27FC236}">
                <a16:creationId xmlns:a16="http://schemas.microsoft.com/office/drawing/2014/main" id="{76165F96-3CC9-4196-ABDC-902BD87851E9}"/>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  Each bridge lab turns one classroom pattern into one production operating surface.</a:t>
            </a:r>
          </a:p>
        </p:txBody>
      </p:sp>
    </p:spTree>
    <p:extLst>
      <p:ext uri="{BB962C8B-B14F-4D97-AF65-F5344CB8AC3E}">
        <p14:creationId xmlns:p14="http://schemas.microsoft.com/office/powerpoint/2010/main" val="71104138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90EE241-3E72-4129-96B6-1F1E4D00BD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B3580E58-5FA7-4801-B458-2702565A1CA9}"/>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4F8455A9-3D7E-4BE2-B3A9-9D1BF6422BC1}"/>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D6E11D21-2944-4EBD-8CB9-CE92305C6422}"/>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6777E90C-26EE-43C9-80BC-48F6720A3A27}"/>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1981ECD9-210B-4C20-A5B5-D519CE0AD1D8}"/>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1D53C847-8D4E-4C9D-9999-72F8B4A69174}"/>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CrewAI bridge notebook + capstone spec</a:t>
            </a:r>
          </a:p>
        </p:txBody>
      </p:sp>
      <p:sp>
        <p:nvSpPr>
          <p:cNvPr id="8" name="">
            <a:extLst xmlns:a="http://schemas.openxmlformats.org/drawingml/2006/main">
              <a:ext uri="{FF2B5EF4-FFF2-40B4-BE49-F238E27FC236}">
                <a16:creationId xmlns:a16="http://schemas.microsoft.com/office/drawing/2014/main" id="{E485FCC4-D179-47F6-ACD9-E70D7E58B29E}"/>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41</a:t>
            </a:r>
          </a:p>
        </p:txBody>
      </p:sp>
      <p:sp>
        <p:nvSpPr>
          <p:cNvPr id="9" name="">
            <a:extLst xmlns:a="http://schemas.openxmlformats.org/drawingml/2006/main">
              <a:ext uri="{FF2B5EF4-FFF2-40B4-BE49-F238E27FC236}">
                <a16:creationId xmlns:a16="http://schemas.microsoft.com/office/drawing/2014/main" id="{0AB94049-2A21-460D-8279-DAEF5868C917}"/>
              </a:ext>
            </a:extLst>
          </p:cNvPr>
          <p:cNvSpPr>
            <a:spLocks xmlns:a="http://schemas.openxmlformats.org/drawingml/2006/main" noGrp="1"/>
          </p:cNvSpPr>
          <p:nvPr/>
        </p:nvSpPr>
        <p:spPr>
          <a:xfrm xmlns:a="http://schemas.openxmlformats.org/drawingml/2006/main">
            <a:off x="495300" y="5524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BFC2FF"/>
                </a:solidFill>
              </a:defRPr>
            </a:pPr>
            <a:r>
              <a:rPr sz="1050">
                <a:solidFill>
                  <a:srgbClr val="BFC2FF"/>
                </a:solidFill>
              </a:rPr>
              <a:t>Optional Bridge · Capstone Design</a:t>
            </a:r>
          </a:p>
        </p:txBody>
      </p:sp>
      <p:sp>
        <p:nvSpPr>
          <p:cNvPr id="10" name="">
            <a:extLst xmlns:a="http://schemas.openxmlformats.org/drawingml/2006/main">
              <a:ext uri="{FF2B5EF4-FFF2-40B4-BE49-F238E27FC236}">
                <a16:creationId xmlns:a16="http://schemas.microsoft.com/office/drawing/2014/main" id="{68164C91-FBD6-464E-9553-CBDCE2C9CB3B}"/>
              </a:ext>
            </a:extLst>
          </p:cNvPr>
          <p:cNvSpPr>
            <a:spLocks xmlns:a="http://schemas.openxmlformats.org/drawingml/2006/main" noGrp="1"/>
          </p:cNvSpPr>
          <p:nvPr/>
        </p:nvSpPr>
        <p:spPr>
          <a:xfrm xmlns:a="http://schemas.openxmlformats.org/drawingml/2006/main">
            <a:off x="495300" y="838200"/>
            <a:ext cx="981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225">
                <a:solidFill>
                  <a:srgbClr val="FFFFFF"/>
                </a:solidFill>
              </a:defRPr>
            </a:pPr>
            <a:r>
              <a:rPr sz="3225">
                <a:solidFill>
                  <a:srgbClr val="FFFFFF"/>
                </a:solidFill>
              </a:rPr>
              <a:t>CrewAI Roles: Separation of Duties</a:t>
            </a:r>
          </a:p>
        </p:txBody>
      </p:sp>
      <p:sp>
        <p:nvSpPr>
          <p:cNvPr id="11" name="editable diagram card">
            <a:extLst xmlns:a="http://schemas.openxmlformats.org/drawingml/2006/main">
              <a:ext uri="{FF2B5EF4-FFF2-40B4-BE49-F238E27FC236}">
                <a16:creationId xmlns:a16="http://schemas.microsoft.com/office/drawing/2014/main" id="{4DDED083-A2D1-48DB-9B44-FE384A5D0B38}"/>
              </a:ext>
            </a:extLst>
          </p:cNvPr>
          <p:cNvSpPr>
            <a:spLocks xmlns:a="http://schemas.openxmlformats.org/drawingml/2006/main" noGrp="1"/>
          </p:cNvSpPr>
          <p:nvPr/>
        </p:nvSpPr>
        <p:spPr>
          <a:xfrm xmlns:a="http://schemas.openxmlformats.org/drawingml/2006/main">
            <a:off x="4152900" y="1562100"/>
            <a:ext cx="3886200" cy="628650"/>
          </a:xfrm>
          <a:prstGeom xmlns:a="http://schemas.openxmlformats.org/drawingml/2006/main" prst="roundRect">
            <a:avLst>
              <a:gd name="adj" fmla="val 12121"/>
            </a:avLst>
          </a:prstGeom>
          <a:solidFill xmlns:a="http://schemas.openxmlformats.org/drawingml/2006/main">
            <a:srgbClr val="292EAA"/>
          </a:solidFill>
          <a:ln xmlns:a="http://schemas.openxmlformats.org/drawingml/2006/main" w="13335">
            <a:solidFill>
              <a:srgbClr val="555FE0"/>
            </a:solidFill>
            <a:prstDash val="solid"/>
          </a:ln>
        </p:spPr>
      </p:sp>
      <p:sp>
        <p:nvSpPr>
          <p:cNvPr id="12" name="">
            <a:extLst xmlns:a="http://schemas.openxmlformats.org/drawingml/2006/main">
              <a:ext uri="{FF2B5EF4-FFF2-40B4-BE49-F238E27FC236}">
                <a16:creationId xmlns:a16="http://schemas.microsoft.com/office/drawing/2014/main" id="{5BE77174-EA54-4132-960B-38C1F7F28897}"/>
              </a:ext>
            </a:extLst>
          </p:cNvPr>
          <p:cNvSpPr>
            <a:spLocks xmlns:a="http://schemas.openxmlformats.org/drawingml/2006/main" noGrp="1"/>
          </p:cNvSpPr>
          <p:nvPr/>
        </p:nvSpPr>
        <p:spPr>
          <a:xfrm xmlns:a="http://schemas.openxmlformats.org/drawingml/2006/main">
            <a:off x="4267200" y="1647825"/>
            <a:ext cx="3657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275" b="1">
                <a:solidFill>
                  <a:srgbClr val="FFFFFF"/>
                </a:solidFill>
                <a:latin typeface="Calibri"/>
                <a:ea typeface="Calibri"/>
                <a:cs typeface="Calibri"/>
              </a:defRPr>
            </a:pPr>
            <a:r>
              <a:rPr sz="1275" b="1">
                <a:solidFill>
                  <a:srgbClr val="FFFFFF"/>
                </a:solidFill>
                <a:latin typeface="Calibri"/>
                <a:ea typeface="Calibri"/>
                <a:cs typeface="Calibri"/>
              </a:rPr>
              <a:t>HUMAN / PRODUCT OWNER</a:t>
            </a:r>
          </a:p>
        </p:txBody>
      </p:sp>
      <p:sp>
        <p:nvSpPr>
          <p:cNvPr id="13" name="">
            <a:extLst xmlns:a="http://schemas.openxmlformats.org/drawingml/2006/main">
              <a:ext uri="{FF2B5EF4-FFF2-40B4-BE49-F238E27FC236}">
                <a16:creationId xmlns:a16="http://schemas.microsoft.com/office/drawing/2014/main" id="{8A22C714-F11A-4EF6-A229-D9439117E38B}"/>
              </a:ext>
            </a:extLst>
          </p:cNvPr>
          <p:cNvSpPr>
            <a:spLocks xmlns:a="http://schemas.openxmlformats.org/drawingml/2006/main" noGrp="1"/>
          </p:cNvSpPr>
          <p:nvPr/>
        </p:nvSpPr>
        <p:spPr>
          <a:xfrm xmlns:a="http://schemas.openxmlformats.org/drawingml/2006/main">
            <a:off x="4276725" y="1866900"/>
            <a:ext cx="3638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050" b="0">
                <a:solidFill>
                  <a:srgbClr val="D8DBFF"/>
                </a:solidFill>
                <a:latin typeface="Calibri"/>
                <a:ea typeface="Calibri"/>
                <a:cs typeface="Calibri"/>
              </a:defRPr>
            </a:pPr>
            <a:r>
              <a:rPr sz="1050" b="0">
                <a:solidFill>
                  <a:srgbClr val="D8DBFF"/>
                </a:solidFill>
                <a:latin typeface="Calibri"/>
                <a:ea typeface="Calibri"/>
                <a:cs typeface="Calibri"/>
              </a:rPr>
              <a:t>Natural-language request and final authority</a:t>
            </a:r>
          </a:p>
        </p:txBody>
      </p:sp>
      <p:sp>
        <p:nvSpPr>
          <p:cNvPr id="14" name="editable diagram card">
            <a:extLst xmlns:a="http://schemas.openxmlformats.org/drawingml/2006/main">
              <a:ext uri="{FF2B5EF4-FFF2-40B4-BE49-F238E27FC236}">
                <a16:creationId xmlns:a16="http://schemas.microsoft.com/office/drawing/2014/main" id="{6CE81AF9-D597-4126-8575-18E337A8DFED}"/>
              </a:ext>
            </a:extLst>
          </p:cNvPr>
          <p:cNvSpPr>
            <a:spLocks xmlns:a="http://schemas.openxmlformats.org/drawingml/2006/main" noGrp="1"/>
          </p:cNvSpPr>
          <p:nvPr/>
        </p:nvSpPr>
        <p:spPr>
          <a:xfrm xmlns:a="http://schemas.openxmlformats.org/drawingml/2006/main">
            <a:off x="3476625" y="2476500"/>
            <a:ext cx="5238750" cy="876300"/>
          </a:xfrm>
          <a:prstGeom xmlns:a="http://schemas.openxmlformats.org/drawingml/2006/main" prst="roundRect">
            <a:avLst>
              <a:gd name="adj" fmla="val 8696"/>
            </a:avLst>
          </a:prstGeom>
          <a:solidFill xmlns:a="http://schemas.openxmlformats.org/drawingml/2006/main">
            <a:srgbClr val="292EAA"/>
          </a:solidFill>
          <a:ln xmlns:a="http://schemas.openxmlformats.org/drawingml/2006/main" w="13335">
            <a:solidFill>
              <a:srgbClr val="F04B25"/>
            </a:solidFill>
            <a:prstDash val="solid"/>
          </a:ln>
        </p:spPr>
      </p:sp>
      <p:sp>
        <p:nvSpPr>
          <p:cNvPr id="15" name="">
            <a:extLst xmlns:a="http://schemas.openxmlformats.org/drawingml/2006/main">
              <a:ext uri="{FF2B5EF4-FFF2-40B4-BE49-F238E27FC236}">
                <a16:creationId xmlns:a16="http://schemas.microsoft.com/office/drawing/2014/main" id="{E3B88E8C-47D8-482F-9C29-185C4872D46F}"/>
              </a:ext>
            </a:extLst>
          </p:cNvPr>
          <p:cNvSpPr>
            <a:spLocks xmlns:a="http://schemas.openxmlformats.org/drawingml/2006/main" noGrp="1"/>
          </p:cNvSpPr>
          <p:nvPr/>
        </p:nvSpPr>
        <p:spPr>
          <a:xfrm xmlns:a="http://schemas.openxmlformats.org/drawingml/2006/main">
            <a:off x="3590925" y="2562225"/>
            <a:ext cx="50101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ENGINEERING MANAGER</a:t>
            </a:r>
          </a:p>
        </p:txBody>
      </p:sp>
      <p:sp>
        <p:nvSpPr>
          <p:cNvPr id="16" name="">
            <a:extLst xmlns:a="http://schemas.openxmlformats.org/drawingml/2006/main">
              <a:ext uri="{FF2B5EF4-FFF2-40B4-BE49-F238E27FC236}">
                <a16:creationId xmlns:a16="http://schemas.microsoft.com/office/drawing/2014/main" id="{DBEBDFD4-149A-4D81-86A8-B19D49E99871}"/>
              </a:ext>
            </a:extLst>
          </p:cNvPr>
          <p:cNvSpPr>
            <a:spLocks xmlns:a="http://schemas.openxmlformats.org/drawingml/2006/main" noGrp="1"/>
          </p:cNvSpPr>
          <p:nvPr/>
        </p:nvSpPr>
        <p:spPr>
          <a:xfrm xmlns:a="http://schemas.openxmlformats.org/drawingml/2006/main">
            <a:off x="3600450" y="2847975"/>
            <a:ext cx="4991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Delegates Pydantic-typed work · approve_code only</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Cannot write code</a:t>
            </a:r>
          </a:p>
        </p:txBody>
      </p:sp>
      <p:sp>
        <p:nvSpPr>
          <p:cNvPr id="17" name="editable diagram card">
            <a:extLst xmlns:a="http://schemas.openxmlformats.org/drawingml/2006/main">
              <a:ext uri="{FF2B5EF4-FFF2-40B4-BE49-F238E27FC236}">
                <a16:creationId xmlns:a16="http://schemas.microsoft.com/office/drawing/2014/main" id="{D8F45D02-1802-4136-B63F-09C2C2A9899B}"/>
              </a:ext>
            </a:extLst>
          </p:cNvPr>
          <p:cNvSpPr>
            <a:spLocks xmlns:a="http://schemas.openxmlformats.org/drawingml/2006/main" noGrp="1"/>
          </p:cNvSpPr>
          <p:nvPr/>
        </p:nvSpPr>
        <p:spPr>
          <a:xfrm xmlns:a="http://schemas.openxmlformats.org/drawingml/2006/main">
            <a:off x="160020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18" name="">
            <a:extLst xmlns:a="http://schemas.openxmlformats.org/drawingml/2006/main">
              <a:ext uri="{FF2B5EF4-FFF2-40B4-BE49-F238E27FC236}">
                <a16:creationId xmlns:a16="http://schemas.microsoft.com/office/drawing/2014/main" id="{82D997D8-378A-4A23-B820-336D67E180C1}"/>
              </a:ext>
            </a:extLst>
          </p:cNvPr>
          <p:cNvSpPr>
            <a:spLocks xmlns:a="http://schemas.openxmlformats.org/drawingml/2006/main" noGrp="1"/>
          </p:cNvSpPr>
          <p:nvPr/>
        </p:nvSpPr>
        <p:spPr>
          <a:xfrm xmlns:a="http://schemas.openxmlformats.org/drawingml/2006/main">
            <a:off x="171450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SENIOR CODER</a:t>
            </a:r>
          </a:p>
        </p:txBody>
      </p:sp>
      <p:sp>
        <p:nvSpPr>
          <p:cNvPr id="19" name="">
            <a:extLst xmlns:a="http://schemas.openxmlformats.org/drawingml/2006/main">
              <a:ext uri="{FF2B5EF4-FFF2-40B4-BE49-F238E27FC236}">
                <a16:creationId xmlns:a16="http://schemas.microsoft.com/office/drawing/2014/main" id="{CB86B71E-FCE5-4DBE-84DC-21C985086A55}"/>
              </a:ext>
            </a:extLst>
          </p:cNvPr>
          <p:cNvSpPr>
            <a:spLocks xmlns:a="http://schemas.openxmlformats.org/drawingml/2006/main" noGrp="1"/>
          </p:cNvSpPr>
          <p:nvPr/>
        </p:nvSpPr>
        <p:spPr>
          <a:xfrm xmlns:a="http://schemas.openxmlformats.org/drawingml/2006/main">
            <a:off x="172402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Implements assigned logic</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write_code tool only</a:t>
            </a:r>
          </a:p>
        </p:txBody>
      </p:sp>
      <p:sp>
        <p:nvSpPr>
          <p:cNvPr id="20" name="editable diagram card">
            <a:extLst xmlns:a="http://schemas.openxmlformats.org/drawingml/2006/main">
              <a:ext uri="{FF2B5EF4-FFF2-40B4-BE49-F238E27FC236}">
                <a16:creationId xmlns:a16="http://schemas.microsoft.com/office/drawing/2014/main" id="{FD04BB16-39B5-4FEB-A699-73D2B76B0364}"/>
              </a:ext>
            </a:extLst>
          </p:cNvPr>
          <p:cNvSpPr>
            <a:spLocks xmlns:a="http://schemas.openxmlformats.org/drawingml/2006/main" noGrp="1"/>
          </p:cNvSpPr>
          <p:nvPr/>
        </p:nvSpPr>
        <p:spPr>
          <a:xfrm xmlns:a="http://schemas.openxmlformats.org/drawingml/2006/main">
            <a:off x="6610350" y="3781425"/>
            <a:ext cx="3981450" cy="1009650"/>
          </a:xfrm>
          <a:prstGeom xmlns:a="http://schemas.openxmlformats.org/drawingml/2006/main" prst="roundRect">
            <a:avLst>
              <a:gd name="adj" fmla="val 7547"/>
            </a:avLst>
          </a:prstGeom>
          <a:solidFill xmlns:a="http://schemas.openxmlformats.org/drawingml/2006/main">
            <a:srgbClr val="292EAA"/>
          </a:solidFill>
          <a:ln xmlns:a="http://schemas.openxmlformats.org/drawingml/2006/main" w="13335">
            <a:solidFill>
              <a:srgbClr val="555FE0"/>
            </a:solidFill>
            <a:prstDash val="solid"/>
          </a:ln>
        </p:spPr>
      </p:sp>
      <p:sp>
        <p:nvSpPr>
          <p:cNvPr id="21" name="">
            <a:extLst xmlns:a="http://schemas.openxmlformats.org/drawingml/2006/main">
              <a:ext uri="{FF2B5EF4-FFF2-40B4-BE49-F238E27FC236}">
                <a16:creationId xmlns:a16="http://schemas.microsoft.com/office/drawing/2014/main" id="{A27A0E10-EF02-420D-9BAC-2F4BBB6F248A}"/>
              </a:ext>
            </a:extLst>
          </p:cNvPr>
          <p:cNvSpPr>
            <a:spLocks xmlns:a="http://schemas.openxmlformats.org/drawingml/2006/main" noGrp="1"/>
          </p:cNvSpPr>
          <p:nvPr/>
        </p:nvSpPr>
        <p:spPr>
          <a:xfrm xmlns:a="http://schemas.openxmlformats.org/drawingml/2006/main">
            <a:off x="6724650" y="3867150"/>
            <a:ext cx="3752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425" b="1">
                <a:solidFill>
                  <a:srgbClr val="FFFFFF"/>
                </a:solidFill>
                <a:latin typeface="Calibri"/>
                <a:ea typeface="Calibri"/>
                <a:cs typeface="Calibri"/>
              </a:defRPr>
            </a:pPr>
            <a:r>
              <a:rPr sz="1425" b="1">
                <a:solidFill>
                  <a:srgbClr val="FFFFFF"/>
                </a:solidFill>
                <a:latin typeface="Calibri"/>
                <a:ea typeface="Calibri"/>
                <a:cs typeface="Calibri"/>
              </a:rPr>
              <a:t>QA TESTER</a:t>
            </a:r>
          </a:p>
        </p:txBody>
      </p:sp>
      <p:sp>
        <p:nvSpPr>
          <p:cNvPr id="22" name="">
            <a:extLst xmlns:a="http://schemas.openxmlformats.org/drawingml/2006/main">
              <a:ext uri="{FF2B5EF4-FFF2-40B4-BE49-F238E27FC236}">
                <a16:creationId xmlns:a16="http://schemas.microsoft.com/office/drawing/2014/main" id="{F1EDBEA3-3A60-49B9-B759-590C8C23C0E8}"/>
              </a:ext>
            </a:extLst>
          </p:cNvPr>
          <p:cNvSpPr>
            <a:spLocks xmlns:a="http://schemas.openxmlformats.org/drawingml/2006/main" noGrp="1"/>
          </p:cNvSpPr>
          <p:nvPr/>
        </p:nvSpPr>
        <p:spPr>
          <a:xfrm xmlns:a="http://schemas.openxmlformats.org/drawingml/2006/main">
            <a:off x="6734175" y="4181475"/>
            <a:ext cx="3733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t">
            <a:normAutofit fontScale="100000"/>
          </a:bodyPr>
          <a:lstStyle xmlns:a="http://schemas.openxmlformats.org/drawingml/2006/main"/>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Runs checks and returns evidence</a:t>
            </a:r>
          </a:p>
          <a:p xmlns:a="http://schemas.openxmlformats.org/drawingml/2006/main">
            <a:pPr algn="ctr">
              <a:buNone/>
              <a:defRPr sz="1200" b="0">
                <a:solidFill>
                  <a:srgbClr val="D8DBFF"/>
                </a:solidFill>
                <a:latin typeface="Calibri"/>
                <a:ea typeface="Calibri"/>
                <a:cs typeface="Calibri"/>
              </a:defRPr>
            </a:pPr>
            <a:r>
              <a:rPr sz="1200" b="0">
                <a:solidFill>
                  <a:srgbClr val="D8DBFF"/>
                </a:solidFill>
                <a:latin typeface="Calibri"/>
                <a:ea typeface="Calibri"/>
                <a:cs typeface="Calibri"/>
              </a:rPr>
              <a:t>run_tests tool only</a:t>
            </a:r>
          </a:p>
        </p:txBody>
      </p:sp>
      <p:cxnSp>
        <p:nvCxnSpPr>
          <p:cNvPr id="125" name=""/>
          <p:cNvCxnSpPr>
            <a:stCxn xmlns:a="http://schemas.openxmlformats.org/drawingml/2006/main" id="11" idx="2"/>
            <a:endCxn xmlns:a="http://schemas.openxmlformats.org/drawingml/2006/main" id="14" idx="0"/>
          </p:cNvCxnSpPr>
          <p:nvPr/>
        </p:nvCxnSpPr>
        <p:spPr>
          <a:xfrm xmlns:a="http://schemas.openxmlformats.org/drawingml/2006/main">
            <a:off x="6096000" y="2190750"/>
            <a:ext cx="0" cy="285750"/>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126" name=""/>
          <p:cNvCxnSpPr>
            <a:stCxn xmlns:a="http://schemas.openxmlformats.org/drawingml/2006/main" id="14" idx="2"/>
            <a:endCxn xmlns:a="http://schemas.openxmlformats.org/drawingml/2006/main" id="17" idx="0"/>
          </p:cNvCxnSpPr>
          <p:nvPr/>
        </p:nvCxnSpPr>
        <p:spPr>
          <a:xfrm xmlns:a="http://schemas.openxmlformats.org/drawingml/2006/main" flipH="1">
            <a:off x="3590925"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cxnSp>
        <p:nvCxnSpPr>
          <p:cNvPr id="127" name=""/>
          <p:cNvCxnSpPr>
            <a:stCxn xmlns:a="http://schemas.openxmlformats.org/drawingml/2006/main" id="14" idx="2"/>
            <a:endCxn xmlns:a="http://schemas.openxmlformats.org/drawingml/2006/main" id="20" idx="0"/>
          </p:cNvCxnSpPr>
          <p:nvPr/>
        </p:nvCxnSpPr>
        <p:spPr>
          <a:xfrm xmlns:a="http://schemas.openxmlformats.org/drawingml/2006/main">
            <a:off x="6096000" y="3352800"/>
            <a:ext cx="2505075" cy="428625"/>
          </a:xfrm>
          <a:prstGeom xmlns:a="http://schemas.openxmlformats.org/drawingml/2006/main" prst="straightConnector1">
            <a:avLst/>
          </a:prstGeom>
          <a:ln xmlns:a="http://schemas.openxmlformats.org/drawingml/2006/main" w="19050">
            <a:solidFill>
              <a:srgbClr val="F04B25"/>
            </a:solidFill>
            <a:prstDash val="solid"/>
            <a:tailEnd type="arrow" w="med" len="med"/>
          </a:ln>
        </p:spPr>
      </p:cxnSp>
      <p:sp>
        <p:nvSpPr>
          <p:cNvPr id="26" name="">
            <a:extLst xmlns:a="http://schemas.openxmlformats.org/drawingml/2006/main">
              <a:ext uri="{FF2B5EF4-FFF2-40B4-BE49-F238E27FC236}">
                <a16:creationId xmlns:a16="http://schemas.microsoft.com/office/drawing/2014/main" id="{1F965F87-0799-4557-ACF9-98C02F478CE9}"/>
              </a:ext>
            </a:extLst>
          </p:cNvPr>
          <p:cNvSpPr>
            <a:spLocks xmlns:a="http://schemas.openxmlformats.org/drawingml/2006/main" noGrp="1"/>
          </p:cNvSpPr>
          <p:nvPr/>
        </p:nvSpPr>
        <p:spPr>
          <a:xfrm xmlns:a="http://schemas.openxmlformats.org/drawingml/2006/main">
            <a:off x="781050" y="5019675"/>
            <a:ext cx="1062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ctr">
              <a:buNone/>
              <a:defRPr sz="1163" b="0">
                <a:solidFill>
                  <a:srgbClr val="BFC5FF"/>
                </a:solidFill>
                <a:latin typeface="Calibri"/>
                <a:ea typeface="Calibri"/>
                <a:cs typeface="Calibri"/>
              </a:defRPr>
            </a:pPr>
            <a:r>
              <a:rPr sz="1163" b="0">
                <a:solidFill>
                  <a:srgbClr val="BFC5FF"/>
                </a:solidFill>
                <a:latin typeface="Calibri"/>
                <a:ea typeface="Calibri"/>
                <a:cs typeface="Calibri"/>
              </a:rPr>
              <a:t>Target design for the capstone. The optional CrewAI bridge notebook currently demonstrates only the Coder and Manager roles and does not call a live model.</a:t>
            </a:r>
          </a:p>
        </p:txBody>
      </p:sp>
      <p:sp>
        <p:nvSpPr>
          <p:cNvPr id="27" name="">
            <a:extLst xmlns:a="http://schemas.openxmlformats.org/drawingml/2006/main">
              <a:ext uri="{FF2B5EF4-FFF2-40B4-BE49-F238E27FC236}">
                <a16:creationId xmlns:a16="http://schemas.microsoft.com/office/drawing/2014/main" id="{17AE22A2-29F6-4491-9483-E29B9CA60573}"/>
              </a:ext>
            </a:extLst>
          </p:cNvPr>
          <p:cNvSpPr>
            <a:spLocks xmlns:a="http://schemas.openxmlformats.org/drawingml/2006/main" noGrp="1"/>
          </p:cNvSpPr>
          <p:nvPr/>
        </p:nvSpPr>
        <p:spPr>
          <a:xfrm xmlns:a="http://schemas.openxmlformats.org/drawingml/2006/main">
            <a:off x="514350" y="5619750"/>
            <a:ext cx="933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rmAutofit fontScale="100000"/>
          </a:bodyPr>
          <a:lstStyle xmlns:a="http://schemas.openxmlformats.org/drawingml/2006/main"/>
          <a:p xmlns:a="http://schemas.openxmlformats.org/drawingml/2006/main">
            <a:pPr algn="l">
              <a:buNone/>
              <a:defRPr sz="1050" b="0">
                <a:solidFill>
                  <a:srgbClr val="BFC5FF"/>
                </a:solidFill>
                <a:latin typeface="Calibri"/>
                <a:ea typeface="Calibri"/>
                <a:cs typeface="Calibri"/>
              </a:defRPr>
            </a:pPr>
            <a:r>
              <a:rPr sz="1050" b="0">
                <a:solidFill>
                  <a:srgbClr val="BFC5FF"/>
                </a:solidFill>
                <a:latin typeface="Calibri"/>
                <a:ea typeface="Calibri"/>
                <a:cs typeface="Calibri"/>
              </a:rPr>
              <a:t>Frameworks may orchestrate roles; governance keeps authority and tools bounded.</a:t>
            </a:r>
          </a:p>
        </p:txBody>
      </p:sp>
    </p:spTree>
    <p:extLst>
      <p:ext uri="{BB962C8B-B14F-4D97-AF65-F5344CB8AC3E}">
        <p14:creationId xmlns:p14="http://schemas.microsoft.com/office/powerpoint/2010/main" val="341654867"/>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59562F-199A-405C-B0DB-DD42255536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 name="">
            <a:extLst xmlns:a="http://schemas.openxmlformats.org/drawingml/2006/main">
              <a:ext uri="{FF2B5EF4-FFF2-40B4-BE49-F238E27FC236}">
                <a16:creationId xmlns:a16="http://schemas.microsoft.com/office/drawing/2014/main" id="{409FCB5B-76AF-4768-91DC-212CFDC86D60}"/>
              </a:ext>
            </a:extLst>
          </p:cNvPr>
          <p:cNvSpPr>
            <a:spLocks xmlns:a="http://schemas.openxmlformats.org/drawingml/2006/main" noGrp="1"/>
          </p:cNvSpPr>
          <p:nvPr/>
        </p:nvSpPr>
        <p:spPr>
          <a:xfrm xmlns:a="http://schemas.openxmlformats.org/drawingml/2006/main">
            <a:off x="0" y="381000"/>
            <a:ext cx="12192000" cy="6096000"/>
          </a:xfrm>
          <a:prstGeom xmlns:a="http://schemas.openxmlformats.org/drawingml/2006/main" prst="rect">
            <a:avLst/>
          </a:prstGeom>
          <a:solidFill xmlns:a="http://schemas.openxmlformats.org/drawingml/2006/main">
            <a:srgbClr val="2D2FC4"/>
          </a:solidFill>
          <a:ln xmlns:a="http://schemas.openxmlformats.org/drawingml/2006/main" w="0">
            <a:solidFill>
              <a:srgbClr val="2D2FC4"/>
            </a:solidFill>
            <a:prstDash val="solid"/>
          </a:ln>
        </p:spPr>
      </p:sp>
      <p:sp>
        <p:nvSpPr>
          <p:cNvPr id="3" name="">
            <a:extLst xmlns:a="http://schemas.openxmlformats.org/drawingml/2006/main">
              <a:ext uri="{FF2B5EF4-FFF2-40B4-BE49-F238E27FC236}">
                <a16:creationId xmlns:a16="http://schemas.microsoft.com/office/drawing/2014/main" id="{6930DC4B-1A7A-4016-B091-E7DF8BF9BE39}"/>
              </a:ext>
            </a:extLst>
          </p:cNvPr>
          <p:cNvSpPr>
            <a:spLocks xmlns:a="http://schemas.openxmlformats.org/drawingml/2006/main" noGrp="1"/>
          </p:cNvSpPr>
          <p:nvPr/>
        </p:nvSpPr>
        <p:spPr>
          <a:xfrm xmlns:a="http://schemas.openxmlformats.org/drawingml/2006/main">
            <a:off x="0" y="6477000"/>
            <a:ext cx="12192000" cy="381000"/>
          </a:xfrm>
          <a:prstGeom xmlns:a="http://schemas.openxmlformats.org/drawingml/2006/main" prst="rect">
            <a:avLst/>
          </a:prstGeom>
          <a:solidFill xmlns:a="http://schemas.openxmlformats.org/drawingml/2006/main">
            <a:srgbClr val="2225AD"/>
          </a:solidFill>
          <a:ln xmlns:a="http://schemas.openxmlformats.org/drawingml/2006/main" w="0">
            <a:solidFill>
              <a:srgbClr val="2225AD"/>
            </a:solidFill>
            <a:prstDash val="solid"/>
          </a:ln>
        </p:spPr>
      </p:sp>
      <p:sp>
        <p:nvSpPr>
          <p:cNvPr id="4" name="">
            <a:extLst xmlns:a="http://schemas.openxmlformats.org/drawingml/2006/main">
              <a:ext uri="{FF2B5EF4-FFF2-40B4-BE49-F238E27FC236}">
                <a16:creationId xmlns:a16="http://schemas.microsoft.com/office/drawing/2014/main" id="{0A1165ED-FAE7-48A9-B3A7-616331620F20}"/>
              </a:ext>
            </a:extLst>
          </p:cNvPr>
          <p:cNvSpPr>
            <a:spLocks xmlns:a="http://schemas.openxmlformats.org/drawingml/2006/main" noGrp="1"/>
          </p:cNvSpPr>
          <p:nvPr/>
        </p:nvSpPr>
        <p:spPr>
          <a:xfrm xmlns:a="http://schemas.openxmlformats.org/drawingml/2006/main">
            <a:off x="228600" y="133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a:solidFill>
                  <a:srgbClr val="1F2330"/>
                </a:solidFill>
              </a:defRPr>
            </a:pPr>
            <a:r>
              <a:rPr sz="1050">
                <a:solidFill>
                  <a:srgbClr val="1F2330"/>
                </a:solidFill>
              </a:rPr>
              <a:t>frontier tech leaders</a:t>
            </a:r>
          </a:p>
        </p:txBody>
      </p:sp>
      <p:sp>
        <p:nvSpPr>
          <p:cNvPr id="5" name="">
            <a:extLst xmlns:a="http://schemas.openxmlformats.org/drawingml/2006/main">
              <a:ext uri="{FF2B5EF4-FFF2-40B4-BE49-F238E27FC236}">
                <a16:creationId xmlns:a16="http://schemas.microsoft.com/office/drawing/2014/main" id="{5C6FDCD1-0CD1-42F1-ACE9-B5DF7B5ADFCE}"/>
              </a:ext>
            </a:extLst>
          </p:cNvPr>
          <p:cNvSpPr>
            <a:spLocks xmlns:a="http://schemas.openxmlformats.org/drawingml/2006/main" noGrp="1"/>
          </p:cNvSpPr>
          <p:nvPr/>
        </p:nvSpPr>
        <p:spPr>
          <a:xfrm xmlns:a="http://schemas.openxmlformats.org/drawingml/2006/main">
            <a:off x="8667750" y="161925"/>
            <a:ext cx="3286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555555"/>
                </a:solidFill>
              </a:defRPr>
            </a:pPr>
            <a:r>
              <a:rPr sz="900">
                <a:solidFill>
                  <a:srgbClr val="555555"/>
                </a:solidFill>
              </a:rPr>
              <a:t>SDG AI Lab  ·  UN Technology  ·  ICPSD  ·  UNDP</a:t>
            </a:r>
          </a:p>
        </p:txBody>
      </p:sp>
      <p:sp>
        <p:nvSpPr>
          <p:cNvPr id="6" name="">
            <a:extLst xmlns:a="http://schemas.openxmlformats.org/drawingml/2006/main">
              <a:ext uri="{FF2B5EF4-FFF2-40B4-BE49-F238E27FC236}">
                <a16:creationId xmlns:a16="http://schemas.microsoft.com/office/drawing/2014/main" id="{D19F919B-B4E0-455F-B7C0-4035C303AB97}"/>
              </a:ext>
            </a:extLst>
          </p:cNvPr>
          <p:cNvSpPr>
            <a:spLocks xmlns:a="http://schemas.openxmlformats.org/drawingml/2006/main" noGrp="1"/>
          </p:cNvSpPr>
          <p:nvPr/>
        </p:nvSpPr>
        <p:spPr>
          <a:xfrm xmlns:a="http://schemas.openxmlformats.org/drawingml/2006/main">
            <a:off x="228600" y="66389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a:solidFill>
                  <a:srgbClr val="BFC2FF"/>
                </a:solidFill>
              </a:defRPr>
            </a:pPr>
            <a:r>
              <a:rPr sz="900">
                <a:solidFill>
                  <a:srgbClr val="BFC2FF"/>
                </a:solidFill>
              </a:rPr>
              <a:t>SDG AI Lab  ·  UN Technology  ·  ICPSD  ·  UNDP</a:t>
            </a:r>
          </a:p>
        </p:txBody>
      </p:sp>
      <p:sp>
        <p:nvSpPr>
          <p:cNvPr id="7" name="">
            <a:extLst xmlns:a="http://schemas.openxmlformats.org/drawingml/2006/main">
              <a:ext uri="{FF2B5EF4-FFF2-40B4-BE49-F238E27FC236}">
                <a16:creationId xmlns:a16="http://schemas.microsoft.com/office/drawing/2014/main" id="{D519A929-9113-4BC9-86AF-4AF09DEF3020}"/>
              </a:ext>
            </a:extLst>
          </p:cNvPr>
          <p:cNvSpPr>
            <a:spLocks xmlns:a="http://schemas.openxmlformats.org/drawingml/2006/main" noGrp="1"/>
          </p:cNvSpPr>
          <p:nvPr/>
        </p:nvSpPr>
        <p:spPr>
          <a:xfrm xmlns:a="http://schemas.openxmlformats.org/drawingml/2006/main">
            <a:off x="7810500" y="6162675"/>
            <a:ext cx="3429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BFC2FF"/>
                </a:solidFill>
              </a:defRPr>
            </a:pPr>
            <a:r>
              <a:rPr sz="750">
                <a:solidFill>
                  <a:srgbClr val="BFC2FF"/>
                </a:solidFill>
              </a:rPr>
              <a:t>Cite: Karpathy AI Ascent</a:t>
            </a:r>
          </a:p>
        </p:txBody>
      </p:sp>
      <p:sp>
        <p:nvSpPr>
          <p:cNvPr id="8" name="">
            <a:extLst xmlns:a="http://schemas.openxmlformats.org/drawingml/2006/main">
              <a:ext uri="{FF2B5EF4-FFF2-40B4-BE49-F238E27FC236}">
                <a16:creationId xmlns:a16="http://schemas.microsoft.com/office/drawing/2014/main" id="{D76C7531-C353-419A-9986-6F59BFDEB2B2}"/>
              </a:ext>
            </a:extLst>
          </p:cNvPr>
          <p:cNvSpPr>
            <a:spLocks xmlns:a="http://schemas.openxmlformats.org/drawingml/2006/main" noGrp="1"/>
          </p:cNvSpPr>
          <p:nvPr/>
        </p:nvSpPr>
        <p:spPr>
          <a:xfrm xmlns:a="http://schemas.openxmlformats.org/drawingml/2006/main">
            <a:off x="11677650" y="615315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a:solidFill>
                  <a:srgbClr val="FFFFFF"/>
                </a:solidFill>
              </a:defRPr>
            </a:pPr>
            <a:r>
              <a:rPr sz="975">
                <a:solidFill>
                  <a:srgbClr val="FFFFFF"/>
                </a:solidFill>
              </a:rPr>
              <a:t>42</a:t>
            </a:r>
          </a:p>
        </p:txBody>
      </p:sp>
      <p:sp>
        <p:nvSpPr>
          <p:cNvPr id="9" name="">
            <a:extLst xmlns:a="http://schemas.openxmlformats.org/drawingml/2006/main">
              <a:ext uri="{FF2B5EF4-FFF2-40B4-BE49-F238E27FC236}">
                <a16:creationId xmlns:a16="http://schemas.microsoft.com/office/drawing/2014/main" id="{9490E8A9-F6FA-4CF3-985C-B0E0F1215BA8}"/>
              </a:ext>
            </a:extLst>
          </p:cNvPr>
          <p:cNvSpPr>
            <a:spLocks xmlns:a="http://schemas.openxmlformats.org/drawingml/2006/main" noGrp="1"/>
          </p:cNvSpPr>
          <p:nvPr/>
        </p:nvSpPr>
        <p:spPr>
          <a:xfrm xmlns:a="http://schemas.openxmlformats.org/drawingml/2006/main">
            <a:off x="2857500" y="22479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You can outsource your thinking —</a:t>
            </a:r>
          </a:p>
        </p:txBody>
      </p:sp>
      <p:sp>
        <p:nvSpPr>
          <p:cNvPr id="10" name="">
            <a:extLst xmlns:a="http://schemas.openxmlformats.org/drawingml/2006/main">
              <a:ext uri="{FF2B5EF4-FFF2-40B4-BE49-F238E27FC236}">
                <a16:creationId xmlns:a16="http://schemas.microsoft.com/office/drawing/2014/main" id="{86DF4741-5A77-4102-858E-4B4038F753D8}"/>
              </a:ext>
            </a:extLst>
          </p:cNvPr>
          <p:cNvSpPr>
            <a:spLocks xmlns:a="http://schemas.openxmlformats.org/drawingml/2006/main" noGrp="1"/>
          </p:cNvSpPr>
          <p:nvPr/>
        </p:nvSpPr>
        <p:spPr>
          <a:xfrm xmlns:a="http://schemas.openxmlformats.org/drawingml/2006/main">
            <a:off x="2476500" y="2876550"/>
            <a:ext cx="723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700">
                <a:solidFill>
                  <a:srgbClr val="FFFFFF"/>
                </a:solidFill>
              </a:defRPr>
            </a:pPr>
            <a:r>
              <a:rPr sz="2700">
                <a:solidFill>
                  <a:srgbClr val="FFFFFF"/>
                </a:solidFill>
              </a:rPr>
              <a:t>but you can't outsource your understanding.</a:t>
            </a:r>
          </a:p>
        </p:txBody>
      </p:sp>
      <p:sp>
        <p:nvSpPr>
          <p:cNvPr id="11" name="">
            <a:extLst xmlns:a="http://schemas.openxmlformats.org/drawingml/2006/main">
              <a:ext uri="{FF2B5EF4-FFF2-40B4-BE49-F238E27FC236}">
                <a16:creationId xmlns:a16="http://schemas.microsoft.com/office/drawing/2014/main" id="{467D2F01-7C49-4777-864E-41C9E7F8DAF9}"/>
              </a:ext>
            </a:extLst>
          </p:cNvPr>
          <p:cNvSpPr>
            <a:spLocks xmlns:a="http://schemas.openxmlformats.org/drawingml/2006/main" noGrp="1"/>
          </p:cNvSpPr>
          <p:nvPr/>
        </p:nvSpPr>
        <p:spPr>
          <a:xfrm xmlns:a="http://schemas.openxmlformats.org/drawingml/2006/main">
            <a:off x="3905250" y="41529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a:solidFill>
                  <a:srgbClr val="BFC2FF"/>
                </a:solidFill>
              </a:defRPr>
            </a:pPr>
            <a:r>
              <a:rPr sz="1275">
                <a:solidFill>
                  <a:srgbClr val="BFC2FF"/>
                </a:solidFill>
              </a:rPr>
              <a:t>— Andrej Karpathy, Sequoia AI Ascent 2026</a:t>
            </a:r>
          </a:p>
        </p:txBody>
      </p:sp>
    </p:spTree>
    <p:extLst>
      <p:ext uri="{BB962C8B-B14F-4D97-AF65-F5344CB8AC3E}">
        <p14:creationId xmlns:p14="http://schemas.microsoft.com/office/powerpoint/2010/main" val="2007971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2026-10-05T02:48:52.5040000Z</dcterms:created>
  <dcterms:modified xsi:type="dcterms:W3CDTF">2026-10-05T02:48:52.5040000Z</dcterms:modified>
</coreProperties>
</file>