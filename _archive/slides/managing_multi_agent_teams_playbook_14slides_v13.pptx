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0cd159a48d84c92" /><Relationship Type="http://schemas.openxmlformats.org/officeDocument/2006/relationships/extended-properties" Target="/docProps/app.xml" Id="R43dfb2b3d7d14b30" /><Relationship Type="http://schemas.openxmlformats.org/officeDocument/2006/relationships/officeDocument" Target="/ppt/presentation.xml" Id="R2aa3473956cc4f70" /></Relationships>
</file>

<file path=ppt/presentation.xml><?xml version="1.0" encoding="utf-8"?>
<p:presentation xmlns:p="http://schemas.openxmlformats.org/presentationml/2006/main">
  <p:sldMasterIdLst>
    <p:sldMasterId xmlns:r="http://schemas.openxmlformats.org/officeDocument/2006/relationships" id="2147483648" r:id="R0d2f0793f6fb48dc"/>
  </p:sldMasterIdLst>
  <p:notesMasterIdLst>
    <p:notesMasterId xmlns:r="http://schemas.openxmlformats.org/officeDocument/2006/relationships" r:id="R02e7a58d4bec4500"/>
  </p:notesMasterIdLst>
  <p:sldIdLst>
    <p:sldId xmlns:r="http://schemas.openxmlformats.org/officeDocument/2006/relationships" id="256" r:id="R7ea2603657ba4d64"/>
    <p:sldId xmlns:r="http://schemas.openxmlformats.org/officeDocument/2006/relationships" id="257" r:id="R6793f621b03b4e06"/>
    <p:sldId xmlns:r="http://schemas.openxmlformats.org/officeDocument/2006/relationships" id="258" r:id="Rdc783013de954205"/>
    <p:sldId xmlns:r="http://schemas.openxmlformats.org/officeDocument/2006/relationships" id="259" r:id="R5644858165ba488d"/>
    <p:sldId xmlns:r="http://schemas.openxmlformats.org/officeDocument/2006/relationships" id="260" r:id="R9a074b1886654769"/>
    <p:sldId xmlns:r="http://schemas.openxmlformats.org/officeDocument/2006/relationships" id="261" r:id="R07795d86a1684d87"/>
    <p:sldId xmlns:r="http://schemas.openxmlformats.org/officeDocument/2006/relationships" id="262" r:id="R13b25febd5f94cbd"/>
    <p:sldId xmlns:r="http://schemas.openxmlformats.org/officeDocument/2006/relationships" id="263" r:id="R3d0def0a832c4105"/>
    <p:sldId xmlns:r="http://schemas.openxmlformats.org/officeDocument/2006/relationships" id="264" r:id="R65a505c079f14b2b"/>
    <p:sldId xmlns:r="http://schemas.openxmlformats.org/officeDocument/2006/relationships" id="265" r:id="R2b4b9ca83b5b45bf"/>
    <p:sldId xmlns:r="http://schemas.openxmlformats.org/officeDocument/2006/relationships" id="266" r:id="R0d826b6488424fd5"/>
    <p:sldId xmlns:r="http://schemas.openxmlformats.org/officeDocument/2006/relationships" id="267" r:id="Rfc8e5bf8286148ed"/>
    <p:sldId xmlns:r="http://schemas.openxmlformats.org/officeDocument/2006/relationships" id="268" r:id="R96a05db84a744fa3"/>
    <p:sldId xmlns:r="http://schemas.openxmlformats.org/officeDocument/2006/relationships" id="269" r:id="R79d7d5393fd8425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00e57c892424adf" /><Relationship Type="http://schemas.openxmlformats.org/officeDocument/2006/relationships/slideMaster" Target="/ppt/slideMasters/slideMaster1.xml" Id="R0d2f0793f6fb48dc" /><Relationship Type="http://schemas.openxmlformats.org/officeDocument/2006/relationships/notesMaster" Target="/ppt/notesMasters/notesMaster1.xml" Id="R02e7a58d4bec4500" /><Relationship Type="http://schemas.openxmlformats.org/officeDocument/2006/relationships/presProps" Target="/ppt/presProps.xml" Id="R0b2e91e0aa92449a" /><Relationship Type="http://schemas.openxmlformats.org/officeDocument/2006/relationships/tableStyles" Target="/ppt/tableStyles.xml" Id="Re742f24f5e474458" /><Relationship Type="http://schemas.openxmlformats.org/officeDocument/2006/relationships/slide" Target="/ppt/slides/slide1.xml" Id="R7ea2603657ba4d64" /><Relationship Type="http://schemas.openxmlformats.org/officeDocument/2006/relationships/slide" Target="/ppt/slides/slide2.xml" Id="R6793f621b03b4e06" /><Relationship Type="http://schemas.openxmlformats.org/officeDocument/2006/relationships/slide" Target="/ppt/slides/slide3.xml" Id="Rdc783013de954205" /><Relationship Type="http://schemas.openxmlformats.org/officeDocument/2006/relationships/slide" Target="/ppt/slides/slide4.xml" Id="R5644858165ba488d" /><Relationship Type="http://schemas.openxmlformats.org/officeDocument/2006/relationships/slide" Target="/ppt/slides/slide5.xml" Id="R9a074b1886654769" /><Relationship Type="http://schemas.openxmlformats.org/officeDocument/2006/relationships/slide" Target="/ppt/slides/slide6.xml" Id="R07795d86a1684d87" /><Relationship Type="http://schemas.openxmlformats.org/officeDocument/2006/relationships/slide" Target="/ppt/slides/slide7.xml" Id="R13b25febd5f94cbd" /><Relationship Type="http://schemas.openxmlformats.org/officeDocument/2006/relationships/slide" Target="/ppt/slides/slide8.xml" Id="R3d0def0a832c4105" /><Relationship Type="http://schemas.openxmlformats.org/officeDocument/2006/relationships/slide" Target="/ppt/slides/slide9.xml" Id="R65a505c079f14b2b" /><Relationship Type="http://schemas.openxmlformats.org/officeDocument/2006/relationships/slide" Target="/ppt/slides/slide10.xml" Id="R2b4b9ca83b5b45bf" /><Relationship Type="http://schemas.openxmlformats.org/officeDocument/2006/relationships/slide" Target="/ppt/slides/slide11.xml" Id="R0d826b6488424fd5" /><Relationship Type="http://schemas.openxmlformats.org/officeDocument/2006/relationships/slide" Target="/ppt/slides/slide12.xml" Id="Rfc8e5bf8286148ed" /><Relationship Type="http://schemas.openxmlformats.org/officeDocument/2006/relationships/slide" Target="/ppt/slides/slide13.xml" Id="R96a05db84a744fa3" /><Relationship Type="http://schemas.openxmlformats.org/officeDocument/2006/relationships/slide" Target="/ppt/slides/slide14.xml" Id="R79d7d5393fd8425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88cf2b3ca2442d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c19944dd784737" /><Relationship Type="http://schemas.openxmlformats.org/officeDocument/2006/relationships/notesMaster" Target="/ppt/notesMasters/notesMaster1.xml" Id="Ra452024546724ca6"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03723fa8ec4df1" /><Relationship Type="http://schemas.openxmlformats.org/officeDocument/2006/relationships/notesMaster" Target="/ppt/notesMasters/notesMaster1.xml" Id="Rf296f33d4afd4196" /></Relationships>
</file>

<file path=ppt/notesSlides/_rels/notesSlide3.xml.rels>&#65279;<?xml version="1.0" encoding="utf-8"?><Relationships xmlns="http://schemas.openxmlformats.org/package/2006/relationships"><Relationship Type="http://schemas.openxmlformats.org/officeDocument/2006/relationships/slide" Target="/ppt/slides/slide3.xml" Id="R9c232767587c4d98" /><Relationship Type="http://schemas.openxmlformats.org/officeDocument/2006/relationships/notesMaster" Target="/ppt/notesMasters/notesMaster1.xml" Id="Rcb154479c10b462e" /></Relationships>
</file>

<file path=ppt/notesSlides/_rels/notesSlide4.xml.rels>&#65279;<?xml version="1.0" encoding="utf-8"?><Relationships xmlns="http://schemas.openxmlformats.org/package/2006/relationships"><Relationship Type="http://schemas.openxmlformats.org/officeDocument/2006/relationships/slide" Target="/ppt/slides/slide4.xml" Id="R85fc4afa71e1475f" /><Relationship Type="http://schemas.openxmlformats.org/officeDocument/2006/relationships/notesMaster" Target="/ppt/notesMasters/notesMaster1.xml" Id="Rd6db0c97383b4927"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1a8518272f4609" /><Relationship Type="http://schemas.openxmlformats.org/officeDocument/2006/relationships/notesMaster" Target="/ppt/notesMasters/notesMaster1.xml" Id="R3a3ea7d93b4e407c" /></Relationships>
</file>

<file path=ppt/notesSlides/_rels/notesSlide6.xml.rels>&#65279;<?xml version="1.0" encoding="utf-8"?><Relationships xmlns="http://schemas.openxmlformats.org/package/2006/relationships"><Relationship Type="http://schemas.openxmlformats.org/officeDocument/2006/relationships/slide" Target="/ppt/slides/slide6.xml" Id="Rc55a857ba30e4a88" /><Relationship Type="http://schemas.openxmlformats.org/officeDocument/2006/relationships/notesMaster" Target="/ppt/notesMasters/notesMaster1.xml" Id="R034ee9f39c4d45f3" /></Relationships>
</file>

<file path=ppt/notesSlides/_rels/notesSlide7.xml.rels>&#65279;<?xml version="1.0" encoding="utf-8"?><Relationships xmlns="http://schemas.openxmlformats.org/package/2006/relationships"><Relationship Type="http://schemas.openxmlformats.org/officeDocument/2006/relationships/slide" Target="/ppt/slides/slide7.xml" Id="Rf8f5d4e9159f496e" /><Relationship Type="http://schemas.openxmlformats.org/officeDocument/2006/relationships/notesMaster" Target="/ppt/notesMasters/notesMaster1.xml" Id="R4b0c793f9ffe40bc" /></Relationships>
</file>

<file path=ppt/notesSlides/_rels/notesSlide8.xml.rels>&#65279;<?xml version="1.0" encoding="utf-8"?><Relationships xmlns="http://schemas.openxmlformats.org/package/2006/relationships"><Relationship Type="http://schemas.openxmlformats.org/officeDocument/2006/relationships/slide" Target="/ppt/slides/slide8.xml" Id="R2df727ce8e0243f7" /><Relationship Type="http://schemas.openxmlformats.org/officeDocument/2006/relationships/notesMaster" Target="/ppt/notesMasters/notesMaster1.xml" Id="R10cf3348b08b4055" /></Relationships>
</file>

<file path=ppt/notesSlides/_rels/notesSlide9.xml.rels>&#65279;<?xml version="1.0" encoding="utf-8"?><Relationships xmlns="http://schemas.openxmlformats.org/package/2006/relationships"><Relationship Type="http://schemas.openxmlformats.org/officeDocument/2006/relationships/slide" Target="/ppt/slides/slide9.xml" Id="R8e0b5273fc154e31" /><Relationship Type="http://schemas.openxmlformats.org/officeDocument/2006/relationships/notesMaster" Target="/ppt/notesMasters/notesMaster1.xml" Id="Ra4230613aff64e4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9c1e944b8bd4119" /><Relationship Type="http://schemas.openxmlformats.org/officeDocument/2006/relationships/notesMaster" Target="/ppt/notesMasters/notesMaster1.xml" Id="R5983b3eb6d8c48c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1db3dc9ec69406d" /><Relationship Type="http://schemas.openxmlformats.org/officeDocument/2006/relationships/notesMaster" Target="/ppt/notesMasters/notesMaster1.xml" Id="R352372e942ed43a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7a574394ef54886" /><Relationship Type="http://schemas.openxmlformats.org/officeDocument/2006/relationships/notesMaster" Target="/ppt/notesMasters/notesMaster1.xml" Id="Rd23c0f83291e443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cdf3bee81124e01" /><Relationship Type="http://schemas.openxmlformats.org/officeDocument/2006/relationships/notesMaster" Target="/ppt/notesMasters/notesMaster1.xml" Id="Ra03e802065aa4cd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51aec9d17834e00" /><Relationship Type="http://schemas.openxmlformats.org/officeDocument/2006/relationships/notesMaster" Target="/ppt/notesMasters/notesMaster1.xml" Id="Ra8699405ab1c46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Definition sources: Shoham and Leyton-Brown, Multiagent Systems (2009), https://www.masfoundations.org/; IBM multi-agent systems explainer, https://www.ibm.com/think/topics/multiagent-system. Agents may share or differ in information and interests. A fixed sequence of ordinary functions can simulate team coordination but does not establish live autonomous multiagent behavior. The diagram is a conceptual procurement team, not an implemented service. Brand logo: course-owner-supplied UN Volunteers/IYV26 image; preserve the complete lockup.</a:t>
            </a:r>
          </a:p>
          <a:p xmlns:a="http://schemas.openxmlformats.org/drawingml/2006/main">
            <a:r>
              <a:t/>
            </a:r>
          </a:p>
          <a:p xmlns:a="http://schemas.openxmlformats.org/drawingml/2006/main">
            <a:r>
              <a:t>Framework literacy objective is slide/reference only, not another practical. Read ../resources/framework_comparison.md with slides10 and13. AutoGen remains an architectural reference; its official repository now declares it archived. https://github.com/microsoft/autogen#autogen . Microsoft successor: https://learn.microsoft.com/agent-framework/overview . Multiple teams, vendors, or frameworks are not required to meet the MAS definition.</a:t>
            </a:r>
          </a:p>
          <a:p xmlns:a="http://schemas.openxmlformats.org/drawingml/2006/main">
            <a:r>
              <a:t/>
            </a:r>
          </a:p>
          <a:p xmlns:a="http://schemas.openxmlformats.org/drawingml/2006/main">
            <a:r>
              <a:t>Visible reference bullet links: MAS foundations: https://www.masfoundations.org/</a:t>
            </a:r>
          </a:p>
          <a:p xmlns:a="http://schemas.openxmlformats.org/drawingml/2006/main">
            <a:r>
              <a:t>framework comparison: ../resources/framework_comparison.md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Shoham and Leyton-Brown, https://www.masfoundations.org/; IBM, https://www.ibm.com/think/topics/multiagent-system. Lowe et al. (2017), Multi-Agent Actor-Critic for Mixed Cooperative-Competitive Environments, https://arxiv.org/abs/1706.02275 supports cooperative/competitive/mixed goal settings. Shazeer et al. (2017), https://arxiv.org/abs/1701.06538 describes gated neural subnetworks, which differ from autonomous interacting agents. This three-axis taxonomy is a teaching synthesis, not a claim that each label is a mutually exclusive system type.</a:t>
            </a:r>
          </a:p>
          <a:p xmlns:a="http://schemas.openxmlformats.org/drawingml/2006/main">
            <a:r>
              <a:t/>
            </a:r>
          </a:p>
          <a:p xmlns:a="http://schemas.openxmlformats.org/drawingml/2006/main">
            <a:r>
              <a:t>Visible reference bullet links: MAS foundations: https://www.masfoundations.org/</a:t>
            </a:r>
          </a:p>
          <a:p xmlns:a="http://schemas.openxmlformats.org/drawingml/2006/main">
            <a:r>
              <a:t>Lowe et al. (2017): https://arxiv.org/abs/1706.02275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IBM multi-agent systems explainer, https://www.ibm.com/think/topics/multiagent-system. The listed benefits are potential uses and design goals, not guaranteed improvements in speed, accuracy, scalability, or real-time operation. Procurement and HR are classroom simulations with synthetic facts. The software labs use deterministic fixtures and CrewAI configurations. Domain integration requires shared contracts and evidence, not merely adding model calls.</a:t>
            </a:r>
          </a:p>
          <a:p xmlns:a="http://schemas.openxmlformats.org/drawingml/2006/main">
            <a:r>
              <a:t/>
            </a:r>
          </a:p>
          <a:p xmlns:a="http://schemas.openxmlformats.org/drawingml/2006/main">
            <a:r>
              <a:t>Visible reference bullet links: IBM: multiagent systems: https://www.ibm.com/think/topics/multiagent-system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tabletop simulation P-001. See ../assignments/workshop_simulations.md#simulation-1-automating-a-procurement-recommendation. Costs are complete quote totals, not unit prices. Eligibility requires cost&lt;=budget, delivery&lt;=deadline, and approved supplier status. A is the only eligible quote at1200/5. At1000/5 no supplier is eligible; a1000/7 scenario makes B eligible. Do not infer approval from missing registry data. Output is a recommendation, evidence, and human-approval status; no purchase is placed. The conceptual team roles reuse Lab 1 contract, Lab 2 context/roles, Lab 3 gate, and Capstone boundary patterns. No new graded lab or package is required.</a:t>
            </a:r>
          </a:p>
          <a:p xmlns:a="http://schemas.openxmlformats.org/drawingml/2006/main">
            <a:r>
              <a:t/>
            </a:r>
          </a:p>
          <a:p xmlns:a="http://schemas.openxmlformats.org/drawingml/2006/main">
            <a:r>
              <a:t>Visible reference bullet links: Procurement simulation (synthetic): ../assignments/workshop_simulations.md#simulation-1-automating-a-procurement-recommendation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RAG means retrieval-augmented generation: generation conditions on retrieved external information. Primary source: Lewis et al. (2020), https://arxiv.org/abs/2005.11401. See also IBM, https://www.ibm.com/think/topics/retrieval-augmented-generation. This HR use is a synthetic course application, not a result established by the paper. Complete fixtures: ../assignments/workshop_simulations.md#simulation-2-enhancing-an-hr-virtual-assistant-with-rag. Policy IDs and limits are invented teaching facts, not UN Volunteers HR policy. HR-LEARN v1 is superseded; HR-REVIEW is restricted. No real employee data or employment/payroll decision is used. Retrieval and citations do not by themselves prove a truthful or authorized answer.</a:t>
            </a:r>
          </a:p>
          <a:p xmlns:a="http://schemas.openxmlformats.org/drawingml/2006/main">
            <a:r>
              <a:t/>
            </a:r>
          </a:p>
          <a:p xmlns:a="http://schemas.openxmlformats.org/drawingml/2006/main">
            <a:r>
              <a:t>Visible reference bullet links: Lewis et al. (2020): https://arxiv.org/abs/2005.11401</a:t>
            </a:r>
          </a:p>
          <a:p xmlns:a="http://schemas.openxmlformats.org/drawingml/2006/main">
            <a:r>
              <a:t>HR simulation (synthetic): ../assignments/workshop_simulations.md#simulation-2-enhancing-an-hr-virtual-assistant-with-rag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sequence: ../notebooks/00_sandbox_preflight.ipynb, ../notebooks/01_lab_pydantic_contracts.ipynb, ../notebooks/02_lab_crewai_team_handoff.ipynb, ../notebooks/03_lab_tool_gates_bounded_repair.ipynb, ../notebooks/04_capstone_dev_to_security.ipynb. Setup uses python3.12 -m venv .venv; activate; python -m pip install -r requirements-workshop.txt; python -m jupyter lab. First installation needs internet or a prepared package bundle. Required notebook runtime is deterministic. Groq and other live model providers are optional. Procurement/HR discussion adds no extra grades or installs.</a:t>
            </a:r>
          </a:p>
          <a:p xmlns:a="http://schemas.openxmlformats.org/drawingml/2006/main">
            <a:r>
              <a:t/>
            </a:r>
          </a:p>
          <a:p xmlns:a="http://schemas.openxmlformats.org/drawingml/2006/main">
            <a:r>
              <a:t>Vocabulary alignment only: Lab1 Context Engineering: Typed Contracts; Lab2 Code Auditing: Roles and Context; Lab3 Code Validation: Tool Gates and Bounded Repair. No Python exercise, package, or score changes.</a:t>
            </a:r>
          </a:p>
          <a:p xmlns:a="http://schemas.openxmlformats.org/drawingml/2006/main">
            <a:r>
              <a:t/>
            </a:r>
          </a:p>
          <a:p xmlns:a="http://schemas.openxmlformats.org/drawingml/2006/main">
            <a:r>
              <a:t>Visible reference bullet links: Setup guide: ../SETUP.md</a:t>
            </a:r>
          </a:p>
          <a:p xmlns:a="http://schemas.openxmlformats.org/drawingml/2006/main">
            <a:r>
              <a:t>notebook manifest: ../notebooks/notebook_manifest.yml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../notebooks/01_lab_pydantic_contracts.ipynb. Current cell4 is the learner model; cell5 grader checks valid acceptance, score rejection, and forbidden extra fields. Pydantic source: https://docs.pydantic.dev/latest/concepts/fields/ and https://docs.pydantic.dev/latest/concepts/config/. Capstone DevDeliverable separately requires a learner validator rejecting unit_tests_passed=False. The default QA status is simulated; supporting test evidence must be inspected.</a:t>
            </a:r>
          </a:p>
          <a:p xmlns:a="http://schemas.openxmlformats.org/drawingml/2006/main">
            <a:r>
              <a:t/>
            </a:r>
          </a:p>
          <a:p xmlns:a="http://schemas.openxmlformats.org/drawingml/2006/main">
            <a:r>
              <a:t>Context Engineering here covers the typed artifact and its constraints. Lab2 connects those specifications to the task context. Strategic prompt engineering spans precise requirements, roles, context dependencies, and expected outputs. Neither context nor a schema eliminates hallucinations.</a:t>
            </a:r>
          </a:p>
          <a:p xmlns:a="http://schemas.openxmlformats.org/drawingml/2006/main">
            <a:r>
              <a:t/>
            </a:r>
          </a:p>
          <a:p xmlns:a="http://schemas.openxmlformats.org/drawingml/2006/main">
            <a:r>
              <a:t>Visible reference bullet links: Pydantic fields: https://docs.pydantic.dev/latest/concepts/fields/</a:t>
            </a:r>
          </a:p>
          <a:p xmlns:a="http://schemas.openxmlformats.org/drawingml/2006/main">
            <a:r>
              <a:t>Lab 1: ../notebooks/01_lab_pydantic_contracts.ipynb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2 cell4 learner edits: Manager tools=[approve_code_tool] and coder_task.context=[architect_task]; retain delegation. Coder and QA keep their supplied tool lists. ArchitectBrief is a task artifact, not a fourth agent. Cell6 chooses a deterministic response and validates CodePatch; cell8 grader checks Manager tools/delegation and the actual architect_task dependency. The required lab does not run Crew.kickoff or execute QA. Tools are named stubs, not actual file writers/test runners/approvals. Agent tool availability is not an OS sandbox. Task context makes prior output available, not proof a model followed it. API sources: https://docs.crewai.com/en/concepts/agents, https://docs.crewai.com/en/concepts/tasks, https://docs.crewai.com/en/learn/create-custom-tools.</a:t>
            </a:r>
          </a:p>
          <a:p xmlns:a="http://schemas.openxmlformats.org/drawingml/2006/main">
            <a:r>
              <a:t/>
            </a:r>
          </a:p>
          <a:p xmlns:a="http://schemas.openxmlformats.org/drawingml/2006/main">
            <a:r>
              <a:t>Code Auditing here means inspecting role permissions and task context. Theory of Mind provides an information lens: https://aclanthology.org/2023.emnlp-main.13/ . TEAMLOG: https://www.comsis.org/pdf.php?id=244-0912 . The team_log dictionary is a teaching analogy, not TEAMLOG formal logic or proof of a model mental state. ChatDev: https://aclanthology.org/2024.acl-long.810/ . Framework comparisons are reference only.</a:t>
            </a:r>
          </a:p>
          <a:p xmlns:a="http://schemas.openxmlformats.org/drawingml/2006/main">
            <a:r>
              <a:t/>
            </a:r>
          </a:p>
          <a:p xmlns:a="http://schemas.openxmlformats.org/drawingml/2006/main">
            <a:r>
              <a:t>Visible reference bullet links: CrewAI tasks: https://docs.crewai.com/en/concepts/tasks</a:t>
            </a:r>
          </a:p>
          <a:p xmlns:a="http://schemas.openxmlformats.org/drawingml/2006/main">
            <a:r>
              <a:t>Theory of Mind: https://aclanthology.org/2023.emnlp-main.13/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3 cell3 combines SecureToolInput and MAX_RETRIES. The corrected ID validator accepts1–12 digits and forbids extra fields. Validation rejects the SQL-like fixture before dry_run_database_lookup; this is an MCP-style local boundary, not a running MCP service or a complete injection defense. Real SQL requires parameterized queries plus authorization. run_repair_loop uses range(max_retries+1): MAX_RETRIES=3 gives one initial attempt and three retries. At the$0.05 mock-call fixture the always-failing case stops at$0.20 and returns an escalation flag. It does not repair real code, spend money, or contact a person. Source: ../notebooks/03_lab_tool_gates_bounded_repair.ipynb; protocol background https://modelcontextprotocol.io/specification.</a:t>
            </a:r>
          </a:p>
          <a:p xmlns:a="http://schemas.openxmlformats.org/drawingml/2006/main">
            <a:r>
              <a:t/>
            </a:r>
          </a:p>
          <a:p xmlns:a="http://schemas.openxmlformats.org/drawingml/2006/main">
            <a:r>
              <a:t>Code Validation here checks supplied input fixtures and explicit attempt limits. Reflexion https://papers.nips.cc/paper_files/paper/2023/hash/1b44b878bb782e6954cd888628510e90-Abstract-Conference.html informs feedback discussion. TRINITY https://arxiv.org/abs/2512.04695 and Conductor https://arxiv.org/abs/2512.04388 inform coordination/context discussion. Fugu-style means a visible local routing/context policy. This course does not reproduce those trained systems or use a hosted Fugu API.</a:t>
            </a:r>
          </a:p>
          <a:p xmlns:a="http://schemas.openxmlformats.org/drawingml/2006/main">
            <a:r>
              <a:t/>
            </a:r>
          </a:p>
          <a:p xmlns:a="http://schemas.openxmlformats.org/drawingml/2006/main">
            <a:r>
              <a:t>Visible reference bullet links: MCP specification: https://modelcontextprotocol.io/specification</a:t>
            </a:r>
          </a:p>
          <a:p xmlns:a="http://schemas.openxmlformats.org/drawingml/2006/main">
            <a:r>
              <a:t>Reflexion: https://papers.nips.cc/paper_files/paper/2023/hash/1b44b878bb782e6954cd888628510e90-Abstract-Conference.html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Slide10 covers framework literacy. Academic background readings remain in ../resources/curated_resource_library.md and relevant lab-slide notes. Current comparison: ../resources/framework_comparison.md, reviewed17October2026. Primary sources: CrewAI https://docs.crewai.com/en/concepts/tasks and https://docs.crewai.com/en/concepts/processes ; LangGraph https://docs.langchain.com/oss/python/langgraph/overview and https://docs.langchain.com/oss/python/langgraph/graph-api ; AutoGen https://microsoft.github.io/autogen/stable/ plus current archive notice https://github.com/microsoft/autogen#autogen ; LlamaIndex https://developers.llamaindex.ai/python/framework/understanding/agent/ . Microsoft successor: https://learn.microsoft.com/agent-framework/overview . These are teaching heuristics, not exclusive capabilities or performance rankings. TypedDict alone performs no runtime validation; code executors need configured isolation. CrewAI remains the only required agent framework.</a:t>
            </a:r>
          </a:p>
          <a:p xmlns:a="http://schemas.openxmlformats.org/drawingml/2006/main">
            <a:r>
              <a:t/>
            </a:r>
          </a:p>
          <a:p xmlns:a="http://schemas.openxmlformats.org/drawingml/2006/main">
            <a:r>
              <a:t>Visible reference bullet links: Framework comparison and official documentation: ../resources/framework_comparison.md#four-core-frameworks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../notebooks/04_capstone_dev_to_security.ipynb. Learner edits in cells5,7,13: reject unit_tests_passed=False; coordinate_handoff revalidates and logs before Security starts; Security Manager tools=[approve_audit_tool], Pen Tester tools=[mock_pen_test_tool]. Code grader in cell17 gives5+10+5=/20. The default adapters use simulated QA status and a marker scanner, not real pytest/penetration testing. Coder/QA in Capstone have no custom tools, unlike Lab 2. Only optional live cell15 executes Development Crew kickoff, validates typed output, then starts Security Crew through kickoff inputs. No automatic release, deployment, or inter-team repair cycle is implemented.</a:t>
            </a:r>
          </a:p>
          <a:p xmlns:a="http://schemas.openxmlformats.org/drawingml/2006/main">
            <a:r>
              <a:t/>
            </a:r>
          </a:p>
          <a:p xmlns:a="http://schemas.openxmlformats.org/drawingml/2006/main">
            <a:r>
              <a:t>Visible reference bullet links: Capstone brief: ../assignments/ex5_capstone_virtual_software_company.md</a:t>
            </a:r>
          </a:p>
          <a:p xmlns:a="http://schemas.openxmlformats.org/drawingml/2006/main">
            <a:r>
              <a:t>CrewAI tasks: https://docs.crewai.com/en/concepts/tasks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assessment: three lab scores raw/15*20 contribute60; Capstone code20 and ADR20 total100. ADR rubric is6risk/architecture+7controls/evidence+7next step. Use the published Paper ADR fallback when execution is prevented by the environment; sound reasoning meets the pass route, not automatic full marks or fabricated execution evidence. Record the actual command/environment/result of python -m pytest tests/ -v; no fixed historic test count is promised. Saved output/screenshots are supporting evidence, not independent confirmation. ../PLAYBOOK.md#assessment-and-gradebook and ../assignments/ex5_capstone_virtual_software_company.md.</a:t>
            </a:r>
          </a:p>
          <a:p xmlns:a="http://schemas.openxmlformats.org/drawingml/2006/main">
            <a:r>
              <a:t/>
            </a:r>
          </a:p>
          <a:p xmlns:a="http://schemas.openxmlformats.org/drawingml/2006/main">
            <a:r>
              <a:t>Visible reference bullet links: Assessment and submission: ../PLAYBOOK.md#assessment-and-gradebook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Slide13 is the broader ecosystem comparison, with no exercises, homework, installs, or marks. Full audience/fit/control/limitation columns and official links: ../resources/framework_comparison.md . Official sources reviewed17October2026: Microsoft https://learn.microsoft.com/agent-framework/overview ; Google https://adk.dev/agents/ and https://adk.dev/safety/ ; Claude https://code.claude.com/docs/en/agent-sdk/overview and https://code.claude.com/docs/en/agent-sdk/permissions ; MetaGPT https://github.com/FoundationAgents/MetaGPT#software-company-as-multi-agent-system ; PydanticAI https://pydantic.dev/docs/ai/overview/ and https://pydantic.dev/docs/ai/core-concepts/output/ ; n8n https://docs.n8n.io/build/understand-workflows.md ; OpenClaw https://docs.openclaw.ai/concepts/multi-agent and https://docs.openclaw.ai/gateway/sandboxing . These products are different categories: frameworks, SDK/harness, visual automation platform, assistant gateway. Claude allowedTools preapproves tools rather than alone removing unlisted tools. OpenClaw sandboxing is configurable and off by default. Schema validity is not factual truth. A working directory is not a sandbox. Local gateway hosting does not imply local model inference.</a:t>
            </a:r>
          </a:p>
          <a:p xmlns:a="http://schemas.openxmlformats.org/drawingml/2006/main">
            <a:r>
              <a:t/>
            </a:r>
          </a:p>
          <a:p xmlns:a="http://schemas.openxmlformats.org/drawingml/2006/main">
            <a:r>
              <a:t>Visible reference bullet links: Ecosystem comparison and official documentation: ../resources/framework_comparison.md#broader-ecosystem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../README.md to navigate the one main presentation, simulations, three labs, and Capstone. Submission requirements are in ../assignments/ex5_capstone_virtual_software_company.md. Keep procurement/HR demonstration conclusions separate from executed notebook evidence. Required work uses deterministic local fixtures; optional resources add no workshop marks.</a:t>
            </a:r>
          </a:p>
          <a:p xmlns:a="http://schemas.openxmlformats.org/drawingml/2006/main">
            <a:r>
              <a:t/>
            </a:r>
          </a:p>
          <a:p xmlns:a="http://schemas.openxmlformats.org/drawingml/2006/main">
            <a:r>
              <a:t>Visible reference bullet links: Course dashboard: ../README.md</a:t>
            </a:r>
          </a:p>
          <a:p xmlns:a="http://schemas.openxmlformats.org/drawingml/2006/main">
            <a:r>
              <a:t>resource library: ../resources/curated_resource_library.md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f3730b693c4ea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e517e30debd4a4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ee0837c50c3499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19a1e36b1584bf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ea11b1d5f0848b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83f573792e444a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54221FE-9FBC-43EE-9D48-A14BBB5EC6D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D8D8066-818A-4240-88C9-2F374496D67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8461CAC-8D14-4FA1-90BF-5F75B4F2297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4D3091-1197-423A-AA1E-0D9B79499A0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AFEDBB9-9A63-4362-92D4-91F144AFD92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FAABDB7-F6FF-4EB9-9748-AEE2ACE21D9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7983896-247C-4FA8-BAED-7DA9AEF584F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8643FC2-029E-4176-8479-9049418DB28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D90B273-6A95-4C2C-9B0E-C565FF4A967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45638B-05B5-40AE-A9FE-1934D4AEAD6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0cc8cb517934293" /><Relationship Type="http://schemas.openxmlformats.org/officeDocument/2006/relationships/slideLayout" Target="/ppt/slideLayouts/slideLayout1.xml" Id="R7a6ce66f23974360" /><Relationship Type="http://schemas.openxmlformats.org/officeDocument/2006/relationships/slideLayout" Target="/ppt/slideLayouts/slideLayout2.xml" Id="R76acbcafcbc14ca0" /><Relationship Type="http://schemas.openxmlformats.org/officeDocument/2006/relationships/slideLayout" Target="/ppt/slideLayouts/slideLayout3.xml" Id="R0e2126aaa29649ba" /><Relationship Type="http://schemas.openxmlformats.org/officeDocument/2006/relationships/slideLayout" Target="/ppt/slideLayouts/slideLayout4.xml" Id="Rfaadb722527c4740" /><Relationship Type="http://schemas.openxmlformats.org/officeDocument/2006/relationships/slideLayout" Target="/ppt/slideLayouts/slideLayout5.xml" Id="R623ffc11d9c64160" /><Relationship Type="http://schemas.openxmlformats.org/officeDocument/2006/relationships/slideLayout" Target="/ppt/slideLayouts/slideLayout6.xml" Id="R09f616a5a63a449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a6ce66f23974360"/>
    <p:sldLayoutId xmlns:r="http://schemas.openxmlformats.org/officeDocument/2006/relationships" id="2147483650" r:id="R76acbcafcbc14ca0"/>
    <p:sldLayoutId xmlns:r="http://schemas.openxmlformats.org/officeDocument/2006/relationships" id="2147483651" r:id="R0e2126aaa29649ba"/>
    <p:sldLayoutId xmlns:r="http://schemas.openxmlformats.org/officeDocument/2006/relationships" id="2147483652" r:id="Rfaadb722527c4740"/>
    <p:sldLayoutId xmlns:r="http://schemas.openxmlformats.org/officeDocument/2006/relationships" id="2147483653" r:id="R623ffc11d9c64160"/>
    <p:sldLayoutId xmlns:r="http://schemas.openxmlformats.org/officeDocument/2006/relationships" id="2147483654" r:id="R09f616a5a63a449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91cfe0bca8d429a" /><Relationship Type="http://schemas.openxmlformats.org/officeDocument/2006/relationships/image" Target="/ppt/media/image.png" Id="R9bd2d800fe2343ea" /><Relationship Type="http://schemas.openxmlformats.org/officeDocument/2006/relationships/hyperlink" Target="https://www.masfoundations.org/" TargetMode="External" Id="R7b4e7b1feb174ee7" /><Relationship Type="http://schemas.openxmlformats.org/officeDocument/2006/relationships/hyperlink" Target="../resources/framework_comparison.md" TargetMode="External" Id="R7adb65ee2d054e3b" /><Relationship Type="http://schemas.openxmlformats.org/officeDocument/2006/relationships/notesSlide" Target="/ppt/notesSlides/notesSlide1.xml" Id="R903e1df29cd44b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0b30b0e004c4225" /><Relationship Type="http://schemas.openxmlformats.org/officeDocument/2006/relationships/image" Target="/ppt/media/image2.png" Id="R2d2bae1161e04398" /><Relationship Type="http://schemas.openxmlformats.org/officeDocument/2006/relationships/hyperlink" Target="https://www.masfoundations.org/" TargetMode="External" Id="R9abfbd60d86f40e2" /><Relationship Type="http://schemas.openxmlformats.org/officeDocument/2006/relationships/hyperlink" Target="https://arxiv.org/abs/1706.02275" TargetMode="External" Id="R4ebacc0cf1e8487e" /><Relationship Type="http://schemas.openxmlformats.org/officeDocument/2006/relationships/notesSlide" Target="/ppt/notesSlides/notesSlide2.xml" Id="Re8fbfce5fa5146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9bda6b5eec34657" /><Relationship Type="http://schemas.openxmlformats.org/officeDocument/2006/relationships/image" Target="/ppt/media/image3.png" Id="R6519fd3fbfd74329" /><Relationship Type="http://schemas.openxmlformats.org/officeDocument/2006/relationships/hyperlink" Target="https://www.ibm.com/think/topics/multiagent-system" TargetMode="External" Id="R2a0eec7e0a0c4841" /><Relationship Type="http://schemas.openxmlformats.org/officeDocument/2006/relationships/notesSlide" Target="/ppt/notesSlides/notesSlide3.xml" Id="R0306abfb041a4ca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ade15d597484ed3" /><Relationship Type="http://schemas.openxmlformats.org/officeDocument/2006/relationships/image" Target="/ppt/media/image4.png" Id="Rc5c35aa2a8b640a1" /><Relationship Type="http://schemas.openxmlformats.org/officeDocument/2006/relationships/hyperlink" Target="../assignments/workshop_simulations.md#simulation-1-automating-a-procurement-recommendation" TargetMode="External" Id="R1f827c7e222f460a" /><Relationship Type="http://schemas.openxmlformats.org/officeDocument/2006/relationships/notesSlide" Target="/ppt/notesSlides/notesSlide4.xml" Id="R6d9baca4c7e44c9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642b55afa214924" /><Relationship Type="http://schemas.openxmlformats.org/officeDocument/2006/relationships/image" Target="/ppt/media/image5.png" Id="R7a5f529bd0644128" /><Relationship Type="http://schemas.openxmlformats.org/officeDocument/2006/relationships/hyperlink" Target="https://arxiv.org/abs/2005.11401" TargetMode="External" Id="R6018b79072ae4348" /><Relationship Type="http://schemas.openxmlformats.org/officeDocument/2006/relationships/hyperlink" Target="../assignments/workshop_simulations.md#simulation-2-enhancing-an-hr-virtual-assistant-with-rag" TargetMode="External" Id="Rb4e9633bab124c8e" /><Relationship Type="http://schemas.openxmlformats.org/officeDocument/2006/relationships/notesSlide" Target="/ppt/notesSlides/notesSlide5.xml" Id="Rea629734e3d5437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2008eddc7a243ba" /><Relationship Type="http://schemas.openxmlformats.org/officeDocument/2006/relationships/image" Target="/ppt/media/image6.png" Id="R466d97ae156a4e99" /><Relationship Type="http://schemas.openxmlformats.org/officeDocument/2006/relationships/hyperlink" Target="../SETUP.md" TargetMode="External" Id="Rfd00db5eb3d44ccb" /><Relationship Type="http://schemas.openxmlformats.org/officeDocument/2006/relationships/hyperlink" Target="../notebooks/notebook_manifest.yml" TargetMode="External" Id="R95cea04cbe2f4db0" /><Relationship Type="http://schemas.openxmlformats.org/officeDocument/2006/relationships/notesSlide" Target="/ppt/notesSlides/notesSlide6.xml" Id="R9287c1c1dc21431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5d721152af84d60" /><Relationship Type="http://schemas.openxmlformats.org/officeDocument/2006/relationships/image" Target="/ppt/media/image7.png" Id="Rc92ed6cc904447c0" /><Relationship Type="http://schemas.openxmlformats.org/officeDocument/2006/relationships/hyperlink" Target="https://docs.pydantic.dev/latest/concepts/fields/" TargetMode="External" Id="R714b40cef21d4ac3" /><Relationship Type="http://schemas.openxmlformats.org/officeDocument/2006/relationships/hyperlink" Target="../notebooks/01_lab_pydantic_contracts.ipynb" TargetMode="External" Id="Recf3e2840ff249b2" /><Relationship Type="http://schemas.openxmlformats.org/officeDocument/2006/relationships/notesSlide" Target="/ppt/notesSlides/notesSlide7.xml" Id="R9bbc1d3282a949f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e936358dfc3449b" /><Relationship Type="http://schemas.openxmlformats.org/officeDocument/2006/relationships/image" Target="/ppt/media/image8.png" Id="R53ae5031d496437b" /><Relationship Type="http://schemas.openxmlformats.org/officeDocument/2006/relationships/hyperlink" Target="https://docs.crewai.com/en/concepts/tasks" TargetMode="External" Id="Rddcf982451f04faa" /><Relationship Type="http://schemas.openxmlformats.org/officeDocument/2006/relationships/hyperlink" Target="https://aclanthology.org/2023.emnlp-main.13/" TargetMode="External" Id="R7d6341ff9a6e4c7d" /><Relationship Type="http://schemas.openxmlformats.org/officeDocument/2006/relationships/notesSlide" Target="/ppt/notesSlides/notesSlide8.xml" Id="R98e1c7b1c706459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007464fdc0b480b" /><Relationship Type="http://schemas.openxmlformats.org/officeDocument/2006/relationships/image" Target="/ppt/media/image9.png" Id="R86e3579f8a4b45ad" /><Relationship Type="http://schemas.openxmlformats.org/officeDocument/2006/relationships/hyperlink" Target="https://modelcontextprotocol.io/specification" TargetMode="External" Id="Rfee6b22d578e4a18" /><Relationship Type="http://schemas.openxmlformats.org/officeDocument/2006/relationships/hyperlink" Target="https://papers.nips.cc/paper_files/paper/2023/hash/1b44b878bb782e6954cd888628510e90-Abstract-Conference.html" TargetMode="External" Id="Rb6c9e18e75024ddd" /><Relationship Type="http://schemas.openxmlformats.org/officeDocument/2006/relationships/notesSlide" Target="/ppt/notesSlides/notesSlide9.xml" Id="R71d641ec471e41f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5f9e3530df0427f" /><Relationship Type="http://schemas.openxmlformats.org/officeDocument/2006/relationships/image" Target="/ppt/media/image10.png" Id="R061c025c74424662" /><Relationship Type="http://schemas.openxmlformats.org/officeDocument/2006/relationships/hyperlink" Target="../resources/framework_comparison.md#four-core-frameworks" TargetMode="External" Id="R508abb18165c445b" /><Relationship Type="http://schemas.openxmlformats.org/officeDocument/2006/relationships/notesSlide" Target="/ppt/notesSlides/notesSlide10.xml" Id="Ra53a13eb18ce4d5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d4349df70584fbe" /><Relationship Type="http://schemas.openxmlformats.org/officeDocument/2006/relationships/image" Target="/ppt/media/image11.png" Id="R2cb587ca138f4150" /><Relationship Type="http://schemas.openxmlformats.org/officeDocument/2006/relationships/hyperlink" Target="../assignments/ex5_capstone_virtual_software_company.md" TargetMode="External" Id="Rbe28783d451e4c9c" /><Relationship Type="http://schemas.openxmlformats.org/officeDocument/2006/relationships/hyperlink" Target="https://docs.crewai.com/en/concepts/tasks" TargetMode="External" Id="R5f961b5974304410" /><Relationship Type="http://schemas.openxmlformats.org/officeDocument/2006/relationships/notesSlide" Target="/ppt/notesSlides/notesSlide11.xml" Id="R378a9b36be11437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f018e422cb94205" /><Relationship Type="http://schemas.openxmlformats.org/officeDocument/2006/relationships/image" Target="/ppt/media/image12.png" Id="Rb97c421c45ab4f98" /><Relationship Type="http://schemas.openxmlformats.org/officeDocument/2006/relationships/hyperlink" Target="../PLAYBOOK.md#assessment-and-gradebook" TargetMode="External" Id="R01173c3a2b7246d8" /><Relationship Type="http://schemas.openxmlformats.org/officeDocument/2006/relationships/notesSlide" Target="/ppt/notesSlides/notesSlide12.xml" Id="Rbcc02ccc62e249c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b8c1cd6dc0649f2" /><Relationship Type="http://schemas.openxmlformats.org/officeDocument/2006/relationships/image" Target="/ppt/media/image13.png" Id="Rf2230b3e6c0040f8" /><Relationship Type="http://schemas.openxmlformats.org/officeDocument/2006/relationships/hyperlink" Target="../resources/framework_comparison.md" TargetMode="External" Id="Rf563adc53d2b4757" /><Relationship Type="http://schemas.openxmlformats.org/officeDocument/2006/relationships/hyperlink" Target="../resources/framework_comparison.md#broader-ecosystem" TargetMode="External" Id="R465d824dd2484e87" /><Relationship Type="http://schemas.openxmlformats.org/officeDocument/2006/relationships/notesSlide" Target="/ppt/notesSlides/notesSlide13.xml" Id="Ref55c78bef094f7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a509c16f2b34e4b" /><Relationship Type="http://schemas.openxmlformats.org/officeDocument/2006/relationships/image" Target="/ppt/media/image14.png" Id="Rf874a5f6f9f84a96" /><Relationship Type="http://schemas.openxmlformats.org/officeDocument/2006/relationships/hyperlink" Target="../README.md" TargetMode="External" Id="R8c340e28e6c1462c" /><Relationship Type="http://schemas.openxmlformats.org/officeDocument/2006/relationships/hyperlink" Target="../assignments/ex5_capstone_virtual_software_company.md" TargetMode="External" Id="Rf524c9e243bc426f" /><Relationship Type="http://schemas.openxmlformats.org/officeDocument/2006/relationships/hyperlink" Target="../README.md" TargetMode="External" Id="R6782671ad2b34a99" /><Relationship Type="http://schemas.openxmlformats.org/officeDocument/2006/relationships/hyperlink" Target="../resources/curated_resource_library.md" TargetMode="External" Id="Rb4761d58b0284c5f" /><Relationship Type="http://schemas.openxmlformats.org/officeDocument/2006/relationships/notesSlide" Target="/ppt/notesSlides/notesSlide14.xml" Id="R3e29dc336b6d435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61E7A300-30C4-4C1C-95AF-FF8F829622B2}"/>
              </a:ext>
            </a:extLst>
          </p:cNvPr>
          <p:cNvCxnSpPr>
            <a:stCxn xmlns:a="http://schemas.openxmlformats.org/drawingml/2006/main" id="12" idx="3"/>
            <a:endCxn xmlns:a="http://schemas.openxmlformats.org/drawingml/2006/main" id="15" idx="1"/>
          </p:cNvCxnSpPr>
          <p:nvPr/>
        </p:nvCxnSpPr>
        <p:spPr>
          <a:xfrm xmlns:a="http://schemas.openxmlformats.org/drawingml/2006/main">
            <a:off x="7715250" y="4886325"/>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cxnSp>
        <p:nvCxnSpPr>
          <p:cNvPr id="18" name="">
            <a:extLst xmlns:a="http://schemas.openxmlformats.org/drawingml/2006/main">
              <a:ext uri="{FF2B5EF4-FFF2-40B4-BE49-F238E27FC236}">
                <a16:creationId xmlns:a16="http://schemas.microsoft.com/office/drawing/2014/main" id="{0EF085C7-84C2-4F48-9A93-6BFA827B706D}"/>
              </a:ext>
            </a:extLst>
          </p:cNvPr>
          <p:cNvCxnSpPr>
            <a:stCxn xmlns:a="http://schemas.openxmlformats.org/drawingml/2006/main" id="9" idx="3"/>
            <a:endCxn xmlns:a="http://schemas.openxmlformats.org/drawingml/2006/main" id="12" idx="1"/>
          </p:cNvCxnSpPr>
          <p:nvPr/>
        </p:nvCxnSpPr>
        <p:spPr>
          <a:xfrm xmlns:a="http://schemas.openxmlformats.org/drawingml/2006/main">
            <a:off x="3771900" y="4886325"/>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pic>
        <p:nvPicPr>
          <p:cNvPr id="21" name="">
            <a:extLst xmlns:a="http://schemas.openxmlformats.org/drawingml/2006/main">
              <a:ext uri="{FF2B5EF4-FFF2-40B4-BE49-F238E27FC236}">
                <a16:creationId xmlns:a16="http://schemas.microsoft.com/office/drawing/2014/main" id="{F6943EFC-7472-4AB3-9431-AC26E185332C}"/>
              </a:ext>
            </a:extLst>
          </p:cNvPr>
          <p:cNvPicPr>
            <a:picLocks xmlns:a="http://schemas.openxmlformats.org/drawingml/2006/main" noChangeAspect="1"/>
          </p:cNvPicPr>
          <p:nvPr/>
        </p:nvPicPr>
        <p:blipFill>
          <a:blip xmlns:r="http://schemas.openxmlformats.org/officeDocument/2006/relationships" xmlns:a="http://schemas.openxmlformats.org/drawingml/2006/main" r:embed="R9bd2d800fe2343ea"/>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92591B23-6DDD-4EAD-AC23-169203FBDE8D}"/>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DAAAF1D9-238D-4FF0-90AB-28617E4E980C}"/>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8A07FF38-EEEF-451D-97CB-8D51C1E25454}"/>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Introduction to Multiagent Systems</a:t>
            </a:r>
          </a:p>
        </p:txBody>
      </p:sp>
      <p:sp>
        <p:nvSpPr>
          <p:cNvPr id="5" name="footer-course">
            <a:extLst xmlns:a="http://schemas.openxmlformats.org/drawingml/2006/main">
              <a:ext uri="{FF2B5EF4-FFF2-40B4-BE49-F238E27FC236}">
                <a16:creationId xmlns:a16="http://schemas.microsoft.com/office/drawing/2014/main" id="{58D13DB4-C815-42E2-922A-F4C99D6FFD15}"/>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stStyle>
          <a:p xmlns:a="http://schemas.openxmlformats.org/drawingml/2006/main">
            <a:pPr algn="l">
              <a:buNone/>
              <a:defRPr sz="1125" b="0">
                <a:solidFill>
                  <a:srgbClr val="446579"/>
                </a:solidFill>
                <a:latin typeface="Arial"/>
                <a:ea typeface="Arial"/>
                <a:cs typeface="Arial"/>
              </a:defRPr>
            </a:pPr>
            <a:r>
              <a:rPr sz="1125" b="0">
                <a:solidFill>
                  <a:srgbClr val="446579"/>
                </a:solidFill>
                <a:latin typeface="Arial"/>
                <a:ea typeface="Arial"/>
                <a:cs typeface="Arial"/>
              </a:rPr>
              <a:t>Managing Multi-Agent Teams</a:t>
            </a:r>
          </a:p>
        </p:txBody>
      </p:sp>
      <p:sp>
        <p:nvSpPr>
          <p:cNvPr id="6" name="footer-number">
            <a:extLst xmlns:a="http://schemas.openxmlformats.org/drawingml/2006/main">
              <a:ext uri="{FF2B5EF4-FFF2-40B4-BE49-F238E27FC236}">
                <a16:creationId xmlns:a16="http://schemas.microsoft.com/office/drawing/2014/main" id="{01360C82-874C-432A-8D54-0E92B23CD0D4}"/>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01</a:t>
            </a:r>
          </a:p>
        </p:txBody>
      </p:sp>
      <p:sp>
        <p:nvSpPr>
          <p:cNvPr id="7" name="definition">
            <a:extLst xmlns:a="http://schemas.openxmlformats.org/drawingml/2006/main">
              <a:ext uri="{FF2B5EF4-FFF2-40B4-BE49-F238E27FC236}">
                <a16:creationId xmlns:a16="http://schemas.microsoft.com/office/drawing/2014/main" id="{C07BF04F-6E29-4316-B3DA-4D2E348BF00E}"/>
              </a:ext>
            </a:extLst>
          </p:cNvPr>
          <p:cNvSpPr>
            <a:spLocks xmlns:a="http://schemas.openxmlformats.org/drawingml/2006/main" noGrp="1"/>
          </p:cNvSpPr>
          <p:nvPr/>
        </p:nvSpPr>
        <p:spPr>
          <a:xfrm xmlns:a="http://schemas.openxmlformats.org/drawingml/2006/main">
            <a:off x="533400" y="1809750"/>
            <a:ext cx="11125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1">
                <a:solidFill>
                  <a:srgbClr val="123D5A"/>
                </a:solidFill>
                <a:latin typeface="Arial"/>
                <a:ea typeface="Arial"/>
                <a:cs typeface="Arial"/>
              </a:defRPr>
            </a:defPPr>
          </a:lstStyle>
          <a:p xmlns:a="http://schemas.openxmlformats.org/drawingml/2006/main">
            <a:pPr algn="l">
              <a:buNone/>
              <a:defRPr sz="2400" b="1">
                <a:solidFill>
                  <a:srgbClr val="123D5A"/>
                </a:solidFill>
                <a:latin typeface="Arial"/>
                <a:ea typeface="Arial"/>
                <a:cs typeface="Arial"/>
              </a:defRPr>
            </a:pPr>
            <a:r>
              <a:rPr sz="2400" b="1">
                <a:solidFill>
                  <a:srgbClr val="123D5A"/>
                </a:solidFill>
                <a:latin typeface="Arial"/>
                <a:ea typeface="Arial"/>
                <a:cs typeface="Arial"/>
              </a:rPr>
              <a:t>A multiagent system has several agents that make decisions and interact in a shared environment.</a:t>
            </a:r>
          </a:p>
        </p:txBody>
      </p:sp>
      <p:sp>
        <p:nvSpPr>
          <p:cNvPr id="8" name="context">
            <a:extLst xmlns:a="http://schemas.openxmlformats.org/drawingml/2006/main">
              <a:ext uri="{FF2B5EF4-FFF2-40B4-BE49-F238E27FC236}">
                <a16:creationId xmlns:a16="http://schemas.microsoft.com/office/drawing/2014/main" id="{2CB54DB7-2AEF-4174-B201-0DA4BF28C6C2}"/>
              </a:ext>
            </a:extLst>
          </p:cNvPr>
          <p:cNvSpPr>
            <a:spLocks xmlns:a="http://schemas.openxmlformats.org/drawingml/2006/main" noGrp="1"/>
          </p:cNvSpPr>
          <p:nvPr/>
        </p:nvSpPr>
        <p:spPr>
          <a:xfrm xmlns:a="http://schemas.openxmlformats.org/drawingml/2006/main">
            <a:off x="533400" y="28194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83D50"/>
                </a:solidFill>
                <a:latin typeface="Arial"/>
                <a:ea typeface="Arial"/>
                <a:cs typeface="Arial"/>
              </a:defRPr>
            </a:defPPr>
          </a:lstStyle>
          <a:p xmlns:a="http://schemas.openxmlformats.org/drawingml/2006/main">
            <a:pPr algn="l">
              <a:buNone/>
              <a:defRPr sz="1875" b="0">
                <a:solidFill>
                  <a:srgbClr val="183D50"/>
                </a:solidFill>
                <a:latin typeface="Arial"/>
                <a:ea typeface="Arial"/>
                <a:cs typeface="Arial"/>
              </a:defRPr>
            </a:pPr>
            <a:r>
              <a:rPr sz="1875" b="0">
                <a:solidFill>
                  <a:srgbClr val="183D50"/>
                </a:solidFill>
                <a:latin typeface="Arial"/>
                <a:ea typeface="Arial"/>
                <a:cs typeface="Arial"/>
              </a:rPr>
              <a:t>Procurement combines supplier timing, finance, and policy decisions.</a:t>
            </a:r>
          </a:p>
        </p:txBody>
      </p:sp>
      <p:sp>
        <p:nvSpPr>
          <p:cNvPr id="9" name="agent-a">
            <a:extLst xmlns:a="http://schemas.openxmlformats.org/drawingml/2006/main">
              <a:ext uri="{FF2B5EF4-FFF2-40B4-BE49-F238E27FC236}">
                <a16:creationId xmlns:a16="http://schemas.microsoft.com/office/drawing/2014/main" id="{9EA7A387-DD8D-478B-A0BD-AD2980DEA40D}"/>
              </a:ext>
            </a:extLst>
          </p:cNvPr>
          <p:cNvSpPr>
            <a:spLocks xmlns:a="http://schemas.openxmlformats.org/drawingml/2006/main" noGrp="1"/>
          </p:cNvSpPr>
          <p:nvPr/>
        </p:nvSpPr>
        <p:spPr>
          <a:xfrm xmlns:a="http://schemas.openxmlformats.org/drawingml/2006/main">
            <a:off x="533400" y="4352925"/>
            <a:ext cx="3238500" cy="1066800"/>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0" name="agent-a-head">
            <a:extLst xmlns:a="http://schemas.openxmlformats.org/drawingml/2006/main">
              <a:ext uri="{FF2B5EF4-FFF2-40B4-BE49-F238E27FC236}">
                <a16:creationId xmlns:a16="http://schemas.microsoft.com/office/drawing/2014/main" id="{E5F78508-6CD9-42A0-9F19-F0088B962658}"/>
              </a:ext>
            </a:extLst>
          </p:cNvPr>
          <p:cNvSpPr>
            <a:spLocks xmlns:a="http://schemas.openxmlformats.org/drawingml/2006/main" noGrp="1"/>
          </p:cNvSpPr>
          <p:nvPr/>
        </p:nvSpPr>
        <p:spPr>
          <a:xfrm xmlns:a="http://schemas.openxmlformats.org/drawingml/2006/main">
            <a:off x="704850" y="4476750"/>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Buyer agent</a:t>
            </a:r>
          </a:p>
        </p:txBody>
      </p:sp>
      <p:sp>
        <p:nvSpPr>
          <p:cNvPr id="11" name="agent-a-body">
            <a:extLst xmlns:a="http://schemas.openxmlformats.org/drawingml/2006/main">
              <a:ext uri="{FF2B5EF4-FFF2-40B4-BE49-F238E27FC236}">
                <a16:creationId xmlns:a16="http://schemas.microsoft.com/office/drawing/2014/main" id="{B2BE6D47-824D-480A-90F6-69411AEE1F1F}"/>
              </a:ext>
            </a:extLst>
          </p:cNvPr>
          <p:cNvSpPr>
            <a:spLocks xmlns:a="http://schemas.openxmlformats.org/drawingml/2006/main" noGrp="1"/>
          </p:cNvSpPr>
          <p:nvPr/>
        </p:nvSpPr>
        <p:spPr>
          <a:xfrm xmlns:a="http://schemas.openxmlformats.org/drawingml/2006/main">
            <a:off x="704850" y="4848225"/>
            <a:ext cx="2895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Defines the need</a:t>
            </a:r>
          </a:p>
        </p:txBody>
      </p:sp>
      <p:sp>
        <p:nvSpPr>
          <p:cNvPr id="12" name="agent-b">
            <a:extLst xmlns:a="http://schemas.openxmlformats.org/drawingml/2006/main">
              <a:ext uri="{FF2B5EF4-FFF2-40B4-BE49-F238E27FC236}">
                <a16:creationId xmlns:a16="http://schemas.microsoft.com/office/drawing/2014/main" id="{1767EF9E-57AA-483B-B963-241F89F46873}"/>
              </a:ext>
            </a:extLst>
          </p:cNvPr>
          <p:cNvSpPr>
            <a:spLocks xmlns:a="http://schemas.openxmlformats.org/drawingml/2006/main" noGrp="1"/>
          </p:cNvSpPr>
          <p:nvPr/>
        </p:nvSpPr>
        <p:spPr>
          <a:xfrm xmlns:a="http://schemas.openxmlformats.org/drawingml/2006/main">
            <a:off x="4476750" y="4352925"/>
            <a:ext cx="3238500" cy="1066800"/>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3" name="agent-b-head">
            <a:extLst xmlns:a="http://schemas.openxmlformats.org/drawingml/2006/main">
              <a:ext uri="{FF2B5EF4-FFF2-40B4-BE49-F238E27FC236}">
                <a16:creationId xmlns:a16="http://schemas.microsoft.com/office/drawing/2014/main" id="{5FA85C96-D510-4705-A12B-0905D715D3A9}"/>
              </a:ext>
            </a:extLst>
          </p:cNvPr>
          <p:cNvSpPr>
            <a:spLocks xmlns:a="http://schemas.openxmlformats.org/drawingml/2006/main" noGrp="1"/>
          </p:cNvSpPr>
          <p:nvPr/>
        </p:nvSpPr>
        <p:spPr>
          <a:xfrm xmlns:a="http://schemas.openxmlformats.org/drawingml/2006/main">
            <a:off x="4648200" y="4476750"/>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Supplier analyst</a:t>
            </a:r>
          </a:p>
        </p:txBody>
      </p:sp>
      <p:sp>
        <p:nvSpPr>
          <p:cNvPr id="14" name="agent-b-body">
            <a:extLst xmlns:a="http://schemas.openxmlformats.org/drawingml/2006/main">
              <a:ext uri="{FF2B5EF4-FFF2-40B4-BE49-F238E27FC236}">
                <a16:creationId xmlns:a16="http://schemas.microsoft.com/office/drawing/2014/main" id="{D9F3FB74-D109-437C-AEBD-2A28E72D5412}"/>
              </a:ext>
            </a:extLst>
          </p:cNvPr>
          <p:cNvSpPr>
            <a:spLocks xmlns:a="http://schemas.openxmlformats.org/drawingml/2006/main" noGrp="1"/>
          </p:cNvSpPr>
          <p:nvPr/>
        </p:nvSpPr>
        <p:spPr>
          <a:xfrm xmlns:a="http://schemas.openxmlformats.org/drawingml/2006/main">
            <a:off x="4648200" y="4848225"/>
            <a:ext cx="2895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Evaluates options</a:t>
            </a:r>
          </a:p>
        </p:txBody>
      </p:sp>
      <p:sp>
        <p:nvSpPr>
          <p:cNvPr id="15" name="agent-c">
            <a:extLst xmlns:a="http://schemas.openxmlformats.org/drawingml/2006/main">
              <a:ext uri="{FF2B5EF4-FFF2-40B4-BE49-F238E27FC236}">
                <a16:creationId xmlns:a16="http://schemas.microsoft.com/office/drawing/2014/main" id="{354F0B6F-B704-4217-A871-6CF76932BAE8}"/>
              </a:ext>
            </a:extLst>
          </p:cNvPr>
          <p:cNvSpPr>
            <a:spLocks xmlns:a="http://schemas.openxmlformats.org/drawingml/2006/main" noGrp="1"/>
          </p:cNvSpPr>
          <p:nvPr/>
        </p:nvSpPr>
        <p:spPr>
          <a:xfrm xmlns:a="http://schemas.openxmlformats.org/drawingml/2006/main">
            <a:off x="8420100" y="4352925"/>
            <a:ext cx="3238500" cy="1066800"/>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6" name="agent-c-head">
            <a:extLst xmlns:a="http://schemas.openxmlformats.org/drawingml/2006/main">
              <a:ext uri="{FF2B5EF4-FFF2-40B4-BE49-F238E27FC236}">
                <a16:creationId xmlns:a16="http://schemas.microsoft.com/office/drawing/2014/main" id="{448C0171-BF67-44DC-9886-033AAB6A2FBD}"/>
              </a:ext>
            </a:extLst>
          </p:cNvPr>
          <p:cNvSpPr>
            <a:spLocks xmlns:a="http://schemas.openxmlformats.org/drawingml/2006/main" noGrp="1"/>
          </p:cNvSpPr>
          <p:nvPr/>
        </p:nvSpPr>
        <p:spPr>
          <a:xfrm xmlns:a="http://schemas.openxmlformats.org/drawingml/2006/main">
            <a:off x="8591550" y="4476750"/>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Finance reviewer</a:t>
            </a:r>
          </a:p>
        </p:txBody>
      </p:sp>
      <p:sp>
        <p:nvSpPr>
          <p:cNvPr id="17" name="agent-c-body">
            <a:extLst xmlns:a="http://schemas.openxmlformats.org/drawingml/2006/main">
              <a:ext uri="{FF2B5EF4-FFF2-40B4-BE49-F238E27FC236}">
                <a16:creationId xmlns:a16="http://schemas.microsoft.com/office/drawing/2014/main" id="{1FF494A8-54DF-4A89-B46B-7CAF002A2FA1}"/>
              </a:ext>
            </a:extLst>
          </p:cNvPr>
          <p:cNvSpPr>
            <a:spLocks xmlns:a="http://schemas.openxmlformats.org/drawingml/2006/main" noGrp="1"/>
          </p:cNvSpPr>
          <p:nvPr/>
        </p:nvSpPr>
        <p:spPr>
          <a:xfrm xmlns:a="http://schemas.openxmlformats.org/drawingml/2006/main">
            <a:off x="8591550" y="4848225"/>
            <a:ext cx="2895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Checks the budget</a:t>
            </a:r>
          </a:p>
        </p:txBody>
      </p:sp>
      <p:sp>
        <p:nvSpPr>
          <p:cNvPr id="20" name="definition-limit">
            <a:extLst xmlns:a="http://schemas.openxmlformats.org/drawingml/2006/main">
              <a:ext uri="{FF2B5EF4-FFF2-40B4-BE49-F238E27FC236}">
                <a16:creationId xmlns:a16="http://schemas.microsoft.com/office/drawing/2014/main" id="{D0E2948B-1E2B-4FA7-9B8F-9F0B7D579A4E}"/>
              </a:ext>
            </a:extLst>
          </p:cNvPr>
          <p:cNvSpPr>
            <a:spLocks xmlns:a="http://schemas.openxmlformats.org/drawingml/2006/main" noGrp="1"/>
          </p:cNvSpPr>
          <p:nvPr/>
        </p:nvSpPr>
        <p:spPr>
          <a:xfrm xmlns:a="http://schemas.openxmlformats.org/drawingml/2006/main">
            <a:off x="533400" y="5734050"/>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446579"/>
                </a:solidFill>
                <a:latin typeface="Arial"/>
                <a:ea typeface="Arial"/>
                <a:cs typeface="Arial"/>
              </a:defRPr>
            </a:defPPr>
          </a:lstStyle>
          <a:p xmlns:a="http://schemas.openxmlformats.org/drawingml/2006/main">
            <a:pPr algn="l">
              <a:buNone/>
              <a:defRPr sz="1575" b="0">
                <a:solidFill>
                  <a:srgbClr val="446579"/>
                </a:solidFill>
                <a:latin typeface="Arial"/>
                <a:ea typeface="Arial"/>
                <a:cs typeface="Arial"/>
              </a:defRPr>
            </a:pPr>
            <a:r>
              <a:rPr sz="1575" b="0">
                <a:solidFill>
                  <a:srgbClr val="446579"/>
                </a:solidFill>
                <a:latin typeface="Arial"/>
                <a:ea typeface="Arial"/>
                <a:cs typeface="Arial"/>
              </a:rPr>
              <a:t>A coordinated single team can be a MAS. Multiple frameworks are optional.</a:t>
            </a:r>
          </a:p>
        </p:txBody>
      </p:sp>
      <p:sp>
        <p:nvSpPr>
          <p:cNvPr id="22" name="framework-literacy-objective">
            <a:extLst xmlns:a="http://schemas.openxmlformats.org/drawingml/2006/main">
              <a:ext uri="{FF2B5EF4-FFF2-40B4-BE49-F238E27FC236}">
                <a16:creationId xmlns:a16="http://schemas.microsoft.com/office/drawing/2014/main" id="{2C117652-C6BD-4C5B-9A94-8E6170AF0050}"/>
              </a:ext>
            </a:extLst>
          </p:cNvPr>
          <p:cNvSpPr>
            <a:spLocks xmlns:a="http://schemas.openxmlformats.org/drawingml/2006/main" noGrp="1"/>
          </p:cNvSpPr>
          <p:nvPr/>
        </p:nvSpPr>
        <p:spPr>
          <a:xfrm xmlns:a="http://schemas.openxmlformats.org/drawingml/2006/main">
            <a:off x="533400" y="3371850"/>
            <a:ext cx="11125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183D50"/>
                </a:solidFill>
                <a:latin typeface="Arial"/>
                <a:ea typeface="Arial"/>
                <a:cs typeface="Arial"/>
              </a:defRPr>
            </a:defPPr>
          </a:lstStyle>
          <a:p xmlns:a="http://schemas.openxmlformats.org/drawingml/2006/main">
            <a:pPr algn="l">
              <a:defRPr sz="1575" b="0">
                <a:solidFill>
                  <a:srgbClr val="183D50"/>
                </a:solidFill>
                <a:latin typeface="Arial"/>
                <a:ea typeface="Arial"/>
                <a:cs typeface="Arial"/>
              </a:defRPr>
            </a:pPr>
            <a:r>
              <a:rPr sz="1575" b="1">
                <a:solidFill>
                  <a:srgbClr val="007DBA"/>
                </a:solidFill>
                <a:latin typeface="Arial"/>
                <a:ea typeface="Arial"/>
                <a:cs typeface="Arial"/>
              </a:rPr>
              <a:t>Multi-Agent Framework Literacy:</a:t>
            </a:r>
            <a:r>
              <a:rPr sz="1575" b="0">
                <a:solidFill>
                  <a:srgbClr val="183D50"/>
                </a:solidFill>
                <a:latin typeface="Arial"/>
                <a:ea typeface="Arial"/>
                <a:cs typeface="Arial"/>
              </a:rPr>
              <a:t> Understand the trade-offs between CrewAI (role-based hierarchical teams), LangGraph (state-machine workflows), AutoGen (conversational agents), and when to use each pattern for production systems.</a:t>
            </a:r>
          </a:p>
        </p:txBody>
      </p:sp>
      <p:sp>
        <p:nvSpPr>
          <p:cNvPr id="23" name="footer-reference">
            <a:extLst xmlns:a="http://schemas.openxmlformats.org/drawingml/2006/main">
              <a:ext uri="{FF2B5EF4-FFF2-40B4-BE49-F238E27FC236}">
                <a16:creationId xmlns:a16="http://schemas.microsoft.com/office/drawing/2014/main" id="{692C725E-FABA-4778-8AD9-CF18623F77E1}"/>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7b4e7b1feb174ee7"/>
              </a:rPr>
              <a:t>MAS foundations</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7adb65ee2d054e3b"/>
              </a:rPr>
              <a:t>framework comparison</a:t>
            </a:r>
          </a:p>
        </p:txBody>
      </p:sp>
    </p:spTree>
    <p:extLst>
      <p:ext uri="{BB962C8B-B14F-4D97-AF65-F5344CB8AC3E}">
        <p14:creationId xmlns:p14="http://schemas.microsoft.com/office/powerpoint/2010/main" val="28063075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5FA8636C-EFF4-4A4A-81CF-325E3FF4590D}"/>
              </a:ext>
            </a:extLst>
          </p:cNvPr>
          <p:cNvPicPr>
            <a:picLocks xmlns:a="http://schemas.openxmlformats.org/drawingml/2006/main" noChangeAspect="1"/>
          </p:cNvPicPr>
          <p:nvPr/>
        </p:nvPicPr>
        <p:blipFill>
          <a:blip xmlns:r="http://schemas.openxmlformats.org/officeDocument/2006/relationships" xmlns:a="http://schemas.openxmlformats.org/drawingml/2006/main" r:embed="R2d2bae1161e04398"/>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D83DF06C-F18F-41F3-A37D-DCC37431C817}"/>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CE7DF47A-61C9-4AA5-B245-100489DBA2CB}"/>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801E6D91-A608-4CF4-B231-C306B820ED2C}"/>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Types of Multiagent Systems</a:t>
            </a:r>
          </a:p>
        </p:txBody>
      </p:sp>
      <p:sp>
        <p:nvSpPr>
          <p:cNvPr id="5" name="footer-course">
            <a:extLst xmlns:a="http://schemas.openxmlformats.org/drawingml/2006/main">
              <a:ext uri="{FF2B5EF4-FFF2-40B4-BE49-F238E27FC236}">
                <a16:creationId xmlns:a16="http://schemas.microsoft.com/office/drawing/2014/main" id="{52D3B4AB-36C6-48C0-9731-BE7581091487}"/>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stStyle>
          <a:p xmlns:a="http://schemas.openxmlformats.org/drawingml/2006/main">
            <a:pPr algn="l">
              <a:buNone/>
              <a:defRPr sz="1125" b="0">
                <a:solidFill>
                  <a:srgbClr val="446579"/>
                </a:solidFill>
                <a:latin typeface="Arial"/>
                <a:ea typeface="Arial"/>
                <a:cs typeface="Arial"/>
              </a:defRPr>
            </a:pPr>
            <a:r>
              <a:rPr sz="1125" b="0">
                <a:solidFill>
                  <a:srgbClr val="446579"/>
                </a:solidFill>
                <a:latin typeface="Arial"/>
                <a:ea typeface="Arial"/>
                <a:cs typeface="Arial"/>
              </a:rPr>
              <a:t>Managing Multi-Agent Teams</a:t>
            </a:r>
          </a:p>
        </p:txBody>
      </p:sp>
      <p:sp>
        <p:nvSpPr>
          <p:cNvPr id="6" name="footer-number">
            <a:extLst xmlns:a="http://schemas.openxmlformats.org/drawingml/2006/main">
              <a:ext uri="{FF2B5EF4-FFF2-40B4-BE49-F238E27FC236}">
                <a16:creationId xmlns:a16="http://schemas.microsoft.com/office/drawing/2014/main" id="{FBF15B01-E85B-494B-9775-F41B5F7C6A61}"/>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02</a:t>
            </a:r>
          </a:p>
        </p:txBody>
      </p:sp>
      <p:graphicFrame>
        <p:nvGraphicFramePr>
          <p:cNvPr id="7" name="">
            <a:extLst xmlns:a="http://schemas.openxmlformats.org/drawingml/2006/main">
              <a:ext uri="{FF2B5EF4-FFF2-40B4-BE49-F238E27FC236}">
                <a16:creationId xmlns:a16="http://schemas.microsoft.com/office/drawing/2014/main" id="{AF8D7503-D3EC-417B-A901-FFC9D4D6C988}"/>
              </a:ext>
            </a:extLst>
          </p:cNvPr>
          <p:cNvGraphicFramePr/>
          <p:nvPr/>
        </p:nvGraphicFramePr>
        <p:xfrm>
          <a:off xmlns:a="http://schemas.openxmlformats.org/drawingml/2006/main" x="533400" y="2038350"/>
          <a:ext xmlns:a="http://schemas.openxmlformats.org/drawingml/2006/main" cx="11125200" cy="3028950"/>
        </p:xfrm>
        <a:graphic xmlns:a="http://schemas.openxmlformats.org/drawingml/2006/main">
          <a:graphicData uri="http://schemas.openxmlformats.org/drawingml/2006/table">
            <a:tbl>
              <a:tblPr/>
              <a:tblGrid>
                <a:gridCol w="2047875"/>
                <a:gridCol w="3905250"/>
                <a:gridCol w="5172075"/>
              </a:tblGrid>
              <a:tr h="757238">
                <a:tc>
                  <a:txBody>
                    <a:bodyPr lIns="114300" tIns="76200" rIns="114300" bIns="76200">
                      <a:noAutofit/>
                    </a:bodyPr>
                    <a:lstStyle/>
                    <a:p>
                      <a:pPr algn="l">
                        <a:buNone/>
                      </a:pPr>
                      <a:r>
                        <a:rPr sz="1725" b="1">
                          <a:solidFill>
                            <a:srgbClr val="FFFFFF"/>
                          </a:solidFill>
                          <a:latin typeface="Arial"/>
                          <a:ea typeface="Arial"/>
                          <a:cs typeface="Arial"/>
                        </a:rPr>
                        <a:t>Dimension</a:t>
                      </a:r>
                    </a:p>
                  </a:txBody>
                  <a:tcPr marL="91440" marR="91440" marT="45720" marB="45720" anchor="ctr">
                    <a:lnL w="9525">
                      <a:solidFill>
                        <a:srgbClr val="BCDCEB"/>
                      </a:solidFill>
                      <a:prstDash val="solid"/>
                    </a:lnL>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725" b="1">
                          <a:solidFill>
                            <a:srgbClr val="FFFFFF"/>
                          </a:solidFill>
                          <a:latin typeface="Arial"/>
                          <a:ea typeface="Arial"/>
                          <a:cs typeface="Arial"/>
                        </a:rPr>
                        <a:t>Types</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725" b="1">
                          <a:solidFill>
                            <a:srgbClr val="FFFFFF"/>
                          </a:solidFill>
                          <a:latin typeface="Arial"/>
                          <a:ea typeface="Arial"/>
                          <a:cs typeface="Arial"/>
                        </a:rPr>
                        <a:t>Example</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r>
              <a:tr h="757238">
                <a:tc>
                  <a:txBody>
                    <a:bodyPr lIns="114300" tIns="76200" rIns="114300" bIns="76200">
                      <a:noAutofit/>
                    </a:bodyPr>
                    <a:lstStyle/>
                    <a:p>
                      <a:pPr algn="l">
                        <a:buNone/>
                      </a:pPr>
                      <a:r>
                        <a:rPr sz="1725" b="0">
                          <a:solidFill>
                            <a:srgbClr val="183D50"/>
                          </a:solidFill>
                          <a:latin typeface="Arial"/>
                          <a:ea typeface="Arial"/>
                          <a:cs typeface="Arial"/>
                        </a:rPr>
                        <a:t>Goals</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Cooperative, competitive, mixed</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Colleagues collaborate; suppliers may compete.</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757238">
                <a:tc>
                  <a:txBody>
                    <a:bodyPr lIns="114300" tIns="76200" rIns="114300" bIns="76200">
                      <a:noAutofit/>
                    </a:bodyPr>
                    <a:lstStyle/>
                    <a:p>
                      <a:pPr algn="l">
                        <a:buNone/>
                      </a:pPr>
                      <a:r>
                        <a:rPr sz="1725" b="0">
                          <a:solidFill>
                            <a:srgbClr val="183D50"/>
                          </a:solidFill>
                          <a:latin typeface="Arial"/>
                          <a:ea typeface="Arial"/>
                          <a:cs typeface="Arial"/>
                        </a:rPr>
                        <a:t>Coordination</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725" b="0">
                          <a:solidFill>
                            <a:srgbClr val="183D50"/>
                          </a:solidFill>
                          <a:latin typeface="Arial"/>
                          <a:ea typeface="Arial"/>
                          <a:cs typeface="Arial"/>
                        </a:rPr>
                        <a:t>Hierarchical, peer, or hybrid</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725" b="0">
                          <a:solidFill>
                            <a:srgbClr val="183D50"/>
                          </a:solidFill>
                          <a:latin typeface="Arial"/>
                          <a:ea typeface="Arial"/>
                          <a:cs typeface="Arial"/>
                        </a:rPr>
                        <a:t>A manager delegates, or peers coordinate.</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r h="757238">
                <a:tc>
                  <a:txBody>
                    <a:bodyPr lIns="114300" tIns="76200" rIns="114300" bIns="76200">
                      <a:noAutofit/>
                    </a:bodyPr>
                    <a:lstStyle/>
                    <a:p>
                      <a:pPr algn="l">
                        <a:buNone/>
                      </a:pPr>
                      <a:r>
                        <a:rPr sz="1725" b="0">
                          <a:solidFill>
                            <a:srgbClr val="183D50"/>
                          </a:solidFill>
                          <a:latin typeface="Arial"/>
                          <a:ea typeface="Arial"/>
                          <a:cs typeface="Arial"/>
                        </a:rPr>
                        <a:t>Capabilities</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Homogeneous or heterogeneous</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Similar agents, or specialists with different tools.</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bl>
          </a:graphicData>
        </a:graphic>
      </p:graphicFrame>
      <p:sp>
        <p:nvSpPr>
          <p:cNvPr id="8" name="course-type">
            <a:extLst xmlns:a="http://schemas.openxmlformats.org/drawingml/2006/main">
              <a:ext uri="{FF2B5EF4-FFF2-40B4-BE49-F238E27FC236}">
                <a16:creationId xmlns:a16="http://schemas.microsoft.com/office/drawing/2014/main" id="{7D1E2F99-D923-4155-A26F-A905290C8E8E}"/>
              </a:ext>
            </a:extLst>
          </p:cNvPr>
          <p:cNvSpPr>
            <a:spLocks xmlns:a="http://schemas.openxmlformats.org/drawingml/2006/main" noGrp="1"/>
          </p:cNvSpPr>
          <p:nvPr/>
        </p:nvSpPr>
        <p:spPr>
          <a:xfrm xmlns:a="http://schemas.openxmlformats.org/drawingml/2006/main">
            <a:off x="533400" y="539115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23D5A"/>
                </a:solidFill>
                <a:latin typeface="Arial"/>
                <a:ea typeface="Arial"/>
                <a:cs typeface="Arial"/>
              </a:defRPr>
            </a:defPPr>
          </a:lstStyle>
          <a:p xmlns:a="http://schemas.openxmlformats.org/drawingml/2006/main">
            <a:pPr algn="l">
              <a:buNone/>
              <a:defRPr sz="2025" b="1">
                <a:solidFill>
                  <a:srgbClr val="123D5A"/>
                </a:solidFill>
                <a:latin typeface="Arial"/>
                <a:ea typeface="Arial"/>
                <a:cs typeface="Arial"/>
              </a:defRPr>
            </a:pPr>
            <a:r>
              <a:rPr sz="2025" b="1">
                <a:solidFill>
                  <a:srgbClr val="123D5A"/>
                </a:solidFill>
                <a:latin typeface="Arial"/>
                <a:ea typeface="Arial"/>
                <a:cs typeface="Arial"/>
              </a:rPr>
              <a:t>This course models a cooperative, hierarchical team with specialized roles.</a:t>
            </a:r>
          </a:p>
        </p:txBody>
      </p:sp>
      <p:sp>
        <p:nvSpPr>
          <p:cNvPr id="9" name="types-limit">
            <a:extLst xmlns:a="http://schemas.openxmlformats.org/drawingml/2006/main">
              <a:ext uri="{FF2B5EF4-FFF2-40B4-BE49-F238E27FC236}">
                <a16:creationId xmlns:a16="http://schemas.microsoft.com/office/drawing/2014/main" id="{25BB7699-70AC-40F9-A2EE-0E67D9709CC2}"/>
              </a:ext>
            </a:extLst>
          </p:cNvPr>
          <p:cNvSpPr>
            <a:spLocks xmlns:a="http://schemas.openxmlformats.org/drawingml/2006/main" noGrp="1"/>
          </p:cNvSpPr>
          <p:nvPr/>
        </p:nvSpPr>
        <p:spPr>
          <a:xfrm xmlns:a="http://schemas.openxmlformats.org/drawingml/2006/main">
            <a:off x="533400" y="5905500"/>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446579"/>
                </a:solidFill>
                <a:latin typeface="Arial"/>
                <a:ea typeface="Arial"/>
                <a:cs typeface="Arial"/>
              </a:defRPr>
            </a:defPPr>
          </a:lstStyle>
          <a:p xmlns:a="http://schemas.openxmlformats.org/drawingml/2006/main">
            <a:pPr algn="l">
              <a:buNone/>
              <a:defRPr sz="1500" b="0">
                <a:solidFill>
                  <a:srgbClr val="446579"/>
                </a:solidFill>
                <a:latin typeface="Arial"/>
                <a:ea typeface="Arial"/>
                <a:cs typeface="Arial"/>
              </a:defRPr>
            </a:pPr>
            <a:r>
              <a:rPr sz="1500" b="0">
                <a:solidFill>
                  <a:srgbClr val="446579"/>
                </a:solidFill>
                <a:latin typeface="Arial"/>
                <a:ea typeface="Arial"/>
                <a:cs typeface="Arial"/>
              </a:rPr>
              <a:t>These dimensions can overlap. Neural mixture-of-experts layers alone do not form a multiagent system.</a:t>
            </a:r>
          </a:p>
        </p:txBody>
      </p:sp>
      <p:sp>
        <p:nvSpPr>
          <p:cNvPr id="11" name="footer-reference">
            <a:extLst xmlns:a="http://schemas.openxmlformats.org/drawingml/2006/main">
              <a:ext uri="{FF2B5EF4-FFF2-40B4-BE49-F238E27FC236}">
                <a16:creationId xmlns:a16="http://schemas.microsoft.com/office/drawing/2014/main" id="{351546F1-1F55-4DDB-94F3-422DE47DA288}"/>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9abfbd60d86f40e2"/>
              </a:rPr>
              <a:t>MAS foundations</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4ebacc0cf1e8487e"/>
              </a:rPr>
              <a:t>Lowe et al. (2017)</a:t>
            </a:r>
          </a:p>
        </p:txBody>
      </p:sp>
    </p:spTree>
    <p:extLst>
      <p:ext uri="{BB962C8B-B14F-4D97-AF65-F5344CB8AC3E}">
        <p14:creationId xmlns:p14="http://schemas.microsoft.com/office/powerpoint/2010/main" val="12419456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3B6299DD-BD55-4E3A-99BE-900CBB78BD8E}"/>
              </a:ext>
            </a:extLst>
          </p:cNvPr>
          <p:cNvPicPr>
            <a:picLocks xmlns:a="http://schemas.openxmlformats.org/drawingml/2006/main" noChangeAspect="1"/>
          </p:cNvPicPr>
          <p:nvPr/>
        </p:nvPicPr>
        <p:blipFill>
          <a:blip xmlns:r="http://schemas.openxmlformats.org/officeDocument/2006/relationships" xmlns:a="http://schemas.openxmlformats.org/drawingml/2006/main" r:embed="R6519fd3fbfd74329"/>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81FB29FA-4735-436F-81AE-6D25B83A42A7}"/>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0598B6CA-CC27-45F7-8A62-5F91F48AB244}"/>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E4E30248-691F-4A81-8B8F-675936559BE8}"/>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Applications of Multiagent Systems</a:t>
            </a:r>
          </a:p>
        </p:txBody>
      </p:sp>
      <p:sp>
        <p:nvSpPr>
          <p:cNvPr id="5" name="footer-course">
            <a:extLst xmlns:a="http://schemas.openxmlformats.org/drawingml/2006/main">
              <a:ext uri="{FF2B5EF4-FFF2-40B4-BE49-F238E27FC236}">
                <a16:creationId xmlns:a16="http://schemas.microsoft.com/office/drawing/2014/main" id="{B17EC605-83A7-4C8E-9982-1B74AB5F86AC}"/>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stStyle>
          <a:p xmlns:a="http://schemas.openxmlformats.org/drawingml/2006/main">
            <a:pPr algn="l">
              <a:buNone/>
              <a:defRPr sz="1125" b="0">
                <a:solidFill>
                  <a:srgbClr val="446579"/>
                </a:solidFill>
                <a:latin typeface="Arial"/>
                <a:ea typeface="Arial"/>
                <a:cs typeface="Arial"/>
              </a:defRPr>
            </a:pPr>
            <a:r>
              <a:rPr sz="1125" b="0">
                <a:solidFill>
                  <a:srgbClr val="446579"/>
                </a:solidFill>
                <a:latin typeface="Arial"/>
                <a:ea typeface="Arial"/>
                <a:cs typeface="Arial"/>
              </a:rPr>
              <a:t>Managing Multi-Agent Teams</a:t>
            </a:r>
          </a:p>
        </p:txBody>
      </p:sp>
      <p:sp>
        <p:nvSpPr>
          <p:cNvPr id="6" name="footer-number">
            <a:extLst xmlns:a="http://schemas.openxmlformats.org/drawingml/2006/main">
              <a:ext uri="{FF2B5EF4-FFF2-40B4-BE49-F238E27FC236}">
                <a16:creationId xmlns:a16="http://schemas.microsoft.com/office/drawing/2014/main" id="{FFCF7F0B-BFEE-4276-90A9-95BD4F2DB91F}"/>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03</a:t>
            </a:r>
          </a:p>
        </p:txBody>
      </p:sp>
      <p:sp>
        <p:nvSpPr>
          <p:cNvPr id="7" name="application-0">
            <a:extLst xmlns:a="http://schemas.openxmlformats.org/drawingml/2006/main">
              <a:ext uri="{FF2B5EF4-FFF2-40B4-BE49-F238E27FC236}">
                <a16:creationId xmlns:a16="http://schemas.microsoft.com/office/drawing/2014/main" id="{26C1F6B5-AD2D-4106-9515-1C2AC3BB0F7E}"/>
              </a:ext>
            </a:extLst>
          </p:cNvPr>
          <p:cNvSpPr>
            <a:spLocks xmlns:a="http://schemas.openxmlformats.org/drawingml/2006/main" noGrp="1"/>
          </p:cNvSpPr>
          <p:nvPr/>
        </p:nvSpPr>
        <p:spPr>
          <a:xfrm xmlns:a="http://schemas.openxmlformats.org/drawingml/2006/main">
            <a:off x="533400" y="1971675"/>
            <a:ext cx="335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Cross-domain integration</a:t>
            </a:r>
          </a:p>
        </p:txBody>
      </p:sp>
      <p:sp>
        <p:nvSpPr>
          <p:cNvPr id="8" name="application-detail-0">
            <a:extLst xmlns:a="http://schemas.openxmlformats.org/drawingml/2006/main">
              <a:ext uri="{FF2B5EF4-FFF2-40B4-BE49-F238E27FC236}">
                <a16:creationId xmlns:a16="http://schemas.microsoft.com/office/drawing/2014/main" id="{1F95C0D0-1A7B-4370-8A43-1BC7341DCAC7}"/>
              </a:ext>
            </a:extLst>
          </p:cNvPr>
          <p:cNvSpPr>
            <a:spLocks xmlns:a="http://schemas.openxmlformats.org/drawingml/2006/main" noGrp="1"/>
          </p:cNvSpPr>
          <p:nvPr/>
        </p:nvSpPr>
        <p:spPr>
          <a:xfrm xmlns:a="http://schemas.openxmlformats.org/drawingml/2006/main">
            <a:off x="4171950" y="1971675"/>
            <a:ext cx="7486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83D50"/>
                </a:solidFill>
                <a:latin typeface="Arial"/>
                <a:ea typeface="Arial"/>
                <a:cs typeface="Arial"/>
              </a:defRPr>
            </a:defPPr>
          </a:lstStyle>
          <a:p xmlns:a="http://schemas.openxmlformats.org/drawingml/2006/main">
            <a:pPr algn="l">
              <a:buNone/>
              <a:defRPr sz="1875" b="0">
                <a:solidFill>
                  <a:srgbClr val="183D50"/>
                </a:solidFill>
                <a:latin typeface="Arial"/>
                <a:ea typeface="Arial"/>
                <a:cs typeface="Arial"/>
              </a:defRPr>
            </a:pPr>
            <a:r>
              <a:rPr sz="1875" b="0">
                <a:solidFill>
                  <a:srgbClr val="183D50"/>
                </a:solidFill>
                <a:latin typeface="Arial"/>
                <a:ea typeface="Arial"/>
                <a:cs typeface="Arial"/>
              </a:rPr>
              <a:t>Procurement combines supplier, delivery, finance, and policy evidence.</a:t>
            </a:r>
          </a:p>
        </p:txBody>
      </p:sp>
      <p:sp>
        <p:nvSpPr>
          <p:cNvPr id="9" name="application-1">
            <a:extLst xmlns:a="http://schemas.openxmlformats.org/drawingml/2006/main">
              <a:ext uri="{FF2B5EF4-FFF2-40B4-BE49-F238E27FC236}">
                <a16:creationId xmlns:a16="http://schemas.microsoft.com/office/drawing/2014/main" id="{B5297C4E-8CBD-450B-9C20-9EF0DFF1E7E3}"/>
              </a:ext>
            </a:extLst>
          </p:cNvPr>
          <p:cNvSpPr>
            <a:spLocks xmlns:a="http://schemas.openxmlformats.org/drawingml/2006/main" noGrp="1"/>
          </p:cNvSpPr>
          <p:nvPr/>
        </p:nvSpPr>
        <p:spPr>
          <a:xfrm xmlns:a="http://schemas.openxmlformats.org/drawingml/2006/main">
            <a:off x="533400" y="2752725"/>
            <a:ext cx="335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Repetitive task automation</a:t>
            </a:r>
          </a:p>
        </p:txBody>
      </p:sp>
      <p:sp>
        <p:nvSpPr>
          <p:cNvPr id="10" name="application-detail-1">
            <a:extLst xmlns:a="http://schemas.openxmlformats.org/drawingml/2006/main">
              <a:ext uri="{FF2B5EF4-FFF2-40B4-BE49-F238E27FC236}">
                <a16:creationId xmlns:a16="http://schemas.microsoft.com/office/drawing/2014/main" id="{9085F0D6-2477-4F40-A6EC-91D5A2D1BB66}"/>
              </a:ext>
            </a:extLst>
          </p:cNvPr>
          <p:cNvSpPr>
            <a:spLocks xmlns:a="http://schemas.openxmlformats.org/drawingml/2006/main" noGrp="1"/>
          </p:cNvSpPr>
          <p:nvPr/>
        </p:nvSpPr>
        <p:spPr>
          <a:xfrm xmlns:a="http://schemas.openxmlformats.org/drawingml/2006/main">
            <a:off x="4171950" y="2752725"/>
            <a:ext cx="7486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83D50"/>
                </a:solidFill>
                <a:latin typeface="Arial"/>
                <a:ea typeface="Arial"/>
                <a:cs typeface="Arial"/>
              </a:defRPr>
            </a:defPPr>
          </a:lstStyle>
          <a:p xmlns:a="http://schemas.openxmlformats.org/drawingml/2006/main">
            <a:pPr algn="l">
              <a:buNone/>
              <a:defRPr sz="1875" b="0">
                <a:solidFill>
                  <a:srgbClr val="183D50"/>
                </a:solidFill>
                <a:latin typeface="Arial"/>
                <a:ea typeface="Arial"/>
                <a:cs typeface="Arial"/>
              </a:defRPr>
            </a:pPr>
            <a:r>
              <a:rPr sz="1875" b="0">
                <a:solidFill>
                  <a:srgbClr val="183D50"/>
                </a:solidFill>
                <a:latin typeface="Arial"/>
                <a:ea typeface="Arial"/>
                <a:cs typeface="Arial"/>
              </a:rPr>
              <a:t>An HR assistant retrieves an approved policy and drafts a cited answer.</a:t>
            </a:r>
          </a:p>
        </p:txBody>
      </p:sp>
      <p:sp>
        <p:nvSpPr>
          <p:cNvPr id="11" name="application-2">
            <a:extLst xmlns:a="http://schemas.openxmlformats.org/drawingml/2006/main">
              <a:ext uri="{FF2B5EF4-FFF2-40B4-BE49-F238E27FC236}">
                <a16:creationId xmlns:a16="http://schemas.microsoft.com/office/drawing/2014/main" id="{7D4E7A47-DDE4-4220-878E-2C5CEA39ABCB}"/>
              </a:ext>
            </a:extLst>
          </p:cNvPr>
          <p:cNvSpPr>
            <a:spLocks xmlns:a="http://schemas.openxmlformats.org/drawingml/2006/main" noGrp="1"/>
          </p:cNvSpPr>
          <p:nvPr/>
        </p:nvSpPr>
        <p:spPr>
          <a:xfrm xmlns:a="http://schemas.openxmlformats.org/drawingml/2006/main">
            <a:off x="533400" y="3533775"/>
            <a:ext cx="335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Decision support</a:t>
            </a:r>
          </a:p>
        </p:txBody>
      </p:sp>
      <p:sp>
        <p:nvSpPr>
          <p:cNvPr id="12" name="application-detail-2">
            <a:extLst xmlns:a="http://schemas.openxmlformats.org/drawingml/2006/main">
              <a:ext uri="{FF2B5EF4-FFF2-40B4-BE49-F238E27FC236}">
                <a16:creationId xmlns:a16="http://schemas.microsoft.com/office/drawing/2014/main" id="{F357A61C-6ED4-4E13-9861-0857CA37C823}"/>
              </a:ext>
            </a:extLst>
          </p:cNvPr>
          <p:cNvSpPr>
            <a:spLocks xmlns:a="http://schemas.openxmlformats.org/drawingml/2006/main" noGrp="1"/>
          </p:cNvSpPr>
          <p:nvPr/>
        </p:nvSpPr>
        <p:spPr>
          <a:xfrm xmlns:a="http://schemas.openxmlformats.org/drawingml/2006/main">
            <a:off x="4171950" y="3533775"/>
            <a:ext cx="7486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83D50"/>
                </a:solidFill>
                <a:latin typeface="Arial"/>
                <a:ea typeface="Arial"/>
                <a:cs typeface="Arial"/>
              </a:defRPr>
            </a:defPPr>
          </a:lstStyle>
          <a:p xmlns:a="http://schemas.openxmlformats.org/drawingml/2006/main">
            <a:pPr algn="l">
              <a:buNone/>
              <a:defRPr sz="1875" b="0">
                <a:solidFill>
                  <a:srgbClr val="183D50"/>
                </a:solidFill>
                <a:latin typeface="Arial"/>
                <a:ea typeface="Arial"/>
                <a:cs typeface="Arial"/>
              </a:defRPr>
            </a:pPr>
            <a:r>
              <a:rPr sz="1875" b="0">
                <a:solidFill>
                  <a:srgbClr val="183D50"/>
                </a:solidFill>
                <a:latin typeface="Arial"/>
                <a:ea typeface="Arial"/>
                <a:cs typeface="Arial"/>
              </a:rPr>
              <a:t>A software team proposes a patch and returns separate QA evidence.</a:t>
            </a:r>
          </a:p>
        </p:txBody>
      </p:sp>
      <p:sp>
        <p:nvSpPr>
          <p:cNvPr id="13" name="application-3">
            <a:extLst xmlns:a="http://schemas.openxmlformats.org/drawingml/2006/main">
              <a:ext uri="{FF2B5EF4-FFF2-40B4-BE49-F238E27FC236}">
                <a16:creationId xmlns:a16="http://schemas.microsoft.com/office/drawing/2014/main" id="{E7355B5D-581D-49A0-82FD-83CEDD9D435F}"/>
              </a:ext>
            </a:extLst>
          </p:cNvPr>
          <p:cNvSpPr>
            <a:spLocks xmlns:a="http://schemas.openxmlformats.org/drawingml/2006/main" noGrp="1"/>
          </p:cNvSpPr>
          <p:nvPr/>
        </p:nvSpPr>
        <p:spPr>
          <a:xfrm xmlns:a="http://schemas.openxmlformats.org/drawingml/2006/main">
            <a:off x="533400" y="4314825"/>
            <a:ext cx="335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Dynamic problem solving</a:t>
            </a:r>
          </a:p>
        </p:txBody>
      </p:sp>
      <p:sp>
        <p:nvSpPr>
          <p:cNvPr id="14" name="application-detail-3">
            <a:extLst xmlns:a="http://schemas.openxmlformats.org/drawingml/2006/main">
              <a:ext uri="{FF2B5EF4-FFF2-40B4-BE49-F238E27FC236}">
                <a16:creationId xmlns:a16="http://schemas.microsoft.com/office/drawing/2014/main" id="{DDB8CA63-CD49-4494-BA82-9A4BA23D84B7}"/>
              </a:ext>
            </a:extLst>
          </p:cNvPr>
          <p:cNvSpPr>
            <a:spLocks xmlns:a="http://schemas.openxmlformats.org/drawingml/2006/main" noGrp="1"/>
          </p:cNvSpPr>
          <p:nvPr/>
        </p:nvSpPr>
        <p:spPr>
          <a:xfrm xmlns:a="http://schemas.openxmlformats.org/drawingml/2006/main">
            <a:off x="4171950" y="4314825"/>
            <a:ext cx="7486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83D50"/>
                </a:solidFill>
                <a:latin typeface="Arial"/>
                <a:ea typeface="Arial"/>
                <a:cs typeface="Arial"/>
              </a:defRPr>
            </a:defPPr>
          </a:lstStyle>
          <a:p xmlns:a="http://schemas.openxmlformats.org/drawingml/2006/main">
            <a:pPr algn="l">
              <a:buNone/>
              <a:defRPr sz="1875" b="0">
                <a:solidFill>
                  <a:srgbClr val="183D50"/>
                </a:solidFill>
                <a:latin typeface="Arial"/>
                <a:ea typeface="Arial"/>
                <a:cs typeface="Arial"/>
              </a:defRPr>
            </a:pPr>
            <a:r>
              <a:rPr sz="1875" b="0">
                <a:solidFill>
                  <a:srgbClr val="183D50"/>
                </a:solidFill>
                <a:latin typeface="Arial"/>
                <a:ea typeface="Arial"/>
                <a:cs typeface="Arial"/>
              </a:rPr>
              <a:t>A changed deadline triggers a revised recommendation or escalation.</a:t>
            </a:r>
          </a:p>
        </p:txBody>
      </p:sp>
      <p:sp>
        <p:nvSpPr>
          <p:cNvPr id="15" name="risks-label">
            <a:extLst xmlns:a="http://schemas.openxmlformats.org/drawingml/2006/main">
              <a:ext uri="{FF2B5EF4-FFF2-40B4-BE49-F238E27FC236}">
                <a16:creationId xmlns:a16="http://schemas.microsoft.com/office/drawing/2014/main" id="{FB78D447-FCEF-45D7-8063-BE90E0B0F28C}"/>
              </a:ext>
            </a:extLst>
          </p:cNvPr>
          <p:cNvSpPr>
            <a:spLocks xmlns:a="http://schemas.openxmlformats.org/drawingml/2006/main" noGrp="1"/>
          </p:cNvSpPr>
          <p:nvPr/>
        </p:nvSpPr>
        <p:spPr>
          <a:xfrm xmlns:a="http://schemas.openxmlformats.org/drawingml/2006/main">
            <a:off x="533400" y="5314950"/>
            <a:ext cx="11125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D5077D"/>
                </a:solidFill>
                <a:latin typeface="Arial"/>
                <a:ea typeface="Arial"/>
                <a:cs typeface="Arial"/>
              </a:defRPr>
            </a:defPPr>
          </a:lstStyle>
          <a:p xmlns:a="http://schemas.openxmlformats.org/drawingml/2006/main">
            <a:pPr algn="l">
              <a:buNone/>
              <a:defRPr sz="2025" b="1">
                <a:solidFill>
                  <a:srgbClr val="D5077D"/>
                </a:solidFill>
                <a:latin typeface="Arial"/>
                <a:ea typeface="Arial"/>
                <a:cs typeface="Arial"/>
              </a:defRPr>
            </a:pPr>
            <a:r>
              <a:rPr sz="2025" b="1">
                <a:solidFill>
                  <a:srgbClr val="D5077D"/>
                </a:solidFill>
                <a:latin typeface="Arial"/>
                <a:ea typeface="Arial"/>
                <a:cs typeface="Arial"/>
              </a:rPr>
              <a:t>Coordination adds risk</a:t>
            </a:r>
          </a:p>
        </p:txBody>
      </p:sp>
      <p:sp>
        <p:nvSpPr>
          <p:cNvPr id="16" name="risks">
            <a:extLst xmlns:a="http://schemas.openxmlformats.org/drawingml/2006/main">
              <a:ext uri="{FF2B5EF4-FFF2-40B4-BE49-F238E27FC236}">
                <a16:creationId xmlns:a16="http://schemas.microsoft.com/office/drawing/2014/main" id="{E6E0C901-5ABB-4EBE-88CE-9A0864D54A66}"/>
              </a:ext>
            </a:extLst>
          </p:cNvPr>
          <p:cNvSpPr>
            <a:spLocks xmlns:a="http://schemas.openxmlformats.org/drawingml/2006/main" noGrp="1"/>
          </p:cNvSpPr>
          <p:nvPr/>
        </p:nvSpPr>
        <p:spPr>
          <a:xfrm xmlns:a="http://schemas.openxmlformats.org/drawingml/2006/main">
            <a:off x="533400" y="5762625"/>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183D50"/>
                </a:solidFill>
                <a:latin typeface="Arial"/>
                <a:ea typeface="Arial"/>
                <a:cs typeface="Arial"/>
              </a:defRPr>
            </a:defPPr>
          </a:lstStyle>
          <a:p xmlns:a="http://schemas.openxmlformats.org/drawingml/2006/main">
            <a:pPr algn="l">
              <a:buNone/>
              <a:defRPr sz="1800" b="0">
                <a:solidFill>
                  <a:srgbClr val="183D50"/>
                </a:solidFill>
                <a:latin typeface="Arial"/>
                <a:ea typeface="Arial"/>
                <a:cs typeface="Arial"/>
              </a:defRPr>
            </a:pPr>
            <a:r>
              <a:rPr sz="1800" b="0">
                <a:solidFill>
                  <a:srgbClr val="183D50"/>
                </a:solidFill>
                <a:latin typeface="Arial"/>
                <a:ea typeface="Arial"/>
                <a:cs typeface="Arial"/>
              </a:rPr>
              <a:t>Agent malfunction, coordination breakdown, and unpredictable behavior require explicit checks.</a:t>
            </a:r>
          </a:p>
        </p:txBody>
      </p:sp>
      <p:sp>
        <p:nvSpPr>
          <p:cNvPr id="18" name="footer-reference">
            <a:extLst xmlns:a="http://schemas.openxmlformats.org/drawingml/2006/main">
              <a:ext uri="{FF2B5EF4-FFF2-40B4-BE49-F238E27FC236}">
                <a16:creationId xmlns:a16="http://schemas.microsoft.com/office/drawing/2014/main" id="{53CB5C74-63E6-4D81-A98E-D739832B6BA2}"/>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2a0eec7e0a0c4841"/>
              </a:rPr>
              <a:t>IBM: multiagent systems</a:t>
            </a:r>
          </a:p>
        </p:txBody>
      </p:sp>
    </p:spTree>
    <p:extLst>
      <p:ext uri="{BB962C8B-B14F-4D97-AF65-F5344CB8AC3E}">
        <p14:creationId xmlns:p14="http://schemas.microsoft.com/office/powerpoint/2010/main" val="18283432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A9C24F18-98F0-4478-BC3A-6A78FC6567EA}"/>
              </a:ext>
            </a:extLst>
          </p:cNvPr>
          <p:cNvPicPr>
            <a:picLocks xmlns:a="http://schemas.openxmlformats.org/drawingml/2006/main" noChangeAspect="1"/>
          </p:cNvPicPr>
          <p:nvPr/>
        </p:nvPicPr>
        <p:blipFill>
          <a:blip xmlns:r="http://schemas.openxmlformats.org/officeDocument/2006/relationships" xmlns:a="http://schemas.openxmlformats.org/drawingml/2006/main" r:embed="Rc5c35aa2a8b640a1"/>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D59D19E0-C0C5-49FA-953E-82BF51D43AAB}"/>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D85E0588-92C0-4D9D-8295-6053F4CBB65C}"/>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0CE0B707-01F6-4C26-A39C-3749EA9C4751}"/>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Simulation: Automating Procurement</a:t>
            </a:r>
          </a:p>
        </p:txBody>
      </p:sp>
      <p:sp>
        <p:nvSpPr>
          <p:cNvPr id="5" name="footer-course">
            <a:extLst xmlns:a="http://schemas.openxmlformats.org/drawingml/2006/main">
              <a:ext uri="{FF2B5EF4-FFF2-40B4-BE49-F238E27FC236}">
                <a16:creationId xmlns:a16="http://schemas.microsoft.com/office/drawing/2014/main" id="{8DFCA0B7-2A9B-4640-BAFD-92BDC43EB925}"/>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stStyle>
          <a:p xmlns:a="http://schemas.openxmlformats.org/drawingml/2006/main">
            <a:pPr algn="l">
              <a:buNone/>
              <a:defRPr sz="1125" b="0">
                <a:solidFill>
                  <a:srgbClr val="446579"/>
                </a:solidFill>
                <a:latin typeface="Arial"/>
                <a:ea typeface="Arial"/>
                <a:cs typeface="Arial"/>
              </a:defRPr>
            </a:pPr>
            <a:r>
              <a:rPr sz="1125" b="0">
                <a:solidFill>
                  <a:srgbClr val="446579"/>
                </a:solidFill>
                <a:latin typeface="Arial"/>
                <a:ea typeface="Arial"/>
                <a:cs typeface="Arial"/>
              </a:rPr>
              <a:t>Managing Multi-Agent Teams</a:t>
            </a:r>
          </a:p>
        </p:txBody>
      </p:sp>
      <p:sp>
        <p:nvSpPr>
          <p:cNvPr id="6" name="footer-number">
            <a:extLst xmlns:a="http://schemas.openxmlformats.org/drawingml/2006/main">
              <a:ext uri="{FF2B5EF4-FFF2-40B4-BE49-F238E27FC236}">
                <a16:creationId xmlns:a16="http://schemas.microsoft.com/office/drawing/2014/main" id="{02189AB4-EFF9-4BBB-9B07-45635DDFDB65}"/>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04</a:t>
            </a:r>
          </a:p>
        </p:txBody>
      </p:sp>
      <p:sp>
        <p:nvSpPr>
          <p:cNvPr id="7" name="procurement-request">
            <a:extLst xmlns:a="http://schemas.openxmlformats.org/drawingml/2006/main">
              <a:ext uri="{FF2B5EF4-FFF2-40B4-BE49-F238E27FC236}">
                <a16:creationId xmlns:a16="http://schemas.microsoft.com/office/drawing/2014/main" id="{93FD26A0-CDE1-4193-9165-3B5F69794512}"/>
              </a:ext>
            </a:extLst>
          </p:cNvPr>
          <p:cNvSpPr>
            <a:spLocks xmlns:a="http://schemas.openxmlformats.org/drawingml/2006/main" noGrp="1"/>
          </p:cNvSpPr>
          <p:nvPr/>
        </p:nvSpPr>
        <p:spPr>
          <a:xfrm xmlns:a="http://schemas.openxmlformats.org/drawingml/2006/main">
            <a:off x="533400" y="1866900"/>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23D5A"/>
                </a:solidFill>
                <a:latin typeface="Arial"/>
                <a:ea typeface="Arial"/>
                <a:cs typeface="Arial"/>
              </a:defRPr>
            </a:defPPr>
          </a:lstStyle>
          <a:p xmlns:a="http://schemas.openxmlformats.org/drawingml/2006/main">
            <a:pPr algn="l">
              <a:buNone/>
              <a:defRPr sz="2025" b="1">
                <a:solidFill>
                  <a:srgbClr val="123D5A"/>
                </a:solidFill>
                <a:latin typeface="Arial"/>
                <a:ea typeface="Arial"/>
                <a:cs typeface="Arial"/>
              </a:defRPr>
            </a:pPr>
            <a:r>
              <a:rPr sz="2025" b="1">
                <a:solidFill>
                  <a:srgbClr val="123D5A"/>
                </a:solidFill>
                <a:latin typeface="Arial"/>
                <a:ea typeface="Arial"/>
                <a:cs typeface="Arial"/>
              </a:rPr>
              <a:t>Request: 20 kits, total budget $1,200, delivery within 5 days, approved suppliers only.</a:t>
            </a:r>
          </a:p>
        </p:txBody>
      </p:sp>
      <p:graphicFrame>
        <p:nvGraphicFramePr>
          <p:cNvPr id="8" name="">
            <a:extLst xmlns:a="http://schemas.openxmlformats.org/drawingml/2006/main">
              <a:ext uri="{FF2B5EF4-FFF2-40B4-BE49-F238E27FC236}">
                <a16:creationId xmlns:a16="http://schemas.microsoft.com/office/drawing/2014/main" id="{60679014-B3B3-45F2-B3ED-4592C3DEF867}"/>
              </a:ext>
            </a:extLst>
          </p:cNvPr>
          <p:cNvGraphicFramePr/>
          <p:nvPr/>
        </p:nvGraphicFramePr>
        <p:xfrm>
          <a:off xmlns:a="http://schemas.openxmlformats.org/drawingml/2006/main" x="533400" y="2600325"/>
          <a:ext xmlns:a="http://schemas.openxmlformats.org/drawingml/2006/main" cx="11125200" cy="2295525"/>
        </p:xfrm>
        <a:graphic xmlns:a="http://schemas.openxmlformats.org/drawingml/2006/main">
          <a:graphicData uri="http://schemas.openxmlformats.org/drawingml/2006/table">
            <a:tbl>
              <a:tblPr/>
              <a:tblGrid>
                <a:gridCol w="1524000"/>
                <a:gridCol w="2047875"/>
                <a:gridCol w="2047875"/>
                <a:gridCol w="2143125"/>
                <a:gridCol w="3362325"/>
              </a:tblGrid>
              <a:tr h="573881">
                <a:tc>
                  <a:txBody>
                    <a:bodyPr lIns="114300" tIns="76200" rIns="114300" bIns="76200">
                      <a:noAutofit/>
                    </a:bodyPr>
                    <a:lstStyle/>
                    <a:p>
                      <a:pPr algn="l">
                        <a:buNone/>
                      </a:pPr>
                      <a:r>
                        <a:rPr sz="1725" b="1">
                          <a:solidFill>
                            <a:srgbClr val="FFFFFF"/>
                          </a:solidFill>
                          <a:latin typeface="Arial"/>
                          <a:ea typeface="Arial"/>
                          <a:cs typeface="Arial"/>
                        </a:rPr>
                        <a:t>Supplier</a:t>
                      </a:r>
                    </a:p>
                  </a:txBody>
                  <a:tcPr marL="91440" marR="91440" marT="45720" marB="45720" anchor="ctr">
                    <a:lnL w="9525">
                      <a:solidFill>
                        <a:srgbClr val="BCDCEB"/>
                      </a:solidFill>
                      <a:prstDash val="solid"/>
                    </a:lnL>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725" b="1">
                          <a:solidFill>
                            <a:srgbClr val="FFFFFF"/>
                          </a:solidFill>
                          <a:latin typeface="Arial"/>
                          <a:ea typeface="Arial"/>
                          <a:cs typeface="Arial"/>
                        </a:rPr>
                        <a:t>Total cost</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725" b="1">
                          <a:solidFill>
                            <a:srgbClr val="FFFFFF"/>
                          </a:solidFill>
                          <a:latin typeface="Arial"/>
                          <a:ea typeface="Arial"/>
                          <a:cs typeface="Arial"/>
                        </a:rPr>
                        <a:t>Delivery</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725" b="1">
                          <a:solidFill>
                            <a:srgbClr val="FFFFFF"/>
                          </a:solidFill>
                          <a:latin typeface="Arial"/>
                          <a:ea typeface="Arial"/>
                          <a:cs typeface="Arial"/>
                        </a:rPr>
                        <a:t>Approved?</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725" b="1">
                          <a:solidFill>
                            <a:srgbClr val="FFFFFF"/>
                          </a:solidFill>
                          <a:latin typeface="Arial"/>
                          <a:ea typeface="Arial"/>
                          <a:cs typeface="Arial"/>
                        </a:rPr>
                        <a:t>Decision</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r>
              <a:tr h="573881">
                <a:tc>
                  <a:txBody>
                    <a:bodyPr lIns="114300" tIns="76200" rIns="114300" bIns="76200">
                      <a:noAutofit/>
                    </a:bodyPr>
                    <a:lstStyle/>
                    <a:p>
                      <a:pPr algn="l">
                        <a:buNone/>
                      </a:pPr>
                      <a:r>
                        <a:rPr sz="1725" b="0">
                          <a:solidFill>
                            <a:srgbClr val="183D50"/>
                          </a:solidFill>
                          <a:latin typeface="Arial"/>
                          <a:ea typeface="Arial"/>
                          <a:cs typeface="Arial"/>
                        </a:rPr>
                        <a:t>A</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$1,100</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4 days</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Yes</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Eligible</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573881">
                <a:tc>
                  <a:txBody>
                    <a:bodyPr lIns="114300" tIns="76200" rIns="114300" bIns="76200">
                      <a:noAutofit/>
                    </a:bodyPr>
                    <a:lstStyle/>
                    <a:p>
                      <a:pPr algn="l">
                        <a:buNone/>
                      </a:pPr>
                      <a:r>
                        <a:rPr sz="1725" b="0">
                          <a:solidFill>
                            <a:srgbClr val="183D50"/>
                          </a:solidFill>
                          <a:latin typeface="Arial"/>
                          <a:ea typeface="Arial"/>
                          <a:cs typeface="Arial"/>
                        </a:rPr>
                        <a:t>B</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725" b="0">
                          <a:solidFill>
                            <a:srgbClr val="183D50"/>
                          </a:solidFill>
                          <a:latin typeface="Arial"/>
                          <a:ea typeface="Arial"/>
                          <a:cs typeface="Arial"/>
                        </a:rPr>
                        <a:t>$1,000</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725" b="0">
                          <a:solidFill>
                            <a:srgbClr val="183D50"/>
                          </a:solidFill>
                          <a:latin typeface="Arial"/>
                          <a:ea typeface="Arial"/>
                          <a:cs typeface="Arial"/>
                        </a:rPr>
                        <a:t>7 days</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725" b="0">
                          <a:solidFill>
                            <a:srgbClr val="183D50"/>
                          </a:solidFill>
                          <a:latin typeface="Arial"/>
                          <a:ea typeface="Arial"/>
                          <a:cs typeface="Arial"/>
                        </a:rPr>
                        <a:t>Yes</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725" b="0">
                          <a:solidFill>
                            <a:srgbClr val="183D50"/>
                          </a:solidFill>
                          <a:latin typeface="Arial"/>
                          <a:ea typeface="Arial"/>
                          <a:cs typeface="Arial"/>
                        </a:rPr>
                        <a:t>Too late</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r h="573881">
                <a:tc>
                  <a:txBody>
                    <a:bodyPr lIns="114300" tIns="76200" rIns="114300" bIns="76200">
                      <a:noAutofit/>
                    </a:bodyPr>
                    <a:lstStyle/>
                    <a:p>
                      <a:pPr algn="l">
                        <a:buNone/>
                      </a:pPr>
                      <a:r>
                        <a:rPr sz="1725" b="0">
                          <a:solidFill>
                            <a:srgbClr val="183D50"/>
                          </a:solidFill>
                          <a:latin typeface="Arial"/>
                          <a:ea typeface="Arial"/>
                          <a:cs typeface="Arial"/>
                        </a:rPr>
                        <a:t>C</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$900</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3 days</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No</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Not approved</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bl>
          </a:graphicData>
        </a:graphic>
      </p:graphicFrame>
      <p:sp>
        <p:nvSpPr>
          <p:cNvPr id="9" name="procurement-roles">
            <a:extLst xmlns:a="http://schemas.openxmlformats.org/drawingml/2006/main">
              <a:ext uri="{FF2B5EF4-FFF2-40B4-BE49-F238E27FC236}">
                <a16:creationId xmlns:a16="http://schemas.microsoft.com/office/drawing/2014/main" id="{91E3652A-4DCE-4E06-9A64-341ED33F9FFD}"/>
              </a:ext>
            </a:extLst>
          </p:cNvPr>
          <p:cNvSpPr>
            <a:spLocks xmlns:a="http://schemas.openxmlformats.org/drawingml/2006/main" noGrp="1"/>
          </p:cNvSpPr>
          <p:nvPr/>
        </p:nvSpPr>
        <p:spPr>
          <a:xfrm xmlns:a="http://schemas.openxmlformats.org/drawingml/2006/main">
            <a:off x="533400" y="515302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183D50"/>
                </a:solidFill>
                <a:latin typeface="Arial"/>
                <a:ea typeface="Arial"/>
                <a:cs typeface="Arial"/>
              </a:defRPr>
            </a:defPPr>
          </a:lstStyle>
          <a:p xmlns:a="http://schemas.openxmlformats.org/drawingml/2006/main">
            <a:pPr algn="l">
              <a:buNone/>
              <a:defRPr sz="1800" b="0">
                <a:solidFill>
                  <a:srgbClr val="183D50"/>
                </a:solidFill>
                <a:latin typeface="Arial"/>
                <a:ea typeface="Arial"/>
                <a:cs typeface="Arial"/>
              </a:defRPr>
            </a:pPr>
            <a:r>
              <a:rPr sz="1800" b="0">
                <a:solidFill>
                  <a:srgbClr val="183D50"/>
                </a:solidFill>
                <a:latin typeface="Arial"/>
                <a:ea typeface="Arial"/>
                <a:cs typeface="Arial"/>
              </a:rPr>
              <a:t>Buyer states the need. Analyst checks quotes. Finance and policy review the evidence.</a:t>
            </a:r>
          </a:p>
        </p:txBody>
      </p:sp>
      <p:sp>
        <p:nvSpPr>
          <p:cNvPr id="10" name="procurement-outcome">
            <a:extLst xmlns:a="http://schemas.openxmlformats.org/drawingml/2006/main">
              <a:ext uri="{FF2B5EF4-FFF2-40B4-BE49-F238E27FC236}">
                <a16:creationId xmlns:a16="http://schemas.microsoft.com/office/drawing/2014/main" id="{362C6F1E-02D5-414A-A6DF-E6314E803080}"/>
              </a:ext>
            </a:extLst>
          </p:cNvPr>
          <p:cNvSpPr>
            <a:spLocks xmlns:a="http://schemas.openxmlformats.org/drawingml/2006/main" noGrp="1"/>
          </p:cNvSpPr>
          <p:nvPr/>
        </p:nvSpPr>
        <p:spPr>
          <a:xfrm xmlns:a="http://schemas.openxmlformats.org/drawingml/2006/main">
            <a:off x="533400" y="5629275"/>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D5077D"/>
                </a:solidFill>
                <a:latin typeface="Arial"/>
                <a:ea typeface="Arial"/>
                <a:cs typeface="Arial"/>
              </a:defRPr>
            </a:defPPr>
          </a:lstStyle>
          <a:p xmlns:a="http://schemas.openxmlformats.org/drawingml/2006/main">
            <a:pPr algn="l">
              <a:buNone/>
              <a:defRPr sz="1875" b="1">
                <a:solidFill>
                  <a:srgbClr val="D5077D"/>
                </a:solidFill>
                <a:latin typeface="Arial"/>
                <a:ea typeface="Arial"/>
                <a:cs typeface="Arial"/>
              </a:defRPr>
            </a:pPr>
            <a:r>
              <a:rPr sz="1875" b="1">
                <a:solidFill>
                  <a:srgbClr val="D5077D"/>
                </a:solidFill>
                <a:latin typeface="Arial"/>
                <a:ea typeface="Arial"/>
                <a:cs typeface="Arial"/>
              </a:rPr>
              <a:t>Recommend A, pending human approval. At a $1,000 budget, no quote qualifies.</a:t>
            </a:r>
          </a:p>
        </p:txBody>
      </p:sp>
      <p:sp>
        <p:nvSpPr>
          <p:cNvPr id="11" name="procurement-synthetic">
            <a:extLst xmlns:a="http://schemas.openxmlformats.org/drawingml/2006/main">
              <a:ext uri="{FF2B5EF4-FFF2-40B4-BE49-F238E27FC236}">
                <a16:creationId xmlns:a16="http://schemas.microsoft.com/office/drawing/2014/main" id="{4812F688-3EA1-4EC0-9194-938FA50B9D1A}"/>
              </a:ext>
            </a:extLst>
          </p:cNvPr>
          <p:cNvSpPr>
            <a:spLocks xmlns:a="http://schemas.openxmlformats.org/drawingml/2006/main" noGrp="1"/>
          </p:cNvSpPr>
          <p:nvPr/>
        </p:nvSpPr>
        <p:spPr>
          <a:xfrm xmlns:a="http://schemas.openxmlformats.org/drawingml/2006/main">
            <a:off x="533400" y="6115050"/>
            <a:ext cx="11125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350" b="0">
                <a:solidFill>
                  <a:srgbClr val="446579"/>
                </a:solidFill>
                <a:latin typeface="Arial"/>
                <a:ea typeface="Arial"/>
                <a:cs typeface="Arial"/>
              </a:defRPr>
            </a:defPPr>
          </a:lstStyle>
          <a:p xmlns:a="http://schemas.openxmlformats.org/drawingml/2006/main">
            <a:pPr algn="l">
              <a:buNone/>
              <a:defRPr sz="1350" b="0">
                <a:solidFill>
                  <a:srgbClr val="446579"/>
                </a:solidFill>
                <a:latin typeface="Arial"/>
                <a:ea typeface="Arial"/>
                <a:cs typeface="Arial"/>
              </a:defRPr>
            </a:pPr>
            <a:r>
              <a:rPr sz="1350" b="0">
                <a:solidFill>
                  <a:srgbClr val="446579"/>
                </a:solidFill>
                <a:latin typeface="Arial"/>
                <a:ea typeface="Arial"/>
                <a:cs typeface="Arial"/>
              </a:rPr>
              <a:t>Synthetic quotes and teaching rules, not actual UN procurement policy.</a:t>
            </a:r>
          </a:p>
        </p:txBody>
      </p:sp>
      <p:sp>
        <p:nvSpPr>
          <p:cNvPr id="13" name="footer-reference">
            <a:extLst xmlns:a="http://schemas.openxmlformats.org/drawingml/2006/main">
              <a:ext uri="{FF2B5EF4-FFF2-40B4-BE49-F238E27FC236}">
                <a16:creationId xmlns:a16="http://schemas.microsoft.com/office/drawing/2014/main" id="{5FE0C29B-6B9D-4F1E-962A-BD38E7571449}"/>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1f827c7e222f460a"/>
              </a:rPr>
              <a:t>Procurement simulation (synthetic)</a:t>
            </a:r>
          </a:p>
        </p:txBody>
      </p:sp>
    </p:spTree>
    <p:extLst>
      <p:ext uri="{BB962C8B-B14F-4D97-AF65-F5344CB8AC3E}">
        <p14:creationId xmlns:p14="http://schemas.microsoft.com/office/powerpoint/2010/main" val="177352576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375F47C7-1FDB-4FED-8A4D-192208A37848}"/>
              </a:ext>
            </a:extLst>
          </p:cNvPr>
          <p:cNvCxnSpPr>
            <a:stCxn xmlns:a="http://schemas.openxmlformats.org/drawingml/2006/main" id="12" idx="3"/>
            <a:endCxn xmlns:a="http://schemas.openxmlformats.org/drawingml/2006/main" id="15" idx="1"/>
          </p:cNvCxnSpPr>
          <p:nvPr/>
        </p:nvCxnSpPr>
        <p:spPr>
          <a:xfrm xmlns:a="http://schemas.openxmlformats.org/drawingml/2006/main">
            <a:off x="7715250" y="3557588"/>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cxnSp>
        <p:nvCxnSpPr>
          <p:cNvPr id="18" name="">
            <a:extLst xmlns:a="http://schemas.openxmlformats.org/drawingml/2006/main">
              <a:ext uri="{FF2B5EF4-FFF2-40B4-BE49-F238E27FC236}">
                <a16:creationId xmlns:a16="http://schemas.microsoft.com/office/drawing/2014/main" id="{4DA1C307-A174-44BB-A193-D2909F998B67}"/>
              </a:ext>
            </a:extLst>
          </p:cNvPr>
          <p:cNvCxnSpPr>
            <a:stCxn xmlns:a="http://schemas.openxmlformats.org/drawingml/2006/main" id="9" idx="3"/>
            <a:endCxn xmlns:a="http://schemas.openxmlformats.org/drawingml/2006/main" id="12" idx="1"/>
          </p:cNvCxnSpPr>
          <p:nvPr/>
        </p:nvCxnSpPr>
        <p:spPr>
          <a:xfrm xmlns:a="http://schemas.openxmlformats.org/drawingml/2006/main">
            <a:off x="3771900" y="3557588"/>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pic>
        <p:nvPicPr>
          <p:cNvPr id="23" name="">
            <a:extLst xmlns:a="http://schemas.openxmlformats.org/drawingml/2006/main">
              <a:ext uri="{FF2B5EF4-FFF2-40B4-BE49-F238E27FC236}">
                <a16:creationId xmlns:a16="http://schemas.microsoft.com/office/drawing/2014/main" id="{BD4FB8FA-EECD-4237-8E5D-C60F6789B6E5}"/>
              </a:ext>
            </a:extLst>
          </p:cNvPr>
          <p:cNvPicPr>
            <a:picLocks xmlns:a="http://schemas.openxmlformats.org/drawingml/2006/main" noChangeAspect="1"/>
          </p:cNvPicPr>
          <p:nvPr/>
        </p:nvPicPr>
        <p:blipFill>
          <a:blip xmlns:r="http://schemas.openxmlformats.org/officeDocument/2006/relationships" xmlns:a="http://schemas.openxmlformats.org/drawingml/2006/main" r:embed="R7a5f529bd0644128"/>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52A1F0B0-BC59-4604-941E-4E87D12C01A2}"/>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092CE075-E66D-4710-910F-307CBF09B2D3}"/>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C22F891F-961C-449F-B24B-E55F231042C1}"/>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HR Virtual Assistant with RAG</a:t>
            </a:r>
          </a:p>
        </p:txBody>
      </p:sp>
      <p:sp>
        <p:nvSpPr>
          <p:cNvPr id="5" name="footer-course">
            <a:extLst xmlns:a="http://schemas.openxmlformats.org/drawingml/2006/main">
              <a:ext uri="{FF2B5EF4-FFF2-40B4-BE49-F238E27FC236}">
                <a16:creationId xmlns:a16="http://schemas.microsoft.com/office/drawing/2014/main" id="{FE77DAAD-05FA-455F-9FB4-72C385602DDF}"/>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stStyle>
          <a:p xmlns:a="http://schemas.openxmlformats.org/drawingml/2006/main">
            <a:pPr algn="l">
              <a:buNone/>
              <a:defRPr sz="1125" b="0">
                <a:solidFill>
                  <a:srgbClr val="446579"/>
                </a:solidFill>
                <a:latin typeface="Arial"/>
                <a:ea typeface="Arial"/>
                <a:cs typeface="Arial"/>
              </a:defRPr>
            </a:pPr>
            <a:r>
              <a:rPr sz="1125" b="0">
                <a:solidFill>
                  <a:srgbClr val="446579"/>
                </a:solidFill>
                <a:latin typeface="Arial"/>
                <a:ea typeface="Arial"/>
                <a:cs typeface="Arial"/>
              </a:rPr>
              <a:t>Managing Multi-Agent Teams</a:t>
            </a:r>
          </a:p>
        </p:txBody>
      </p:sp>
      <p:sp>
        <p:nvSpPr>
          <p:cNvPr id="6" name="footer-number">
            <a:extLst xmlns:a="http://schemas.openxmlformats.org/drawingml/2006/main">
              <a:ext uri="{FF2B5EF4-FFF2-40B4-BE49-F238E27FC236}">
                <a16:creationId xmlns:a16="http://schemas.microsoft.com/office/drawing/2014/main" id="{5B530AB0-34BB-457B-95FB-AB15FC243043}"/>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05</a:t>
            </a:r>
          </a:p>
        </p:txBody>
      </p:sp>
      <p:sp>
        <p:nvSpPr>
          <p:cNvPr id="7" name="rag-definition">
            <a:extLst xmlns:a="http://schemas.openxmlformats.org/drawingml/2006/main">
              <a:ext uri="{FF2B5EF4-FFF2-40B4-BE49-F238E27FC236}">
                <a16:creationId xmlns:a16="http://schemas.microsoft.com/office/drawing/2014/main" id="{B03AF3CB-E1F8-47F1-BC64-238C422046FA}"/>
              </a:ext>
            </a:extLst>
          </p:cNvPr>
          <p:cNvSpPr>
            <a:spLocks xmlns:a="http://schemas.openxmlformats.org/drawingml/2006/main" noGrp="1"/>
          </p:cNvSpPr>
          <p:nvPr/>
        </p:nvSpPr>
        <p:spPr>
          <a:xfrm xmlns:a="http://schemas.openxmlformats.org/drawingml/2006/main">
            <a:off x="533400" y="1752600"/>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446579"/>
                </a:solidFill>
                <a:latin typeface="Arial"/>
                <a:ea typeface="Arial"/>
                <a:cs typeface="Arial"/>
              </a:defRPr>
            </a:defPPr>
          </a:lstStyle>
          <a:p xmlns:a="http://schemas.openxmlformats.org/drawingml/2006/main">
            <a:pPr algn="l">
              <a:buNone/>
              <a:defRPr sz="1725" b="0">
                <a:solidFill>
                  <a:srgbClr val="446579"/>
                </a:solidFill>
                <a:latin typeface="Arial"/>
                <a:ea typeface="Arial"/>
                <a:cs typeface="Arial"/>
              </a:defRPr>
            </a:pPr>
            <a:r>
              <a:rPr sz="1725" b="0">
                <a:solidFill>
                  <a:srgbClr val="446579"/>
                </a:solidFill>
                <a:latin typeface="Arial"/>
                <a:ea typeface="Arial"/>
                <a:cs typeface="Arial"/>
              </a:rPr>
              <a:t>Retrieval-augmented generation uses retrieved evidence to draft an answer.</a:t>
            </a:r>
          </a:p>
        </p:txBody>
      </p:sp>
      <p:sp>
        <p:nvSpPr>
          <p:cNvPr id="8" name="hr-question">
            <a:extLst xmlns:a="http://schemas.openxmlformats.org/drawingml/2006/main">
              <a:ext uri="{FF2B5EF4-FFF2-40B4-BE49-F238E27FC236}">
                <a16:creationId xmlns:a16="http://schemas.microsoft.com/office/drawing/2014/main" id="{05ABF189-240E-4082-A44F-98CF1AC6A89C}"/>
              </a:ext>
            </a:extLst>
          </p:cNvPr>
          <p:cNvSpPr>
            <a:spLocks xmlns:a="http://schemas.openxmlformats.org/drawingml/2006/main" noGrp="1"/>
          </p:cNvSpPr>
          <p:nvPr/>
        </p:nvSpPr>
        <p:spPr>
          <a:xfrm xmlns:a="http://schemas.openxmlformats.org/drawingml/2006/main">
            <a:off x="533400" y="22098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1">
                <a:solidFill>
                  <a:srgbClr val="123D5A"/>
                </a:solidFill>
                <a:latin typeface="Arial"/>
                <a:ea typeface="Arial"/>
                <a:cs typeface="Arial"/>
              </a:defRPr>
            </a:defPPr>
          </a:lstStyle>
          <a:p xmlns:a="http://schemas.openxmlformats.org/drawingml/2006/main">
            <a:pPr algn="l">
              <a:buNone/>
              <a:defRPr sz="1950" b="1">
                <a:solidFill>
                  <a:srgbClr val="123D5A"/>
                </a:solidFill>
                <a:latin typeface="Arial"/>
                <a:ea typeface="Arial"/>
                <a:cs typeface="Arial"/>
              </a:defRPr>
            </a:pPr>
            <a:r>
              <a:rPr sz="1950" b="1">
                <a:solidFill>
                  <a:srgbClr val="123D5A"/>
                </a:solidFill>
                <a:latin typeface="Arial"/>
                <a:ea typeface="Arial"/>
                <a:cs typeface="Arial"/>
              </a:rPr>
              <a:t>Question: “How much learning time is available, and how do I book it?”</a:t>
            </a:r>
          </a:p>
        </p:txBody>
      </p:sp>
      <p:sp>
        <p:nvSpPr>
          <p:cNvPr id="9" name="hr-retrieve">
            <a:extLst xmlns:a="http://schemas.openxmlformats.org/drawingml/2006/main">
              <a:ext uri="{FF2B5EF4-FFF2-40B4-BE49-F238E27FC236}">
                <a16:creationId xmlns:a16="http://schemas.microsoft.com/office/drawing/2014/main" id="{D7A4F876-1B56-41E0-BC83-3E4C23B8BF32}"/>
              </a:ext>
            </a:extLst>
          </p:cNvPr>
          <p:cNvSpPr>
            <a:spLocks xmlns:a="http://schemas.openxmlformats.org/drawingml/2006/main" noGrp="1"/>
          </p:cNvSpPr>
          <p:nvPr/>
        </p:nvSpPr>
        <p:spPr>
          <a:xfrm xmlns:a="http://schemas.openxmlformats.org/drawingml/2006/main">
            <a:off x="533400" y="2971800"/>
            <a:ext cx="3238500" cy="1171575"/>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0" name="hr-retrieve-head">
            <a:extLst xmlns:a="http://schemas.openxmlformats.org/drawingml/2006/main">
              <a:ext uri="{FF2B5EF4-FFF2-40B4-BE49-F238E27FC236}">
                <a16:creationId xmlns:a16="http://schemas.microsoft.com/office/drawing/2014/main" id="{E6C4A71B-03FB-4836-B43E-9C7F62849BF0}"/>
              </a:ext>
            </a:extLst>
          </p:cNvPr>
          <p:cNvSpPr>
            <a:spLocks xmlns:a="http://schemas.openxmlformats.org/drawingml/2006/main" noGrp="1"/>
          </p:cNvSpPr>
          <p:nvPr/>
        </p:nvSpPr>
        <p:spPr>
          <a:xfrm xmlns:a="http://schemas.openxmlformats.org/drawingml/2006/main">
            <a:off x="704850" y="309562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Retrieve</a:t>
            </a:r>
          </a:p>
        </p:txBody>
      </p:sp>
      <p:sp>
        <p:nvSpPr>
          <p:cNvPr id="11" name="hr-retrieve-body">
            <a:extLst xmlns:a="http://schemas.openxmlformats.org/drawingml/2006/main">
              <a:ext uri="{FF2B5EF4-FFF2-40B4-BE49-F238E27FC236}">
                <a16:creationId xmlns:a16="http://schemas.microsoft.com/office/drawing/2014/main" id="{F2FC9B3D-FC3B-4B71-A53D-CADE5136367F}"/>
              </a:ext>
            </a:extLst>
          </p:cNvPr>
          <p:cNvSpPr>
            <a:spLocks xmlns:a="http://schemas.openxmlformats.org/drawingml/2006/main" noGrp="1"/>
          </p:cNvSpPr>
          <p:nvPr/>
        </p:nvSpPr>
        <p:spPr>
          <a:xfrm xmlns:a="http://schemas.openxmlformats.org/drawingml/2006/main">
            <a:off x="704850" y="3467100"/>
            <a:ext cx="2895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Approved current</a:t>
            </a:r>
          </a:p>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policy snippets</a:t>
            </a:r>
          </a:p>
        </p:txBody>
      </p:sp>
      <p:sp>
        <p:nvSpPr>
          <p:cNvPr id="12" name="hr-answer">
            <a:extLst xmlns:a="http://schemas.openxmlformats.org/drawingml/2006/main">
              <a:ext uri="{FF2B5EF4-FFF2-40B4-BE49-F238E27FC236}">
                <a16:creationId xmlns:a16="http://schemas.microsoft.com/office/drawing/2014/main" id="{638EBD99-0FA5-4EF1-8925-F5D619CE93FC}"/>
              </a:ext>
            </a:extLst>
          </p:cNvPr>
          <p:cNvSpPr>
            <a:spLocks xmlns:a="http://schemas.openxmlformats.org/drawingml/2006/main" noGrp="1"/>
          </p:cNvSpPr>
          <p:nvPr/>
        </p:nvSpPr>
        <p:spPr>
          <a:xfrm xmlns:a="http://schemas.openxmlformats.org/drawingml/2006/main">
            <a:off x="4476750" y="2971800"/>
            <a:ext cx="3238500" cy="1171575"/>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3" name="hr-answer-head">
            <a:extLst xmlns:a="http://schemas.openxmlformats.org/drawingml/2006/main">
              <a:ext uri="{FF2B5EF4-FFF2-40B4-BE49-F238E27FC236}">
                <a16:creationId xmlns:a16="http://schemas.microsoft.com/office/drawing/2014/main" id="{534312CA-8C7C-4541-B61B-A3B9A1664D34}"/>
              </a:ext>
            </a:extLst>
          </p:cNvPr>
          <p:cNvSpPr>
            <a:spLocks xmlns:a="http://schemas.openxmlformats.org/drawingml/2006/main" noGrp="1"/>
          </p:cNvSpPr>
          <p:nvPr/>
        </p:nvSpPr>
        <p:spPr>
          <a:xfrm xmlns:a="http://schemas.openxmlformats.org/drawingml/2006/main">
            <a:off x="4648200" y="309562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Draft with sources</a:t>
            </a:r>
          </a:p>
        </p:txBody>
      </p:sp>
      <p:sp>
        <p:nvSpPr>
          <p:cNvPr id="14" name="hr-answer-body">
            <a:extLst xmlns:a="http://schemas.openxmlformats.org/drawingml/2006/main">
              <a:ext uri="{FF2B5EF4-FFF2-40B4-BE49-F238E27FC236}">
                <a16:creationId xmlns:a16="http://schemas.microsoft.com/office/drawing/2014/main" id="{47AC6DC0-7FE7-4585-8380-0A186206B09F}"/>
              </a:ext>
            </a:extLst>
          </p:cNvPr>
          <p:cNvSpPr>
            <a:spLocks xmlns:a="http://schemas.openxmlformats.org/drawingml/2006/main" noGrp="1"/>
          </p:cNvSpPr>
          <p:nvPr/>
        </p:nvSpPr>
        <p:spPr>
          <a:xfrm xmlns:a="http://schemas.openxmlformats.org/drawingml/2006/main">
            <a:off x="4648200" y="3467100"/>
            <a:ext cx="2895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Answer only from</a:t>
            </a:r>
          </a:p>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the retrieved evidence</a:t>
            </a:r>
          </a:p>
        </p:txBody>
      </p:sp>
      <p:sp>
        <p:nvSpPr>
          <p:cNvPr id="15" name="hr-review">
            <a:extLst xmlns:a="http://schemas.openxmlformats.org/drawingml/2006/main">
              <a:ext uri="{FF2B5EF4-FFF2-40B4-BE49-F238E27FC236}">
                <a16:creationId xmlns:a16="http://schemas.microsoft.com/office/drawing/2014/main" id="{69217603-ABC0-4C78-AE22-BDFFA8B525ED}"/>
              </a:ext>
            </a:extLst>
          </p:cNvPr>
          <p:cNvSpPr>
            <a:spLocks xmlns:a="http://schemas.openxmlformats.org/drawingml/2006/main" noGrp="1"/>
          </p:cNvSpPr>
          <p:nvPr/>
        </p:nvSpPr>
        <p:spPr>
          <a:xfrm xmlns:a="http://schemas.openxmlformats.org/drawingml/2006/main">
            <a:off x="8420100" y="2971800"/>
            <a:ext cx="3238500" cy="1171575"/>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6" name="hr-review-head">
            <a:extLst xmlns:a="http://schemas.openxmlformats.org/drawingml/2006/main">
              <a:ext uri="{FF2B5EF4-FFF2-40B4-BE49-F238E27FC236}">
                <a16:creationId xmlns:a16="http://schemas.microsoft.com/office/drawing/2014/main" id="{71B14F33-271C-4B19-977F-18BB92C2946B}"/>
              </a:ext>
            </a:extLst>
          </p:cNvPr>
          <p:cNvSpPr>
            <a:spLocks xmlns:a="http://schemas.openxmlformats.org/drawingml/2006/main" noGrp="1"/>
          </p:cNvSpPr>
          <p:nvPr/>
        </p:nvSpPr>
        <p:spPr>
          <a:xfrm xmlns:a="http://schemas.openxmlformats.org/drawingml/2006/main">
            <a:off x="8591550" y="309562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Review</a:t>
            </a:r>
          </a:p>
        </p:txBody>
      </p:sp>
      <p:sp>
        <p:nvSpPr>
          <p:cNvPr id="17" name="hr-review-body">
            <a:extLst xmlns:a="http://schemas.openxmlformats.org/drawingml/2006/main">
              <a:ext uri="{FF2B5EF4-FFF2-40B4-BE49-F238E27FC236}">
                <a16:creationId xmlns:a16="http://schemas.microsoft.com/office/drawing/2014/main" id="{30A8FA3D-A063-47E1-96E8-3A316F55B691}"/>
              </a:ext>
            </a:extLst>
          </p:cNvPr>
          <p:cNvSpPr>
            <a:spLocks xmlns:a="http://schemas.openxmlformats.org/drawingml/2006/main" noGrp="1"/>
          </p:cNvSpPr>
          <p:nvPr/>
        </p:nvSpPr>
        <p:spPr>
          <a:xfrm xmlns:a="http://schemas.openxmlformats.org/drawingml/2006/main">
            <a:off x="8591550" y="3467100"/>
            <a:ext cx="2895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Check citations, access,</a:t>
            </a:r>
          </a:p>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and unsupported claims</a:t>
            </a:r>
          </a:p>
        </p:txBody>
      </p:sp>
      <p:sp>
        <p:nvSpPr>
          <p:cNvPr id="20" name="hr-answer-text">
            <a:extLst xmlns:a="http://schemas.openxmlformats.org/drawingml/2006/main">
              <a:ext uri="{FF2B5EF4-FFF2-40B4-BE49-F238E27FC236}">
                <a16:creationId xmlns:a16="http://schemas.microsoft.com/office/drawing/2014/main" id="{75AEA518-BF96-40C1-8D85-03F712491306}"/>
              </a:ext>
            </a:extLst>
          </p:cNvPr>
          <p:cNvSpPr>
            <a:spLocks xmlns:a="http://schemas.openxmlformats.org/drawingml/2006/main" noGrp="1"/>
          </p:cNvSpPr>
          <p:nvPr/>
        </p:nvSpPr>
        <p:spPr>
          <a:xfrm xmlns:a="http://schemas.openxmlformats.org/drawingml/2006/main">
            <a:off x="533400" y="4410075"/>
            <a:ext cx="11125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183D50"/>
                </a:solidFill>
                <a:latin typeface="Arial"/>
                <a:ea typeface="Arial"/>
                <a:cs typeface="Arial"/>
              </a:defRPr>
            </a:defPPr>
          </a:lstStyle>
          <a:p xmlns:a="http://schemas.openxmlformats.org/drawingml/2006/main">
            <a:pPr algn="l">
              <a:buNone/>
              <a:defRPr sz="1950" b="0">
                <a:solidFill>
                  <a:srgbClr val="183D50"/>
                </a:solidFill>
                <a:latin typeface="Arial"/>
                <a:ea typeface="Arial"/>
                <a:cs typeface="Arial"/>
              </a:defRPr>
            </a:pPr>
            <a:r>
              <a:rPr sz="1950" b="0">
                <a:solidFill>
                  <a:srgbClr val="183D50"/>
                </a:solidFill>
                <a:latin typeface="Arial"/>
                <a:ea typeface="Arial"/>
                <a:cs typeface="Arial"/>
              </a:rPr>
              <a:t>You may request up to 3 hours/month [HR-LEARN v2 §2].</a:t>
            </a:r>
          </a:p>
          <a:p xmlns:a="http://schemas.openxmlformats.org/drawingml/2006/main">
            <a:pPr algn="l">
              <a:buNone/>
              <a:defRPr sz="1950" b="0">
                <a:solidFill>
                  <a:srgbClr val="183D50"/>
                </a:solidFill>
                <a:latin typeface="Arial"/>
                <a:ea typeface="Arial"/>
                <a:cs typeface="Arial"/>
              </a:defRPr>
            </a:pPr>
            <a:r>
              <a:rPr sz="1950" b="0">
                <a:solidFill>
                  <a:srgbClr val="183D50"/>
                </a:solidFill>
                <a:latin typeface="Arial"/>
                <a:ea typeface="Arial"/>
                <a:cs typeface="Arial"/>
              </a:rPr>
              <a:t>Coordinator confirmation before booking [HR-BOOK v1 §1].</a:t>
            </a:r>
          </a:p>
        </p:txBody>
      </p:sp>
      <p:sp>
        <p:nvSpPr>
          <p:cNvPr id="21" name="hr-gates">
            <a:extLst xmlns:a="http://schemas.openxmlformats.org/drawingml/2006/main">
              <a:ext uri="{FF2B5EF4-FFF2-40B4-BE49-F238E27FC236}">
                <a16:creationId xmlns:a16="http://schemas.microsoft.com/office/drawing/2014/main" id="{16AA2E61-8CEC-4238-B1EF-40127D63DF55}"/>
              </a:ext>
            </a:extLst>
          </p:cNvPr>
          <p:cNvSpPr>
            <a:spLocks xmlns:a="http://schemas.openxmlformats.org/drawingml/2006/main" noGrp="1"/>
          </p:cNvSpPr>
          <p:nvPr/>
        </p:nvSpPr>
        <p:spPr>
          <a:xfrm xmlns:a="http://schemas.openxmlformats.org/drawingml/2006/main">
            <a:off x="533400" y="5381625"/>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1">
                <a:solidFill>
                  <a:srgbClr val="D5077D"/>
                </a:solidFill>
                <a:latin typeface="Arial"/>
                <a:ea typeface="Arial"/>
                <a:cs typeface="Arial"/>
              </a:defRPr>
            </a:defPPr>
          </a:lstStyle>
          <a:p xmlns:a="http://schemas.openxmlformats.org/drawingml/2006/main">
            <a:pPr algn="l">
              <a:buNone/>
              <a:defRPr sz="1800" b="1">
                <a:solidFill>
                  <a:srgbClr val="D5077D"/>
                </a:solidFill>
                <a:latin typeface="Arial"/>
                <a:ea typeface="Arial"/>
                <a:cs typeface="Arial"/>
              </a:defRPr>
            </a:pPr>
            <a:r>
              <a:rPr sz="1800" b="1">
                <a:solidFill>
                  <a:srgbClr val="D5077D"/>
                </a:solidFill>
                <a:latin typeface="Arial"/>
                <a:ea typeface="Arial"/>
                <a:cs typeface="Arial"/>
              </a:rPr>
              <a:t>Ignore stale versions. Deny restricted records. Abstain on unsupported rollover questions.</a:t>
            </a:r>
          </a:p>
        </p:txBody>
      </p:sp>
      <p:sp>
        <p:nvSpPr>
          <p:cNvPr id="22" name="hr-synthetic">
            <a:extLst xmlns:a="http://schemas.openxmlformats.org/drawingml/2006/main">
              <a:ext uri="{FF2B5EF4-FFF2-40B4-BE49-F238E27FC236}">
                <a16:creationId xmlns:a16="http://schemas.microsoft.com/office/drawing/2014/main" id="{19952400-186E-4CAD-A3B6-5671B01DF505}"/>
              </a:ext>
            </a:extLst>
          </p:cNvPr>
          <p:cNvSpPr>
            <a:spLocks xmlns:a="http://schemas.openxmlformats.org/drawingml/2006/main" noGrp="1"/>
          </p:cNvSpPr>
          <p:nvPr/>
        </p:nvSpPr>
        <p:spPr>
          <a:xfrm xmlns:a="http://schemas.openxmlformats.org/drawingml/2006/main">
            <a:off x="533400" y="6076950"/>
            <a:ext cx="11125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350" b="0">
                <a:solidFill>
                  <a:srgbClr val="446579"/>
                </a:solidFill>
                <a:latin typeface="Arial"/>
                <a:ea typeface="Arial"/>
                <a:cs typeface="Arial"/>
              </a:defRPr>
            </a:defPPr>
          </a:lstStyle>
          <a:p xmlns:a="http://schemas.openxmlformats.org/drawingml/2006/main">
            <a:pPr algn="l">
              <a:buNone/>
              <a:defRPr sz="1350" b="0">
                <a:solidFill>
                  <a:srgbClr val="446579"/>
                </a:solidFill>
                <a:latin typeface="Arial"/>
                <a:ea typeface="Arial"/>
                <a:cs typeface="Arial"/>
              </a:defRPr>
            </a:pPr>
            <a:r>
              <a:rPr sz="1350" b="0">
                <a:solidFill>
                  <a:srgbClr val="446579"/>
                </a:solidFill>
                <a:latin typeface="Arial"/>
                <a:ea typeface="Arial"/>
                <a:cs typeface="Arial"/>
              </a:rPr>
              <a:t>Synthetic training policies, not UN Volunteers HR guidance.</a:t>
            </a:r>
          </a:p>
        </p:txBody>
      </p:sp>
      <p:sp>
        <p:nvSpPr>
          <p:cNvPr id="24" name="footer-reference">
            <a:extLst xmlns:a="http://schemas.openxmlformats.org/drawingml/2006/main">
              <a:ext uri="{FF2B5EF4-FFF2-40B4-BE49-F238E27FC236}">
                <a16:creationId xmlns:a16="http://schemas.microsoft.com/office/drawing/2014/main" id="{D7F09793-DB98-454E-B4E8-E407C536E34E}"/>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6018b79072ae4348"/>
              </a:rPr>
              <a:t>Lewis et al. (2020)</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b4e9633bab124c8e"/>
              </a:rPr>
              <a:t>HR simulation (synthetic)</a:t>
            </a:r>
          </a:p>
        </p:txBody>
      </p:sp>
    </p:spTree>
    <p:extLst>
      <p:ext uri="{BB962C8B-B14F-4D97-AF65-F5344CB8AC3E}">
        <p14:creationId xmlns:p14="http://schemas.microsoft.com/office/powerpoint/2010/main" val="13952105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049D69DE-65E8-4D01-81A4-F0D538D6B080}"/>
              </a:ext>
            </a:extLst>
          </p:cNvPr>
          <p:cNvPicPr>
            <a:picLocks xmlns:a="http://schemas.openxmlformats.org/drawingml/2006/main" noChangeAspect="1"/>
          </p:cNvPicPr>
          <p:nvPr/>
        </p:nvPicPr>
        <p:blipFill>
          <a:blip xmlns:r="http://schemas.openxmlformats.org/officeDocument/2006/relationships" xmlns:a="http://schemas.openxmlformats.org/drawingml/2006/main" r:embed="R466d97ae156a4e99"/>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F47184A7-6CC0-4908-84C3-6B90D556635B}"/>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B2459E52-8A5A-4649-8CDC-5344934BC332}"/>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A543EDF0-2F03-46AE-973D-9600C8E6ABC2}"/>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Four-Step Roadmap and Setup</a:t>
            </a:r>
          </a:p>
        </p:txBody>
      </p:sp>
      <p:sp>
        <p:nvSpPr>
          <p:cNvPr id="5" name="footer-course">
            <a:extLst xmlns:a="http://schemas.openxmlformats.org/drawingml/2006/main">
              <a:ext uri="{FF2B5EF4-FFF2-40B4-BE49-F238E27FC236}">
                <a16:creationId xmlns:a16="http://schemas.microsoft.com/office/drawing/2014/main" id="{4F0CABC0-E828-4311-8B43-7C137AEF86AD}"/>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stStyle>
          <a:p xmlns:a="http://schemas.openxmlformats.org/drawingml/2006/main">
            <a:pPr algn="l">
              <a:buNone/>
              <a:defRPr sz="1125" b="0">
                <a:solidFill>
                  <a:srgbClr val="446579"/>
                </a:solidFill>
                <a:latin typeface="Arial"/>
                <a:ea typeface="Arial"/>
                <a:cs typeface="Arial"/>
              </a:defRPr>
            </a:pPr>
            <a:r>
              <a:rPr sz="1125" b="0">
                <a:solidFill>
                  <a:srgbClr val="446579"/>
                </a:solidFill>
                <a:latin typeface="Arial"/>
                <a:ea typeface="Arial"/>
                <a:cs typeface="Arial"/>
              </a:rPr>
              <a:t>Managing Multi-Agent Teams</a:t>
            </a:r>
          </a:p>
        </p:txBody>
      </p:sp>
      <p:sp>
        <p:nvSpPr>
          <p:cNvPr id="6" name="footer-number">
            <a:extLst xmlns:a="http://schemas.openxmlformats.org/drawingml/2006/main">
              <a:ext uri="{FF2B5EF4-FFF2-40B4-BE49-F238E27FC236}">
                <a16:creationId xmlns:a16="http://schemas.microsoft.com/office/drawing/2014/main" id="{6A8B5766-D4C8-45BC-8931-297D91329527}"/>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06</a:t>
            </a:r>
          </a:p>
        </p:txBody>
      </p:sp>
      <p:graphicFrame>
        <p:nvGraphicFramePr>
          <p:cNvPr id="7" name="">
            <a:extLst xmlns:a="http://schemas.openxmlformats.org/drawingml/2006/main">
              <a:ext uri="{FF2B5EF4-FFF2-40B4-BE49-F238E27FC236}">
                <a16:creationId xmlns:a16="http://schemas.microsoft.com/office/drawing/2014/main" id="{6CD61DEE-89D3-4F7D-A52A-97BDCC4AB258}"/>
              </a:ext>
            </a:extLst>
          </p:cNvPr>
          <p:cNvGraphicFramePr/>
          <p:nvPr/>
        </p:nvGraphicFramePr>
        <p:xfrm>
          <a:off xmlns:a="http://schemas.openxmlformats.org/drawingml/2006/main" x="533400" y="1924050"/>
          <a:ext xmlns:a="http://schemas.openxmlformats.org/drawingml/2006/main" cx="11125200" cy="2952750"/>
        </p:xfrm>
        <a:graphic xmlns:a="http://schemas.openxmlformats.org/drawingml/2006/main">
          <a:graphicData uri="http://schemas.openxmlformats.org/drawingml/2006/table">
            <a:tbl>
              <a:tblPr/>
              <a:tblGrid>
                <a:gridCol w="1619250"/>
                <a:gridCol w="2762250"/>
                <a:gridCol w="4286250"/>
                <a:gridCol w="2457450"/>
              </a:tblGrid>
              <a:tr h="590550">
                <a:tc>
                  <a:txBody>
                    <a:bodyPr lIns="114300" tIns="76200" rIns="114300" bIns="76200">
                      <a:noAutofit/>
                    </a:bodyPr>
                    <a:lstStyle/>
                    <a:p>
                      <a:pPr algn="l">
                        <a:buNone/>
                      </a:pPr>
                      <a:r>
                        <a:rPr sz="1650" b="1">
                          <a:solidFill>
                            <a:srgbClr val="FFFFFF"/>
                          </a:solidFill>
                          <a:latin typeface="Arial"/>
                          <a:ea typeface="Arial"/>
                          <a:cs typeface="Arial"/>
                        </a:rPr>
                        <a:t>Step</a:t>
                      </a:r>
                    </a:p>
                  </a:txBody>
                  <a:tcPr marL="91440" marR="91440" marT="45720" marB="45720" anchor="ctr">
                    <a:lnL w="9525">
                      <a:solidFill>
                        <a:srgbClr val="BCDCEB"/>
                      </a:solidFill>
                      <a:prstDash val="solid"/>
                    </a:lnL>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650" b="1">
                          <a:solidFill>
                            <a:srgbClr val="FFFFFF"/>
                          </a:solidFill>
                          <a:latin typeface="Arial"/>
                          <a:ea typeface="Arial"/>
                          <a:cs typeface="Arial"/>
                        </a:rPr>
                        <a:t>Lab or deliverable</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650" b="1">
                          <a:solidFill>
                            <a:srgbClr val="FFFFFF"/>
                          </a:solidFill>
                          <a:latin typeface="Arial"/>
                          <a:ea typeface="Arial"/>
                          <a:cs typeface="Arial"/>
                        </a:rPr>
                        <a:t>What changes</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650" b="1">
                          <a:solidFill>
                            <a:srgbClr val="FFFFFF"/>
                          </a:solidFill>
                          <a:latin typeface="Arial"/>
                          <a:ea typeface="Arial"/>
                          <a:cs typeface="Arial"/>
                        </a:rPr>
                        <a:t>Evidence</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r>
              <a:tr h="590550">
                <a:tc>
                  <a:txBody>
                    <a:bodyPr lIns="114300" tIns="76200" rIns="114300" bIns="76200">
                      <a:noAutofit/>
                    </a:bodyPr>
                    <a:lstStyle/>
                    <a:p>
                      <a:pPr algn="l">
                        <a:buNone/>
                      </a:pPr>
                      <a:r>
                        <a:rPr sz="1650" b="0">
                          <a:solidFill>
                            <a:srgbClr val="183D50"/>
                          </a:solidFill>
                          <a:latin typeface="Arial"/>
                          <a:ea typeface="Arial"/>
                          <a:cs typeface="Arial"/>
                        </a:rPr>
                        <a:t>1 Contract</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650" b="0">
                          <a:solidFill>
                            <a:srgbClr val="183D50"/>
                          </a:solidFill>
                          <a:latin typeface="Arial"/>
                          <a:ea typeface="Arial"/>
                          <a:cs typeface="Arial"/>
                        </a:rPr>
                        <a:t>01 Context Engineering</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650" b="0">
                          <a:solidFill>
                            <a:srgbClr val="183D50"/>
                          </a:solidFill>
                          <a:latin typeface="Arial"/>
                          <a:ea typeface="Arial"/>
                          <a:cs typeface="Arial"/>
                        </a:rPr>
                        <a:t>Constrain fields; forbid extras.</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650" b="0">
                          <a:solidFill>
                            <a:srgbClr val="183D50"/>
                          </a:solidFill>
                          <a:latin typeface="Arial"/>
                          <a:ea typeface="Arial"/>
                          <a:cs typeface="Arial"/>
                        </a:rPr>
                        <a:t>15/15</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590550">
                <a:tc>
                  <a:txBody>
                    <a:bodyPr lIns="114300" tIns="76200" rIns="114300" bIns="76200">
                      <a:noAutofit/>
                    </a:bodyPr>
                    <a:lstStyle/>
                    <a:p>
                      <a:pPr algn="l">
                        <a:buNone/>
                      </a:pPr>
                      <a:r>
                        <a:rPr sz="1650" b="0">
                          <a:solidFill>
                            <a:srgbClr val="183D50"/>
                          </a:solidFill>
                          <a:latin typeface="Arial"/>
                          <a:ea typeface="Arial"/>
                          <a:cs typeface="Arial"/>
                        </a:rPr>
                        <a:t>2 Team</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650" b="0">
                          <a:solidFill>
                            <a:srgbClr val="183D50"/>
                          </a:solidFill>
                          <a:latin typeface="Arial"/>
                          <a:ea typeface="Arial"/>
                          <a:cs typeface="Arial"/>
                        </a:rPr>
                        <a:t>02 Code Auditing</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650" b="0">
                          <a:solidFill>
                            <a:srgbClr val="183D50"/>
                          </a:solidFill>
                          <a:latin typeface="Arial"/>
                          <a:ea typeface="Arial"/>
                          <a:cs typeface="Arial"/>
                        </a:rPr>
                        <a:t>Manager tools; Coder context.</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650" b="0">
                          <a:solidFill>
                            <a:srgbClr val="183D50"/>
                          </a:solidFill>
                          <a:latin typeface="Arial"/>
                          <a:ea typeface="Arial"/>
                          <a:cs typeface="Arial"/>
                        </a:rPr>
                        <a:t>15/15</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r h="590550">
                <a:tc>
                  <a:txBody>
                    <a:bodyPr lIns="114300" tIns="76200" rIns="114300" bIns="76200">
                      <a:noAutofit/>
                    </a:bodyPr>
                    <a:lstStyle/>
                    <a:p>
                      <a:pPr algn="l">
                        <a:buNone/>
                      </a:pPr>
                      <a:r>
                        <a:rPr sz="1650" b="0">
                          <a:solidFill>
                            <a:srgbClr val="183D50"/>
                          </a:solidFill>
                          <a:latin typeface="Arial"/>
                          <a:ea typeface="Arial"/>
                          <a:cs typeface="Arial"/>
                        </a:rPr>
                        <a:t>3 Guardrails</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650" b="0">
                          <a:solidFill>
                            <a:srgbClr val="183D50"/>
                          </a:solidFill>
                          <a:latin typeface="Arial"/>
                          <a:ea typeface="Arial"/>
                          <a:cs typeface="Arial"/>
                        </a:rPr>
                        <a:t>03 Code Validation</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650" b="0">
                          <a:solidFill>
                            <a:srgbClr val="183D50"/>
                          </a:solidFill>
                          <a:latin typeface="Arial"/>
                          <a:ea typeface="Arial"/>
                          <a:cs typeface="Arial"/>
                        </a:rPr>
                        <a:t>Validate input; cap retries.</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650" b="0">
                          <a:solidFill>
                            <a:srgbClr val="183D50"/>
                          </a:solidFill>
                          <a:latin typeface="Arial"/>
                          <a:ea typeface="Arial"/>
                          <a:cs typeface="Arial"/>
                        </a:rPr>
                        <a:t>15/15</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590550">
                <a:tc>
                  <a:txBody>
                    <a:bodyPr lIns="114300" tIns="76200" rIns="114300" bIns="76200">
                      <a:noAutofit/>
                    </a:bodyPr>
                    <a:lstStyle/>
                    <a:p>
                      <a:pPr algn="l">
                        <a:buNone/>
                      </a:pPr>
                      <a:r>
                        <a:rPr sz="1650" b="0">
                          <a:solidFill>
                            <a:srgbClr val="183D50"/>
                          </a:solidFill>
                          <a:latin typeface="Arial"/>
                          <a:ea typeface="Arial"/>
                          <a:cs typeface="Arial"/>
                        </a:rPr>
                        <a:t>4 Delivery</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650" b="0">
                          <a:solidFill>
                            <a:srgbClr val="183D50"/>
                          </a:solidFill>
                          <a:latin typeface="Arial"/>
                          <a:ea typeface="Arial"/>
                          <a:cs typeface="Arial"/>
                        </a:rPr>
                        <a:t>04 Capstone</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650" b="0">
                          <a:solidFill>
                            <a:srgbClr val="183D50"/>
                          </a:solidFill>
                          <a:latin typeface="Arial"/>
                          <a:ea typeface="Arial"/>
                          <a:cs typeface="Arial"/>
                        </a:rPr>
                        <a:t>Validate Dev output; scope Security.</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650" b="0">
                          <a:solidFill>
                            <a:srgbClr val="183D50"/>
                          </a:solidFill>
                          <a:latin typeface="Arial"/>
                          <a:ea typeface="Arial"/>
                          <a:cs typeface="Arial"/>
                        </a:rPr>
                        <a:t>Code /20 + ADR /20</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bl>
          </a:graphicData>
        </a:graphic>
      </p:graphicFrame>
      <p:sp>
        <p:nvSpPr>
          <p:cNvPr id="8" name="setup-guide">
            <a:extLst xmlns:a="http://schemas.openxmlformats.org/drawingml/2006/main">
              <a:ext uri="{FF2B5EF4-FFF2-40B4-BE49-F238E27FC236}">
                <a16:creationId xmlns:a16="http://schemas.microsoft.com/office/drawing/2014/main" id="{6F6614B3-626E-48C4-BAD8-E127F997C405}"/>
              </a:ext>
            </a:extLst>
          </p:cNvPr>
          <p:cNvSpPr>
            <a:spLocks xmlns:a="http://schemas.openxmlformats.org/drawingml/2006/main" noGrp="1"/>
          </p:cNvSpPr>
          <p:nvPr/>
        </p:nvSpPr>
        <p:spPr>
          <a:xfrm xmlns:a="http://schemas.openxmlformats.org/drawingml/2006/main">
            <a:off x="533400" y="5219700"/>
            <a:ext cx="1112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1">
                <a:solidFill>
                  <a:srgbClr val="123D5A"/>
                </a:solidFill>
                <a:latin typeface="Arial"/>
                <a:ea typeface="Arial"/>
                <a:cs typeface="Arial"/>
              </a:defRPr>
            </a:defPPr>
          </a:lstStyle>
          <a:p xmlns:a="http://schemas.openxmlformats.org/drawingml/2006/main">
            <a:pPr algn="l">
              <a:buNone/>
              <a:defRPr sz="1950" b="1">
                <a:solidFill>
                  <a:srgbClr val="123D5A"/>
                </a:solidFill>
                <a:latin typeface="Arial"/>
                <a:ea typeface="Arial"/>
                <a:cs typeface="Arial"/>
              </a:defRPr>
            </a:pPr>
            <a:r>
              <a:rPr sz="1950" b="1">
                <a:solidFill>
                  <a:srgbClr val="123D5A"/>
                </a:solidFill>
                <a:latin typeface="Arial"/>
                <a:ea typeface="Arial"/>
                <a:cs typeface="Arial"/>
              </a:rPr>
              <a:t>Before Lab 1: SETUP.md, then 00_sandbox_preflight.ipynb.</a:t>
            </a:r>
          </a:p>
        </p:txBody>
      </p:sp>
      <p:sp>
        <p:nvSpPr>
          <p:cNvPr id="9" name="setup-mode">
            <a:extLst xmlns:a="http://schemas.openxmlformats.org/drawingml/2006/main">
              <a:ext uri="{FF2B5EF4-FFF2-40B4-BE49-F238E27FC236}">
                <a16:creationId xmlns:a16="http://schemas.microsoft.com/office/drawing/2014/main" id="{5B2CE68E-88CF-4BCC-AB23-5F204CB5A8BD}"/>
              </a:ext>
            </a:extLst>
          </p:cNvPr>
          <p:cNvSpPr>
            <a:spLocks xmlns:a="http://schemas.openxmlformats.org/drawingml/2006/main" noGrp="1"/>
          </p:cNvSpPr>
          <p:nvPr/>
        </p:nvSpPr>
        <p:spPr>
          <a:xfrm xmlns:a="http://schemas.openxmlformats.org/drawingml/2006/main">
            <a:off x="533400" y="576262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650" b="0">
                <a:solidFill>
                  <a:srgbClr val="446579"/>
                </a:solidFill>
                <a:latin typeface="Arial"/>
                <a:ea typeface="Arial"/>
                <a:cs typeface="Arial"/>
              </a:defRPr>
            </a:defPPr>
          </a:lstStyle>
          <a:p xmlns:a="http://schemas.openxmlformats.org/drawingml/2006/main">
            <a:pPr algn="l">
              <a:buNone/>
              <a:defRPr sz="1650" b="0">
                <a:solidFill>
                  <a:srgbClr val="446579"/>
                </a:solidFill>
                <a:latin typeface="Arial"/>
                <a:ea typeface="Arial"/>
                <a:cs typeface="Arial"/>
              </a:defRPr>
            </a:pPr>
            <a:r>
              <a:rPr sz="1650" b="0">
                <a:solidFill>
                  <a:srgbClr val="446579"/>
                </a:solidFill>
                <a:latin typeface="Arial"/>
                <a:ea typeface="Arial"/>
                <a:cs typeface="Arial"/>
              </a:rPr>
              <a:t>Python 3.12 · requirements-workshop.txt · local JupyterLab · no provider key required</a:t>
            </a:r>
          </a:p>
        </p:txBody>
      </p:sp>
      <p:sp>
        <p:nvSpPr>
          <p:cNvPr id="11" name="footer-reference">
            <a:extLst xmlns:a="http://schemas.openxmlformats.org/drawingml/2006/main">
              <a:ext uri="{FF2B5EF4-FFF2-40B4-BE49-F238E27FC236}">
                <a16:creationId xmlns:a16="http://schemas.microsoft.com/office/drawing/2014/main" id="{93F3696A-106C-4404-8F3F-15A58FFB9B60}"/>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fd00db5eb3d44ccb"/>
              </a:rPr>
              <a:t>Setup guide</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95cea04cbe2f4db0"/>
              </a:rPr>
              <a:t>notebook manifest</a:t>
            </a:r>
          </a:p>
        </p:txBody>
      </p:sp>
    </p:spTree>
    <p:extLst>
      <p:ext uri="{BB962C8B-B14F-4D97-AF65-F5344CB8AC3E}">
        <p14:creationId xmlns:p14="http://schemas.microsoft.com/office/powerpoint/2010/main" val="86599005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2DAAAF87-82C6-42CC-B665-A2E761CC873F}"/>
              </a:ext>
            </a:extLst>
          </p:cNvPr>
          <p:cNvPicPr>
            <a:picLocks xmlns:a="http://schemas.openxmlformats.org/drawingml/2006/main" noChangeAspect="1"/>
          </p:cNvPicPr>
          <p:nvPr/>
        </p:nvPicPr>
        <p:blipFill>
          <a:blip xmlns:r="http://schemas.openxmlformats.org/officeDocument/2006/relationships" xmlns:a="http://schemas.openxmlformats.org/drawingml/2006/main" r:embed="Rc92ed6cc904447c0"/>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442F3199-5BE4-484C-98C8-28537E83D0DA}"/>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FC945C78-09B3-422C-825E-2F83807FE67C}"/>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673D8127-32A5-445F-960F-458411BBD41D}"/>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Context Engineering: Typed Contracts</a:t>
            </a:r>
          </a:p>
        </p:txBody>
      </p:sp>
      <p:sp>
        <p:nvSpPr>
          <p:cNvPr id="5" name="footer-course">
            <a:extLst xmlns:a="http://schemas.openxmlformats.org/drawingml/2006/main">
              <a:ext uri="{FF2B5EF4-FFF2-40B4-BE49-F238E27FC236}">
                <a16:creationId xmlns:a16="http://schemas.microsoft.com/office/drawing/2014/main" id="{A7A600F5-69BC-403E-B306-1F954EFAF4E9}"/>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stStyle>
          <a:p xmlns:a="http://schemas.openxmlformats.org/drawingml/2006/main">
            <a:pPr algn="l">
              <a:buNone/>
              <a:defRPr sz="1125" b="0">
                <a:solidFill>
                  <a:srgbClr val="446579"/>
                </a:solidFill>
                <a:latin typeface="Arial"/>
                <a:ea typeface="Arial"/>
                <a:cs typeface="Arial"/>
              </a:defRPr>
            </a:pPr>
            <a:r>
              <a:rPr sz="1125" b="0">
                <a:solidFill>
                  <a:srgbClr val="446579"/>
                </a:solidFill>
                <a:latin typeface="Arial"/>
                <a:ea typeface="Arial"/>
                <a:cs typeface="Arial"/>
              </a:rPr>
              <a:t>Managing Multi-Agent Teams</a:t>
            </a:r>
          </a:p>
        </p:txBody>
      </p:sp>
      <p:sp>
        <p:nvSpPr>
          <p:cNvPr id="6" name="footer-number">
            <a:extLst xmlns:a="http://schemas.openxmlformats.org/drawingml/2006/main">
              <a:ext uri="{FF2B5EF4-FFF2-40B4-BE49-F238E27FC236}">
                <a16:creationId xmlns:a16="http://schemas.microsoft.com/office/drawing/2014/main" id="{C9187753-310D-4010-A156-E1BD28F95072}"/>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07</a:t>
            </a:r>
          </a:p>
        </p:txBody>
      </p:sp>
      <p:sp>
        <p:nvSpPr>
          <p:cNvPr id="7" name="contract-intent">
            <a:extLst xmlns:a="http://schemas.openxmlformats.org/drawingml/2006/main">
              <a:ext uri="{FF2B5EF4-FFF2-40B4-BE49-F238E27FC236}">
                <a16:creationId xmlns:a16="http://schemas.microsoft.com/office/drawing/2014/main" id="{4349B44A-8D25-4007-A826-502E68CDF84E}"/>
              </a:ext>
            </a:extLst>
          </p:cNvPr>
          <p:cNvSpPr>
            <a:spLocks xmlns:a="http://schemas.openxmlformats.org/drawingml/2006/main" noGrp="1"/>
          </p:cNvSpPr>
          <p:nvPr/>
        </p:nvSpPr>
        <p:spPr>
          <a:xfrm xmlns:a="http://schemas.openxmlformats.org/drawingml/2006/main">
            <a:off x="533400" y="1914525"/>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23D5A"/>
                </a:solidFill>
                <a:latin typeface="Arial"/>
                <a:ea typeface="Arial"/>
                <a:cs typeface="Arial"/>
              </a:defRPr>
            </a:defPPr>
          </a:lstStyle>
          <a:p xmlns:a="http://schemas.openxmlformats.org/drawingml/2006/main">
            <a:pPr algn="l">
              <a:buNone/>
              <a:defRPr sz="2175" b="1">
                <a:solidFill>
                  <a:srgbClr val="123D5A"/>
                </a:solidFill>
                <a:latin typeface="Arial"/>
                <a:ea typeface="Arial"/>
                <a:cs typeface="Arial"/>
              </a:defRPr>
            </a:pPr>
            <a:r>
              <a:rPr sz="2175" b="1">
                <a:solidFill>
                  <a:srgbClr val="123D5A"/>
                </a:solidFill>
                <a:latin typeface="Arial"/>
                <a:ea typeface="Arial"/>
                <a:cs typeface="Arial"/>
              </a:rPr>
              <a:t>Lab 1: specify the artifact and constraints before another role receives it.</a:t>
            </a:r>
          </a:p>
        </p:txBody>
      </p:sp>
      <p:sp>
        <p:nvSpPr>
          <p:cNvPr id="8" name="contract-code">
            <a:extLst xmlns:a="http://schemas.openxmlformats.org/drawingml/2006/main">
              <a:ext uri="{FF2B5EF4-FFF2-40B4-BE49-F238E27FC236}">
                <a16:creationId xmlns:a16="http://schemas.microsoft.com/office/drawing/2014/main" id="{5ED0722E-D435-46DB-96F8-28CE37E3DEC9}"/>
              </a:ext>
            </a:extLst>
          </p:cNvPr>
          <p:cNvSpPr>
            <a:spLocks xmlns:a="http://schemas.openxmlformats.org/drawingml/2006/main" noGrp="1"/>
          </p:cNvSpPr>
          <p:nvPr/>
        </p:nvSpPr>
        <p:spPr>
          <a:xfrm xmlns:a="http://schemas.openxmlformats.org/drawingml/2006/main">
            <a:off x="533400" y="2714625"/>
            <a:ext cx="111252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Courier New"/>
                <a:ea typeface="Courier New"/>
                <a:cs typeface="Courier New"/>
              </a:defRPr>
            </a:defPPr>
          </a:lstStyle>
          <a:p xmlns:a="http://schemas.openxmlformats.org/drawingml/2006/main">
            <a:pPr algn="l">
              <a:buNone/>
              <a:defRPr sz="1725" b="0">
                <a:solidFill>
                  <a:srgbClr val="183D50"/>
                </a:solidFill>
                <a:latin typeface="Courier New"/>
                <a:ea typeface="Courier New"/>
                <a:cs typeface="Courier New"/>
              </a:defRPr>
            </a:pPr>
            <a:r>
              <a:rPr sz="1725" b="0">
                <a:solidFill>
                  <a:srgbClr val="183D50"/>
                </a:solidFill>
                <a:latin typeface="Courier New"/>
                <a:ea typeface="Courier New"/>
                <a:cs typeface="Courier New"/>
              </a:rPr>
              <a:t>class StrictResearchOutput(BaseModel):</a:t>
            </a:r>
          </a:p>
          <a:p xmlns:a="http://schemas.openxmlformats.org/drawingml/2006/main">
            <a:pPr algn="l">
              <a:buNone/>
              <a:defRPr sz="1725" b="0">
                <a:solidFill>
                  <a:srgbClr val="183D50"/>
                </a:solidFill>
                <a:latin typeface="Courier New"/>
                <a:ea typeface="Courier New"/>
                <a:cs typeface="Courier New"/>
              </a:defRPr>
            </a:pPr>
            <a:r>
              <a:rPr sz="1725" b="0">
                <a:solidFill>
                  <a:srgbClr val="183D50"/>
                </a:solidFill>
                <a:latin typeface="Courier New"/>
                <a:ea typeface="Courier New"/>
                <a:cs typeface="Courier New"/>
              </a:rPr>
              <a:t>    model_config = ConfigDict(extra="forbid")</a:t>
            </a:r>
          </a:p>
          <a:p xmlns:a="http://schemas.openxmlformats.org/drawingml/2006/main">
            <a:pPr algn="l">
              <a:buNone/>
              <a:defRPr sz="1725" b="0">
                <a:solidFill>
                  <a:srgbClr val="183D50"/>
                </a:solidFill>
                <a:latin typeface="Courier New"/>
                <a:ea typeface="Courier New"/>
                <a:cs typeface="Courier New"/>
              </a:defRPr>
            </a:pPr>
            <a:r>
              <a:rPr sz="1725" b="0">
                <a:solidFill>
                  <a:srgbClr val="183D50"/>
                </a:solidFill>
                <a:latin typeface="Courier New"/>
                <a:ea typeface="Courier New"/>
                <a:cs typeface="Courier New"/>
              </a:rPr>
              <a:t>    topic: str</a:t>
            </a:r>
          </a:p>
          <a:p xmlns:a="http://schemas.openxmlformats.org/drawingml/2006/main">
            <a:pPr algn="l">
              <a:buNone/>
              <a:defRPr sz="1725" b="0">
                <a:solidFill>
                  <a:srgbClr val="183D50"/>
                </a:solidFill>
                <a:latin typeface="Courier New"/>
                <a:ea typeface="Courier New"/>
                <a:cs typeface="Courier New"/>
              </a:defRPr>
            </a:pPr>
            <a:r>
              <a:rPr sz="1725" b="0">
                <a:solidFill>
                  <a:srgbClr val="183D50"/>
                </a:solidFill>
                <a:latin typeface="Courier New"/>
                <a:ea typeface="Courier New"/>
                <a:cs typeface="Courier New"/>
              </a:rPr>
              <a:t>    confidence_score: float = Field(ge=0.0, le=1.0)</a:t>
            </a:r>
          </a:p>
          <a:p xmlns:a="http://schemas.openxmlformats.org/drawingml/2006/main">
            <a:pPr algn="l">
              <a:buNone/>
              <a:defRPr sz="1725" b="0">
                <a:solidFill>
                  <a:srgbClr val="183D50"/>
                </a:solidFill>
                <a:latin typeface="Courier New"/>
                <a:ea typeface="Courier New"/>
                <a:cs typeface="Courier New"/>
              </a:defRPr>
            </a:pPr>
            <a:r>
              <a:rPr sz="1725" b="0">
                <a:solidFill>
                  <a:srgbClr val="183D50"/>
                </a:solidFill>
                <a:latin typeface="Courier New"/>
                <a:ea typeface="Courier New"/>
                <a:cs typeface="Courier New"/>
              </a:rPr>
              <a:t>    findings: list[str]</a:t>
            </a:r>
          </a:p>
        </p:txBody>
      </p:sp>
      <p:sp>
        <p:nvSpPr>
          <p:cNvPr id="9" name="contract-evidence">
            <a:extLst xmlns:a="http://schemas.openxmlformats.org/drawingml/2006/main">
              <a:ext uri="{FF2B5EF4-FFF2-40B4-BE49-F238E27FC236}">
                <a16:creationId xmlns:a16="http://schemas.microsoft.com/office/drawing/2014/main" id="{0ED8AC50-8015-4641-BE94-0FBFD106E418}"/>
              </a:ext>
            </a:extLst>
          </p:cNvPr>
          <p:cNvSpPr>
            <a:spLocks xmlns:a="http://schemas.openxmlformats.org/drawingml/2006/main" noGrp="1"/>
          </p:cNvSpPr>
          <p:nvPr/>
        </p:nvSpPr>
        <p:spPr>
          <a:xfrm xmlns:a="http://schemas.openxmlformats.org/drawingml/2006/main">
            <a:off x="533400" y="5076825"/>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007DBA"/>
                </a:solidFill>
                <a:latin typeface="Arial"/>
                <a:ea typeface="Arial"/>
                <a:cs typeface="Arial"/>
              </a:defRPr>
            </a:defPPr>
          </a:lstStyle>
          <a:p xmlns:a="http://schemas.openxmlformats.org/drawingml/2006/main">
            <a:pPr algn="l">
              <a:buNone/>
              <a:defRPr sz="2025" b="1">
                <a:solidFill>
                  <a:srgbClr val="007DBA"/>
                </a:solidFill>
                <a:latin typeface="Arial"/>
                <a:ea typeface="Arial"/>
                <a:cs typeface="Arial"/>
              </a:defRPr>
            </a:pPr>
            <a:r>
              <a:rPr sz="2025" b="1">
                <a:solidFill>
                  <a:srgbClr val="007DBA"/>
                </a:solidFill>
                <a:latin typeface="Arial"/>
                <a:ea typeface="Arial"/>
                <a:cs typeface="Arial"/>
              </a:rPr>
              <a:t>Accept a valid fixture. Reject confidence_score=150.5 and an undeclared field.</a:t>
            </a:r>
          </a:p>
        </p:txBody>
      </p:sp>
      <p:sp>
        <p:nvSpPr>
          <p:cNvPr id="10" name="contract-limit">
            <a:extLst xmlns:a="http://schemas.openxmlformats.org/drawingml/2006/main">
              <a:ext uri="{FF2B5EF4-FFF2-40B4-BE49-F238E27FC236}">
                <a16:creationId xmlns:a16="http://schemas.microsoft.com/office/drawing/2014/main" id="{BA944E49-5B2E-4F0E-A445-35B287D6549F}"/>
              </a:ext>
            </a:extLst>
          </p:cNvPr>
          <p:cNvSpPr>
            <a:spLocks xmlns:a="http://schemas.openxmlformats.org/drawingml/2006/main" noGrp="1"/>
          </p:cNvSpPr>
          <p:nvPr/>
        </p:nvSpPr>
        <p:spPr>
          <a:xfrm xmlns:a="http://schemas.openxmlformats.org/drawingml/2006/main">
            <a:off x="533400" y="577215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650" b="0">
                <a:solidFill>
                  <a:srgbClr val="446579"/>
                </a:solidFill>
                <a:latin typeface="Arial"/>
                <a:ea typeface="Arial"/>
                <a:cs typeface="Arial"/>
              </a:defRPr>
            </a:defPPr>
          </a:lstStyle>
          <a:p xmlns:a="http://schemas.openxmlformats.org/drawingml/2006/main">
            <a:pPr algn="l">
              <a:buNone/>
              <a:defRPr sz="1650" b="0">
                <a:solidFill>
                  <a:srgbClr val="446579"/>
                </a:solidFill>
                <a:latin typeface="Arial"/>
                <a:ea typeface="Arial"/>
                <a:cs typeface="Arial"/>
              </a:defRPr>
            </a:pPr>
            <a:r>
              <a:rPr sz="1650" b="0">
                <a:solidFill>
                  <a:srgbClr val="446579"/>
                </a:solidFill>
                <a:latin typeface="Arial"/>
                <a:ea typeface="Arial"/>
                <a:cs typeface="Arial"/>
              </a:rPr>
              <a:t>A schema checks declared constraints. It cannot establish that a finding or test-status claim is true.</a:t>
            </a:r>
          </a:p>
        </p:txBody>
      </p:sp>
      <p:sp>
        <p:nvSpPr>
          <p:cNvPr id="12" name="footer-reference">
            <a:extLst xmlns:a="http://schemas.openxmlformats.org/drawingml/2006/main">
              <a:ext uri="{FF2B5EF4-FFF2-40B4-BE49-F238E27FC236}">
                <a16:creationId xmlns:a16="http://schemas.microsoft.com/office/drawing/2014/main" id="{E1668168-22A6-4C5A-B7B5-63FCA9A98089}"/>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714b40cef21d4ac3"/>
              </a:rPr>
              <a:t>Pydantic fields</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ecf3e2840ff249b2"/>
              </a:rPr>
              <a:t>Lab 1</a:t>
            </a:r>
          </a:p>
        </p:txBody>
      </p:sp>
    </p:spTree>
    <p:extLst>
      <p:ext uri="{BB962C8B-B14F-4D97-AF65-F5344CB8AC3E}">
        <p14:creationId xmlns:p14="http://schemas.microsoft.com/office/powerpoint/2010/main" val="136476411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ECE6D39C-14A9-4519-A5C2-9E838870736C}"/>
              </a:ext>
            </a:extLst>
          </p:cNvPr>
          <p:cNvCxnSpPr>
            <a:stCxn xmlns:a="http://schemas.openxmlformats.org/drawingml/2006/main" id="10" idx="3"/>
            <a:endCxn xmlns:a="http://schemas.openxmlformats.org/drawingml/2006/main" id="13" idx="1"/>
          </p:cNvCxnSpPr>
          <p:nvPr/>
        </p:nvCxnSpPr>
        <p:spPr>
          <a:xfrm xmlns:a="http://schemas.openxmlformats.org/drawingml/2006/main">
            <a:off x="7715250" y="2728913"/>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cxnSp>
        <p:nvCxnSpPr>
          <p:cNvPr id="16" name="">
            <a:extLst xmlns:a="http://schemas.openxmlformats.org/drawingml/2006/main">
              <a:ext uri="{FF2B5EF4-FFF2-40B4-BE49-F238E27FC236}">
                <a16:creationId xmlns:a16="http://schemas.microsoft.com/office/drawing/2014/main" id="{8AD8A80E-9EEE-435C-901C-C9DDDDB98C5A}"/>
              </a:ext>
            </a:extLst>
          </p:cNvPr>
          <p:cNvCxnSpPr>
            <a:stCxn xmlns:a="http://schemas.openxmlformats.org/drawingml/2006/main" id="7" idx="3"/>
            <a:endCxn xmlns:a="http://schemas.openxmlformats.org/drawingml/2006/main" id="10" idx="1"/>
          </p:cNvCxnSpPr>
          <p:nvPr/>
        </p:nvCxnSpPr>
        <p:spPr>
          <a:xfrm xmlns:a="http://schemas.openxmlformats.org/drawingml/2006/main">
            <a:off x="3771900" y="2728913"/>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pic>
        <p:nvPicPr>
          <p:cNvPr id="21" name="">
            <a:extLst xmlns:a="http://schemas.openxmlformats.org/drawingml/2006/main">
              <a:ext uri="{FF2B5EF4-FFF2-40B4-BE49-F238E27FC236}">
                <a16:creationId xmlns:a16="http://schemas.microsoft.com/office/drawing/2014/main" id="{7B892781-6DB7-421A-937C-F0B0CC6C765C}"/>
              </a:ext>
            </a:extLst>
          </p:cNvPr>
          <p:cNvPicPr>
            <a:picLocks xmlns:a="http://schemas.openxmlformats.org/drawingml/2006/main" noChangeAspect="1"/>
          </p:cNvPicPr>
          <p:nvPr/>
        </p:nvPicPr>
        <p:blipFill>
          <a:blip xmlns:r="http://schemas.openxmlformats.org/officeDocument/2006/relationships" xmlns:a="http://schemas.openxmlformats.org/drawingml/2006/main" r:embed="R53ae5031d496437b"/>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6DCFF24D-F983-4ADB-B438-4BDD4377AA7D}"/>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523F083A-D701-4CCF-B87C-EEF10C152843}"/>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66E9DC53-3E69-40A4-A272-707C2423D68B}"/>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Code Auditing: Roles and Context</a:t>
            </a:r>
          </a:p>
        </p:txBody>
      </p:sp>
      <p:sp>
        <p:nvSpPr>
          <p:cNvPr id="5" name="footer-course">
            <a:extLst xmlns:a="http://schemas.openxmlformats.org/drawingml/2006/main">
              <a:ext uri="{FF2B5EF4-FFF2-40B4-BE49-F238E27FC236}">
                <a16:creationId xmlns:a16="http://schemas.microsoft.com/office/drawing/2014/main" id="{5F7697AB-890A-4BE8-A99E-745C92BD3D55}"/>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stStyle>
          <a:p xmlns:a="http://schemas.openxmlformats.org/drawingml/2006/main">
            <a:pPr algn="l">
              <a:buNone/>
              <a:defRPr sz="1125" b="0">
                <a:solidFill>
                  <a:srgbClr val="446579"/>
                </a:solidFill>
                <a:latin typeface="Arial"/>
                <a:ea typeface="Arial"/>
                <a:cs typeface="Arial"/>
              </a:defRPr>
            </a:pPr>
            <a:r>
              <a:rPr sz="1125" b="0">
                <a:solidFill>
                  <a:srgbClr val="446579"/>
                </a:solidFill>
                <a:latin typeface="Arial"/>
                <a:ea typeface="Arial"/>
                <a:cs typeface="Arial"/>
              </a:rPr>
              <a:t>Managing Multi-Agent Teams</a:t>
            </a:r>
          </a:p>
        </p:txBody>
      </p:sp>
      <p:sp>
        <p:nvSpPr>
          <p:cNvPr id="6" name="footer-number">
            <a:extLst xmlns:a="http://schemas.openxmlformats.org/drawingml/2006/main">
              <a:ext uri="{FF2B5EF4-FFF2-40B4-BE49-F238E27FC236}">
                <a16:creationId xmlns:a16="http://schemas.microsoft.com/office/drawing/2014/main" id="{7964C30D-09AD-453F-BA2A-AA030AB549DB}"/>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08</a:t>
            </a:r>
          </a:p>
        </p:txBody>
      </p:sp>
      <p:sp>
        <p:nvSpPr>
          <p:cNvPr id="7" name="manager">
            <a:extLst xmlns:a="http://schemas.openxmlformats.org/drawingml/2006/main">
              <a:ext uri="{FF2B5EF4-FFF2-40B4-BE49-F238E27FC236}">
                <a16:creationId xmlns:a16="http://schemas.microsoft.com/office/drawing/2014/main" id="{1398196C-D490-4564-A7C1-3901568DA27D}"/>
              </a:ext>
            </a:extLst>
          </p:cNvPr>
          <p:cNvSpPr>
            <a:spLocks xmlns:a="http://schemas.openxmlformats.org/drawingml/2006/main" noGrp="1"/>
          </p:cNvSpPr>
          <p:nvPr/>
        </p:nvSpPr>
        <p:spPr>
          <a:xfrm xmlns:a="http://schemas.openxmlformats.org/drawingml/2006/main">
            <a:off x="533400" y="2076450"/>
            <a:ext cx="3238500" cy="1304925"/>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8" name="manager-head">
            <a:extLst xmlns:a="http://schemas.openxmlformats.org/drawingml/2006/main">
              <a:ext uri="{FF2B5EF4-FFF2-40B4-BE49-F238E27FC236}">
                <a16:creationId xmlns:a16="http://schemas.microsoft.com/office/drawing/2014/main" id="{EE00868D-92FC-4ABA-BFB6-F92F7E19E83C}"/>
              </a:ext>
            </a:extLst>
          </p:cNvPr>
          <p:cNvSpPr>
            <a:spLocks xmlns:a="http://schemas.openxmlformats.org/drawingml/2006/main" noGrp="1"/>
          </p:cNvSpPr>
          <p:nvPr/>
        </p:nvSpPr>
        <p:spPr>
          <a:xfrm xmlns:a="http://schemas.openxmlformats.org/drawingml/2006/main">
            <a:off x="704850" y="220027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Manager</a:t>
            </a:r>
          </a:p>
        </p:txBody>
      </p:sp>
      <p:sp>
        <p:nvSpPr>
          <p:cNvPr id="9" name="manager-body">
            <a:extLst xmlns:a="http://schemas.openxmlformats.org/drawingml/2006/main">
              <a:ext uri="{FF2B5EF4-FFF2-40B4-BE49-F238E27FC236}">
                <a16:creationId xmlns:a16="http://schemas.microsoft.com/office/drawing/2014/main" id="{801402F0-7752-49D2-8FED-C87E2FBE995F}"/>
              </a:ext>
            </a:extLst>
          </p:cNvPr>
          <p:cNvSpPr>
            <a:spLocks xmlns:a="http://schemas.openxmlformats.org/drawingml/2006/main" noGrp="1"/>
          </p:cNvSpPr>
          <p:nvPr/>
        </p:nvSpPr>
        <p:spPr>
          <a:xfrm xmlns:a="http://schemas.openxmlformats.org/drawingml/2006/main">
            <a:off x="704850" y="2571750"/>
            <a:ext cx="2895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approve_code_tool</a:t>
            </a:r>
          </a:p>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Delegation enabled</a:t>
            </a:r>
          </a:p>
        </p:txBody>
      </p:sp>
      <p:sp>
        <p:nvSpPr>
          <p:cNvPr id="10" name="coder">
            <a:extLst xmlns:a="http://schemas.openxmlformats.org/drawingml/2006/main">
              <a:ext uri="{FF2B5EF4-FFF2-40B4-BE49-F238E27FC236}">
                <a16:creationId xmlns:a16="http://schemas.microsoft.com/office/drawing/2014/main" id="{BF80AFD5-DA81-430D-A711-8A668460542E}"/>
              </a:ext>
            </a:extLst>
          </p:cNvPr>
          <p:cNvSpPr>
            <a:spLocks xmlns:a="http://schemas.openxmlformats.org/drawingml/2006/main" noGrp="1"/>
          </p:cNvSpPr>
          <p:nvPr/>
        </p:nvSpPr>
        <p:spPr>
          <a:xfrm xmlns:a="http://schemas.openxmlformats.org/drawingml/2006/main">
            <a:off x="4476750" y="2076450"/>
            <a:ext cx="3238500" cy="1304925"/>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1" name="coder-head">
            <a:extLst xmlns:a="http://schemas.openxmlformats.org/drawingml/2006/main">
              <a:ext uri="{FF2B5EF4-FFF2-40B4-BE49-F238E27FC236}">
                <a16:creationId xmlns:a16="http://schemas.microsoft.com/office/drawing/2014/main" id="{196ABC31-2B77-4FD6-AFDA-5E1E82F5084D}"/>
              </a:ext>
            </a:extLst>
          </p:cNvPr>
          <p:cNvSpPr>
            <a:spLocks xmlns:a="http://schemas.openxmlformats.org/drawingml/2006/main" noGrp="1"/>
          </p:cNvSpPr>
          <p:nvPr/>
        </p:nvSpPr>
        <p:spPr>
          <a:xfrm xmlns:a="http://schemas.openxmlformats.org/drawingml/2006/main">
            <a:off x="4648200" y="220027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Coder</a:t>
            </a:r>
          </a:p>
        </p:txBody>
      </p:sp>
      <p:sp>
        <p:nvSpPr>
          <p:cNvPr id="12" name="coder-body">
            <a:extLst xmlns:a="http://schemas.openxmlformats.org/drawingml/2006/main">
              <a:ext uri="{FF2B5EF4-FFF2-40B4-BE49-F238E27FC236}">
                <a16:creationId xmlns:a16="http://schemas.microsoft.com/office/drawing/2014/main" id="{9A433F6D-444B-4B66-AC95-0F06D8F9C47F}"/>
              </a:ext>
            </a:extLst>
          </p:cNvPr>
          <p:cNvSpPr>
            <a:spLocks xmlns:a="http://schemas.openxmlformats.org/drawingml/2006/main" noGrp="1"/>
          </p:cNvSpPr>
          <p:nvPr/>
        </p:nvSpPr>
        <p:spPr>
          <a:xfrm xmlns:a="http://schemas.openxmlformats.org/drawingml/2006/main">
            <a:off x="4648200" y="2571750"/>
            <a:ext cx="2895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write_code_tool</a:t>
            </a:r>
          </a:p>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Returns CodePatch</a:t>
            </a:r>
          </a:p>
        </p:txBody>
      </p:sp>
      <p:sp>
        <p:nvSpPr>
          <p:cNvPr id="13" name="qa">
            <a:extLst xmlns:a="http://schemas.openxmlformats.org/drawingml/2006/main">
              <a:ext uri="{FF2B5EF4-FFF2-40B4-BE49-F238E27FC236}">
                <a16:creationId xmlns:a16="http://schemas.microsoft.com/office/drawing/2014/main" id="{82D528CF-A3C9-4F75-A89A-CCD625054840}"/>
              </a:ext>
            </a:extLst>
          </p:cNvPr>
          <p:cNvSpPr>
            <a:spLocks xmlns:a="http://schemas.openxmlformats.org/drawingml/2006/main" noGrp="1"/>
          </p:cNvSpPr>
          <p:nvPr/>
        </p:nvSpPr>
        <p:spPr>
          <a:xfrm xmlns:a="http://schemas.openxmlformats.org/drawingml/2006/main">
            <a:off x="8420100" y="2076450"/>
            <a:ext cx="3238500" cy="1304925"/>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4" name="qa-head">
            <a:extLst xmlns:a="http://schemas.openxmlformats.org/drawingml/2006/main">
              <a:ext uri="{FF2B5EF4-FFF2-40B4-BE49-F238E27FC236}">
                <a16:creationId xmlns:a16="http://schemas.microsoft.com/office/drawing/2014/main" id="{A26D8E2A-BC72-4400-8499-9ABC8CD03DAE}"/>
              </a:ext>
            </a:extLst>
          </p:cNvPr>
          <p:cNvSpPr>
            <a:spLocks xmlns:a="http://schemas.openxmlformats.org/drawingml/2006/main" noGrp="1"/>
          </p:cNvSpPr>
          <p:nvPr/>
        </p:nvSpPr>
        <p:spPr>
          <a:xfrm xmlns:a="http://schemas.openxmlformats.org/drawingml/2006/main">
            <a:off x="8591550" y="220027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QA Auditor</a:t>
            </a:r>
          </a:p>
        </p:txBody>
      </p:sp>
      <p:sp>
        <p:nvSpPr>
          <p:cNvPr id="15" name="qa-body">
            <a:extLst xmlns:a="http://schemas.openxmlformats.org/drawingml/2006/main">
              <a:ext uri="{FF2B5EF4-FFF2-40B4-BE49-F238E27FC236}">
                <a16:creationId xmlns:a16="http://schemas.microsoft.com/office/drawing/2014/main" id="{808F1720-AACB-40FC-92FF-A6EC6F9D64E5}"/>
              </a:ext>
            </a:extLst>
          </p:cNvPr>
          <p:cNvSpPr>
            <a:spLocks xmlns:a="http://schemas.openxmlformats.org/drawingml/2006/main" noGrp="1"/>
          </p:cNvSpPr>
          <p:nvPr/>
        </p:nvSpPr>
        <p:spPr>
          <a:xfrm xmlns:a="http://schemas.openxmlformats.org/drawingml/2006/main">
            <a:off x="8591550" y="2571750"/>
            <a:ext cx="2895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run_tests_tool</a:t>
            </a:r>
          </a:p>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Declares QAReport</a:t>
            </a:r>
          </a:p>
        </p:txBody>
      </p:sp>
      <p:sp>
        <p:nvSpPr>
          <p:cNvPr id="18" name="team-context">
            <a:extLst xmlns:a="http://schemas.openxmlformats.org/drawingml/2006/main">
              <a:ext uri="{FF2B5EF4-FFF2-40B4-BE49-F238E27FC236}">
                <a16:creationId xmlns:a16="http://schemas.microsoft.com/office/drawing/2014/main" id="{E3D48991-BB7B-4F5C-85F7-A84F363C4A29}"/>
              </a:ext>
            </a:extLst>
          </p:cNvPr>
          <p:cNvSpPr>
            <a:spLocks xmlns:a="http://schemas.openxmlformats.org/drawingml/2006/main" noGrp="1"/>
          </p:cNvSpPr>
          <p:nvPr/>
        </p:nvSpPr>
        <p:spPr>
          <a:xfrm xmlns:a="http://schemas.openxmlformats.org/drawingml/2006/main">
            <a:off x="533400" y="3781425"/>
            <a:ext cx="1112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123D5A"/>
                </a:solidFill>
                <a:latin typeface="Arial"/>
                <a:ea typeface="Arial"/>
                <a:cs typeface="Arial"/>
              </a:defRPr>
            </a:defPPr>
          </a:lstStyle>
          <a:p xmlns:a="http://schemas.openxmlformats.org/drawingml/2006/main">
            <a:pPr algn="l">
              <a:buNone/>
              <a:defRPr sz="2100" b="1">
                <a:solidFill>
                  <a:srgbClr val="123D5A"/>
                </a:solidFill>
                <a:latin typeface="Arial"/>
                <a:ea typeface="Arial"/>
                <a:cs typeface="Arial"/>
              </a:defRPr>
            </a:pPr>
            <a:r>
              <a:rPr sz="2100" b="1">
                <a:solidFill>
                  <a:srgbClr val="123D5A"/>
                </a:solidFill>
                <a:latin typeface="Arial"/>
                <a:ea typeface="Arial"/>
                <a:cs typeface="Arial"/>
              </a:rPr>
              <a:t>Shared rules: team_log supplies the Architect brief.</a:t>
            </a:r>
          </a:p>
        </p:txBody>
      </p:sp>
      <p:sp>
        <p:nvSpPr>
          <p:cNvPr id="19" name="team-context-code">
            <a:extLst xmlns:a="http://schemas.openxmlformats.org/drawingml/2006/main">
              <a:ext uri="{FF2B5EF4-FFF2-40B4-BE49-F238E27FC236}">
                <a16:creationId xmlns:a16="http://schemas.microsoft.com/office/drawing/2014/main" id="{0110D759-3AD7-495F-A5FB-B7845E41D47C}"/>
              </a:ext>
            </a:extLst>
          </p:cNvPr>
          <p:cNvSpPr>
            <a:spLocks xmlns:a="http://schemas.openxmlformats.org/drawingml/2006/main" noGrp="1"/>
          </p:cNvSpPr>
          <p:nvPr/>
        </p:nvSpPr>
        <p:spPr>
          <a:xfrm xmlns:a="http://schemas.openxmlformats.org/drawingml/2006/main">
            <a:off x="533400" y="4410075"/>
            <a:ext cx="11125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83D50"/>
                </a:solidFill>
                <a:latin typeface="Courier New"/>
                <a:ea typeface="Courier New"/>
                <a:cs typeface="Courier New"/>
              </a:defRPr>
            </a:defPPr>
          </a:lstStyle>
          <a:p xmlns:a="http://schemas.openxmlformats.org/drawingml/2006/main">
            <a:pPr algn="l">
              <a:buNone/>
              <a:defRPr sz="1875" b="0">
                <a:solidFill>
                  <a:srgbClr val="183D50"/>
                </a:solidFill>
                <a:latin typeface="Courier New"/>
                <a:ea typeface="Courier New"/>
                <a:cs typeface="Courier New"/>
              </a:defRPr>
            </a:pPr>
            <a:r>
              <a:rPr sz="1875" b="0">
                <a:solidFill>
                  <a:srgbClr val="183D50"/>
                </a:solidFill>
                <a:latin typeface="Courier New"/>
                <a:ea typeface="Courier New"/>
                <a:cs typeface="Courier New"/>
              </a:rPr>
              <a:t>coder_task.context = [architect_task]</a:t>
            </a:r>
          </a:p>
          <a:p xmlns:a="http://schemas.openxmlformats.org/drawingml/2006/main">
            <a:pPr algn="l">
              <a:buNone/>
              <a:defRPr sz="1875" b="0">
                <a:solidFill>
                  <a:srgbClr val="183D50"/>
                </a:solidFill>
                <a:latin typeface="Courier New"/>
                <a:ea typeface="Courier New"/>
                <a:cs typeface="Courier New"/>
              </a:defRPr>
            </a:pPr>
            <a:r>
              <a:rPr sz="1875" b="0">
                <a:solidFill>
                  <a:srgbClr val="183D50"/>
                </a:solidFill>
                <a:latin typeface="Courier New"/>
                <a:ea typeface="Courier New"/>
                <a:cs typeface="Courier New"/>
              </a:rPr>
              <a:t>coder_task.output_pydantic = CodePatch</a:t>
            </a:r>
          </a:p>
        </p:txBody>
      </p:sp>
      <p:sp>
        <p:nvSpPr>
          <p:cNvPr id="20" name="team-proof">
            <a:extLst xmlns:a="http://schemas.openxmlformats.org/drawingml/2006/main">
              <a:ext uri="{FF2B5EF4-FFF2-40B4-BE49-F238E27FC236}">
                <a16:creationId xmlns:a16="http://schemas.microsoft.com/office/drawing/2014/main" id="{BD40F8FF-25AF-4422-9177-85F54C99F2B2}"/>
              </a:ext>
            </a:extLst>
          </p:cNvPr>
          <p:cNvSpPr>
            <a:spLocks xmlns:a="http://schemas.openxmlformats.org/drawingml/2006/main" noGrp="1"/>
          </p:cNvSpPr>
          <p:nvPr/>
        </p:nvSpPr>
        <p:spPr>
          <a:xfrm xmlns:a="http://schemas.openxmlformats.org/drawingml/2006/main">
            <a:off x="533400" y="561975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446579"/>
                </a:solidFill>
                <a:latin typeface="Arial"/>
                <a:ea typeface="Arial"/>
                <a:cs typeface="Arial"/>
              </a:defRPr>
            </a:defPPr>
          </a:lstStyle>
          <a:p xmlns:a="http://schemas.openxmlformats.org/drawingml/2006/main">
            <a:pPr algn="l">
              <a:buNone/>
              <a:defRPr sz="1800" b="0">
                <a:solidFill>
                  <a:srgbClr val="446579"/>
                </a:solidFill>
                <a:latin typeface="Arial"/>
                <a:ea typeface="Arial"/>
                <a:cs typeface="Arial"/>
              </a:defRPr>
            </a:pPr>
            <a:r>
              <a:rPr sz="1800" b="0">
                <a:solidFill>
                  <a:srgbClr val="446579"/>
                </a:solidFill>
                <a:latin typeface="Arial"/>
                <a:ea typeface="Arial"/>
                <a:cs typeface="Arial"/>
              </a:rPr>
              <a:t>Lab 2 checks Manager permissions and the context dependency. The typed response is a local fixture.</a:t>
            </a:r>
          </a:p>
        </p:txBody>
      </p:sp>
      <p:sp>
        <p:nvSpPr>
          <p:cNvPr id="22" name="footer-reference">
            <a:extLst xmlns:a="http://schemas.openxmlformats.org/drawingml/2006/main">
              <a:ext uri="{FF2B5EF4-FFF2-40B4-BE49-F238E27FC236}">
                <a16:creationId xmlns:a16="http://schemas.microsoft.com/office/drawing/2014/main" id="{DCCCDAB5-9403-47A3-8B94-0E87AB26FFD3}"/>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ddcf982451f04faa"/>
              </a:rPr>
              <a:t>CrewAI tasks</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7d6341ff9a6e4c7d"/>
              </a:rPr>
              <a:t>Theory of Mind</a:t>
            </a:r>
          </a:p>
        </p:txBody>
      </p:sp>
    </p:spTree>
    <p:extLst>
      <p:ext uri="{BB962C8B-B14F-4D97-AF65-F5344CB8AC3E}">
        <p14:creationId xmlns:p14="http://schemas.microsoft.com/office/powerpoint/2010/main" val="104517829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020BC5EC-B24A-45D2-BFC0-DBBDBC24968B}"/>
              </a:ext>
            </a:extLst>
          </p:cNvPr>
          <p:cNvCxnSpPr>
            <a:stCxn xmlns:a="http://schemas.openxmlformats.org/drawingml/2006/main" id="11" idx="3"/>
            <a:endCxn xmlns:a="http://schemas.openxmlformats.org/drawingml/2006/main" id="14" idx="1"/>
          </p:cNvCxnSpPr>
          <p:nvPr/>
        </p:nvCxnSpPr>
        <p:spPr>
          <a:xfrm xmlns:a="http://schemas.openxmlformats.org/drawingml/2006/main">
            <a:off x="7715250" y="2971800"/>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cxnSp>
        <p:nvCxnSpPr>
          <p:cNvPr id="17" name="">
            <a:extLst xmlns:a="http://schemas.openxmlformats.org/drawingml/2006/main">
              <a:ext uri="{FF2B5EF4-FFF2-40B4-BE49-F238E27FC236}">
                <a16:creationId xmlns:a16="http://schemas.microsoft.com/office/drawing/2014/main" id="{B802E3CF-139C-4177-BA5E-1288250CE083}"/>
              </a:ext>
            </a:extLst>
          </p:cNvPr>
          <p:cNvCxnSpPr>
            <a:stCxn xmlns:a="http://schemas.openxmlformats.org/drawingml/2006/main" id="8" idx="3"/>
            <a:endCxn xmlns:a="http://schemas.openxmlformats.org/drawingml/2006/main" id="11" idx="1"/>
          </p:cNvCxnSpPr>
          <p:nvPr/>
        </p:nvCxnSpPr>
        <p:spPr>
          <a:xfrm xmlns:a="http://schemas.openxmlformats.org/drawingml/2006/main">
            <a:off x="3771900" y="2971800"/>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pic>
        <p:nvPicPr>
          <p:cNvPr id="24" name="">
            <a:extLst xmlns:a="http://schemas.openxmlformats.org/drawingml/2006/main">
              <a:ext uri="{FF2B5EF4-FFF2-40B4-BE49-F238E27FC236}">
                <a16:creationId xmlns:a16="http://schemas.microsoft.com/office/drawing/2014/main" id="{E1FFEB6C-E63A-4EE7-8E0F-A603814EB257}"/>
              </a:ext>
            </a:extLst>
          </p:cNvPr>
          <p:cNvPicPr>
            <a:picLocks xmlns:a="http://schemas.openxmlformats.org/drawingml/2006/main" noChangeAspect="1"/>
          </p:cNvPicPr>
          <p:nvPr/>
        </p:nvPicPr>
        <p:blipFill>
          <a:blip xmlns:r="http://schemas.openxmlformats.org/officeDocument/2006/relationships" xmlns:a="http://schemas.openxmlformats.org/drawingml/2006/main" r:embed="R86e3579f8a4b45ad"/>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EBB7A2A0-82CE-466E-A0F7-CB084A641C10}"/>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1974ADD2-378D-44C1-B62A-253F745B028F}"/>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AFDAAB41-0FB8-4BB1-BBE4-33C582741920}"/>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Code Validation: Tool Gates and Bounded Repair</a:t>
            </a:r>
          </a:p>
        </p:txBody>
      </p:sp>
      <p:sp>
        <p:nvSpPr>
          <p:cNvPr id="5" name="footer-course">
            <a:extLst xmlns:a="http://schemas.openxmlformats.org/drawingml/2006/main">
              <a:ext uri="{FF2B5EF4-FFF2-40B4-BE49-F238E27FC236}">
                <a16:creationId xmlns:a16="http://schemas.microsoft.com/office/drawing/2014/main" id="{627B5B18-5D3B-4EF4-8F36-38F70DC6932B}"/>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stStyle>
          <a:p xmlns:a="http://schemas.openxmlformats.org/drawingml/2006/main">
            <a:pPr algn="l">
              <a:buNone/>
              <a:defRPr sz="1125" b="0">
                <a:solidFill>
                  <a:srgbClr val="446579"/>
                </a:solidFill>
                <a:latin typeface="Arial"/>
                <a:ea typeface="Arial"/>
                <a:cs typeface="Arial"/>
              </a:defRPr>
            </a:pPr>
            <a:r>
              <a:rPr sz="1125" b="0">
                <a:solidFill>
                  <a:srgbClr val="446579"/>
                </a:solidFill>
                <a:latin typeface="Arial"/>
                <a:ea typeface="Arial"/>
                <a:cs typeface="Arial"/>
              </a:rPr>
              <a:t>Managing Multi-Agent Teams</a:t>
            </a:r>
          </a:p>
        </p:txBody>
      </p:sp>
      <p:sp>
        <p:nvSpPr>
          <p:cNvPr id="6" name="footer-number">
            <a:extLst xmlns:a="http://schemas.openxmlformats.org/drawingml/2006/main">
              <a:ext uri="{FF2B5EF4-FFF2-40B4-BE49-F238E27FC236}">
                <a16:creationId xmlns:a16="http://schemas.microsoft.com/office/drawing/2014/main" id="{C0BCC4B7-16F8-4DC5-B44F-91138C720434}"/>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09</a:t>
            </a:r>
          </a:p>
        </p:txBody>
      </p:sp>
      <p:sp>
        <p:nvSpPr>
          <p:cNvPr id="7" name="tool-gate-head">
            <a:extLst xmlns:a="http://schemas.openxmlformats.org/drawingml/2006/main">
              <a:ext uri="{FF2B5EF4-FFF2-40B4-BE49-F238E27FC236}">
                <a16:creationId xmlns:a16="http://schemas.microsoft.com/office/drawing/2014/main" id="{0083E46B-6B89-4E64-9A6B-3AE2A9B220A3}"/>
              </a:ext>
            </a:extLst>
          </p:cNvPr>
          <p:cNvSpPr>
            <a:spLocks xmlns:a="http://schemas.openxmlformats.org/drawingml/2006/main" noGrp="1"/>
          </p:cNvSpPr>
          <p:nvPr/>
        </p:nvSpPr>
        <p:spPr>
          <a:xfrm xmlns:a="http://schemas.openxmlformats.org/drawingml/2006/main">
            <a:off x="533400" y="1924050"/>
            <a:ext cx="11125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23D5A"/>
                </a:solidFill>
                <a:latin typeface="Arial"/>
                <a:ea typeface="Arial"/>
                <a:cs typeface="Arial"/>
              </a:defRPr>
            </a:defPPr>
          </a:lstStyle>
          <a:p xmlns:a="http://schemas.openxmlformats.org/drawingml/2006/main">
            <a:pPr algn="l">
              <a:buNone/>
              <a:defRPr sz="2175" b="1">
                <a:solidFill>
                  <a:srgbClr val="123D5A"/>
                </a:solidFill>
                <a:latin typeface="Arial"/>
                <a:ea typeface="Arial"/>
                <a:cs typeface="Arial"/>
              </a:defRPr>
            </a:pPr>
            <a:r>
              <a:rPr sz="2175" b="1">
                <a:solidFill>
                  <a:srgbClr val="123D5A"/>
                </a:solidFill>
                <a:latin typeface="Arial"/>
                <a:ea typeface="Arial"/>
                <a:cs typeface="Arial"/>
              </a:rPr>
              <a:t>Input gate</a:t>
            </a:r>
          </a:p>
        </p:txBody>
      </p:sp>
      <p:sp>
        <p:nvSpPr>
          <p:cNvPr id="8" name="unsafe-input">
            <a:extLst xmlns:a="http://schemas.openxmlformats.org/drawingml/2006/main">
              <a:ext uri="{FF2B5EF4-FFF2-40B4-BE49-F238E27FC236}">
                <a16:creationId xmlns:a16="http://schemas.microsoft.com/office/drawing/2014/main" id="{BE8E2013-064F-43B1-8891-8229F7F456C2}"/>
              </a:ext>
            </a:extLst>
          </p:cNvPr>
          <p:cNvSpPr>
            <a:spLocks xmlns:a="http://schemas.openxmlformats.org/drawingml/2006/main" noGrp="1"/>
          </p:cNvSpPr>
          <p:nvPr/>
        </p:nvSpPr>
        <p:spPr>
          <a:xfrm xmlns:a="http://schemas.openxmlformats.org/drawingml/2006/main">
            <a:off x="533400" y="2438400"/>
            <a:ext cx="3238500" cy="1066800"/>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9" name="unsafe-input-head">
            <a:extLst xmlns:a="http://schemas.openxmlformats.org/drawingml/2006/main">
              <a:ext uri="{FF2B5EF4-FFF2-40B4-BE49-F238E27FC236}">
                <a16:creationId xmlns:a16="http://schemas.microsoft.com/office/drawing/2014/main" id="{C93EFF9B-BB4F-462D-BEA5-E63D92F9F2EF}"/>
              </a:ext>
            </a:extLst>
          </p:cNvPr>
          <p:cNvSpPr>
            <a:spLocks xmlns:a="http://schemas.openxmlformats.org/drawingml/2006/main" noGrp="1"/>
          </p:cNvSpPr>
          <p:nvPr/>
        </p:nvSpPr>
        <p:spPr>
          <a:xfrm xmlns:a="http://schemas.openxmlformats.org/drawingml/2006/main">
            <a:off x="704850" y="256222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Tool request</a:t>
            </a:r>
          </a:p>
        </p:txBody>
      </p:sp>
      <p:sp>
        <p:nvSpPr>
          <p:cNvPr id="10" name="unsafe-input-body">
            <a:extLst xmlns:a="http://schemas.openxmlformats.org/drawingml/2006/main">
              <a:ext uri="{FF2B5EF4-FFF2-40B4-BE49-F238E27FC236}">
                <a16:creationId xmlns:a16="http://schemas.microsoft.com/office/drawing/2014/main" id="{6667FEB2-96EA-485B-81D7-91BFB14C1F96}"/>
              </a:ext>
            </a:extLst>
          </p:cNvPr>
          <p:cNvSpPr>
            <a:spLocks xmlns:a="http://schemas.openxmlformats.org/drawingml/2006/main" noGrp="1"/>
          </p:cNvSpPr>
          <p:nvPr/>
        </p:nvSpPr>
        <p:spPr>
          <a:xfrm xmlns:a="http://schemas.openxmlformats.org/drawingml/2006/main">
            <a:off x="704850" y="2933700"/>
            <a:ext cx="2895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123 or a SQL-like value</a:t>
            </a:r>
          </a:p>
        </p:txBody>
      </p:sp>
      <p:sp>
        <p:nvSpPr>
          <p:cNvPr id="11" name="input-validator">
            <a:extLst xmlns:a="http://schemas.openxmlformats.org/drawingml/2006/main">
              <a:ext uri="{FF2B5EF4-FFF2-40B4-BE49-F238E27FC236}">
                <a16:creationId xmlns:a16="http://schemas.microsoft.com/office/drawing/2014/main" id="{489777BA-B7EE-42ED-BD67-25F792BB303D}"/>
              </a:ext>
            </a:extLst>
          </p:cNvPr>
          <p:cNvSpPr>
            <a:spLocks xmlns:a="http://schemas.openxmlformats.org/drawingml/2006/main" noGrp="1"/>
          </p:cNvSpPr>
          <p:nvPr/>
        </p:nvSpPr>
        <p:spPr>
          <a:xfrm xmlns:a="http://schemas.openxmlformats.org/drawingml/2006/main">
            <a:off x="4476750" y="2438400"/>
            <a:ext cx="3238500" cy="1066800"/>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2" name="input-validator-head">
            <a:extLst xmlns:a="http://schemas.openxmlformats.org/drawingml/2006/main">
              <a:ext uri="{FF2B5EF4-FFF2-40B4-BE49-F238E27FC236}">
                <a16:creationId xmlns:a16="http://schemas.microsoft.com/office/drawing/2014/main" id="{18CFD1DF-29C5-4B7B-B7F1-B8D0250FAAFE}"/>
              </a:ext>
            </a:extLst>
          </p:cNvPr>
          <p:cNvSpPr>
            <a:spLocks xmlns:a="http://schemas.openxmlformats.org/drawingml/2006/main" noGrp="1"/>
          </p:cNvSpPr>
          <p:nvPr/>
        </p:nvSpPr>
        <p:spPr>
          <a:xfrm xmlns:a="http://schemas.openxmlformats.org/drawingml/2006/main">
            <a:off x="4648200" y="256222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Validate ID</a:t>
            </a:r>
          </a:p>
        </p:txBody>
      </p:sp>
      <p:sp>
        <p:nvSpPr>
          <p:cNvPr id="13" name="input-validator-body">
            <a:extLst xmlns:a="http://schemas.openxmlformats.org/drawingml/2006/main">
              <a:ext uri="{FF2B5EF4-FFF2-40B4-BE49-F238E27FC236}">
                <a16:creationId xmlns:a16="http://schemas.microsoft.com/office/drawing/2014/main" id="{4B00E4CB-E744-44A3-9A0B-D3106D37EA78}"/>
              </a:ext>
            </a:extLst>
          </p:cNvPr>
          <p:cNvSpPr>
            <a:spLocks xmlns:a="http://schemas.openxmlformats.org/drawingml/2006/main" noGrp="1"/>
          </p:cNvSpPr>
          <p:nvPr/>
        </p:nvSpPr>
        <p:spPr>
          <a:xfrm xmlns:a="http://schemas.openxmlformats.org/drawingml/2006/main">
            <a:off x="4648200" y="2933700"/>
            <a:ext cx="2895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Allow 1–12 digits only</a:t>
            </a:r>
          </a:p>
        </p:txBody>
      </p:sp>
      <p:sp>
        <p:nvSpPr>
          <p:cNvPr id="14" name="dry-run-tool">
            <a:extLst xmlns:a="http://schemas.openxmlformats.org/drawingml/2006/main">
              <a:ext uri="{FF2B5EF4-FFF2-40B4-BE49-F238E27FC236}">
                <a16:creationId xmlns:a16="http://schemas.microsoft.com/office/drawing/2014/main" id="{DC795693-F993-492F-9309-8837082FE014}"/>
              </a:ext>
            </a:extLst>
          </p:cNvPr>
          <p:cNvSpPr>
            <a:spLocks xmlns:a="http://schemas.openxmlformats.org/drawingml/2006/main" noGrp="1"/>
          </p:cNvSpPr>
          <p:nvPr/>
        </p:nvSpPr>
        <p:spPr>
          <a:xfrm xmlns:a="http://schemas.openxmlformats.org/drawingml/2006/main">
            <a:off x="8420100" y="2438400"/>
            <a:ext cx="3238500" cy="1066800"/>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5" name="dry-run-tool-head">
            <a:extLst xmlns:a="http://schemas.openxmlformats.org/drawingml/2006/main">
              <a:ext uri="{FF2B5EF4-FFF2-40B4-BE49-F238E27FC236}">
                <a16:creationId xmlns:a16="http://schemas.microsoft.com/office/drawing/2014/main" id="{9D3F4BDE-D60D-4E97-A9E4-AA5E66FB4CDA}"/>
              </a:ext>
            </a:extLst>
          </p:cNvPr>
          <p:cNvSpPr>
            <a:spLocks xmlns:a="http://schemas.openxmlformats.org/drawingml/2006/main" noGrp="1"/>
          </p:cNvSpPr>
          <p:nvPr/>
        </p:nvSpPr>
        <p:spPr>
          <a:xfrm xmlns:a="http://schemas.openxmlformats.org/drawingml/2006/main">
            <a:off x="8591550" y="256222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Dry-run lookup</a:t>
            </a:r>
          </a:p>
        </p:txBody>
      </p:sp>
      <p:sp>
        <p:nvSpPr>
          <p:cNvPr id="16" name="dry-run-tool-body">
            <a:extLst xmlns:a="http://schemas.openxmlformats.org/drawingml/2006/main">
              <a:ext uri="{FF2B5EF4-FFF2-40B4-BE49-F238E27FC236}">
                <a16:creationId xmlns:a16="http://schemas.microsoft.com/office/drawing/2014/main" id="{6521424E-A476-4636-ACE7-2EEF216022A1}"/>
              </a:ext>
            </a:extLst>
          </p:cNvPr>
          <p:cNvSpPr>
            <a:spLocks xmlns:a="http://schemas.openxmlformats.org/drawingml/2006/main" noGrp="1"/>
          </p:cNvSpPr>
          <p:nvPr/>
        </p:nvSpPr>
        <p:spPr>
          <a:xfrm xmlns:a="http://schemas.openxmlformats.org/drawingml/2006/main">
            <a:off x="8591550" y="2933700"/>
            <a:ext cx="2895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Call only after validation</a:t>
            </a:r>
          </a:p>
        </p:txBody>
      </p:sp>
      <p:sp>
        <p:nvSpPr>
          <p:cNvPr id="19" name="tool-denial">
            <a:extLst xmlns:a="http://schemas.openxmlformats.org/drawingml/2006/main">
              <a:ext uri="{FF2B5EF4-FFF2-40B4-BE49-F238E27FC236}">
                <a16:creationId xmlns:a16="http://schemas.microsoft.com/office/drawing/2014/main" id="{A4266199-F768-4CBF-B57A-CAA701204C94}"/>
              </a:ext>
            </a:extLst>
          </p:cNvPr>
          <p:cNvSpPr>
            <a:spLocks xmlns:a="http://schemas.openxmlformats.org/drawingml/2006/main" noGrp="1"/>
          </p:cNvSpPr>
          <p:nvPr/>
        </p:nvSpPr>
        <p:spPr>
          <a:xfrm xmlns:a="http://schemas.openxmlformats.org/drawingml/2006/main">
            <a:off x="533400" y="3600450"/>
            <a:ext cx="1112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1">
                <a:solidFill>
                  <a:srgbClr val="D5077D"/>
                </a:solidFill>
                <a:latin typeface="Arial"/>
                <a:ea typeface="Arial"/>
                <a:cs typeface="Arial"/>
              </a:defRPr>
            </a:defPPr>
          </a:lstStyle>
          <a:p xmlns:a="http://schemas.openxmlformats.org/drawingml/2006/main">
            <a:pPr algn="l">
              <a:buNone/>
              <a:defRPr sz="1575" b="1">
                <a:solidFill>
                  <a:srgbClr val="D5077D"/>
                </a:solidFill>
                <a:latin typeface="Arial"/>
                <a:ea typeface="Arial"/>
                <a:cs typeface="Arial"/>
              </a:defRPr>
            </a:pPr>
            <a:r>
              <a:rPr sz="1575" b="1">
                <a:solidFill>
                  <a:srgbClr val="D5077D"/>
                </a:solidFill>
                <a:latin typeface="Arial"/>
                <a:ea typeface="Arial"/>
                <a:cs typeface="Arial"/>
              </a:rPr>
              <a:t>Invalid input stops at validation; the lookup never receives it.</a:t>
            </a:r>
          </a:p>
        </p:txBody>
      </p:sp>
      <p:sp>
        <p:nvSpPr>
          <p:cNvPr id="20" name="bound-head">
            <a:extLst xmlns:a="http://schemas.openxmlformats.org/drawingml/2006/main">
              <a:ext uri="{FF2B5EF4-FFF2-40B4-BE49-F238E27FC236}">
                <a16:creationId xmlns:a16="http://schemas.microsoft.com/office/drawing/2014/main" id="{CB01539D-A088-48E2-94EB-ADEADD861A9C}"/>
              </a:ext>
            </a:extLst>
          </p:cNvPr>
          <p:cNvSpPr>
            <a:spLocks xmlns:a="http://schemas.openxmlformats.org/drawingml/2006/main" noGrp="1"/>
          </p:cNvSpPr>
          <p:nvPr/>
        </p:nvSpPr>
        <p:spPr>
          <a:xfrm xmlns:a="http://schemas.openxmlformats.org/drawingml/2006/main">
            <a:off x="533400" y="4057650"/>
            <a:ext cx="11125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23D5A"/>
                </a:solidFill>
                <a:latin typeface="Arial"/>
                <a:ea typeface="Arial"/>
                <a:cs typeface="Arial"/>
              </a:defRPr>
            </a:defPPr>
          </a:lstStyle>
          <a:p xmlns:a="http://schemas.openxmlformats.org/drawingml/2006/main">
            <a:pPr algn="l">
              <a:buNone/>
              <a:defRPr sz="2175" b="1">
                <a:solidFill>
                  <a:srgbClr val="123D5A"/>
                </a:solidFill>
                <a:latin typeface="Arial"/>
                <a:ea typeface="Arial"/>
                <a:cs typeface="Arial"/>
              </a:defRPr>
            </a:pPr>
            <a:r>
              <a:rPr sz="2175" b="1">
                <a:solidFill>
                  <a:srgbClr val="123D5A"/>
                </a:solidFill>
                <a:latin typeface="Arial"/>
                <a:ea typeface="Arial"/>
                <a:cs typeface="Arial"/>
              </a:rPr>
              <a:t>Retry bound</a:t>
            </a:r>
          </a:p>
        </p:txBody>
      </p:sp>
      <p:sp>
        <p:nvSpPr>
          <p:cNvPr id="21" name="retry-sequence">
            <a:extLst xmlns:a="http://schemas.openxmlformats.org/drawingml/2006/main">
              <a:ext uri="{FF2B5EF4-FFF2-40B4-BE49-F238E27FC236}">
                <a16:creationId xmlns:a16="http://schemas.microsoft.com/office/drawing/2014/main" id="{4DA9B62A-7A45-4409-A84B-A74CE7F8A637}"/>
              </a:ext>
            </a:extLst>
          </p:cNvPr>
          <p:cNvSpPr>
            <a:spLocks xmlns:a="http://schemas.openxmlformats.org/drawingml/2006/main" noGrp="1"/>
          </p:cNvSpPr>
          <p:nvPr/>
        </p:nvSpPr>
        <p:spPr>
          <a:xfrm xmlns:a="http://schemas.openxmlformats.org/drawingml/2006/main">
            <a:off x="533400" y="45720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007DBA"/>
                </a:solidFill>
                <a:latin typeface="Arial"/>
                <a:ea typeface="Arial"/>
                <a:cs typeface="Arial"/>
              </a:defRPr>
            </a:defPPr>
          </a:lstStyle>
          <a:p xmlns:a="http://schemas.openxmlformats.org/drawingml/2006/main">
            <a:pPr algn="l">
              <a:buNone/>
              <a:defRPr sz="2175" b="1">
                <a:solidFill>
                  <a:srgbClr val="007DBA"/>
                </a:solidFill>
                <a:latin typeface="Arial"/>
                <a:ea typeface="Arial"/>
                <a:cs typeface="Arial"/>
              </a:defRPr>
            </a:pPr>
            <a:r>
              <a:rPr sz="2175" b="1">
                <a:solidFill>
                  <a:srgbClr val="007DBA"/>
                </a:solidFill>
                <a:latin typeface="Arial"/>
                <a:ea typeface="Arial"/>
                <a:cs typeface="Arial"/>
              </a:rPr>
              <a:t>Initial call + retry 1 + retry 2 + retry 3 = at most 4 calls</a:t>
            </a:r>
          </a:p>
        </p:txBody>
      </p:sp>
      <p:sp>
        <p:nvSpPr>
          <p:cNvPr id="22" name="retry-result">
            <a:extLst xmlns:a="http://schemas.openxmlformats.org/drawingml/2006/main">
              <a:ext uri="{FF2B5EF4-FFF2-40B4-BE49-F238E27FC236}">
                <a16:creationId xmlns:a16="http://schemas.microsoft.com/office/drawing/2014/main" id="{B58A6E45-90A9-41BD-AC1B-D4D8AA2DFEAE}"/>
              </a:ext>
            </a:extLst>
          </p:cNvPr>
          <p:cNvSpPr>
            <a:spLocks xmlns:a="http://schemas.openxmlformats.org/drawingml/2006/main" noGrp="1"/>
          </p:cNvSpPr>
          <p:nvPr/>
        </p:nvSpPr>
        <p:spPr>
          <a:xfrm xmlns:a="http://schemas.openxmlformats.org/drawingml/2006/main">
            <a:off x="533400" y="5181600"/>
            <a:ext cx="111252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183D50"/>
                </a:solidFill>
                <a:latin typeface="Arial"/>
                <a:ea typeface="Arial"/>
                <a:cs typeface="Arial"/>
              </a:defRPr>
            </a:defPPr>
          </a:lstStyle>
          <a:p xmlns:a="http://schemas.openxmlformats.org/drawingml/2006/main">
            <a:pPr algn="l">
              <a:buNone/>
              <a:defRPr sz="1950" b="0">
                <a:solidFill>
                  <a:srgbClr val="183D50"/>
                </a:solidFill>
                <a:latin typeface="Arial"/>
                <a:ea typeface="Arial"/>
                <a:cs typeface="Arial"/>
              </a:defRPr>
            </a:pPr>
            <a:r>
              <a:rPr sz="1950" b="0">
                <a:solidFill>
                  <a:srgbClr val="183D50"/>
                </a:solidFill>
                <a:latin typeface="Arial"/>
                <a:ea typeface="Arial"/>
                <a:cs typeface="Arial"/>
              </a:rPr>
              <a:t>Always-failing fixture: $0.20 simulated cost, escalated=True, no fifth call.</a:t>
            </a:r>
          </a:p>
        </p:txBody>
      </p:sp>
      <p:sp>
        <p:nvSpPr>
          <p:cNvPr id="23" name="gate-limit">
            <a:extLst xmlns:a="http://schemas.openxmlformats.org/drawingml/2006/main">
              <a:ext uri="{FF2B5EF4-FFF2-40B4-BE49-F238E27FC236}">
                <a16:creationId xmlns:a16="http://schemas.microsoft.com/office/drawing/2014/main" id="{68846BEB-F027-4270-98BF-0221310660B5}"/>
              </a:ext>
            </a:extLst>
          </p:cNvPr>
          <p:cNvSpPr>
            <a:spLocks xmlns:a="http://schemas.openxmlformats.org/drawingml/2006/main" noGrp="1"/>
          </p:cNvSpPr>
          <p:nvPr/>
        </p:nvSpPr>
        <p:spPr>
          <a:xfrm xmlns:a="http://schemas.openxmlformats.org/drawingml/2006/main">
            <a:off x="533400" y="5781675"/>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650" b="0">
                <a:solidFill>
                  <a:srgbClr val="446579"/>
                </a:solidFill>
                <a:latin typeface="Arial"/>
                <a:ea typeface="Arial"/>
                <a:cs typeface="Arial"/>
              </a:defRPr>
            </a:defPPr>
          </a:lstStyle>
          <a:p xmlns:a="http://schemas.openxmlformats.org/drawingml/2006/main">
            <a:pPr algn="l">
              <a:buNone/>
              <a:defRPr sz="1650" b="0">
                <a:solidFill>
                  <a:srgbClr val="446579"/>
                </a:solidFill>
                <a:latin typeface="Arial"/>
                <a:ea typeface="Arial"/>
                <a:cs typeface="Arial"/>
              </a:defRPr>
            </a:pPr>
            <a:r>
              <a:rPr sz="1650" b="0">
                <a:solidFill>
                  <a:srgbClr val="446579"/>
                </a:solidFill>
                <a:latin typeface="Arial"/>
                <a:ea typeface="Arial"/>
                <a:cs typeface="Arial"/>
              </a:rPr>
              <a:t>The input gate blocks supplied fixtures. The escalation flag does not notify a human.</a:t>
            </a:r>
          </a:p>
        </p:txBody>
      </p:sp>
      <p:sp>
        <p:nvSpPr>
          <p:cNvPr id="25" name="footer-reference">
            <a:extLst xmlns:a="http://schemas.openxmlformats.org/drawingml/2006/main">
              <a:ext uri="{FF2B5EF4-FFF2-40B4-BE49-F238E27FC236}">
                <a16:creationId xmlns:a16="http://schemas.microsoft.com/office/drawing/2014/main" id="{42B3AA52-50EF-4ECC-B4F1-CCE78159C4F8}"/>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fee6b22d578e4a18"/>
              </a:rPr>
              <a:t>MCP specification</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b6c9e18e75024ddd"/>
              </a:rPr>
              <a:t>Reflexion</a:t>
            </a:r>
          </a:p>
        </p:txBody>
      </p:sp>
    </p:spTree>
    <p:extLst>
      <p:ext uri="{BB962C8B-B14F-4D97-AF65-F5344CB8AC3E}">
        <p14:creationId xmlns:p14="http://schemas.microsoft.com/office/powerpoint/2010/main" val="110180258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73DE5149-CF65-44C3-90D0-989D6E93570C}"/>
              </a:ext>
            </a:extLst>
          </p:cNvPr>
          <p:cNvPicPr>
            <a:picLocks xmlns:a="http://schemas.openxmlformats.org/drawingml/2006/main" noChangeAspect="1"/>
          </p:cNvPicPr>
          <p:nvPr/>
        </p:nvPicPr>
        <p:blipFill>
          <a:blip xmlns:r="http://schemas.openxmlformats.org/officeDocument/2006/relationships" xmlns:a="http://schemas.openxmlformats.org/drawingml/2006/main" r:embed="R061c025c74424662"/>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2ABBF605-0234-40E3-B819-BD899D360420}"/>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9E146F6F-BC10-4F75-BFC7-5892C102575F}"/>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A2B44369-614F-43B0-89AD-7ED7F0C4B792}"/>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Multi-Agent Framework Comparison</a:t>
            </a:r>
          </a:p>
        </p:txBody>
      </p:sp>
      <p:sp>
        <p:nvSpPr>
          <p:cNvPr id="5" name="footer-course">
            <a:extLst xmlns:a="http://schemas.openxmlformats.org/drawingml/2006/main">
              <a:ext uri="{FF2B5EF4-FFF2-40B4-BE49-F238E27FC236}">
                <a16:creationId xmlns:a16="http://schemas.microsoft.com/office/drawing/2014/main" id="{4EDA3328-4487-4543-B93A-970F2B10ECE3}"/>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stStyle>
          <a:p xmlns:a="http://schemas.openxmlformats.org/drawingml/2006/main">
            <a:pPr algn="l">
              <a:buNone/>
              <a:defRPr sz="1125" b="0">
                <a:solidFill>
                  <a:srgbClr val="446579"/>
                </a:solidFill>
                <a:latin typeface="Arial"/>
                <a:ea typeface="Arial"/>
                <a:cs typeface="Arial"/>
              </a:defRPr>
            </a:pPr>
            <a:r>
              <a:rPr sz="1125" b="0">
                <a:solidFill>
                  <a:srgbClr val="446579"/>
                </a:solidFill>
                <a:latin typeface="Arial"/>
                <a:ea typeface="Arial"/>
                <a:cs typeface="Arial"/>
              </a:rPr>
              <a:t>Managing Multi-Agent Teams</a:t>
            </a:r>
          </a:p>
        </p:txBody>
      </p:sp>
      <p:sp>
        <p:nvSpPr>
          <p:cNvPr id="6" name="footer-number">
            <a:extLst xmlns:a="http://schemas.openxmlformats.org/drawingml/2006/main">
              <a:ext uri="{FF2B5EF4-FFF2-40B4-BE49-F238E27FC236}">
                <a16:creationId xmlns:a16="http://schemas.microsoft.com/office/drawing/2014/main" id="{3485BE69-3738-401A-B714-31CC951F91F3}"/>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10</a:t>
            </a:r>
          </a:p>
        </p:txBody>
      </p:sp>
      <p:graphicFrame>
        <p:nvGraphicFramePr>
          <p:cNvPr id="7" name="">
            <a:extLst xmlns:a="http://schemas.openxmlformats.org/drawingml/2006/main">
              <a:ext uri="{FF2B5EF4-FFF2-40B4-BE49-F238E27FC236}">
                <a16:creationId xmlns:a16="http://schemas.microsoft.com/office/drawing/2014/main" id="{54B83544-6CF8-40DA-9EE9-7E7A7CD3E91D}"/>
              </a:ext>
            </a:extLst>
          </p:cNvPr>
          <p:cNvGraphicFramePr/>
          <p:nvPr/>
        </p:nvGraphicFramePr>
        <p:xfrm>
          <a:off xmlns:a="http://schemas.openxmlformats.org/drawingml/2006/main" x="533400" y="2000250"/>
          <a:ext xmlns:a="http://schemas.openxmlformats.org/drawingml/2006/main" cx="11125200" cy="3333750"/>
        </p:xfrm>
        <a:graphic xmlns:a="http://schemas.openxmlformats.org/drawingml/2006/main">
          <a:graphicData uri="http://schemas.openxmlformats.org/drawingml/2006/table">
            <a:tbl>
              <a:tblPr/>
              <a:tblGrid>
                <a:gridCol w="2571750"/>
                <a:gridCol w="4238625"/>
                <a:gridCol w="4314825"/>
              </a:tblGrid>
              <a:tr h="666750">
                <a:tc>
                  <a:txBody>
                    <a:bodyPr lIns="114300" tIns="76200" rIns="114300" bIns="76200">
                      <a:noAutofit/>
                    </a:bodyPr>
                    <a:lstStyle/>
                    <a:p>
                      <a:pPr algn="l">
                        <a:buNone/>
                      </a:pPr>
                      <a:r>
                        <a:rPr sz="1650" b="1">
                          <a:solidFill>
                            <a:srgbClr val="FFFFFF"/>
                          </a:solidFill>
                          <a:latin typeface="Arial"/>
                          <a:ea typeface="Arial"/>
                          <a:cs typeface="Arial"/>
                        </a:rPr>
                        <a:t>Framework</a:t>
                      </a:r>
                    </a:p>
                  </a:txBody>
                  <a:tcPr marL="91440" marR="91440" marT="45720" marB="45720" anchor="ctr">
                    <a:lnL w="9525">
                      <a:solidFill>
                        <a:srgbClr val="BCDCEB"/>
                      </a:solidFill>
                      <a:prstDash val="solid"/>
                    </a:lnL>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650" b="1">
                          <a:solidFill>
                            <a:srgbClr val="FFFFFF"/>
                          </a:solidFill>
                          <a:latin typeface="Arial"/>
                          <a:ea typeface="Arial"/>
                          <a:cs typeface="Arial"/>
                        </a:rPr>
                        <a:t>Pattern and useful fit</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650" b="1">
                          <a:solidFill>
                            <a:srgbClr val="FFFFFF"/>
                          </a:solidFill>
                          <a:latin typeface="Arial"/>
                          <a:ea typeface="Arial"/>
                          <a:cs typeface="Arial"/>
                        </a:rPr>
                        <a:t>Control to design</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r>
              <a:tr h="666750">
                <a:tc>
                  <a:txBody>
                    <a:bodyPr lIns="114300" tIns="76200" rIns="114300" bIns="76200">
                      <a:noAutofit/>
                    </a:bodyPr>
                    <a:lstStyle/>
                    <a:p>
                      <a:pPr algn="l">
                        <a:buNone/>
                      </a:pPr>
                      <a:r>
                        <a:rPr sz="1650" b="0">
                          <a:solidFill>
                            <a:srgbClr val="183D50"/>
                          </a:solidFill>
                          <a:latin typeface="Arial"/>
                          <a:ea typeface="Arial"/>
                          <a:cs typeface="Arial"/>
                        </a:rPr>
                        <a:t>CrewAI</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650" b="0">
                          <a:solidFill>
                            <a:srgbClr val="183D50"/>
                          </a:solidFill>
                          <a:latin typeface="Arial"/>
                          <a:ea typeface="Arial"/>
                          <a:cs typeface="Arial"/>
                        </a:rPr>
                        <a:t>Role-based tasks and delegation</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650" b="0">
                          <a:solidFill>
                            <a:srgbClr val="183D50"/>
                          </a:solidFill>
                          <a:latin typeface="Arial"/>
                          <a:ea typeface="Arial"/>
                          <a:cs typeface="Arial"/>
                        </a:rPr>
                        <a:t>Typed outputs and tool scope.</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666750">
                <a:tc>
                  <a:txBody>
                    <a:bodyPr lIns="114300" tIns="76200" rIns="114300" bIns="76200">
                      <a:noAutofit/>
                    </a:bodyPr>
                    <a:lstStyle/>
                    <a:p>
                      <a:pPr algn="l">
                        <a:buNone/>
                      </a:pPr>
                      <a:r>
                        <a:rPr sz="1650" b="0">
                          <a:solidFill>
                            <a:srgbClr val="183D50"/>
                          </a:solidFill>
                          <a:latin typeface="Arial"/>
                          <a:ea typeface="Arial"/>
                          <a:cs typeface="Arial"/>
                        </a:rPr>
                        <a:t>LangGraph</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650" b="0">
                          <a:solidFill>
                            <a:srgbClr val="183D50"/>
                          </a:solidFill>
                          <a:latin typeface="Arial"/>
                          <a:ea typeface="Arial"/>
                          <a:cs typeface="Arial"/>
                        </a:rPr>
                        <a:t>State graphs, branching, resume</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650" b="0">
                          <a:solidFill>
                            <a:srgbClr val="183D50"/>
                          </a:solidFill>
                          <a:latin typeface="Arial"/>
                          <a:ea typeface="Arial"/>
                          <a:cs typeface="Arial"/>
                        </a:rPr>
                        <a:t>Validate state and manage side effects.</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r h="666750">
                <a:tc>
                  <a:txBody>
                    <a:bodyPr lIns="114300" tIns="76200" rIns="114300" bIns="76200">
                      <a:noAutofit/>
                    </a:bodyPr>
                    <a:lstStyle/>
                    <a:p>
                      <a:pPr algn="l">
                        <a:buNone/>
                      </a:pPr>
                      <a:r>
                        <a:rPr sz="1650" b="0">
                          <a:solidFill>
                            <a:srgbClr val="183D50"/>
                          </a:solidFill>
                          <a:latin typeface="Arial"/>
                          <a:ea typeface="Arial"/>
                          <a:cs typeface="Arial"/>
                        </a:rPr>
                        <a:t>AutoGen (legacy)</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650" b="0">
                          <a:solidFill>
                            <a:srgbClr val="183D50"/>
                          </a:solidFill>
                          <a:latin typeface="Arial"/>
                          <a:ea typeface="Arial"/>
                          <a:cs typeface="Arial"/>
                        </a:rPr>
                        <a:t>Message-based conversation teams</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650" b="0">
                          <a:solidFill>
                            <a:srgbClr val="183D50"/>
                          </a:solidFill>
                          <a:latin typeface="Arial"/>
                          <a:ea typeface="Arial"/>
                          <a:cs typeface="Arial"/>
                        </a:rPr>
                        <a:t>Explicit termination and executor isolation.</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666750">
                <a:tc>
                  <a:txBody>
                    <a:bodyPr lIns="114300" tIns="76200" rIns="114300" bIns="76200">
                      <a:noAutofit/>
                    </a:bodyPr>
                    <a:lstStyle/>
                    <a:p>
                      <a:pPr algn="l">
                        <a:buNone/>
                      </a:pPr>
                      <a:r>
                        <a:rPr sz="1650" b="0">
                          <a:solidFill>
                            <a:srgbClr val="183D50"/>
                          </a:solidFill>
                          <a:latin typeface="Arial"/>
                          <a:ea typeface="Arial"/>
                          <a:cs typeface="Arial"/>
                        </a:rPr>
                        <a:t>LlamaIndex</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650" b="0">
                          <a:solidFill>
                            <a:srgbClr val="183D50"/>
                          </a:solidFill>
                          <a:latin typeface="Arial"/>
                          <a:ea typeface="Arial"/>
                          <a:cs typeface="Arial"/>
                        </a:rPr>
                        <a:t>Retrieval tools and agent workflows</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650" b="0">
                          <a:solidFill>
                            <a:srgbClr val="183D50"/>
                          </a:solidFill>
                          <a:latin typeface="Arial"/>
                          <a:ea typeface="Arial"/>
                          <a:cs typeface="Arial"/>
                        </a:rPr>
                        <a:t>Source access and evidence evaluation.</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bl>
          </a:graphicData>
        </a:graphic>
      </p:graphicFrame>
      <p:sp>
        <p:nvSpPr>
          <p:cNvPr id="8" name="research-limit">
            <a:extLst xmlns:a="http://schemas.openxmlformats.org/drawingml/2006/main">
              <a:ext uri="{FF2B5EF4-FFF2-40B4-BE49-F238E27FC236}">
                <a16:creationId xmlns:a16="http://schemas.microsoft.com/office/drawing/2014/main" id="{09A9ACDE-12CA-461F-BFC5-E20E3F23F00D}"/>
              </a:ext>
            </a:extLst>
          </p:cNvPr>
          <p:cNvSpPr>
            <a:spLocks xmlns:a="http://schemas.openxmlformats.org/drawingml/2006/main" noGrp="1"/>
          </p:cNvSpPr>
          <p:nvPr/>
        </p:nvSpPr>
        <p:spPr>
          <a:xfrm xmlns:a="http://schemas.openxmlformats.org/drawingml/2006/main">
            <a:off x="533400" y="563880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446579"/>
                </a:solidFill>
                <a:latin typeface="Arial"/>
                <a:ea typeface="Arial"/>
                <a:cs typeface="Arial"/>
              </a:defRPr>
            </a:defPPr>
          </a:lstStyle>
          <a:p xmlns:a="http://schemas.openxmlformats.org/drawingml/2006/main">
            <a:pPr algn="l">
              <a:buNone/>
              <a:defRPr sz="1725" b="0">
                <a:solidFill>
                  <a:srgbClr val="446579"/>
                </a:solidFill>
                <a:latin typeface="Arial"/>
                <a:ea typeface="Arial"/>
                <a:cs typeface="Arial"/>
              </a:defRPr>
            </a:pPr>
            <a:r>
              <a:rPr sz="1725" b="0">
                <a:solidFill>
                  <a:srgbClr val="446579"/>
                </a:solidFill>
                <a:latin typeface="Arial"/>
                <a:ea typeface="Arial"/>
                <a:cs typeface="Arial"/>
              </a:rPr>
              <a:t>Choose by workflow needs. AutoGen is archived. Microsoft directs new projects to Microsoft Agent Framework.</a:t>
            </a:r>
          </a:p>
        </p:txBody>
      </p:sp>
      <p:sp>
        <p:nvSpPr>
          <p:cNvPr id="10" name="footer-reference">
            <a:extLst xmlns:a="http://schemas.openxmlformats.org/drawingml/2006/main">
              <a:ext uri="{FF2B5EF4-FFF2-40B4-BE49-F238E27FC236}">
                <a16:creationId xmlns:a16="http://schemas.microsoft.com/office/drawing/2014/main" id="{BA10DBFE-7DF8-4099-B76E-D26D90712551}"/>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508abb18165c445b"/>
              </a:rPr>
              <a:t>Framework comparison and official documentation</a:t>
            </a:r>
          </a:p>
        </p:txBody>
      </p:sp>
    </p:spTree>
    <p:extLst>
      <p:ext uri="{BB962C8B-B14F-4D97-AF65-F5344CB8AC3E}">
        <p14:creationId xmlns:p14="http://schemas.microsoft.com/office/powerpoint/2010/main" val="106111372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A98F0A5F-4BE3-47B4-B9A2-B2F81F632DA7}"/>
              </a:ext>
            </a:extLst>
          </p:cNvPr>
          <p:cNvCxnSpPr>
            <a:stCxn xmlns:a="http://schemas.openxmlformats.org/drawingml/2006/main" id="10" idx="3"/>
            <a:endCxn xmlns:a="http://schemas.openxmlformats.org/drawingml/2006/main" id="13" idx="1"/>
          </p:cNvCxnSpPr>
          <p:nvPr/>
        </p:nvCxnSpPr>
        <p:spPr>
          <a:xfrm xmlns:a="http://schemas.openxmlformats.org/drawingml/2006/main">
            <a:off x="7715250" y="2767013"/>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cxnSp>
        <p:nvCxnSpPr>
          <p:cNvPr id="16" name="">
            <a:extLst xmlns:a="http://schemas.openxmlformats.org/drawingml/2006/main">
              <a:ext uri="{FF2B5EF4-FFF2-40B4-BE49-F238E27FC236}">
                <a16:creationId xmlns:a16="http://schemas.microsoft.com/office/drawing/2014/main" id="{CD1C09C0-B0DB-44A5-A014-18A96C629DBF}"/>
              </a:ext>
            </a:extLst>
          </p:cNvPr>
          <p:cNvCxnSpPr>
            <a:stCxn xmlns:a="http://schemas.openxmlformats.org/drawingml/2006/main" id="7" idx="3"/>
            <a:endCxn xmlns:a="http://schemas.openxmlformats.org/drawingml/2006/main" id="10" idx="1"/>
          </p:cNvCxnSpPr>
          <p:nvPr/>
        </p:nvCxnSpPr>
        <p:spPr>
          <a:xfrm xmlns:a="http://schemas.openxmlformats.org/drawingml/2006/main">
            <a:off x="3771900" y="2767013"/>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pic>
        <p:nvPicPr>
          <p:cNvPr id="21" name="">
            <a:extLst xmlns:a="http://schemas.openxmlformats.org/drawingml/2006/main">
              <a:ext uri="{FF2B5EF4-FFF2-40B4-BE49-F238E27FC236}">
                <a16:creationId xmlns:a16="http://schemas.microsoft.com/office/drawing/2014/main" id="{8CB2D422-FABC-48F6-9775-958DC53A4ADD}"/>
              </a:ext>
            </a:extLst>
          </p:cNvPr>
          <p:cNvPicPr>
            <a:picLocks xmlns:a="http://schemas.openxmlformats.org/drawingml/2006/main" noChangeAspect="1"/>
          </p:cNvPicPr>
          <p:nvPr/>
        </p:nvPicPr>
        <p:blipFill>
          <a:blip xmlns:r="http://schemas.openxmlformats.org/officeDocument/2006/relationships" xmlns:a="http://schemas.openxmlformats.org/drawingml/2006/main" r:embed="R2cb587ca138f4150"/>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29310081-CBBD-4492-83A0-69F7E3915845}"/>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9C457A6A-4991-485F-8BDE-4778B397AA22}"/>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BE5BF85D-2912-4531-B00F-2F7E334692D3}"/>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Development-to-Security Capstone</a:t>
            </a:r>
          </a:p>
        </p:txBody>
      </p:sp>
      <p:sp>
        <p:nvSpPr>
          <p:cNvPr id="5" name="footer-course">
            <a:extLst xmlns:a="http://schemas.openxmlformats.org/drawingml/2006/main">
              <a:ext uri="{FF2B5EF4-FFF2-40B4-BE49-F238E27FC236}">
                <a16:creationId xmlns:a16="http://schemas.microsoft.com/office/drawing/2014/main" id="{CED961FC-B122-420A-96BE-4717331C6FCE}"/>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stStyle>
          <a:p xmlns:a="http://schemas.openxmlformats.org/drawingml/2006/main">
            <a:pPr algn="l">
              <a:buNone/>
              <a:defRPr sz="1125" b="0">
                <a:solidFill>
                  <a:srgbClr val="446579"/>
                </a:solidFill>
                <a:latin typeface="Arial"/>
                <a:ea typeface="Arial"/>
                <a:cs typeface="Arial"/>
              </a:defRPr>
            </a:pPr>
            <a:r>
              <a:rPr sz="1125" b="0">
                <a:solidFill>
                  <a:srgbClr val="446579"/>
                </a:solidFill>
                <a:latin typeface="Arial"/>
                <a:ea typeface="Arial"/>
                <a:cs typeface="Arial"/>
              </a:rPr>
              <a:t>Managing Multi-Agent Teams</a:t>
            </a:r>
          </a:p>
        </p:txBody>
      </p:sp>
      <p:sp>
        <p:nvSpPr>
          <p:cNvPr id="6" name="footer-number">
            <a:extLst xmlns:a="http://schemas.openxmlformats.org/drawingml/2006/main">
              <a:ext uri="{FF2B5EF4-FFF2-40B4-BE49-F238E27FC236}">
                <a16:creationId xmlns:a16="http://schemas.microsoft.com/office/drawing/2014/main" id="{92A4B784-26AB-4E1E-A7F5-A46D6B6E96E4}"/>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11</a:t>
            </a:r>
          </a:p>
        </p:txBody>
      </p:sp>
      <p:sp>
        <p:nvSpPr>
          <p:cNvPr id="7" name="dev-team">
            <a:extLst xmlns:a="http://schemas.openxmlformats.org/drawingml/2006/main">
              <a:ext uri="{FF2B5EF4-FFF2-40B4-BE49-F238E27FC236}">
                <a16:creationId xmlns:a16="http://schemas.microsoft.com/office/drawing/2014/main" id="{FF39CFE0-7203-46AE-A162-4719A0B9A2B9}"/>
              </a:ext>
            </a:extLst>
          </p:cNvPr>
          <p:cNvSpPr>
            <a:spLocks xmlns:a="http://schemas.openxmlformats.org/drawingml/2006/main" noGrp="1"/>
          </p:cNvSpPr>
          <p:nvPr/>
        </p:nvSpPr>
        <p:spPr>
          <a:xfrm xmlns:a="http://schemas.openxmlformats.org/drawingml/2006/main">
            <a:off x="533400" y="2152650"/>
            <a:ext cx="3238500" cy="1228725"/>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8" name="dev-team-head">
            <a:extLst xmlns:a="http://schemas.openxmlformats.org/drawingml/2006/main">
              <a:ext uri="{FF2B5EF4-FFF2-40B4-BE49-F238E27FC236}">
                <a16:creationId xmlns:a16="http://schemas.microsoft.com/office/drawing/2014/main" id="{A19D387B-5C17-4383-83BA-5487E0DA4CEA}"/>
              </a:ext>
            </a:extLst>
          </p:cNvPr>
          <p:cNvSpPr>
            <a:spLocks xmlns:a="http://schemas.openxmlformats.org/drawingml/2006/main" noGrp="1"/>
          </p:cNvSpPr>
          <p:nvPr/>
        </p:nvSpPr>
        <p:spPr>
          <a:xfrm xmlns:a="http://schemas.openxmlformats.org/drawingml/2006/main">
            <a:off x="704850" y="227647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Development Team</a:t>
            </a:r>
          </a:p>
        </p:txBody>
      </p:sp>
      <p:sp>
        <p:nvSpPr>
          <p:cNvPr id="9" name="dev-team-body">
            <a:extLst xmlns:a="http://schemas.openxmlformats.org/drawingml/2006/main">
              <a:ext uri="{FF2B5EF4-FFF2-40B4-BE49-F238E27FC236}">
                <a16:creationId xmlns:a16="http://schemas.microsoft.com/office/drawing/2014/main" id="{A8D4F1F8-04B0-45E3-99EC-5D58BAEF5F51}"/>
              </a:ext>
            </a:extLst>
          </p:cNvPr>
          <p:cNvSpPr>
            <a:spLocks xmlns:a="http://schemas.openxmlformats.org/drawingml/2006/main" noGrp="1"/>
          </p:cNvSpPr>
          <p:nvPr/>
        </p:nvSpPr>
        <p:spPr>
          <a:xfrm xmlns:a="http://schemas.openxmlformats.org/drawingml/2006/main">
            <a:off x="704850" y="2647950"/>
            <a:ext cx="2895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Manager, Coder, QA</a:t>
            </a:r>
          </a:p>
        </p:txBody>
      </p:sp>
      <p:sp>
        <p:nvSpPr>
          <p:cNvPr id="10" name="contract-boundary">
            <a:extLst xmlns:a="http://schemas.openxmlformats.org/drawingml/2006/main">
              <a:ext uri="{FF2B5EF4-FFF2-40B4-BE49-F238E27FC236}">
                <a16:creationId xmlns:a16="http://schemas.microsoft.com/office/drawing/2014/main" id="{69769824-B8A8-4950-B8B3-182EE774B23E}"/>
              </a:ext>
            </a:extLst>
          </p:cNvPr>
          <p:cNvSpPr>
            <a:spLocks xmlns:a="http://schemas.openxmlformats.org/drawingml/2006/main" noGrp="1"/>
          </p:cNvSpPr>
          <p:nvPr/>
        </p:nvSpPr>
        <p:spPr>
          <a:xfrm xmlns:a="http://schemas.openxmlformats.org/drawingml/2006/main">
            <a:off x="4476750" y="2152650"/>
            <a:ext cx="3238500" cy="1228725"/>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1" name="contract-boundary-head">
            <a:extLst xmlns:a="http://schemas.openxmlformats.org/drawingml/2006/main">
              <a:ext uri="{FF2B5EF4-FFF2-40B4-BE49-F238E27FC236}">
                <a16:creationId xmlns:a16="http://schemas.microsoft.com/office/drawing/2014/main" id="{7990C1DA-6EBD-4C67-9D1B-D57C45CD5816}"/>
              </a:ext>
            </a:extLst>
          </p:cNvPr>
          <p:cNvSpPr>
            <a:spLocks xmlns:a="http://schemas.openxmlformats.org/drawingml/2006/main" noGrp="1"/>
          </p:cNvSpPr>
          <p:nvPr/>
        </p:nvSpPr>
        <p:spPr>
          <a:xfrm xmlns:a="http://schemas.openxmlformats.org/drawingml/2006/main">
            <a:off x="4648200" y="227647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Coordinator gate</a:t>
            </a:r>
          </a:p>
        </p:txBody>
      </p:sp>
      <p:sp>
        <p:nvSpPr>
          <p:cNvPr id="12" name="contract-boundary-body">
            <a:extLst xmlns:a="http://schemas.openxmlformats.org/drawingml/2006/main">
              <a:ext uri="{FF2B5EF4-FFF2-40B4-BE49-F238E27FC236}">
                <a16:creationId xmlns:a16="http://schemas.microsoft.com/office/drawing/2014/main" id="{D2DF3233-C61E-4A8D-B91B-21F3261AE322}"/>
              </a:ext>
            </a:extLst>
          </p:cNvPr>
          <p:cNvSpPr>
            <a:spLocks xmlns:a="http://schemas.openxmlformats.org/drawingml/2006/main" noGrp="1"/>
          </p:cNvSpPr>
          <p:nvPr/>
        </p:nvSpPr>
        <p:spPr>
          <a:xfrm xmlns:a="http://schemas.openxmlformats.org/drawingml/2006/main">
            <a:off x="4648200" y="2647950"/>
            <a:ext cx="2895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Validate DevDeliverable</a:t>
            </a:r>
          </a:p>
        </p:txBody>
      </p:sp>
      <p:sp>
        <p:nvSpPr>
          <p:cNvPr id="13" name="security-team">
            <a:extLst xmlns:a="http://schemas.openxmlformats.org/drawingml/2006/main">
              <a:ext uri="{FF2B5EF4-FFF2-40B4-BE49-F238E27FC236}">
                <a16:creationId xmlns:a16="http://schemas.microsoft.com/office/drawing/2014/main" id="{5F4DBE96-30E2-4AC5-8286-CB2F43A33561}"/>
              </a:ext>
            </a:extLst>
          </p:cNvPr>
          <p:cNvSpPr>
            <a:spLocks xmlns:a="http://schemas.openxmlformats.org/drawingml/2006/main" noGrp="1"/>
          </p:cNvSpPr>
          <p:nvPr/>
        </p:nvSpPr>
        <p:spPr>
          <a:xfrm xmlns:a="http://schemas.openxmlformats.org/drawingml/2006/main">
            <a:off x="8420100" y="2152650"/>
            <a:ext cx="3238500" cy="1228725"/>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4" name="security-team-head">
            <a:extLst xmlns:a="http://schemas.openxmlformats.org/drawingml/2006/main">
              <a:ext uri="{FF2B5EF4-FFF2-40B4-BE49-F238E27FC236}">
                <a16:creationId xmlns:a16="http://schemas.microsoft.com/office/drawing/2014/main" id="{B83FBFC2-E2E2-4318-9A12-7DACDF279FAA}"/>
              </a:ext>
            </a:extLst>
          </p:cNvPr>
          <p:cNvSpPr>
            <a:spLocks xmlns:a="http://schemas.openxmlformats.org/drawingml/2006/main" noGrp="1"/>
          </p:cNvSpPr>
          <p:nvPr/>
        </p:nvSpPr>
        <p:spPr>
          <a:xfrm xmlns:a="http://schemas.openxmlformats.org/drawingml/2006/main">
            <a:off x="8591550" y="227647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Security Team</a:t>
            </a:r>
          </a:p>
        </p:txBody>
      </p:sp>
      <p:sp>
        <p:nvSpPr>
          <p:cNvPr id="15" name="security-team-body">
            <a:extLst xmlns:a="http://schemas.openxmlformats.org/drawingml/2006/main">
              <a:ext uri="{FF2B5EF4-FFF2-40B4-BE49-F238E27FC236}">
                <a16:creationId xmlns:a16="http://schemas.microsoft.com/office/drawing/2014/main" id="{B7205F61-1576-430C-AB10-C6E9E230CB6D}"/>
              </a:ext>
            </a:extLst>
          </p:cNvPr>
          <p:cNvSpPr>
            <a:spLocks xmlns:a="http://schemas.openxmlformats.org/drawingml/2006/main" noGrp="1"/>
          </p:cNvSpPr>
          <p:nvPr/>
        </p:nvSpPr>
        <p:spPr>
          <a:xfrm xmlns:a="http://schemas.openxmlformats.org/drawingml/2006/main">
            <a:off x="8591550" y="2647950"/>
            <a:ext cx="2895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Pen Tester, Security Manager</a:t>
            </a:r>
          </a:p>
        </p:txBody>
      </p:sp>
      <p:sp>
        <p:nvSpPr>
          <p:cNvPr id="18" name="capstone-output">
            <a:extLst xmlns:a="http://schemas.openxmlformats.org/drawingml/2006/main">
              <a:ext uri="{FF2B5EF4-FFF2-40B4-BE49-F238E27FC236}">
                <a16:creationId xmlns:a16="http://schemas.microsoft.com/office/drawing/2014/main" id="{588CB234-15F3-4543-BF1F-1F6C39FFB7A4}"/>
              </a:ext>
            </a:extLst>
          </p:cNvPr>
          <p:cNvSpPr>
            <a:spLocks xmlns:a="http://schemas.openxmlformats.org/drawingml/2006/main" noGrp="1"/>
          </p:cNvSpPr>
          <p:nvPr/>
        </p:nvSpPr>
        <p:spPr>
          <a:xfrm xmlns:a="http://schemas.openxmlformats.org/drawingml/2006/main">
            <a:off x="533400" y="3781425"/>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23D5A"/>
                </a:solidFill>
                <a:latin typeface="Arial"/>
                <a:ea typeface="Arial"/>
                <a:cs typeface="Arial"/>
              </a:defRPr>
            </a:defPPr>
          </a:lstStyle>
          <a:p xmlns:a="http://schemas.openxmlformats.org/drawingml/2006/main">
            <a:pPr algn="l">
              <a:buNone/>
              <a:defRPr sz="2175" b="1">
                <a:solidFill>
                  <a:srgbClr val="123D5A"/>
                </a:solidFill>
                <a:latin typeface="Arial"/>
                <a:ea typeface="Arial"/>
                <a:cs typeface="Arial"/>
              </a:defRPr>
            </a:pPr>
            <a:r>
              <a:rPr sz="2175" b="1">
                <a:solidFill>
                  <a:srgbClr val="123D5A"/>
                </a:solidFill>
                <a:latin typeface="Arial"/>
                <a:ea typeface="Arial"/>
                <a:cs typeface="Arial"/>
              </a:rPr>
              <a:t>Result: SecurityAuditResult with an approval flag and findings.</a:t>
            </a:r>
          </a:p>
        </p:txBody>
      </p:sp>
      <p:sp>
        <p:nvSpPr>
          <p:cNvPr id="19" name="capstone-edits">
            <a:extLst xmlns:a="http://schemas.openxmlformats.org/drawingml/2006/main">
              <a:ext uri="{FF2B5EF4-FFF2-40B4-BE49-F238E27FC236}">
                <a16:creationId xmlns:a16="http://schemas.microsoft.com/office/drawing/2014/main" id="{436C9F69-7BF6-4F40-8D3C-F7A2277E9860}"/>
              </a:ext>
            </a:extLst>
          </p:cNvPr>
          <p:cNvSpPr>
            <a:spLocks xmlns:a="http://schemas.openxmlformats.org/drawingml/2006/main" noGrp="1"/>
          </p:cNvSpPr>
          <p:nvPr/>
        </p:nvSpPr>
        <p:spPr>
          <a:xfrm xmlns:a="http://schemas.openxmlformats.org/drawingml/2006/main">
            <a:off x="533400" y="44577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0">
                <a:solidFill>
                  <a:srgbClr val="183D50"/>
                </a:solidFill>
                <a:latin typeface="Arial"/>
                <a:ea typeface="Arial"/>
                <a:cs typeface="Arial"/>
              </a:defRPr>
            </a:defPPr>
          </a:lstStyle>
          <a:p xmlns:a="http://schemas.openxmlformats.org/drawingml/2006/main">
            <a:pPr algn="l">
              <a:buNone/>
              <a:defRPr sz="2025" b="0">
                <a:solidFill>
                  <a:srgbClr val="183D50"/>
                </a:solidFill>
                <a:latin typeface="Arial"/>
                <a:ea typeface="Arial"/>
                <a:cs typeface="Arial"/>
              </a:defRPr>
            </a:pPr>
            <a:r>
              <a:rPr sz="2025" b="0">
                <a:solidFill>
                  <a:srgbClr val="183D50"/>
                </a:solidFill>
                <a:latin typeface="Arial"/>
                <a:ea typeface="Arial"/>
                <a:cs typeface="Arial"/>
              </a:rPr>
              <a:t>Repair three controls: reject failed QA, validate before dispatch, separate scanning from approval.</a:t>
            </a:r>
          </a:p>
        </p:txBody>
      </p:sp>
      <p:sp>
        <p:nvSpPr>
          <p:cNvPr id="20" name="capstone-mode">
            <a:extLst xmlns:a="http://schemas.openxmlformats.org/drawingml/2006/main">
              <a:ext uri="{FF2B5EF4-FFF2-40B4-BE49-F238E27FC236}">
                <a16:creationId xmlns:a16="http://schemas.microsoft.com/office/drawing/2014/main" id="{F86EFE5F-C0A6-4F32-B4BC-0CC0F7F22B62}"/>
              </a:ext>
            </a:extLst>
          </p:cNvPr>
          <p:cNvSpPr>
            <a:spLocks xmlns:a="http://schemas.openxmlformats.org/drawingml/2006/main" noGrp="1"/>
          </p:cNvSpPr>
          <p:nvPr/>
        </p:nvSpPr>
        <p:spPr>
          <a:xfrm xmlns:a="http://schemas.openxmlformats.org/drawingml/2006/main">
            <a:off x="533400" y="5772150"/>
            <a:ext cx="1112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446579"/>
                </a:solidFill>
                <a:latin typeface="Arial"/>
                <a:ea typeface="Arial"/>
                <a:cs typeface="Arial"/>
              </a:defRPr>
            </a:defPPr>
          </a:lstStyle>
          <a:p xmlns:a="http://schemas.openxmlformats.org/drawingml/2006/main">
            <a:pPr algn="l">
              <a:buNone/>
              <a:defRPr sz="1725" b="0">
                <a:solidFill>
                  <a:srgbClr val="446579"/>
                </a:solidFill>
                <a:latin typeface="Arial"/>
                <a:ea typeface="Arial"/>
                <a:cs typeface="Arial"/>
              </a:defRPr>
            </a:pPr>
            <a:r>
              <a:rPr sz="1725" b="0">
                <a:solidFill>
                  <a:srgbClr val="446579"/>
                </a:solidFill>
                <a:latin typeface="Arial"/>
                <a:ea typeface="Arial"/>
                <a:cs typeface="Arial"/>
              </a:rPr>
              <a:t>Default: local Python adapters. Two Crews are configured; live kickoff remains optional.</a:t>
            </a:r>
          </a:p>
        </p:txBody>
      </p:sp>
      <p:sp>
        <p:nvSpPr>
          <p:cNvPr id="22" name="footer-reference">
            <a:extLst xmlns:a="http://schemas.openxmlformats.org/drawingml/2006/main">
              <a:ext uri="{FF2B5EF4-FFF2-40B4-BE49-F238E27FC236}">
                <a16:creationId xmlns:a16="http://schemas.microsoft.com/office/drawing/2014/main" id="{6311C274-D28C-46CE-A4AE-F4350B7B7BD1}"/>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be28783d451e4c9c"/>
              </a:rPr>
              <a:t>Capstone brief</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5f961b5974304410"/>
              </a:rPr>
              <a:t>CrewAI tasks</a:t>
            </a:r>
          </a:p>
        </p:txBody>
      </p:sp>
    </p:spTree>
    <p:extLst>
      <p:ext uri="{BB962C8B-B14F-4D97-AF65-F5344CB8AC3E}">
        <p14:creationId xmlns:p14="http://schemas.microsoft.com/office/powerpoint/2010/main" val="10921214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FA2C9F43-F18E-4FA4-B006-9DD67D93897A}"/>
              </a:ext>
            </a:extLst>
          </p:cNvPr>
          <p:cNvPicPr>
            <a:picLocks xmlns:a="http://schemas.openxmlformats.org/drawingml/2006/main" noChangeAspect="1"/>
          </p:cNvPicPr>
          <p:nvPr/>
        </p:nvPicPr>
        <p:blipFill>
          <a:blip xmlns:r="http://schemas.openxmlformats.org/officeDocument/2006/relationships" xmlns:a="http://schemas.openxmlformats.org/drawingml/2006/main" r:embed="Rb97c421c45ab4f98"/>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071D2D21-56D5-4387-BEFE-936733C0DB42}"/>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AC388F8A-6BC1-4FF9-B054-25E15B53C5E4}"/>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38DE8C63-B2B0-4B67-98E4-F15D30B31C27}"/>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Deterministic Validation and Assessment</a:t>
            </a:r>
          </a:p>
        </p:txBody>
      </p:sp>
      <p:sp>
        <p:nvSpPr>
          <p:cNvPr id="5" name="footer-course">
            <a:extLst xmlns:a="http://schemas.openxmlformats.org/drawingml/2006/main">
              <a:ext uri="{FF2B5EF4-FFF2-40B4-BE49-F238E27FC236}">
                <a16:creationId xmlns:a16="http://schemas.microsoft.com/office/drawing/2014/main" id="{B1BAA1FA-3316-4098-8BD2-721541B1694D}"/>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stStyle>
          <a:p xmlns:a="http://schemas.openxmlformats.org/drawingml/2006/main">
            <a:pPr algn="l">
              <a:buNone/>
              <a:defRPr sz="1125" b="0">
                <a:solidFill>
                  <a:srgbClr val="446579"/>
                </a:solidFill>
                <a:latin typeface="Arial"/>
                <a:ea typeface="Arial"/>
                <a:cs typeface="Arial"/>
              </a:defRPr>
            </a:pPr>
            <a:r>
              <a:rPr sz="1125" b="0">
                <a:solidFill>
                  <a:srgbClr val="446579"/>
                </a:solidFill>
                <a:latin typeface="Arial"/>
                <a:ea typeface="Arial"/>
                <a:cs typeface="Arial"/>
              </a:rPr>
              <a:t>Managing Multi-Agent Teams</a:t>
            </a:r>
          </a:p>
        </p:txBody>
      </p:sp>
      <p:sp>
        <p:nvSpPr>
          <p:cNvPr id="6" name="footer-number">
            <a:extLst xmlns:a="http://schemas.openxmlformats.org/drawingml/2006/main">
              <a:ext uri="{FF2B5EF4-FFF2-40B4-BE49-F238E27FC236}">
                <a16:creationId xmlns:a16="http://schemas.microsoft.com/office/drawing/2014/main" id="{AAEF14F7-86AD-4413-9672-2A59B37DDF3F}"/>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12</a:t>
            </a:r>
          </a:p>
        </p:txBody>
      </p:sp>
      <p:graphicFrame>
        <p:nvGraphicFramePr>
          <p:cNvPr id="7" name="">
            <a:extLst xmlns:a="http://schemas.openxmlformats.org/drawingml/2006/main">
              <a:ext uri="{FF2B5EF4-FFF2-40B4-BE49-F238E27FC236}">
                <a16:creationId xmlns:a16="http://schemas.microsoft.com/office/drawing/2014/main" id="{376B6173-1601-4C7B-B412-7915598B2E5F}"/>
              </a:ext>
            </a:extLst>
          </p:cNvPr>
          <p:cNvGraphicFramePr/>
          <p:nvPr/>
        </p:nvGraphicFramePr>
        <p:xfrm>
          <a:off xmlns:a="http://schemas.openxmlformats.org/drawingml/2006/main" x="533400" y="2038350"/>
          <a:ext xmlns:a="http://schemas.openxmlformats.org/drawingml/2006/main" cx="11125200" cy="2724150"/>
        </p:xfrm>
        <a:graphic xmlns:a="http://schemas.openxmlformats.org/drawingml/2006/main">
          <a:graphicData uri="http://schemas.openxmlformats.org/drawingml/2006/table">
            <a:tbl>
              <a:tblPr/>
              <a:tblGrid>
                <a:gridCol w="4095750"/>
                <a:gridCol w="4572000"/>
                <a:gridCol w="2457450"/>
              </a:tblGrid>
              <a:tr h="544830">
                <a:tc>
                  <a:txBody>
                    <a:bodyPr lIns="114300" tIns="76200" rIns="114300" bIns="76200">
                      <a:noAutofit/>
                    </a:bodyPr>
                    <a:lstStyle/>
                    <a:p>
                      <a:pPr algn="l">
                        <a:buNone/>
                      </a:pPr>
                      <a:r>
                        <a:rPr sz="1800" b="1">
                          <a:solidFill>
                            <a:srgbClr val="FFFFFF"/>
                          </a:solidFill>
                          <a:latin typeface="Arial"/>
                          <a:ea typeface="Arial"/>
                          <a:cs typeface="Arial"/>
                        </a:rPr>
                        <a:t>Component</a:t>
                      </a:r>
                    </a:p>
                  </a:txBody>
                  <a:tcPr marL="91440" marR="91440" marT="45720" marB="45720" anchor="ctr">
                    <a:lnL w="9525">
                      <a:solidFill>
                        <a:srgbClr val="BCDCEB"/>
                      </a:solidFill>
                      <a:prstDash val="solid"/>
                    </a:lnL>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800" b="1">
                          <a:solidFill>
                            <a:srgbClr val="FFFFFF"/>
                          </a:solidFill>
                          <a:latin typeface="Arial"/>
                          <a:ea typeface="Arial"/>
                          <a:cs typeface="Arial"/>
                        </a:rPr>
                        <a:t>Raw result</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800" b="1">
                          <a:solidFill>
                            <a:srgbClr val="FFFFFF"/>
                          </a:solidFill>
                          <a:latin typeface="Arial"/>
                          <a:ea typeface="Arial"/>
                          <a:cs typeface="Arial"/>
                        </a:rPr>
                        <a:t>Course marks</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r>
              <a:tr h="544830">
                <a:tc>
                  <a:txBody>
                    <a:bodyPr lIns="114300" tIns="76200" rIns="114300" bIns="76200">
                      <a:noAutofit/>
                    </a:bodyPr>
                    <a:lstStyle/>
                    <a:p>
                      <a:pPr algn="l">
                        <a:buNone/>
                      </a:pPr>
                      <a:r>
                        <a:rPr sz="1800" b="0">
                          <a:solidFill>
                            <a:srgbClr val="183D50"/>
                          </a:solidFill>
                          <a:latin typeface="Arial"/>
                          <a:ea typeface="Arial"/>
                          <a:cs typeface="Arial"/>
                        </a:rPr>
                        <a:t>Three labs</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800" b="0">
                          <a:solidFill>
                            <a:srgbClr val="183D50"/>
                          </a:solidFill>
                          <a:latin typeface="Arial"/>
                          <a:ea typeface="Arial"/>
                          <a:cs typeface="Arial"/>
                        </a:rPr>
                        <a:t>/15 each, scaled to /20 each</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800" b="0">
                          <a:solidFill>
                            <a:srgbClr val="183D50"/>
                          </a:solidFill>
                          <a:latin typeface="Arial"/>
                          <a:ea typeface="Arial"/>
                          <a:cs typeface="Arial"/>
                        </a:rPr>
                        <a:t>60</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544830">
                <a:tc>
                  <a:txBody>
                    <a:bodyPr lIns="114300" tIns="76200" rIns="114300" bIns="76200">
                      <a:noAutofit/>
                    </a:bodyPr>
                    <a:lstStyle/>
                    <a:p>
                      <a:pPr algn="l">
                        <a:buNone/>
                      </a:pPr>
                      <a:r>
                        <a:rPr sz="1800" b="0">
                          <a:solidFill>
                            <a:srgbClr val="183D50"/>
                          </a:solidFill>
                          <a:latin typeface="Arial"/>
                          <a:ea typeface="Arial"/>
                          <a:cs typeface="Arial"/>
                        </a:rPr>
                        <a:t>Capstone implementation</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800" b="0">
                          <a:solidFill>
                            <a:srgbClr val="183D50"/>
                          </a:solidFill>
                          <a:latin typeface="Arial"/>
                          <a:ea typeface="Arial"/>
                          <a:cs typeface="Arial"/>
                        </a:rPr>
                        <a:t>/20</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800" b="0">
                          <a:solidFill>
                            <a:srgbClr val="183D50"/>
                          </a:solidFill>
                          <a:latin typeface="Arial"/>
                          <a:ea typeface="Arial"/>
                          <a:cs typeface="Arial"/>
                        </a:rPr>
                        <a:t>20</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r h="544830">
                <a:tc>
                  <a:txBody>
                    <a:bodyPr lIns="114300" tIns="76200" rIns="114300" bIns="76200">
                      <a:noAutofit/>
                    </a:bodyPr>
                    <a:lstStyle/>
                    <a:p>
                      <a:pPr algn="l">
                        <a:buNone/>
                      </a:pPr>
                      <a:r>
                        <a:rPr sz="1800" b="0">
                          <a:solidFill>
                            <a:srgbClr val="183D50"/>
                          </a:solidFill>
                          <a:latin typeface="Arial"/>
                          <a:ea typeface="Arial"/>
                          <a:cs typeface="Arial"/>
                        </a:rPr>
                        <a:t>ADR and defense</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800" b="0">
                          <a:solidFill>
                            <a:srgbClr val="183D50"/>
                          </a:solidFill>
                          <a:latin typeface="Arial"/>
                          <a:ea typeface="Arial"/>
                          <a:cs typeface="Arial"/>
                        </a:rPr>
                        <a:t>/20</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800" b="0">
                          <a:solidFill>
                            <a:srgbClr val="183D50"/>
                          </a:solidFill>
                          <a:latin typeface="Arial"/>
                          <a:ea typeface="Arial"/>
                          <a:cs typeface="Arial"/>
                        </a:rPr>
                        <a:t>20</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544830">
                <a:tc>
                  <a:txBody>
                    <a:bodyPr lIns="114300" tIns="76200" rIns="114300" bIns="76200">
                      <a:noAutofit/>
                    </a:bodyPr>
                    <a:lstStyle/>
                    <a:p>
                      <a:pPr algn="l">
                        <a:buNone/>
                      </a:pPr>
                      <a:r>
                        <a:rPr sz="1800" b="0">
                          <a:solidFill>
                            <a:srgbClr val="183D50"/>
                          </a:solidFill>
                          <a:latin typeface="Arial"/>
                          <a:ea typeface="Arial"/>
                          <a:cs typeface="Arial"/>
                        </a:rPr>
                        <a:t>Total</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r>
                        <a:rPr sz="1800" b="0">
                          <a:solidFill>
                            <a:srgbClr val="183D50"/>
                          </a:solidFill>
                          <a:latin typeface="Arial"/>
                          <a:ea typeface="Arial"/>
                          <a:cs typeface="Arial"/>
                        </a:rPr>
                        <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800" b="0">
                          <a:solidFill>
                            <a:srgbClr val="183D50"/>
                          </a:solidFill>
                          <a:latin typeface="Arial"/>
                          <a:ea typeface="Arial"/>
                          <a:cs typeface="Arial"/>
                        </a:rPr>
                        <a:t>100</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bl>
          </a:graphicData>
        </a:graphic>
      </p:graphicFrame>
      <p:sp>
        <p:nvSpPr>
          <p:cNvPr id="8" name="validation-proof">
            <a:extLst xmlns:a="http://schemas.openxmlformats.org/drawingml/2006/main">
              <a:ext uri="{FF2B5EF4-FFF2-40B4-BE49-F238E27FC236}">
                <a16:creationId xmlns:a16="http://schemas.microsoft.com/office/drawing/2014/main" id="{8F930BF4-A988-41C2-A92E-2A82C32550C5}"/>
              </a:ext>
            </a:extLst>
          </p:cNvPr>
          <p:cNvSpPr>
            <a:spLocks xmlns:a="http://schemas.openxmlformats.org/drawingml/2006/main" noGrp="1"/>
          </p:cNvSpPr>
          <p:nvPr/>
        </p:nvSpPr>
        <p:spPr>
          <a:xfrm xmlns:a="http://schemas.openxmlformats.org/drawingml/2006/main">
            <a:off x="533400" y="5095875"/>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123D5A"/>
                </a:solidFill>
                <a:latin typeface="Arial"/>
                <a:ea typeface="Arial"/>
                <a:cs typeface="Arial"/>
              </a:defRPr>
            </a:defPPr>
          </a:lstStyle>
          <a:p xmlns:a="http://schemas.openxmlformats.org/drawingml/2006/main">
            <a:pPr algn="l">
              <a:buNone/>
              <a:defRPr sz="2100" b="1">
                <a:solidFill>
                  <a:srgbClr val="123D5A"/>
                </a:solidFill>
                <a:latin typeface="Arial"/>
                <a:ea typeface="Arial"/>
                <a:cs typeface="Arial"/>
              </a:defRPr>
            </a:pPr>
            <a:r>
              <a:rPr sz="2100" b="1">
                <a:solidFill>
                  <a:srgbClr val="123D5A"/>
                </a:solidFill>
                <a:latin typeface="Arial"/>
                <a:ea typeface="Arial"/>
                <a:cs typeface="Arial"/>
              </a:rPr>
              <a:t>Retain the edited notebook, observed checks, and actual pytest result.</a:t>
            </a:r>
          </a:p>
        </p:txBody>
      </p:sp>
      <p:sp>
        <p:nvSpPr>
          <p:cNvPr id="9" name="validation-limit">
            <a:extLst xmlns:a="http://schemas.openxmlformats.org/drawingml/2006/main">
              <a:ext uri="{FF2B5EF4-FFF2-40B4-BE49-F238E27FC236}">
                <a16:creationId xmlns:a16="http://schemas.microsoft.com/office/drawing/2014/main" id="{4B18B856-52A0-4A96-B073-41D0433D37C0}"/>
              </a:ext>
            </a:extLst>
          </p:cNvPr>
          <p:cNvSpPr>
            <a:spLocks xmlns:a="http://schemas.openxmlformats.org/drawingml/2006/main" noGrp="1"/>
          </p:cNvSpPr>
          <p:nvPr/>
        </p:nvSpPr>
        <p:spPr>
          <a:xfrm xmlns:a="http://schemas.openxmlformats.org/drawingml/2006/main">
            <a:off x="533400" y="574357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446579"/>
                </a:solidFill>
                <a:latin typeface="Arial"/>
                <a:ea typeface="Arial"/>
                <a:cs typeface="Arial"/>
              </a:defRPr>
            </a:defPPr>
          </a:lstStyle>
          <a:p xmlns:a="http://schemas.openxmlformats.org/drawingml/2006/main">
            <a:pPr algn="l">
              <a:buNone/>
              <a:defRPr sz="1800" b="0">
                <a:solidFill>
                  <a:srgbClr val="446579"/>
                </a:solidFill>
                <a:latin typeface="Arial"/>
                <a:ea typeface="Arial"/>
                <a:cs typeface="Arial"/>
              </a:defRPr>
            </a:pPr>
            <a:r>
              <a:rPr sz="1800" b="0">
                <a:solidFill>
                  <a:srgbClr val="446579"/>
                </a:solidFill>
                <a:latin typeface="Arial"/>
                <a:ea typeface="Arial"/>
                <a:cs typeface="Arial"/>
              </a:rPr>
              <a:t>Passing fixtures support a limited claim. Explain remaining risks in the ADR.</a:t>
            </a:r>
          </a:p>
        </p:txBody>
      </p:sp>
      <p:sp>
        <p:nvSpPr>
          <p:cNvPr id="11" name="footer-reference">
            <a:extLst xmlns:a="http://schemas.openxmlformats.org/drawingml/2006/main">
              <a:ext uri="{FF2B5EF4-FFF2-40B4-BE49-F238E27FC236}">
                <a16:creationId xmlns:a16="http://schemas.microsoft.com/office/drawing/2014/main" id="{B7E58389-3D21-48A4-A5FB-D26E5ADF0567}"/>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01173c3a2b7246d8"/>
              </a:rPr>
              <a:t>Assessment and submission</a:t>
            </a:r>
          </a:p>
        </p:txBody>
      </p:sp>
    </p:spTree>
    <p:extLst>
      <p:ext uri="{BB962C8B-B14F-4D97-AF65-F5344CB8AC3E}">
        <p14:creationId xmlns:p14="http://schemas.microsoft.com/office/powerpoint/2010/main" val="140648904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98EEF641-E676-4792-9CD7-399AC53BD1B8}"/>
              </a:ext>
            </a:extLst>
          </p:cNvPr>
          <p:cNvPicPr>
            <a:picLocks xmlns:a="http://schemas.openxmlformats.org/drawingml/2006/main" noChangeAspect="1"/>
          </p:cNvPicPr>
          <p:nvPr/>
        </p:nvPicPr>
        <p:blipFill>
          <a:blip xmlns:r="http://schemas.openxmlformats.org/officeDocument/2006/relationships" xmlns:a="http://schemas.openxmlformats.org/drawingml/2006/main" r:embed="Rf2230b3e6c0040f8"/>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F3FDF072-4746-41A7-A4D8-376AD6B1F343}"/>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DA98C1F3-1B95-4BF7-BE77-83CFEFCF3FB2}"/>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DE87B81C-1239-4BB0-BC63-30CD38D01738}"/>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Broader Framework Ecosystem</a:t>
            </a:r>
          </a:p>
        </p:txBody>
      </p:sp>
      <p:sp>
        <p:nvSpPr>
          <p:cNvPr id="5" name="footer-course">
            <a:extLst xmlns:a="http://schemas.openxmlformats.org/drawingml/2006/main">
              <a:ext uri="{FF2B5EF4-FFF2-40B4-BE49-F238E27FC236}">
                <a16:creationId xmlns:a16="http://schemas.microsoft.com/office/drawing/2014/main" id="{DC426805-3817-4C7F-8F99-1E8D69194A8C}"/>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stStyle>
          <a:p xmlns:a="http://schemas.openxmlformats.org/drawingml/2006/main">
            <a:pPr algn="l">
              <a:buNone/>
              <a:defRPr sz="1125" b="0">
                <a:solidFill>
                  <a:srgbClr val="446579"/>
                </a:solidFill>
                <a:latin typeface="Arial"/>
                <a:ea typeface="Arial"/>
                <a:cs typeface="Arial"/>
              </a:defRPr>
            </a:pPr>
            <a:r>
              <a:rPr sz="1125" b="0">
                <a:solidFill>
                  <a:srgbClr val="446579"/>
                </a:solidFill>
                <a:latin typeface="Arial"/>
                <a:ea typeface="Arial"/>
                <a:cs typeface="Arial"/>
              </a:rPr>
              <a:t>Managing Multi-Agent Teams</a:t>
            </a:r>
          </a:p>
        </p:txBody>
      </p:sp>
      <p:sp>
        <p:nvSpPr>
          <p:cNvPr id="6" name="footer-number">
            <a:extLst xmlns:a="http://schemas.openxmlformats.org/drawingml/2006/main">
              <a:ext uri="{FF2B5EF4-FFF2-40B4-BE49-F238E27FC236}">
                <a16:creationId xmlns:a16="http://schemas.microsoft.com/office/drawing/2014/main" id="{A076E01E-B92D-4BD6-B045-949BE7DD8974}"/>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13</a:t>
            </a:r>
          </a:p>
        </p:txBody>
      </p:sp>
      <p:graphicFrame>
        <p:nvGraphicFramePr>
          <p:cNvPr id="7" name="">
            <a:extLst xmlns:a="http://schemas.openxmlformats.org/drawingml/2006/main">
              <a:ext uri="{FF2B5EF4-FFF2-40B4-BE49-F238E27FC236}">
                <a16:creationId xmlns:a16="http://schemas.microsoft.com/office/drawing/2014/main" id="{74CDCD2A-143C-41C1-9B8A-5628E6C3FAFB}"/>
              </a:ext>
            </a:extLst>
          </p:cNvPr>
          <p:cNvGraphicFramePr/>
          <p:nvPr/>
        </p:nvGraphicFramePr>
        <p:xfrm>
          <a:off xmlns:a="http://schemas.openxmlformats.org/drawingml/2006/main" x="533400" y="2000250"/>
          <a:ext xmlns:a="http://schemas.openxmlformats.org/drawingml/2006/main" cx="11125200" cy="3886200"/>
        </p:xfrm>
        <a:graphic xmlns:a="http://schemas.openxmlformats.org/drawingml/2006/main">
          <a:graphicData uri="http://schemas.openxmlformats.org/drawingml/2006/table">
            <a:tbl>
              <a:tblPr/>
              <a:tblGrid>
                <a:gridCol w="3381375"/>
                <a:gridCol w="7743825"/>
              </a:tblGrid>
              <a:tr h="485775">
                <a:tc>
                  <a:txBody>
                    <a:bodyPr lIns="114300" tIns="76200" rIns="114300" bIns="76200">
                      <a:noAutofit/>
                    </a:bodyPr>
                    <a:lstStyle/>
                    <a:p>
                      <a:pPr algn="l">
                        <a:buNone/>
                      </a:pPr>
                      <a:r>
                        <a:rPr sz="1575" b="1">
                          <a:solidFill>
                            <a:srgbClr val="FFFFFF"/>
                          </a:solidFill>
                          <a:latin typeface="Arial"/>
                          <a:ea typeface="Arial"/>
                          <a:cs typeface="Arial"/>
                        </a:rPr>
                        <a:t>Option</a:t>
                      </a:r>
                    </a:p>
                  </a:txBody>
                  <a:tcPr marL="91440" marR="91440" marT="45720" marB="45720" anchor="ctr">
                    <a:lnL w="9525">
                      <a:solidFill>
                        <a:srgbClr val="BCDCEB"/>
                      </a:solidFill>
                      <a:prstDash val="solid"/>
                    </a:lnL>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575" b="1">
                          <a:solidFill>
                            <a:srgbClr val="FFFFFF"/>
                          </a:solidFill>
                          <a:latin typeface="Arial"/>
                          <a:ea typeface="Arial"/>
                          <a:cs typeface="Arial"/>
                        </a:rPr>
                        <a:t>Architecture or useful fit</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r>
              <a:tr h="485775">
                <a:tc>
                  <a:txBody>
                    <a:bodyPr lIns="114300" tIns="76200" rIns="114300" bIns="76200">
                      <a:noAutofit/>
                    </a:bodyPr>
                    <a:lstStyle/>
                    <a:p>
                      <a:pPr algn="l">
                        <a:buNone/>
                      </a:pPr>
                      <a:r>
                        <a:rPr sz="1575" b="0">
                          <a:solidFill>
                            <a:srgbClr val="183D50"/>
                          </a:solidFill>
                          <a:latin typeface="Arial"/>
                          <a:ea typeface="Arial"/>
                          <a:cs typeface="Arial"/>
                        </a:rPr>
                        <a:t>Microsoft Agent Framework</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575" b="0">
                          <a:solidFill>
                            <a:srgbClr val="183D50"/>
                          </a:solidFill>
                          <a:latin typeface="Arial"/>
                          <a:ea typeface="Arial"/>
                          <a:cs typeface="Arial"/>
                        </a:rPr>
                        <a:t>Agents plus explicit workflows; successor to AutoGen/SK.</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485775">
                <a:tc>
                  <a:txBody>
                    <a:bodyPr lIns="114300" tIns="76200" rIns="114300" bIns="76200">
                      <a:noAutofit/>
                    </a:bodyPr>
                    <a:lstStyle/>
                    <a:p>
                      <a:pPr algn="l">
                        <a:buNone/>
                      </a:pPr>
                      <a:r>
                        <a:rPr sz="1575" b="0">
                          <a:solidFill>
                            <a:srgbClr val="183D50"/>
                          </a:solidFill>
                          <a:latin typeface="Arial"/>
                          <a:ea typeface="Arial"/>
                          <a:cs typeface="Arial"/>
                        </a:rPr>
                        <a:t>Google ADK</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575" b="0">
                          <a:solidFill>
                            <a:srgbClr val="183D50"/>
                          </a:solidFill>
                          <a:latin typeface="Arial"/>
                          <a:ea typeface="Arial"/>
                          <a:cs typeface="Arial"/>
                        </a:rPr>
                        <a:t>Agent hierarchy, shared state, and workflow routing.</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r h="485775">
                <a:tc>
                  <a:txBody>
                    <a:bodyPr lIns="114300" tIns="76200" rIns="114300" bIns="76200">
                      <a:noAutofit/>
                    </a:bodyPr>
                    <a:lstStyle/>
                    <a:p>
                      <a:pPr algn="l">
                        <a:buNone/>
                      </a:pPr>
                      <a:r>
                        <a:rPr sz="1575" b="0">
                          <a:solidFill>
                            <a:srgbClr val="183D50"/>
                          </a:solidFill>
                          <a:latin typeface="Arial"/>
                          <a:ea typeface="Arial"/>
                          <a:cs typeface="Arial"/>
                        </a:rPr>
                        <a:t>Claude Agent SDK</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575" b="0">
                          <a:solidFill>
                            <a:srgbClr val="183D50"/>
                          </a:solidFill>
                          <a:latin typeface="Arial"/>
                          <a:ea typeface="Arial"/>
                          <a:cs typeface="Arial"/>
                        </a:rPr>
                        <a:t>Tool loop with sessions, hooks, and subagents.</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485775">
                <a:tc>
                  <a:txBody>
                    <a:bodyPr lIns="114300" tIns="76200" rIns="114300" bIns="76200">
                      <a:noAutofit/>
                    </a:bodyPr>
                    <a:lstStyle/>
                    <a:p>
                      <a:pPr algn="l">
                        <a:buNone/>
                      </a:pPr>
                      <a:r>
                        <a:rPr sz="1575" b="0">
                          <a:solidFill>
                            <a:srgbClr val="183D50"/>
                          </a:solidFill>
                          <a:latin typeface="Arial"/>
                          <a:ea typeface="Arial"/>
                          <a:cs typeface="Arial"/>
                        </a:rPr>
                        <a:t>MetaGPT</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575" b="0">
                          <a:solidFill>
                            <a:srgbClr val="183D50"/>
                          </a:solidFill>
                          <a:latin typeface="Arial"/>
                          <a:ea typeface="Arial"/>
                          <a:cs typeface="Arial"/>
                        </a:rPr>
                        <a:t>Software roles and SOP-guided artifact handoffs.</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r h="485775">
                <a:tc>
                  <a:txBody>
                    <a:bodyPr lIns="114300" tIns="76200" rIns="114300" bIns="76200">
                      <a:noAutofit/>
                    </a:bodyPr>
                    <a:lstStyle/>
                    <a:p>
                      <a:pPr algn="l">
                        <a:buNone/>
                      </a:pPr>
                      <a:r>
                        <a:rPr sz="1575" b="0">
                          <a:solidFill>
                            <a:srgbClr val="183D50"/>
                          </a:solidFill>
                          <a:latin typeface="Arial"/>
                          <a:ea typeface="Arial"/>
                          <a:cs typeface="Arial"/>
                        </a:rPr>
                        <a:t>PydanticAI</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575" b="0">
                          <a:solidFill>
                            <a:srgbClr val="183D50"/>
                          </a:solidFill>
                          <a:latin typeface="Arial"/>
                          <a:ea typeface="Arial"/>
                          <a:cs typeface="Arial"/>
                        </a:rPr>
                        <a:t>Typed Python agents and validated tools/outputs.</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485775">
                <a:tc>
                  <a:txBody>
                    <a:bodyPr lIns="114300" tIns="76200" rIns="114300" bIns="76200">
                      <a:noAutofit/>
                    </a:bodyPr>
                    <a:lstStyle/>
                    <a:p>
                      <a:pPr algn="l"/>
                      <a:r>
                        <a:rPr sz="1575" b="0">
                          <a:solidFill>
                            <a:srgbClr val="183D50"/>
                          </a:solidFill>
                          <a:latin typeface="Arial"/>
                          <a:ea typeface="Arial"/>
                          <a:cs typeface="Arial"/>
                        </a:rPr>
                        <a:t>n8n</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r>
                        <a:rPr sz="1575" b="0">
                          <a:solidFill>
                            <a:srgbClr val="183D50"/>
                          </a:solidFill>
                          <a:latin typeface="Arial"/>
                          <a:ea typeface="Arial"/>
                          <a:cs typeface="Arial"/>
                        </a:rPr>
                        <a:t>Visual automation with AI agents and service/tool nodes.</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r h="485775">
                <a:tc>
                  <a:txBody>
                    <a:bodyPr lIns="114300" tIns="76200" rIns="114300" bIns="76200">
                      <a:noAutofit/>
                    </a:bodyPr>
                    <a:lstStyle/>
                    <a:p>
                      <a:pPr algn="l"/>
                      <a:r>
                        <a:rPr sz="1575" b="0">
                          <a:solidFill>
                            <a:srgbClr val="183D50"/>
                          </a:solidFill>
                          <a:latin typeface="Arial"/>
                          <a:ea typeface="Arial"/>
                          <a:cs typeface="Arial"/>
                        </a:rPr>
                        <a:t>OpenClaw</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r>
                        <a:rPr sz="1575" b="0">
                          <a:solidFill>
                            <a:srgbClr val="183D50"/>
                          </a:solidFill>
                          <a:latin typeface="Arial"/>
                          <a:ea typeface="Arial"/>
                          <a:cs typeface="Arial"/>
                        </a:rPr>
                        <a:t>Self-hosted assistant gateway and routed agent workspaces.</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bl>
          </a:graphicData>
        </a:graphic>
      </p:graphicFrame>
      <p:sp>
        <p:nvSpPr>
          <p:cNvPr id="8" name="objective-map-link">
            <a:extLst xmlns:a="http://schemas.openxmlformats.org/drawingml/2006/main">
              <a:ext uri="{FF2B5EF4-FFF2-40B4-BE49-F238E27FC236}">
                <a16:creationId xmlns:a16="http://schemas.microsoft.com/office/drawing/2014/main" id="{FC0496DE-2383-4BE6-A377-83C5F5268883}"/>
              </a:ext>
            </a:extLst>
          </p:cNvPr>
          <p:cNvSpPr>
            <a:spLocks xmlns:a="http://schemas.openxmlformats.org/drawingml/2006/main" noGrp="1"/>
          </p:cNvSpPr>
          <p:nvPr/>
        </p:nvSpPr>
        <p:spPr>
          <a:xfrm xmlns:a="http://schemas.openxmlformats.org/drawingml/2006/main">
            <a:off x="533400" y="6096000"/>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446579"/>
                </a:solidFill>
                <a:latin typeface="Arial"/>
                <a:ea typeface="Arial"/>
                <a:cs typeface="Arial"/>
              </a:defRPr>
            </a:defPPr>
          </a:lstStyle>
          <a:p xmlns:a="http://schemas.openxmlformats.org/drawingml/2006/main">
            <a:pPr algn="l">
              <a:buNone/>
              <a:defRPr sz="1500" b="0">
                <a:solidFill>
                  <a:srgbClr val="446579"/>
                </a:solidFill>
                <a:latin typeface="Arial"/>
                <a:ea typeface="Arial"/>
                <a:cs typeface="Arial"/>
              </a:defRPr>
            </a:pPr>
            <a:r>
              <a:rPr sz="1500" b="0">
                <a:solidFill>
                  <a:srgbClr val="446579"/>
                </a:solidFill>
                <a:latin typeface="Arial"/>
                <a:ea typeface="Arial"/>
                <a:cs typeface="Arial"/>
                <a:hlinkClick xmlns:r="http://schemas.openxmlformats.org/officeDocument/2006/relationships" r:id="Rf563adc53d2b4757"/>
              </a:rPr>
              <a:t>Reference only.</a:t>
            </a:r>
            <a:r>
              <a:rPr sz="1500" b="0">
                <a:solidFill>
                  <a:srgbClr val="446579"/>
                </a:solidFill>
                <a:latin typeface="Arial"/>
                <a:ea typeface="Arial"/>
                <a:cs typeface="Arial"/>
              </a:rPr>
              <a:t> Configure permissions, isolation, and evidence checks for the application.</a:t>
            </a:r>
          </a:p>
        </p:txBody>
      </p:sp>
      <p:sp>
        <p:nvSpPr>
          <p:cNvPr id="10" name="footer-reference">
            <a:extLst xmlns:a="http://schemas.openxmlformats.org/drawingml/2006/main">
              <a:ext uri="{FF2B5EF4-FFF2-40B4-BE49-F238E27FC236}">
                <a16:creationId xmlns:a16="http://schemas.microsoft.com/office/drawing/2014/main" id="{B521F650-59DC-4511-A3A7-EF662F64F16C}"/>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465d824dd2484e87"/>
              </a:rPr>
              <a:t>Ecosystem comparison and official documentation</a:t>
            </a:r>
          </a:p>
        </p:txBody>
      </p:sp>
    </p:spTree>
    <p:extLst>
      <p:ext uri="{BB962C8B-B14F-4D97-AF65-F5344CB8AC3E}">
        <p14:creationId xmlns:p14="http://schemas.microsoft.com/office/powerpoint/2010/main" val="211335380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E4F79220-4B1C-440F-A968-E71504E81543}"/>
              </a:ext>
            </a:extLst>
          </p:cNvPr>
          <p:cNvPicPr>
            <a:picLocks xmlns:a="http://schemas.openxmlformats.org/drawingml/2006/main" noChangeAspect="1"/>
          </p:cNvPicPr>
          <p:nvPr/>
        </p:nvPicPr>
        <p:blipFill>
          <a:blip xmlns:r="http://schemas.openxmlformats.org/officeDocument/2006/relationships" xmlns:a="http://schemas.openxmlformats.org/drawingml/2006/main" r:embed="Rf874a5f6f9f84a96"/>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EE137F8C-CFDA-4A4E-A8CB-0901CD2ED162}"/>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B5E8C021-C21E-4219-A832-484FBCC7F4E8}"/>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111EA400-069A-4CFE-ACF9-A962ACE0FA8D}"/>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Completion and Next Steps</a:t>
            </a:r>
          </a:p>
        </p:txBody>
      </p:sp>
      <p:sp>
        <p:nvSpPr>
          <p:cNvPr id="5" name="footer-course">
            <a:extLst xmlns:a="http://schemas.openxmlformats.org/drawingml/2006/main">
              <a:ext uri="{FF2B5EF4-FFF2-40B4-BE49-F238E27FC236}">
                <a16:creationId xmlns:a16="http://schemas.microsoft.com/office/drawing/2014/main" id="{CDD96845-D24A-4A40-97A9-4C40ECAA713D}"/>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stStyle>
          <a:p xmlns:a="http://schemas.openxmlformats.org/drawingml/2006/main">
            <a:pPr algn="l">
              <a:buNone/>
              <a:defRPr sz="1125" b="0">
                <a:solidFill>
                  <a:srgbClr val="446579"/>
                </a:solidFill>
                <a:latin typeface="Arial"/>
                <a:ea typeface="Arial"/>
                <a:cs typeface="Arial"/>
              </a:defRPr>
            </a:pPr>
            <a:r>
              <a:rPr sz="1125" b="0">
                <a:solidFill>
                  <a:srgbClr val="446579"/>
                </a:solidFill>
                <a:latin typeface="Arial"/>
                <a:ea typeface="Arial"/>
                <a:cs typeface="Arial"/>
              </a:rPr>
              <a:t>Managing Multi-Agent Teams</a:t>
            </a:r>
          </a:p>
        </p:txBody>
      </p:sp>
      <p:sp>
        <p:nvSpPr>
          <p:cNvPr id="6" name="footer-number">
            <a:extLst xmlns:a="http://schemas.openxmlformats.org/drawingml/2006/main">
              <a:ext uri="{FF2B5EF4-FFF2-40B4-BE49-F238E27FC236}">
                <a16:creationId xmlns:a16="http://schemas.microsoft.com/office/drawing/2014/main" id="{91971944-FC01-40EF-9990-BC01246E68B2}"/>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14</a:t>
            </a:r>
          </a:p>
        </p:txBody>
      </p:sp>
      <p:sp>
        <p:nvSpPr>
          <p:cNvPr id="7" name="completion-number-01">
            <a:extLst xmlns:a="http://schemas.openxmlformats.org/drawingml/2006/main">
              <a:ext uri="{FF2B5EF4-FFF2-40B4-BE49-F238E27FC236}">
                <a16:creationId xmlns:a16="http://schemas.microsoft.com/office/drawing/2014/main" id="{6D639D92-E4F5-4930-BB68-4B5932CDE4D7}"/>
              </a:ext>
            </a:extLst>
          </p:cNvPr>
          <p:cNvSpPr>
            <a:spLocks xmlns:a="http://schemas.openxmlformats.org/drawingml/2006/main" noGrp="1"/>
          </p:cNvSpPr>
          <p:nvPr/>
        </p:nvSpPr>
        <p:spPr>
          <a:xfrm xmlns:a="http://schemas.openxmlformats.org/drawingml/2006/main">
            <a:off x="533400" y="20764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1">
                <a:solidFill>
                  <a:srgbClr val="D5077D"/>
                </a:solidFill>
                <a:latin typeface="Arial"/>
                <a:ea typeface="Arial"/>
                <a:cs typeface="Arial"/>
              </a:defRPr>
            </a:defPPr>
          </a:lstStyle>
          <a:p xmlns:a="http://schemas.openxmlformats.org/drawingml/2006/main">
            <a:pPr algn="l">
              <a:buNone/>
              <a:defRPr sz="2250" b="1">
                <a:solidFill>
                  <a:srgbClr val="D5077D"/>
                </a:solidFill>
                <a:latin typeface="Arial"/>
                <a:ea typeface="Arial"/>
                <a:cs typeface="Arial"/>
              </a:defRPr>
            </a:pPr>
            <a:r>
              <a:rPr sz="2250" b="1">
                <a:solidFill>
                  <a:srgbClr val="D5077D"/>
                </a:solidFill>
                <a:latin typeface="Arial"/>
                <a:ea typeface="Arial"/>
                <a:cs typeface="Arial"/>
              </a:rPr>
              <a:t>01</a:t>
            </a:r>
          </a:p>
        </p:txBody>
      </p:sp>
      <p:sp>
        <p:nvSpPr>
          <p:cNvPr id="8" name="completion-head-01">
            <a:extLst xmlns:a="http://schemas.openxmlformats.org/drawingml/2006/main">
              <a:ext uri="{FF2B5EF4-FFF2-40B4-BE49-F238E27FC236}">
                <a16:creationId xmlns:a16="http://schemas.microsoft.com/office/drawing/2014/main" id="{9362BA74-D6E2-49E5-B93C-0033DE2BE223}"/>
              </a:ext>
            </a:extLst>
          </p:cNvPr>
          <p:cNvSpPr>
            <a:spLocks xmlns:a="http://schemas.openxmlformats.org/drawingml/2006/main" noGrp="1"/>
          </p:cNvSpPr>
          <p:nvPr/>
        </p:nvSpPr>
        <p:spPr>
          <a:xfrm xmlns:a="http://schemas.openxmlformats.org/drawingml/2006/main">
            <a:off x="1476375" y="20764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23D5A"/>
                </a:solidFill>
                <a:latin typeface="Arial"/>
                <a:ea typeface="Arial"/>
                <a:cs typeface="Arial"/>
              </a:defRPr>
            </a:defPPr>
          </a:lstStyle>
          <a:p xmlns:a="http://schemas.openxmlformats.org/drawingml/2006/main">
            <a:pPr algn="l">
              <a:buNone/>
              <a:defRPr sz="2025" b="1">
                <a:solidFill>
                  <a:srgbClr val="123D5A"/>
                </a:solidFill>
                <a:latin typeface="Arial"/>
                <a:ea typeface="Arial"/>
                <a:cs typeface="Arial"/>
              </a:defRPr>
            </a:pPr>
            <a:r>
              <a:rPr sz="2025" b="1">
                <a:solidFill>
                  <a:srgbClr val="123D5A"/>
                </a:solidFill>
                <a:latin typeface="Arial"/>
                <a:ea typeface="Arial"/>
                <a:cs typeface="Arial"/>
              </a:rPr>
              <a:t>Concepts</a:t>
            </a:r>
          </a:p>
        </p:txBody>
      </p:sp>
      <p:sp>
        <p:nvSpPr>
          <p:cNvPr id="9" name="completion-body-01">
            <a:extLst xmlns:a="http://schemas.openxmlformats.org/drawingml/2006/main">
              <a:ext uri="{FF2B5EF4-FFF2-40B4-BE49-F238E27FC236}">
                <a16:creationId xmlns:a16="http://schemas.microsoft.com/office/drawing/2014/main" id="{DC40E424-CB04-43C3-98D8-A08A346AE31B}"/>
              </a:ext>
            </a:extLst>
          </p:cNvPr>
          <p:cNvSpPr>
            <a:spLocks xmlns:a="http://schemas.openxmlformats.org/drawingml/2006/main" noGrp="1"/>
          </p:cNvSpPr>
          <p:nvPr/>
        </p:nvSpPr>
        <p:spPr>
          <a:xfrm xmlns:a="http://schemas.openxmlformats.org/drawingml/2006/main">
            <a:off x="4476750" y="2076450"/>
            <a:ext cx="7181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83D50"/>
                </a:solidFill>
                <a:latin typeface="Arial"/>
                <a:ea typeface="Arial"/>
                <a:cs typeface="Arial"/>
              </a:defRPr>
            </a:defPPr>
          </a:lstStyle>
          <a:p xmlns:a="http://schemas.openxmlformats.org/drawingml/2006/main">
            <a:pPr algn="l">
              <a:buNone/>
              <a:defRPr sz="1875" b="0">
                <a:solidFill>
                  <a:srgbClr val="183D50"/>
                </a:solidFill>
                <a:latin typeface="Arial"/>
                <a:ea typeface="Arial"/>
                <a:cs typeface="Arial"/>
              </a:defRPr>
            </a:pPr>
            <a:r>
              <a:rPr sz="1875" b="0">
                <a:solidFill>
                  <a:srgbClr val="183D50"/>
                </a:solidFill>
                <a:latin typeface="Arial"/>
                <a:ea typeface="Arial"/>
                <a:cs typeface="Arial"/>
              </a:rPr>
              <a:t>Explain the agents, interactions, and coordination risk.</a:t>
            </a:r>
          </a:p>
        </p:txBody>
      </p:sp>
      <p:sp>
        <p:nvSpPr>
          <p:cNvPr id="10" name="completion-number-02">
            <a:extLst xmlns:a="http://schemas.openxmlformats.org/drawingml/2006/main">
              <a:ext uri="{FF2B5EF4-FFF2-40B4-BE49-F238E27FC236}">
                <a16:creationId xmlns:a16="http://schemas.microsoft.com/office/drawing/2014/main" id="{1064B8B9-3014-4421-B4A2-FBEFB008E90B}"/>
              </a:ext>
            </a:extLst>
          </p:cNvPr>
          <p:cNvSpPr>
            <a:spLocks xmlns:a="http://schemas.openxmlformats.org/drawingml/2006/main" noGrp="1"/>
          </p:cNvSpPr>
          <p:nvPr/>
        </p:nvSpPr>
        <p:spPr>
          <a:xfrm xmlns:a="http://schemas.openxmlformats.org/drawingml/2006/main">
            <a:off x="533400" y="2867025"/>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1">
                <a:solidFill>
                  <a:srgbClr val="D5077D"/>
                </a:solidFill>
                <a:latin typeface="Arial"/>
                <a:ea typeface="Arial"/>
                <a:cs typeface="Arial"/>
              </a:defRPr>
            </a:defPPr>
          </a:lstStyle>
          <a:p xmlns:a="http://schemas.openxmlformats.org/drawingml/2006/main">
            <a:pPr algn="l">
              <a:buNone/>
              <a:defRPr sz="2250" b="1">
                <a:solidFill>
                  <a:srgbClr val="D5077D"/>
                </a:solidFill>
                <a:latin typeface="Arial"/>
                <a:ea typeface="Arial"/>
                <a:cs typeface="Arial"/>
              </a:defRPr>
            </a:pPr>
            <a:r>
              <a:rPr sz="2250" b="1">
                <a:solidFill>
                  <a:srgbClr val="D5077D"/>
                </a:solidFill>
                <a:latin typeface="Arial"/>
                <a:ea typeface="Arial"/>
                <a:cs typeface="Arial"/>
              </a:rPr>
              <a:t>02</a:t>
            </a:r>
          </a:p>
        </p:txBody>
      </p:sp>
      <p:sp>
        <p:nvSpPr>
          <p:cNvPr id="11" name="completion-head-02">
            <a:extLst xmlns:a="http://schemas.openxmlformats.org/drawingml/2006/main">
              <a:ext uri="{FF2B5EF4-FFF2-40B4-BE49-F238E27FC236}">
                <a16:creationId xmlns:a16="http://schemas.microsoft.com/office/drawing/2014/main" id="{FE02F104-5CB6-4D4A-A7B4-DEBAEA6B2F71}"/>
              </a:ext>
            </a:extLst>
          </p:cNvPr>
          <p:cNvSpPr>
            <a:spLocks xmlns:a="http://schemas.openxmlformats.org/drawingml/2006/main" noGrp="1"/>
          </p:cNvSpPr>
          <p:nvPr/>
        </p:nvSpPr>
        <p:spPr>
          <a:xfrm xmlns:a="http://schemas.openxmlformats.org/drawingml/2006/main">
            <a:off x="1476375" y="2867025"/>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23D5A"/>
                </a:solidFill>
                <a:latin typeface="Arial"/>
                <a:ea typeface="Arial"/>
                <a:cs typeface="Arial"/>
              </a:defRPr>
            </a:defPPr>
          </a:lstStyle>
          <a:p xmlns:a="http://schemas.openxmlformats.org/drawingml/2006/main">
            <a:pPr algn="l">
              <a:buNone/>
              <a:defRPr sz="2025" b="1">
                <a:solidFill>
                  <a:srgbClr val="123D5A"/>
                </a:solidFill>
                <a:latin typeface="Arial"/>
                <a:ea typeface="Arial"/>
                <a:cs typeface="Arial"/>
              </a:defRPr>
            </a:pPr>
            <a:r>
              <a:rPr sz="2025" b="1">
                <a:solidFill>
                  <a:srgbClr val="123D5A"/>
                </a:solidFill>
                <a:latin typeface="Arial"/>
                <a:ea typeface="Arial"/>
                <a:cs typeface="Arial"/>
              </a:rPr>
              <a:t>Practicals</a:t>
            </a:r>
          </a:p>
        </p:txBody>
      </p:sp>
      <p:sp>
        <p:nvSpPr>
          <p:cNvPr id="12" name="completion-body-02">
            <a:extLst xmlns:a="http://schemas.openxmlformats.org/drawingml/2006/main">
              <a:ext uri="{FF2B5EF4-FFF2-40B4-BE49-F238E27FC236}">
                <a16:creationId xmlns:a16="http://schemas.microsoft.com/office/drawing/2014/main" id="{DE7D9E7B-9576-469D-A8D7-DBE02E01B937}"/>
              </a:ext>
            </a:extLst>
          </p:cNvPr>
          <p:cNvSpPr>
            <a:spLocks xmlns:a="http://schemas.openxmlformats.org/drawingml/2006/main" noGrp="1"/>
          </p:cNvSpPr>
          <p:nvPr/>
        </p:nvSpPr>
        <p:spPr>
          <a:xfrm xmlns:a="http://schemas.openxmlformats.org/drawingml/2006/main">
            <a:off x="4476750" y="2867025"/>
            <a:ext cx="7181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83D50"/>
                </a:solidFill>
                <a:latin typeface="Arial"/>
                <a:ea typeface="Arial"/>
                <a:cs typeface="Arial"/>
              </a:defRPr>
            </a:defPPr>
          </a:lstStyle>
          <a:p xmlns:a="http://schemas.openxmlformats.org/drawingml/2006/main">
            <a:pPr algn="l">
              <a:buNone/>
              <a:defRPr sz="1875" b="0">
                <a:solidFill>
                  <a:srgbClr val="183D50"/>
                </a:solidFill>
                <a:latin typeface="Arial"/>
                <a:ea typeface="Arial"/>
                <a:cs typeface="Arial"/>
              </a:defRPr>
            </a:pPr>
            <a:r>
              <a:rPr sz="1875" b="0">
                <a:solidFill>
                  <a:srgbClr val="183D50"/>
                </a:solidFill>
                <a:latin typeface="Arial"/>
                <a:ea typeface="Arial"/>
                <a:cs typeface="Arial"/>
              </a:rPr>
              <a:t>Complete the three labs and inspect their 15/15 evidence.</a:t>
            </a:r>
          </a:p>
        </p:txBody>
      </p:sp>
      <p:sp>
        <p:nvSpPr>
          <p:cNvPr id="13" name="completion-number-03">
            <a:extLst xmlns:a="http://schemas.openxmlformats.org/drawingml/2006/main">
              <a:ext uri="{FF2B5EF4-FFF2-40B4-BE49-F238E27FC236}">
                <a16:creationId xmlns:a16="http://schemas.microsoft.com/office/drawing/2014/main" id="{064AC16E-7EDB-44D9-9FB4-AB827C818477}"/>
              </a:ext>
            </a:extLst>
          </p:cNvPr>
          <p:cNvSpPr>
            <a:spLocks xmlns:a="http://schemas.openxmlformats.org/drawingml/2006/main" noGrp="1"/>
          </p:cNvSpPr>
          <p:nvPr/>
        </p:nvSpPr>
        <p:spPr>
          <a:xfrm xmlns:a="http://schemas.openxmlformats.org/drawingml/2006/main">
            <a:off x="533400" y="365760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1">
                <a:solidFill>
                  <a:srgbClr val="D5077D"/>
                </a:solidFill>
                <a:latin typeface="Arial"/>
                <a:ea typeface="Arial"/>
                <a:cs typeface="Arial"/>
              </a:defRPr>
            </a:defPPr>
          </a:lstStyle>
          <a:p xmlns:a="http://schemas.openxmlformats.org/drawingml/2006/main">
            <a:pPr algn="l">
              <a:buNone/>
              <a:defRPr sz="2250" b="1">
                <a:solidFill>
                  <a:srgbClr val="D5077D"/>
                </a:solidFill>
                <a:latin typeface="Arial"/>
                <a:ea typeface="Arial"/>
                <a:cs typeface="Arial"/>
              </a:defRPr>
            </a:pPr>
            <a:r>
              <a:rPr sz="2250" b="1">
                <a:solidFill>
                  <a:srgbClr val="D5077D"/>
                </a:solidFill>
                <a:latin typeface="Arial"/>
                <a:ea typeface="Arial"/>
                <a:cs typeface="Arial"/>
              </a:rPr>
              <a:t>03</a:t>
            </a:r>
          </a:p>
        </p:txBody>
      </p:sp>
      <p:sp>
        <p:nvSpPr>
          <p:cNvPr id="14" name="completion-head-03">
            <a:extLst xmlns:a="http://schemas.openxmlformats.org/drawingml/2006/main">
              <a:ext uri="{FF2B5EF4-FFF2-40B4-BE49-F238E27FC236}">
                <a16:creationId xmlns:a16="http://schemas.microsoft.com/office/drawing/2014/main" id="{A345BC39-ADF1-4E64-B3C5-1B9FE2953443}"/>
              </a:ext>
            </a:extLst>
          </p:cNvPr>
          <p:cNvSpPr>
            <a:spLocks xmlns:a="http://schemas.openxmlformats.org/drawingml/2006/main" noGrp="1"/>
          </p:cNvSpPr>
          <p:nvPr/>
        </p:nvSpPr>
        <p:spPr>
          <a:xfrm xmlns:a="http://schemas.openxmlformats.org/drawingml/2006/main">
            <a:off x="1476375" y="365760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23D5A"/>
                </a:solidFill>
                <a:latin typeface="Arial"/>
                <a:ea typeface="Arial"/>
                <a:cs typeface="Arial"/>
              </a:defRPr>
            </a:defPPr>
          </a:lstStyle>
          <a:p xmlns:a="http://schemas.openxmlformats.org/drawingml/2006/main">
            <a:pPr algn="l">
              <a:buNone/>
              <a:defRPr sz="2025" b="1">
                <a:solidFill>
                  <a:srgbClr val="123D5A"/>
                </a:solidFill>
                <a:latin typeface="Arial"/>
                <a:ea typeface="Arial"/>
                <a:cs typeface="Arial"/>
              </a:defRPr>
            </a:pPr>
            <a:r>
              <a:rPr sz="2025" b="1">
                <a:solidFill>
                  <a:srgbClr val="123D5A"/>
                </a:solidFill>
                <a:latin typeface="Arial"/>
                <a:ea typeface="Arial"/>
                <a:cs typeface="Arial"/>
              </a:rPr>
              <a:t>Capstone</a:t>
            </a:r>
          </a:p>
        </p:txBody>
      </p:sp>
      <p:sp>
        <p:nvSpPr>
          <p:cNvPr id="15" name="completion-body-03">
            <a:extLst xmlns:a="http://schemas.openxmlformats.org/drawingml/2006/main">
              <a:ext uri="{FF2B5EF4-FFF2-40B4-BE49-F238E27FC236}">
                <a16:creationId xmlns:a16="http://schemas.microsoft.com/office/drawing/2014/main" id="{293D7F58-E4B6-402B-9632-972A86069DC0}"/>
              </a:ext>
            </a:extLst>
          </p:cNvPr>
          <p:cNvSpPr>
            <a:spLocks xmlns:a="http://schemas.openxmlformats.org/drawingml/2006/main" noGrp="1"/>
          </p:cNvSpPr>
          <p:nvPr/>
        </p:nvSpPr>
        <p:spPr>
          <a:xfrm xmlns:a="http://schemas.openxmlformats.org/drawingml/2006/main">
            <a:off x="4476750" y="3657600"/>
            <a:ext cx="7181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83D50"/>
                </a:solidFill>
                <a:latin typeface="Arial"/>
                <a:ea typeface="Arial"/>
                <a:cs typeface="Arial"/>
              </a:defRPr>
            </a:defPPr>
          </a:lstStyle>
          <a:p xmlns:a="http://schemas.openxmlformats.org/drawingml/2006/main">
            <a:pPr algn="l">
              <a:buNone/>
              <a:defRPr sz="1875" b="0">
                <a:solidFill>
                  <a:srgbClr val="183D50"/>
                </a:solidFill>
                <a:latin typeface="Arial"/>
                <a:ea typeface="Arial"/>
                <a:cs typeface="Arial"/>
              </a:defRPr>
            </a:pPr>
            <a:r>
              <a:rPr sz="1875" b="0">
                <a:solidFill>
                  <a:srgbClr val="183D50"/>
                </a:solidFill>
                <a:latin typeface="Arial"/>
                <a:ea typeface="Arial"/>
                <a:cs typeface="Arial"/>
              </a:rPr>
              <a:t>Inspect the typed team result; submit the one-page ADR.</a:t>
            </a:r>
          </a:p>
        </p:txBody>
      </p:sp>
      <p:sp>
        <p:nvSpPr>
          <p:cNvPr id="16" name="completion-number-04">
            <a:extLst xmlns:a="http://schemas.openxmlformats.org/drawingml/2006/main">
              <a:ext uri="{FF2B5EF4-FFF2-40B4-BE49-F238E27FC236}">
                <a16:creationId xmlns:a16="http://schemas.microsoft.com/office/drawing/2014/main" id="{5F69214E-ABD3-4D91-BB63-B4EC4C54C8E1}"/>
              </a:ext>
            </a:extLst>
          </p:cNvPr>
          <p:cNvSpPr>
            <a:spLocks xmlns:a="http://schemas.openxmlformats.org/drawingml/2006/main" noGrp="1"/>
          </p:cNvSpPr>
          <p:nvPr/>
        </p:nvSpPr>
        <p:spPr>
          <a:xfrm xmlns:a="http://schemas.openxmlformats.org/drawingml/2006/main">
            <a:off x="533400" y="4448175"/>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1">
                <a:solidFill>
                  <a:srgbClr val="D5077D"/>
                </a:solidFill>
                <a:latin typeface="Arial"/>
                <a:ea typeface="Arial"/>
                <a:cs typeface="Arial"/>
              </a:defRPr>
            </a:defPPr>
          </a:lstStyle>
          <a:p xmlns:a="http://schemas.openxmlformats.org/drawingml/2006/main">
            <a:pPr algn="l">
              <a:buNone/>
              <a:defRPr sz="2250" b="1">
                <a:solidFill>
                  <a:srgbClr val="D5077D"/>
                </a:solidFill>
                <a:latin typeface="Arial"/>
                <a:ea typeface="Arial"/>
                <a:cs typeface="Arial"/>
              </a:defRPr>
            </a:pPr>
            <a:r>
              <a:rPr sz="2250" b="1">
                <a:solidFill>
                  <a:srgbClr val="D5077D"/>
                </a:solidFill>
                <a:latin typeface="Arial"/>
                <a:ea typeface="Arial"/>
                <a:cs typeface="Arial"/>
              </a:rPr>
              <a:t>04</a:t>
            </a:r>
          </a:p>
        </p:txBody>
      </p:sp>
      <p:sp>
        <p:nvSpPr>
          <p:cNvPr id="17" name="completion-head-04">
            <a:extLst xmlns:a="http://schemas.openxmlformats.org/drawingml/2006/main">
              <a:ext uri="{FF2B5EF4-FFF2-40B4-BE49-F238E27FC236}">
                <a16:creationId xmlns:a16="http://schemas.microsoft.com/office/drawing/2014/main" id="{0478FC3E-A5F6-47D4-9B12-BA6133BE4ECB}"/>
              </a:ext>
            </a:extLst>
          </p:cNvPr>
          <p:cNvSpPr>
            <a:spLocks xmlns:a="http://schemas.openxmlformats.org/drawingml/2006/main" noGrp="1"/>
          </p:cNvSpPr>
          <p:nvPr/>
        </p:nvSpPr>
        <p:spPr>
          <a:xfrm xmlns:a="http://schemas.openxmlformats.org/drawingml/2006/main">
            <a:off x="1476375" y="4448175"/>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23D5A"/>
                </a:solidFill>
                <a:latin typeface="Arial"/>
                <a:ea typeface="Arial"/>
                <a:cs typeface="Arial"/>
              </a:defRPr>
            </a:defPPr>
          </a:lstStyle>
          <a:p xmlns:a="http://schemas.openxmlformats.org/drawingml/2006/main">
            <a:pPr algn="l">
              <a:buNone/>
              <a:defRPr sz="2025" b="1">
                <a:solidFill>
                  <a:srgbClr val="123D5A"/>
                </a:solidFill>
                <a:latin typeface="Arial"/>
                <a:ea typeface="Arial"/>
                <a:cs typeface="Arial"/>
              </a:defRPr>
            </a:pPr>
            <a:r>
              <a:rPr sz="2025" b="1">
                <a:solidFill>
                  <a:srgbClr val="123D5A"/>
                </a:solidFill>
                <a:latin typeface="Arial"/>
                <a:ea typeface="Arial"/>
                <a:cs typeface="Arial"/>
              </a:rPr>
              <a:t>Next step</a:t>
            </a:r>
          </a:p>
        </p:txBody>
      </p:sp>
      <p:sp>
        <p:nvSpPr>
          <p:cNvPr id="18" name="completion-body-04">
            <a:extLst xmlns:a="http://schemas.openxmlformats.org/drawingml/2006/main">
              <a:ext uri="{FF2B5EF4-FFF2-40B4-BE49-F238E27FC236}">
                <a16:creationId xmlns:a16="http://schemas.microsoft.com/office/drawing/2014/main" id="{9E56D60C-8646-4C20-96AF-E471AAC3B2E3}"/>
              </a:ext>
            </a:extLst>
          </p:cNvPr>
          <p:cNvSpPr>
            <a:spLocks xmlns:a="http://schemas.openxmlformats.org/drawingml/2006/main" noGrp="1"/>
          </p:cNvSpPr>
          <p:nvPr/>
        </p:nvSpPr>
        <p:spPr>
          <a:xfrm xmlns:a="http://schemas.openxmlformats.org/drawingml/2006/main">
            <a:off x="4476750" y="4448175"/>
            <a:ext cx="7181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83D50"/>
                </a:solidFill>
                <a:latin typeface="Arial"/>
                <a:ea typeface="Arial"/>
                <a:cs typeface="Arial"/>
              </a:defRPr>
            </a:defPPr>
          </a:lstStyle>
          <a:p xmlns:a="http://schemas.openxmlformats.org/drawingml/2006/main">
            <a:pPr algn="l">
              <a:buNone/>
              <a:defRPr sz="1875" b="0">
                <a:solidFill>
                  <a:srgbClr val="183D50"/>
                </a:solidFill>
                <a:latin typeface="Arial"/>
                <a:ea typeface="Arial"/>
                <a:cs typeface="Arial"/>
              </a:defRPr>
            </a:pPr>
            <a:r>
              <a:rPr sz="1875" b="0">
                <a:solidFill>
                  <a:srgbClr val="183D50"/>
                </a:solidFill>
                <a:latin typeface="Arial"/>
                <a:ea typeface="Arial"/>
                <a:cs typeface="Arial"/>
              </a:rPr>
              <a:t>Use optional resources after the required path.</a:t>
            </a:r>
          </a:p>
        </p:txBody>
      </p:sp>
      <p:sp>
        <p:nvSpPr>
          <p:cNvPr id="19" name="dashboard-link">
            <a:extLst xmlns:a="http://schemas.openxmlformats.org/drawingml/2006/main">
              <a:ext uri="{FF2B5EF4-FFF2-40B4-BE49-F238E27FC236}">
                <a16:creationId xmlns:a16="http://schemas.microsoft.com/office/drawing/2014/main" id="{CB136C6A-5B86-4F58-B387-62966ED5B7E7}"/>
              </a:ext>
            </a:extLst>
          </p:cNvPr>
          <p:cNvSpPr>
            <a:spLocks xmlns:a="http://schemas.openxmlformats.org/drawingml/2006/main" noGrp="1"/>
          </p:cNvSpPr>
          <p:nvPr/>
        </p:nvSpPr>
        <p:spPr>
          <a:xfrm xmlns:a="http://schemas.openxmlformats.org/drawingml/2006/main">
            <a:off x="533400" y="567690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1">
                <a:solidFill>
                  <a:srgbClr val="007DBA"/>
                </a:solidFill>
                <a:latin typeface="Arial"/>
                <a:ea typeface="Arial"/>
                <a:cs typeface="Arial"/>
              </a:defRPr>
            </a:defPPr>
          </a:lstStyle>
          <a:p xmlns:a="http://schemas.openxmlformats.org/drawingml/2006/main">
            <a:pPr algn="l">
              <a:buNone/>
              <a:defRPr sz="1800" b="1">
                <a:solidFill>
                  <a:srgbClr val="007DBA"/>
                </a:solidFill>
                <a:latin typeface="Arial"/>
                <a:ea typeface="Arial"/>
                <a:cs typeface="Arial"/>
              </a:defRPr>
            </a:pPr>
            <a:r>
              <a:rPr sz="1800" b="1">
                <a:solidFill>
                  <a:srgbClr val="007DBA"/>
                </a:solidFill>
                <a:latin typeface="Arial"/>
                <a:ea typeface="Arial"/>
                <a:cs typeface="Arial"/>
                <a:hlinkClick xmlns:r="http://schemas.openxmlformats.org/officeDocument/2006/relationships" r:id="R8c340e28e6c1462c"/>
              </a:rPr>
              <a:t>Course dashboard</a:t>
            </a:r>
          </a:p>
        </p:txBody>
      </p:sp>
      <p:sp>
        <p:nvSpPr>
          <p:cNvPr id="20" name="submission-link">
            <a:extLst xmlns:a="http://schemas.openxmlformats.org/drawingml/2006/main">
              <a:ext uri="{FF2B5EF4-FFF2-40B4-BE49-F238E27FC236}">
                <a16:creationId xmlns:a16="http://schemas.microsoft.com/office/drawing/2014/main" id="{7B41B910-FA1C-46D7-A1AE-65169C8C0BB7}"/>
              </a:ext>
            </a:extLst>
          </p:cNvPr>
          <p:cNvSpPr>
            <a:spLocks xmlns:a="http://schemas.openxmlformats.org/drawingml/2006/main" noGrp="1"/>
          </p:cNvSpPr>
          <p:nvPr/>
        </p:nvSpPr>
        <p:spPr>
          <a:xfrm xmlns:a="http://schemas.openxmlformats.org/drawingml/2006/main">
            <a:off x="6000750" y="5676900"/>
            <a:ext cx="5657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1">
                <a:solidFill>
                  <a:srgbClr val="007DBA"/>
                </a:solidFill>
                <a:latin typeface="Arial"/>
                <a:ea typeface="Arial"/>
                <a:cs typeface="Arial"/>
              </a:defRPr>
            </a:defPPr>
          </a:lstStyle>
          <a:p xmlns:a="http://schemas.openxmlformats.org/drawingml/2006/main">
            <a:pPr algn="l">
              <a:buNone/>
              <a:defRPr sz="1800" b="1">
                <a:solidFill>
                  <a:srgbClr val="007DBA"/>
                </a:solidFill>
                <a:latin typeface="Arial"/>
                <a:ea typeface="Arial"/>
                <a:cs typeface="Arial"/>
              </a:defRPr>
            </a:pPr>
            <a:r>
              <a:rPr sz="1800" b="1">
                <a:solidFill>
                  <a:srgbClr val="007DBA"/>
                </a:solidFill>
                <a:latin typeface="Arial"/>
                <a:ea typeface="Arial"/>
                <a:cs typeface="Arial"/>
                <a:hlinkClick xmlns:r="http://schemas.openxmlformats.org/officeDocument/2006/relationships" r:id="Rf524c9e243bc426f"/>
              </a:rPr>
              <a:t>Capstone brief and submission</a:t>
            </a:r>
          </a:p>
        </p:txBody>
      </p:sp>
      <p:sp>
        <p:nvSpPr>
          <p:cNvPr id="22" name="footer-reference">
            <a:extLst xmlns:a="http://schemas.openxmlformats.org/drawingml/2006/main">
              <a:ext uri="{FF2B5EF4-FFF2-40B4-BE49-F238E27FC236}">
                <a16:creationId xmlns:a16="http://schemas.microsoft.com/office/drawing/2014/main" id="{E0EBA862-14F1-4D88-874B-54AF9C2CDB5F}"/>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6782671ad2b34a99"/>
              </a:rPr>
              <a:t>Course dashboard</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b4761d58b0284c5f"/>
              </a:rPr>
              <a:t>resource library</a:t>
            </a:r>
          </a:p>
        </p:txBody>
      </p:sp>
    </p:spTree>
    <p:extLst>
      <p:ext uri="{BB962C8B-B14F-4D97-AF65-F5344CB8AC3E}">
        <p14:creationId xmlns:p14="http://schemas.microsoft.com/office/powerpoint/2010/main" val="12877728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2026-10-16T21:04:15.0500000Z</dcterms:created>
  <dcterms:modified xsi:type="dcterms:W3CDTF">2026-10-16T21:04:15.0500000Z</dcterms:modified>
</coreProperties>
</file>