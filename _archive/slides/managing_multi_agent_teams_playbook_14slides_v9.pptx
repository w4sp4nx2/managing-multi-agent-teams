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8bc2fb89414173" /><Relationship Type="http://schemas.openxmlformats.org/officeDocument/2006/relationships/extended-properties" Target="/docProps/app.xml" Id="Re4159b3d5a684ddd" /><Relationship Type="http://schemas.openxmlformats.org/officeDocument/2006/relationships/officeDocument" Target="/ppt/presentation.xml" Id="Ra0a2e32a7fb248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111e9dd8d74d23"/>
  </p:sldMasterIdLst>
  <p:notesMasterIdLst>
    <p:notesMasterId xmlns:r="http://schemas.openxmlformats.org/officeDocument/2006/relationships" r:id="R670d8bcad9874c12"/>
  </p:notesMasterIdLst>
  <p:sldIdLst>
    <p:sldId xmlns:r="http://schemas.openxmlformats.org/officeDocument/2006/relationships" id="256" r:id="Rf68d8eb8ed4947b5"/>
    <p:sldId xmlns:r="http://schemas.openxmlformats.org/officeDocument/2006/relationships" id="257" r:id="Re1789f713ded4050"/>
    <p:sldId xmlns:r="http://schemas.openxmlformats.org/officeDocument/2006/relationships" id="258" r:id="Ra550569370c7478b"/>
    <p:sldId xmlns:r="http://schemas.openxmlformats.org/officeDocument/2006/relationships" id="259" r:id="Racbe40a147a34550"/>
    <p:sldId xmlns:r="http://schemas.openxmlformats.org/officeDocument/2006/relationships" id="260" r:id="R97977dbf8b474499"/>
    <p:sldId xmlns:r="http://schemas.openxmlformats.org/officeDocument/2006/relationships" id="261" r:id="R88aebf2dd3644a7d"/>
    <p:sldId xmlns:r="http://schemas.openxmlformats.org/officeDocument/2006/relationships" id="262" r:id="Rceb5efc7149048be"/>
    <p:sldId xmlns:r="http://schemas.openxmlformats.org/officeDocument/2006/relationships" id="263" r:id="R6e456358bd49491d"/>
    <p:sldId xmlns:r="http://schemas.openxmlformats.org/officeDocument/2006/relationships" id="264" r:id="R330caf39af024573"/>
    <p:sldId xmlns:r="http://schemas.openxmlformats.org/officeDocument/2006/relationships" id="265" r:id="R66ea4038d7154229"/>
    <p:sldId xmlns:r="http://schemas.openxmlformats.org/officeDocument/2006/relationships" id="266" r:id="Rd11167a7c5cd4077"/>
    <p:sldId xmlns:r="http://schemas.openxmlformats.org/officeDocument/2006/relationships" id="267" r:id="Rc302139437da4d43"/>
    <p:sldId xmlns:r="http://schemas.openxmlformats.org/officeDocument/2006/relationships" id="268" r:id="Re4f65788b2f7447c"/>
    <p:sldId xmlns:r="http://schemas.openxmlformats.org/officeDocument/2006/relationships" id="269" r:id="R94c7d64337b143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40f1c598ac4946" /><Relationship Type="http://schemas.openxmlformats.org/officeDocument/2006/relationships/slideMaster" Target="/ppt/slideMasters/slideMaster1.xml" Id="R82111e9dd8d74d23" /><Relationship Type="http://schemas.openxmlformats.org/officeDocument/2006/relationships/notesMaster" Target="/ppt/notesMasters/notesMaster1.xml" Id="R670d8bcad9874c12" /><Relationship Type="http://schemas.openxmlformats.org/officeDocument/2006/relationships/presProps" Target="/ppt/presProps.xml" Id="R5f2ba5adec5244d5" /><Relationship Type="http://schemas.openxmlformats.org/officeDocument/2006/relationships/tableStyles" Target="/ppt/tableStyles.xml" Id="R76090a31e7914444" /><Relationship Type="http://schemas.openxmlformats.org/officeDocument/2006/relationships/slide" Target="/ppt/slides/slide1.xml" Id="Rf68d8eb8ed4947b5" /><Relationship Type="http://schemas.openxmlformats.org/officeDocument/2006/relationships/slide" Target="/ppt/slides/slide2.xml" Id="Re1789f713ded4050" /><Relationship Type="http://schemas.openxmlformats.org/officeDocument/2006/relationships/slide" Target="/ppt/slides/slide3.xml" Id="Ra550569370c7478b" /><Relationship Type="http://schemas.openxmlformats.org/officeDocument/2006/relationships/slide" Target="/ppt/slides/slide4.xml" Id="Racbe40a147a34550" /><Relationship Type="http://schemas.openxmlformats.org/officeDocument/2006/relationships/slide" Target="/ppt/slides/slide5.xml" Id="R97977dbf8b474499" /><Relationship Type="http://schemas.openxmlformats.org/officeDocument/2006/relationships/slide" Target="/ppt/slides/slide6.xml" Id="R88aebf2dd3644a7d" /><Relationship Type="http://schemas.openxmlformats.org/officeDocument/2006/relationships/slide" Target="/ppt/slides/slide7.xml" Id="Rceb5efc7149048be" /><Relationship Type="http://schemas.openxmlformats.org/officeDocument/2006/relationships/slide" Target="/ppt/slides/slide8.xml" Id="R6e456358bd49491d" /><Relationship Type="http://schemas.openxmlformats.org/officeDocument/2006/relationships/slide" Target="/ppt/slides/slide9.xml" Id="R330caf39af024573" /><Relationship Type="http://schemas.openxmlformats.org/officeDocument/2006/relationships/slide" Target="/ppt/slides/slide10.xml" Id="R66ea4038d7154229" /><Relationship Type="http://schemas.openxmlformats.org/officeDocument/2006/relationships/slide" Target="/ppt/slides/slide11.xml" Id="Rd11167a7c5cd4077" /><Relationship Type="http://schemas.openxmlformats.org/officeDocument/2006/relationships/slide" Target="/ppt/slides/slide12.xml" Id="Rc302139437da4d43" /><Relationship Type="http://schemas.openxmlformats.org/officeDocument/2006/relationships/slide" Target="/ppt/slides/slide13.xml" Id="Re4f65788b2f7447c" /><Relationship Type="http://schemas.openxmlformats.org/officeDocument/2006/relationships/slide" Target="/ppt/slides/slide14.xml" Id="R94c7d64337b143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68a4a308f34b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5d4c31ce824148" /><Relationship Type="http://schemas.openxmlformats.org/officeDocument/2006/relationships/notesMaster" Target="/ppt/notesMasters/notesMaster1.xml" Id="R0c55c5a3284046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3b339038d44350" /><Relationship Type="http://schemas.openxmlformats.org/officeDocument/2006/relationships/notesMaster" Target="/ppt/notesMasters/notesMaster1.xml" Id="R2c6593bd682e4a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b9654c45784aa4" /><Relationship Type="http://schemas.openxmlformats.org/officeDocument/2006/relationships/notesMaster" Target="/ppt/notesMasters/notesMaster1.xml" Id="Re1824cd0236040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a62979a02940c6" /><Relationship Type="http://schemas.openxmlformats.org/officeDocument/2006/relationships/notesMaster" Target="/ppt/notesMasters/notesMaster1.xml" Id="Rb2d8f325b8e342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a155dac2a6483b" /><Relationship Type="http://schemas.openxmlformats.org/officeDocument/2006/relationships/notesMaster" Target="/ppt/notesMasters/notesMaster1.xml" Id="Ra6a4d998dc7f43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a66215aded4f08" /><Relationship Type="http://schemas.openxmlformats.org/officeDocument/2006/relationships/notesMaster" Target="/ppt/notesMasters/notesMaster1.xml" Id="R53f74c49708f42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18691f91444082" /><Relationship Type="http://schemas.openxmlformats.org/officeDocument/2006/relationships/notesMaster" Target="/ppt/notesMasters/notesMaster1.xml" Id="R84b93b5f477840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a13baefe7041e0" /><Relationship Type="http://schemas.openxmlformats.org/officeDocument/2006/relationships/notesMaster" Target="/ppt/notesMasters/notesMaster1.xml" Id="Rf85a027242b04d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4f3e9c6c1f4e9b" /><Relationship Type="http://schemas.openxmlformats.org/officeDocument/2006/relationships/notesMaster" Target="/ppt/notesMasters/notesMaster1.xml" Id="R3e526fdd941443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79f98700e54952" /><Relationship Type="http://schemas.openxmlformats.org/officeDocument/2006/relationships/notesMaster" Target="/ppt/notesMasters/notesMaster1.xml" Id="R9d060285f4c14f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9bbf06599e4571" /><Relationship Type="http://schemas.openxmlformats.org/officeDocument/2006/relationships/notesMaster" Target="/ppt/notesMasters/notesMaster1.xml" Id="R00494c2b374443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bf818d2bde45e1" /><Relationship Type="http://schemas.openxmlformats.org/officeDocument/2006/relationships/notesMaster" Target="/ppt/notesMasters/notesMaster1.xml" Id="R7a990f0dd5244f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b47e133c2148d5" /><Relationship Type="http://schemas.openxmlformats.org/officeDocument/2006/relationships/notesMaster" Target="/ppt/notesMasters/notesMaster1.xml" Id="R6550ed11df0c4e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e0d41f4b8e5474f" /><Relationship Type="http://schemas.openxmlformats.org/officeDocument/2006/relationships/notesMaster" Target="/ppt/notesMasters/notesMaster1.xml" Id="R419665a07b4f46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sources:</a:t>
            </a:r>
          </a:p>
          <a:p xmlns:a="http://schemas.openxmlformats.org/drawingml/2006/main">
            <a:r>
              <a:t>MetaGPT: Meta Programming for a Multi-Agent Collaborative Framework, ICLR 2024. https://proceedings.iclr.cc/paper_files/paper/2024/hash/6507b115562bb0a305f1958ccc87355a-Abstract-Conference.html</a:t>
            </a:r>
          </a:p>
          <a:p xmlns:a="http://schemas.openxmlformats.org/drawingml/2006/main">
            <a:r>
              <a:t>ChatDev: Communicative Agents for Software Development, ACL 2024. https://aclanthology.org/2024.acl-long.810/</a:t>
            </a:r>
          </a:p>
          <a:p xmlns:a="http://schemas.openxmlformats.org/drawingml/2006/main">
            <a:r>
              <a:t>Reflexion: Language Agents with Verbal Reinforcement Learning, NeurIPS 2023. https://papers.nips.cc/paper_files/paper/2023/hash/1b44b878bb782e6954cd888628510e90-Abstract-Conference.html</a:t>
            </a:r>
          </a:p>
          <a:p xmlns:a="http://schemas.openxmlformats.org/drawingml/2006/main">
            <a:r>
              <a:t>These works motivate role-specific workflows, communication, and feedback memory. The exact three-agent split, typed schemas, tool permissions, retry limits, and escalation behavior are course design choices.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Theory of Mind for Multi-Agent Collaboration via Large Language Models, EMNLP 2023. https://aclanthology.org/2023.emnlp-main.13/</a:t>
            </a:r>
          </a:p>
          <a:p xmlns:a="http://schemas.openxmlformats.org/drawingml/2006/main">
            <a:r>
              <a:t>Teamwork in Multi-Agent Systems: A Formal Approach / TeamLog. https://arxiv.org/abs/2402.01680</a:t>
            </a:r>
          </a:p>
          <a:p xmlns:a="http://schemas.openxmlformats.org/drawingml/2006/main">
            <a:r>
              <a:t>The course uses Theory of Mind as an operational lens for modeling role-specific knowledge, needs, and permitted disclosure. It does not claim human-like mental states. The access-list detail is from Conductor research: https://arxiv.org/abs/2512.04388.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Lab 1, you will see the Weak schema accept a hallucinated score of 150. Your job is to build the Strict schema that blocks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TRINITY: An Evolved LLM Coordinator, ICLR 2026. https://arxiv.org/abs/2512.04695. TRINITY names the Thinker, Worker, and Verifier roles.</a:t>
            </a:r>
          </a:p>
          <a:p xmlns:a="http://schemas.openxmlformats.org/drawingml/2006/main">
            <a:r>
              <a:t>Learning to Orchestrate Agents in Natural Language with the Conductor, ICLR 2026. https://arxiv.org/abs/2512.04388. The Conductor defines subtasks, workers, communication topology, and access lists that select previous subtask outputs for each worker context.</a:t>
            </a:r>
          </a:p>
          <a:p xmlns:a="http://schemas.openxmlformats.org/drawingml/2006/main">
            <a:r>
              <a:t>Sakana Fugu Technical Report. https://arxiv.org/abs/2606.21228. ChatDev: https://aclanthology.org/2024.acl-long.810/. Reflexion: https://papers.nips.cc/paper_files/paper/2023/hash/1b44b878bb782e6954cd888628510e90-Abstract-Conference.html.</a:t>
            </a:r>
          </a:p>
          <a:p xmlns:a="http://schemas.openxmlformats.org/drawingml/2006/main">
            <a:r>
              <a:t>Course adaptation: deterministic fixtures, a bounded retry cap, and human escalation. These are teaching policies; the notebook does not reproduce Fugu, its training, or a live multi-provider pool.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Once your local gate holds against the mock, you can flip the USE_LIVE_LLM = True toggle to prove it works against a real AI. The live model path is optional and requires a configured provider.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Sakana Fugu Technical Report: https://arxiv.org/abs/2606.21228. The paper evaluates Fugu models against provider models including Claude Opus 4.8, Gemini 3.1 Pro, and GPT-5.5; those names describe the report’s model snapshot, not a timeless list of current models.</a:t>
            </a:r>
          </a:p>
          <a:p xmlns:a="http://schemas.openxmlformats.org/drawingml/2006/main">
            <a:r>
              <a:t>TRINITY: https://arxiv.org/abs/2512.04695. Conductor: https://arxiv.org/abs/2512.04388.</a:t>
            </a:r>
          </a:p>
          <a:p xmlns:a="http://schemas.openxmlformats.org/drawingml/2006/main">
            <a:r>
              <a:t>OpenAI Agents API multi-agent guide: https://developers.openai.com/api/docs/guides/agents-api/multi-agent. Claude Code subagents: https://code.claude.com/docs/en/sub-agents.</a:t>
            </a:r>
          </a:p>
          <a:p xmlns:a="http://schemas.openxmlformats.org/drawingml/2006/main">
            <a:r>
              <a:t>Both vendor documents describe subagent coordination and context separation; model choice and work isolation depend on product configuration. Avoid asserting that all coding-agent subagents use one model family. Compare end-to-end quality, latency, spend, tool/workspace access, and traceability for the actual configuration.</a:t>
            </a:r>
          </a:p>
          <a:p xmlns:a="http://schemas.openxmlformats.org/drawingml/2006/main">
            <a:r>
              <a:t>Course lab: learners write and inspect a local Python route policy. The lab does not call a hosted Fugu API or routing endpoint; its deterministic router is an educational pattern, not Sakana Fugu's trained coordinator.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65929f86c749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198697f1594425" /><Relationship Type="http://schemas.openxmlformats.org/officeDocument/2006/relationships/slideLayout" Target="/ppt/slideLayouts/slideLayout1.xml" Id="R18160e069b844a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160e069b844a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535279ecb4264" /><Relationship Type="http://schemas.openxmlformats.org/officeDocument/2006/relationships/notesSlide" Target="/ppt/notesSlides/notesSlide1.xml" Id="R16dede14bf8742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f158ce55646da" /><Relationship Type="http://schemas.openxmlformats.org/officeDocument/2006/relationships/notesSlide" Target="/ppt/notesSlides/notesSlide2.xml" Id="R2323a06d49f24b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2be7aa0a7437b" /><Relationship Type="http://schemas.openxmlformats.org/officeDocument/2006/relationships/notesSlide" Target="/ppt/notesSlides/notesSlide3.xml" Id="Rf2df1fe95b1d4e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797e1ab8c4b89" /><Relationship Type="http://schemas.openxmlformats.org/officeDocument/2006/relationships/notesSlide" Target="/ppt/notesSlides/notesSlide4.xml" Id="Rd67bbb67b27a45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e11532863484d" /><Relationship Type="http://schemas.openxmlformats.org/officeDocument/2006/relationships/notesSlide" Target="/ppt/notesSlides/notesSlide5.xml" Id="R8c51b0c2aa2a4c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71bf249574644" /><Relationship Type="http://schemas.openxmlformats.org/officeDocument/2006/relationships/notesSlide" Target="/ppt/notesSlides/notesSlide6.xml" Id="R8b4f032d6be043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be39c7adc4c76" /><Relationship Type="http://schemas.openxmlformats.org/officeDocument/2006/relationships/notesSlide" Target="/ppt/notesSlides/notesSlide7.xml" Id="Rf9e923b561344c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3db53a0a041cf" /><Relationship Type="http://schemas.openxmlformats.org/officeDocument/2006/relationships/notesSlide" Target="/ppt/notesSlides/notesSlide8.xml" Id="Rcf0781b2551747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6b7a1adb64168" /><Relationship Type="http://schemas.openxmlformats.org/officeDocument/2006/relationships/image" Target="/ppt/media/image.png" Id="Rf92bda6c8129419c" /><Relationship Type="http://schemas.openxmlformats.org/officeDocument/2006/relationships/image" Target="/ppt/media/image.svg" Id="R870d5a02d04d42ae" /><Relationship Type="http://schemas.openxmlformats.org/officeDocument/2006/relationships/notesSlide" Target="/ppt/notesSlides/notesSlide9.xml" Id="R1ce0a040426f4f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68f22457646aa" /><Relationship Type="http://schemas.openxmlformats.org/officeDocument/2006/relationships/notesSlide" Target="/ppt/notesSlides/notesSlide10.xml" Id="R1522299496b549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ee415d6154ba6" /><Relationship Type="http://schemas.openxmlformats.org/officeDocument/2006/relationships/notesSlide" Target="/ppt/notesSlides/notesSlide11.xml" Id="Rc0d8f3e3a1174c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806b742a5462c" /><Relationship Type="http://schemas.openxmlformats.org/officeDocument/2006/relationships/notesSlide" Target="/ppt/notesSlides/notesSlide12.xml" Id="R9ec96b79c7ae4f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65eb6bd004381" /><Relationship Type="http://schemas.openxmlformats.org/officeDocument/2006/relationships/notesSlide" Target="/ppt/notesSlides/notesSlide13.xml" Id="Rf4562e2c11c940c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baa4a969a445c" /><Relationship Type="http://schemas.openxmlformats.org/officeDocument/2006/relationships/notesSlide" Target="/ppt/notesSlides/notesSlide14.xml" Id="R36f0d02ac6f449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1BE27-9E90-4E97-8E7A-95106EEE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4013B-ECBE-4359-ACC6-BAB8D4CD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7CB98-4EBE-4772-8DC3-8175F984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7AAA6-8DC7-4EA9-A7EA-94FEFBED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249E4-67F9-4EE9-9CBA-481B3610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A34C5-E2D2-44C0-90A1-8C855E23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Research to 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D9E86-6BF4-4665-B4CB-F6817FC5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ChatDev + CrewAI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1FEBA-E4A7-4DBC-8E7E-F346B9AA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65314-03B3-4AB8-A713-580430BF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>
                <a:solidFill>
                  <a:srgbClr val="FFFFFF"/>
                </a:solidFill>
              </a:defRPr>
            </a:pPr>
            <a:r>
              <a:rPr sz="5550">
                <a:solidFill>
                  <a:srgbClr val="FFFFFF"/>
                </a:solidFill>
              </a:rPr>
              <a:t>Managing</a:t>
            </a:r>
          </a:p>
          <a:p xmlns:a="http://schemas.openxmlformats.org/drawingml/2006/main">
            <a:pPr>
              <a:buNone/>
              <a:defRPr sz="5550">
                <a:solidFill>
                  <a:srgbClr val="FFFFFF"/>
                </a:solidFill>
              </a:defRPr>
            </a:pPr>
            <a:r>
              <a:rPr sz="5550">
                <a:solidFill>
                  <a:srgbClr val="FFFFFF"/>
                </a:solidFill>
              </a:rPr>
              <a:t>Multi-Agent Teams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42C68-4089-4681-9640-D3FA1A3E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BFC2FF"/>
                </a:solidFill>
              </a:defRPr>
            </a:pPr>
            <a:r>
              <a:rPr sz="1500">
                <a:solidFill>
                  <a:srgbClr val="BFC2FF"/>
                </a:solidFill>
              </a:rPr>
              <a:t>Agentic AI  ·  Vibe Coding  ·  Theory of Mind  ·  Fugu-style Orchestration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B8579-3B47-4458-BB7C-4E09F96B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BFC2FF"/>
                </a:solidFill>
              </a:defRPr>
            </a:pPr>
            <a:r>
              <a:rPr sz="1275">
                <a:solidFill>
                  <a:srgbClr val="BFC2FF"/>
                </a:solidFill>
              </a:rPr>
              <a:t>2 Days  ·  3 Labs  ·  Team-to-Team Capstone</a:t>
            </a:r>
          </a:p>
        </p:txBody>
      </p:sp>
    </p:spTree>
    <p:extLst>
      <p:ext uri="{BB962C8B-B14F-4D97-AF65-F5344CB8AC3E}">
        <p14:creationId xmlns:p14="http://schemas.microsoft.com/office/powerpoint/2010/main" val="17790522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E3449-A84E-4406-950A-3C849ED9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3F4A1-8C01-4E2B-BA4B-903B3F42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88622-FE2D-4F1A-AD05-EE511704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9414E-4CCE-4EF8-9CC8-8493C8F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F7890-52AE-4C73-81F4-70C60102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F96C9-F749-4758-9DB9-510A6D44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B2039-1EBD-4717-B84F-0AE49429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PLAYBOOK + notebook manifest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2050B-70A7-4E84-9B61-9D04E5E9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AF953-37B7-4F2B-AABD-6D60BB5B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</a:defRPr>
            </a:pPr>
            <a:r>
              <a:rPr sz="2850">
                <a:solidFill>
                  <a:srgbClr val="FFFFFF"/>
                </a:solidFill>
              </a:rPr>
              <a:t>Four-Step Learner Roadmap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7CE82-18E3-4DE8-990B-0DA9AC42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76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BFC2FF"/>
                </a:solidFill>
              </a:defRPr>
            </a:pPr>
            <a:r>
              <a:rPr sz="1350">
                <a:solidFill>
                  <a:srgbClr val="BFC2FF"/>
                </a:solidFill>
              </a:rPr>
              <a:t/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495300" y="1428750"/>
          <a:ext xmlns:a="http://schemas.openxmlformats.org/drawingml/2006/main" cx="11201400" cy="4533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2609850"/>
                <a:gridCol w="2152650"/>
                <a:gridCol w="5562600"/>
              </a:tblGrid>
              <a:tr h="4191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C247"/>
                          </a:solidFill>
                        </a:rPr>
                        <a:t>STEP</a:t>
                      </a:r>
                    </a:p>
                  </a:txBody>
                  <a:tcPr marL="95250" marR="95250" marT="76200" marB="76200">
                    <a:solidFill>
                      <a:srgbClr val="1D22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C247"/>
                          </a:solidFill>
                        </a:rPr>
                        <a:t>GOAL</a:t>
                      </a:r>
                    </a:p>
                  </a:txBody>
                  <a:tcPr marL="95250" marR="95250" marT="76200" marB="76200">
                    <a:solidFill>
                      <a:srgbClr val="1D22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C247"/>
                          </a:solidFill>
                        </a:rPr>
                        <a:t>TOOL</a:t>
                      </a:r>
                    </a:p>
                  </a:txBody>
                  <a:tcPr marL="95250" marR="95250" marT="76200" marB="76200">
                    <a:solidFill>
                      <a:srgbClr val="1D22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C247"/>
                          </a:solidFill>
                        </a:rPr>
                        <a:t>WIN CONDITION</a:t>
                      </a:r>
                    </a:p>
                  </a:txBody>
                  <a:tcPr marL="95250" marR="95250" marT="76200" marB="76200">
                    <a:solidFill>
                      <a:srgbClr val="1D227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1 · The Contract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Stop AI hallucinations with strict data rules.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Pydantic · Lab 1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The auto-grader confirms the schema blocked the mock’s bad data.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2 · The Team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Make specialists collaborate through typed handoffs.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CrewAI · Lab 2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TeamLog shows the Coder read the Architect’s rules; QA receives a typed CodePatch.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3 · The Guardrails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Stop retry loops and reject unsafe tool inputs.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Bounded loops + MCP · Lab 3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The loop stops after 3 retries; the SQL-like input is rejected before the tool.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4 · The Delivery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Connect the Development Team to Security &amp; Compliance.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Two-team Capstone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FFFFFF"/>
                          </a:solidFill>
                        </a:rPr>
                        <a:t>A validated DevDeliverable starts the Security Team. Passing pytest or a sound Paper ADR completes the proof.</a:t>
                      </a:r>
                    </a:p>
                  </a:txBody>
                  <a:tcPr marL="95250" marR="95250" marT="76200" marB="76200">
                    <a:solidFill>
                      <a:srgbClr val="292DA6"/>
                    </a:solidFill>
                  </a:tcPr>
                </a:tc>
              </a:tr>
            </a:tbl>
          </a:graphicData>
        </a:graphic>
      </p:graphicFrame>
      <p:sp>
        <p:nvSpPr>
          <p:cNvPr id="13" name="lab-governance-sequence">
            <a:extLst xmlns:a="http://schemas.openxmlformats.org/drawingml/2006/main">
              <a:ext uri="{FF2B5EF4-FFF2-40B4-BE49-F238E27FC236}">
                <a16:creationId xmlns:a16="http://schemas.microsoft.com/office/drawing/2014/main" id="{2F8C4119-E9E5-4198-973D-E98E1A9F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01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Labs: Start Broken → Fix the Gate → Prove the Live.</a:t>
            </a:r>
          </a:p>
        </p:txBody>
      </p:sp>
    </p:spTree>
    <p:extLst>
      <p:ext uri="{BB962C8B-B14F-4D97-AF65-F5344CB8AC3E}">
        <p14:creationId xmlns:p14="http://schemas.microsoft.com/office/powerpoint/2010/main" val="7520413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1F24DB-9456-43AF-8541-4B32F7F8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17982-41FD-4F27-9A73-50577A0D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7E318-7A0A-45C4-97B7-EAD9F3D5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2303D-A32D-402C-8790-A649242F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D97C9-140C-4011-9354-2C212CC8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A5F6B-6300-414B-91B8-C82CAE32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B3B4A-CDAE-48CC-9A14-7E9E5B4B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repository setup + notebook manifest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1E6E8-024D-471C-8012-E3E76DC1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D81B6-7059-48CA-B25D-DED4E767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Two-Day Path · Learner Setup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85211-7F3E-457C-A18D-1AC20690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From GitHub to JupyterLab</a:t>
            </a:r>
          </a:p>
        </p:txBody>
      </p:sp>
      <p:sp>
        <p:nvSpPr>
          <p:cNvPr id="11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2D559B6B-49E0-4CF5-87AB-78F7835C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095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E6AED-615D-4E54-9A7A-1D94C557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867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· GET THE REPOSITORY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B907D-D12F-4BAB-8576-3FFDE311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2847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Git clone or download the ZIP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04284-56A4-4E73-95A8-BA7F9327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62A8F773-8F6C-4A70-AB4B-26E14DD4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14500"/>
            <a:ext cx="3714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20BAA-DC2C-43ED-8BD2-5F66B1DC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0225"/>
            <a:ext cx="3486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· SET UP LOCALLY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A7D5A-5BCC-4727-85BA-5CDCEE09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24075"/>
            <a:ext cx="346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Create and activate a Python venv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Install requirements.txt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C517E-DC17-43D7-B18E-B194256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002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9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98EDA754-6A1F-4C0E-93E6-36901234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714500"/>
            <a:ext cx="34194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CB413-21A4-481C-A274-6DAC7512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800225"/>
            <a:ext cx="319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· OPEN JUPYTERLAB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4DC23-2B63-449E-ACCA-8A73C63A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31718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Start at 00_sandbox_preflight.ipynb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F7BD1-9B92-4EB2-B618-3777F42F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19425"/>
            <a:ext cx="1120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THREE LABS + TEAM-TO-TEAM CAPSTONE</a:t>
            </a:r>
          </a:p>
        </p:txBody>
      </p:sp>
      <p:sp>
        <p:nvSpPr>
          <p:cNvPr id="23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3960B22D-759C-46B9-AC7C-76DCEB5F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3A48C-9D89-4815-A6C7-428AD71C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LAB 1 · CONTRACT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407FC9-9D47-48EB-AB99-A1ABB55F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004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Pydantic blocks invalid mock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517D2-C14F-4CEF-80BF-9160E12C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7052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7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8D4B89E5-1596-4725-9FFA-291E6622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7DD2F-B403-4662-A82A-35C0E50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LAB 2 · DEVELOPMENT TEAM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3EA6DC-A867-4037-84C9-4E85A667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004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CrewAI Manager, Coder, and QA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D18DA2-EA4A-4E97-947A-7D3EAAE2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052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1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7F791B48-279D-43A9-891F-F37828F7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57A0ED-5938-45D2-A4D4-5C1F3121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7662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LAB 3 · SECURITY + REPAIR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42D0A8-A982-47F1-AA28-3404CF25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004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Reject unsafe inputs; stop after 3 retries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6AEA52-9E46-4249-9377-63735DB0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7052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249C7F6A-835E-4D47-8D00-3FB9A7C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90900"/>
            <a:ext cx="2457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ECDF34-5314-4B1A-861B-7728D14A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7662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CAPSTONE · TWO TEAMS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4F2E16-2CBC-4BC6-870D-2CB87166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80047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Validated DevDeliverable starts Security review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5D4AB0-12DD-46B8-9343-B2CFF89C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CrewAI is included in the core install. Deterministic labs and Capstone need no model-provider credentials.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A8BAB3-0F62-4CC7-9789-6235B0F5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First-time package installation needs internet unless learners have a prepared local package bundle.</a:t>
            </a:r>
          </a:p>
        </p:txBody>
      </p:sp>
    </p:spTree>
    <p:extLst>
      <p:ext uri="{BB962C8B-B14F-4D97-AF65-F5344CB8AC3E}">
        <p14:creationId xmlns:p14="http://schemas.microsoft.com/office/powerpoint/2010/main" val="14071035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A67C6E-B29F-4D34-9E9C-07024706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6E768-3875-4BA3-8325-6F263BFB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9B056-44C9-4C27-8405-DED6418D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75647-0DD1-471B-BF1F-34CA3482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2CDED-8469-474C-8D11-EBBD7BEC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754E2-4A75-4C68-8B93-61E78C4A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B7A62-AD34-4C2F-BA94-8A1C30F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Module map + ChatDev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D132F-E211-47E0-B9B4-B24E3653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E7084-A780-4D0F-9FF9-919D68E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Course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FD916-D9C8-4C4E-8322-D4B6E3B9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Three labs lead to a two-team Capstone.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7F107-4BC6-4FA8-BBEC-265BA9B8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34DCE-A122-43CB-88D6-E83BD986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DAY 1   Step 1 · Contract · Pydantic blocks invalid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D0EF1-5951-494F-A3E3-38FE8F57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A6EA9-8E06-488B-8C6E-F5913879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DAY 1   Step 2 · Team · CrewAI Development Team and typed QA 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D4B1B-38C5-43DE-9E44-6F17A862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22DCC-F613-43C3-BA8B-A1F2B026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DAY 2   Step 3 · Guardrails · SQL-like input gate and 3-retry 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76759-D82C-4F14-837B-F4DA7D7E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1DA34-13FC-4A27-B6E5-C32927C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CAPSTONE   Step 4 · Delivery · Dev Team hands DevDeliverable to 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AF994-BFC9-4E55-A601-EDB95DC3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3594B-9303-4880-8A9D-1DDF142A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Theory · Theory of Mind, TeamLog, TRINITY, and Fugu-style local routing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C809F8-97D7-4C25-8EA0-E658CF4D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C632C-1CDA-4711-84EE-BAAF23C6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Evidence · pytest, typed contracts, security findings, or Paper ADR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08542-F3A2-4A6B-82E7-243C7107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The second team appears in the Capstone.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82D8C-7A9D-438A-BD6A-BA409ADF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10956412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4227B5-A06B-411C-8E59-C048C87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3D607-C325-4D25-86A8-F43B497F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EA56D-A2ED-49DA-B3FE-F6F40DA9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4E39A-DFBE-417C-86E0-C7777635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05266-9CFD-42CE-873E-3EBE09F0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CE272-1DBD-4ADD-B606-4AEAAFB8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7619C-E2E2-4379-8069-7104CE71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MetaGPT · ChatDev · Reflexion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C8D7D-A46E-4C4C-93D4-9B4D97C2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5CF91-5E92-4AFE-BA22-B641014A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1 · Foundations &amp; Vibe 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AE38E-20F7-4355-A50D-5AFCDF25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Research Foundations for Managed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4CA99-DBB4-4BD3-A5CA-9CE6A6C1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4926E-C6FF-4EC2-B5B1-F989D3FC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3BA45-DB72-485E-A028-38F01B29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MetaGPT · ICLR 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66DB0-6F13-4B03-B0C7-6AA03C5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ChatDev + Reflexion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1D0B8-A6F4-4322-89E8-CBB06524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E47CE-AAAC-4EE7-A246-FE08A38E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Role-specific workflow stages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EB42D-E64C-4CBE-9662-E9841E86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CEEB2-A95B-43E9-AAC6-1BCBE931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Standard procedures guide handoffs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1AAF28-1115-4F4A-9D38-99E91AE9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8D668-538F-4F7A-998E-FB7181E3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Artifacts make work legible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078BD-69D7-4D42-9423-F120CB9C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F73B9-7F8A-477A-AAB9-5D8F032E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Our typed contracts are an adaptation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37E7D4-B795-4450-8321-1F77E0A6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81C01-1682-42AA-B65F-6D2E5266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ChatDev: communicate in phases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DDDFF-F234-4DA2-B04C-BFAC2602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1C8A2C-5B45-46C6-824A-124680F8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Reflexion stores verbal feedback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79A8A-1D9C-4156-9589-AAFB8814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E33C73-31B6-40B8-A932-1AB8B7C9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Later attempts reuse lessons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091DBE-3464-4443-802E-E8C984F0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37731-B239-4A05-A21D-C1BF7976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Retry caps remain course policy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59BCAE-25E2-41A4-92AF-9E0FD0F6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These papers inform the pattern; the course sets its own tool boundaries and retry limits.</a:t>
            </a:r>
          </a:p>
        </p:txBody>
      </p:sp>
    </p:spTree>
    <p:extLst>
      <p:ext uri="{BB962C8B-B14F-4D97-AF65-F5344CB8AC3E}">
        <p14:creationId xmlns:p14="http://schemas.microsoft.com/office/powerpoint/2010/main" val="10852556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4923C8-1E47-4826-B764-7DF00ABD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50067-B680-4F7D-BF4C-74E2CF07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44CDA-A547-4B73-B84D-5F1D6DF1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30DA7-69AA-4D9A-AACE-B15F0D82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30668-B6E6-43FA-B9F7-F777A1FE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4E297-E672-47CC-A4CE-D2530340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CCA33-5921-4929-9177-2C4ACCA3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ToM · EMNLP 2023 + TeamLog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C4E34-1B41-4072-8097-4B01044C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2BC8D-2A27-421D-AED7-F5F20997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2 · TeamLog &amp; Theory of Mind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A6F8B-94CD-457A-ADE9-D37B9E02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Theory of Mind: Role-Specific Knowledge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CC9CD-02CC-4142-B953-7BF1AC08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33EAD-CE78-4BED-A533-D3E416DC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Ask what each teammate knows about the task.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FF6D7-1370-4A24-A0E5-202E5FAE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DB5A2-60E7-40BB-B34D-B6A9E02B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 Manager records constraints and shared commitments.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B1BE8-EBEC-4E6A-A563-3EF38B93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9CB8F-96EA-4EDA-892A-ACE132C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 Coder retrieves the relevant constraint before acting.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166F6-14EC-480F-8DBE-85CA5477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F888A-AD1D-4F8B-AA52-0E051A05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 Conductor access list selects prior outputs for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35253-993C-40EA-BC5B-F27F1A81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An access list is a map of team knowledge.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82FCE-3744-4D41-836E-E969237B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6053513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39CABB-A942-42C0-8F35-B69BDDBD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E8D83-EAA6-4455-91C1-0A074B03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9AC2B-AEA1-4A83-9E7A-4D35C970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EED25-CA36-434B-A8E9-F0B7AEC7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322AA-25E6-4BA5-9EF6-D13F3160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FA0A1-B58F-4926-8135-02FDBEF2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5357D-B354-452C-9D99-857D1862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MCP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6D284-217A-4221-B2F7-0B2683FB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CE716-9B5D-4155-9574-F374E6AF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3 · Agentic RAG &amp;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07297-4534-487E-99E7-FE061E7C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Zero-Trust Tool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B421D-BDCA-4F88-A43F-709B2ACA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48B22-1CE6-4D76-91AC-EC46DC93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Do not ask: does the model want this tool?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6AE07-37BA-4B8E-AE9D-E11B6CA6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6FD42-E57C-4870-AF2B-20459469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Ask: does policy allow this identity to use this tool for this data?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E5ABC-72A4-4F68-A619-98C24854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4F111-1C40-4039-AF75-0469F68D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Flow: Agent → ToolRequest → Policy Gate → MCP Server → ToolResult.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467B1-E810-4DEE-B784-249E0F15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A52CC-72DF-4012-A132-3FA591B4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Threats: prompt injection, tool overreach, context leakage, stale permissions.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F5669-0D12-4DC7-9010-CF6F3484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The tool gateway is the bouncer.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85E72-E09C-49B5-B25B-A4012F3D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98813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795D5-E65D-4D3B-8A13-D6CC3433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D3388-E700-4142-8764-366DD256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D282E-A88D-4E47-8672-EA3A111D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051CD-834B-4F1B-810B-D6EF1090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F855C-FC4B-49E9-AD0C-76E0022F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55D0B-3C68-44F1-8ACF-49E2FF9B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5223A-0FE2-4C77-B4E4-0F27C832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Pydantic validators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0150C-5692-4537-A610-B9D40303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BF40E-B3E5-4F1A-B513-7E1E67AD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4 · Pydantic AI &amp; Type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A45D5-B707-4B28-9D87-BA0FAA3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Strict Schema Rules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6EA94-598A-436A-A5EE-7DE4742C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Test contracts as rigorously as code.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35836-23C5-46E3-84E9-6F486658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  <p:sp>
        <p:nvSpPr>
          <p:cNvPr id="22" name="weak-schema-heading">
            <a:extLst xmlns:a="http://schemas.openxmlformats.org/drawingml/2006/main">
              <a:ext uri="{FF2B5EF4-FFF2-40B4-BE49-F238E27FC236}">
                <a16:creationId xmlns:a16="http://schemas.microsoft.com/office/drawing/2014/main" id="{4F809756-BEDC-45AB-A23B-068F6044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WEAK SCHEMA</a:t>
            </a:r>
          </a:p>
        </p:txBody>
      </p:sp>
      <p:sp>
        <p:nvSpPr>
          <p:cNvPr id="23" name="weak-schema-code">
            <a:extLst xmlns:a="http://schemas.openxmlformats.org/drawingml/2006/main">
              <a:ext uri="{FF2B5EF4-FFF2-40B4-BE49-F238E27FC236}">
                <a16:creationId xmlns:a16="http://schemas.microsoft.com/office/drawing/2014/main" id="{768A7DD2-B3EC-418B-B507-A86A1B2D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 Weak(BaseModel):</a:t>
            </a:r>
          </a:p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confidence_score: float</a:t>
            </a:r>
          </a:p>
        </p:txBody>
      </p:sp>
      <p:sp>
        <p:nvSpPr>
          <p:cNvPr id="24" name="weak-schema-result">
            <a:extLst xmlns:a="http://schemas.openxmlformats.org/drawingml/2006/main">
              <a:ext uri="{FF2B5EF4-FFF2-40B4-BE49-F238E27FC236}">
                <a16:creationId xmlns:a16="http://schemas.microsoft.com/office/drawing/2014/main" id="{BCC410F0-6C6E-4053-8522-98FC11DF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D166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Accepts 150.5</a:t>
            </a:r>
          </a:p>
          <a:p xmlns:a="http://schemas.openxmlformats.org/drawingml/2006/main">
            <a:pPr algn="l">
              <a:defRPr sz="1425" b="1">
                <a:solidFill>
                  <a:srgbClr val="FFD166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Ignores secret_backdoor by default</a:t>
            </a:r>
          </a:p>
        </p:txBody>
      </p:sp>
      <p:sp>
        <p:nvSpPr>
          <p:cNvPr id="25" name="strict-schema-heading">
            <a:extLst xmlns:a="http://schemas.openxmlformats.org/drawingml/2006/main">
              <a:ext uri="{FF2B5EF4-FFF2-40B4-BE49-F238E27FC236}">
                <a16:creationId xmlns:a16="http://schemas.microsoft.com/office/drawing/2014/main" id="{384BDFFB-6ED8-40FC-B8F2-96BAA440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STRICT SCHEMA</a:t>
            </a:r>
          </a:p>
        </p:txBody>
      </p:sp>
      <p:sp>
        <p:nvSpPr>
          <p:cNvPr id="26" name="strict-schema-code">
            <a:extLst xmlns:a="http://schemas.openxmlformats.org/drawingml/2006/main">
              <a:ext uri="{FF2B5EF4-FFF2-40B4-BE49-F238E27FC236}">
                <a16:creationId xmlns:a16="http://schemas.microsoft.com/office/drawing/2014/main" id="{7A118D45-97D4-4B5E-BFB1-AF058716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09800"/>
            <a:ext cx="5105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 Strict(BaseModel):</a:t>
            </a:r>
          </a:p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model_config = ConfigDict(extra="forbid")</a:t>
            </a:r>
          </a:p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confidence_score: float = Field(</a:t>
            </a:r>
          </a:p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    ge=0.0, le=1.0</a:t>
            </a:r>
          </a:p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)</a:t>
            </a:r>
          </a:p>
        </p:txBody>
      </p:sp>
      <p:sp>
        <p:nvSpPr>
          <p:cNvPr id="27" name="strict-schema-result">
            <a:extLst xmlns:a="http://schemas.openxmlformats.org/drawingml/2006/main">
              <a:ext uri="{FF2B5EF4-FFF2-40B4-BE49-F238E27FC236}">
                <a16:creationId xmlns:a16="http://schemas.microsoft.com/office/drawing/2014/main" id="{D1D7FCE9-56DA-4D63-AF38-6953583A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510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D166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Rejects 150.5</a:t>
            </a:r>
          </a:p>
          <a:p xmlns:a="http://schemas.openxmlformats.org/drawingml/2006/main">
            <a:pPr algn="l">
              <a:defRPr sz="1425" b="1">
                <a:solidFill>
                  <a:srgbClr val="FFD166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Rejects undeclared fields</a:t>
            </a:r>
          </a:p>
        </p:txBody>
      </p:sp>
    </p:spTree>
    <p:extLst>
      <p:ext uri="{BB962C8B-B14F-4D97-AF65-F5344CB8AC3E}">
        <p14:creationId xmlns:p14="http://schemas.microsoft.com/office/powerpoint/2010/main" val="7987338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68580-D47F-45CD-8497-39CAC827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F4CB4-90D8-46B9-8B00-1E1AA932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E5493-D35E-4E17-910C-5B4B98D4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47E4B-2D86-4CC9-819E-73351712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B4F25-452C-40B4-81E3-0BFAC0EE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49946-1605-4982-8773-71BE07B5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B2665-75BA-40A7-86A0-88FBFAA0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TRINITY · Conductor · ChatDev · Reflexion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00B70-83F4-4497-8149-921BDBF6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AB8E6-1F73-4E1E-B1B5-9CB4AC79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5 · TRINITY, Fugu, ChatDev, Reflexion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8BDCE-8915-4F56-AF39-07F36E63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Dev → Test → Review → Repair → Escalate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0DA14-FBDC-457C-AD9B-1C9B3750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1B69B-D4CB-44B7-84AB-86BD1172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CD489-7F46-4906-A4E8-407B5BBE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F412E-BB51-4AD6-B96A-A28DC32B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2F3F6-4541-446E-A139-5C30F549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6AD67-5CB9-4D6E-BB5E-C201BA4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78B65-3C2D-4F90-A772-0EAF455C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86E46-C930-45AD-9181-614BFDAF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C169C-7A4D-4CB1-B0A3-E9B7F075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2F2CB-C7DB-4A6C-A621-5FF26D4F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The local retry cap is course policy, not Fugu training.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bda6c8129419c">
            <a:extLst>
              <a:ext uri="{96DAC541-7B7A-43D3-8B79-37D633B846F1}">
                <asvg:svgBlip xmlns:asvg="http://schemas.microsoft.com/office/drawing/2016/SVG/main" r:embed="R870d5a02d04d42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" y="1562100"/>
            <a:ext cx="11391900" cy="398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8831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B82B48-82B6-407F-A754-C2C02481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04BCD-6947-49AF-B3CC-ED56C7E1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89467-F80A-425E-A5A1-FD4E46DE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85B84-BD7D-4F4A-97A4-7233D4A4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0E25C-55D2-4801-92C9-65223EE8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7B062-C223-42C2-B2A3-E43B416E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29FD9-5D9F-498A-9B5C-1E610EA9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Ex5 capstone specification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94733-D166-404C-84CC-B09929E5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34EE4-57FF-4E13-8BB2-72DFAAF4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Capstone · Two-Team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C4A04-15D0-4028-AFDF-418C8099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Virtual Software Company: Two-Team Capstone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83521-F933-4C8A-A88A-977FA240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116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BUSINESS REQUEST</a:t>
            </a:r>
          </a:p>
        </p:txBody>
      </p:sp>
      <p:sp>
        <p:nvSpPr>
          <p:cNvPr id="12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E61AE9C4-2159-4DF9-ABE2-B5871154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D6CFC-579F-4969-8E9E-D53860AA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· REQUEST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B5965-CD90-467B-9594-DD837007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Scope + acceptance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criteria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39360-D498-4838-AE3B-5FCFD758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F1D7EF8-BD1C-4244-8041-91E25BEB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EF542-1DB5-46EB-AB91-D0B63576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· DEV TEAM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7AAFC-2922-4EF6-8BF5-4B1429DB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Manager · Coder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· QA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10F14E-C5D7-40F7-88AE-B47EE414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0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4354889-B34A-4C1C-828C-2A0258DB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AEA97F-C850-4B7D-A56C-BF78D0B2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40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· DEV CONTRACT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0F9F1-50FB-4A9C-B4FA-AA68152D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DevDeliverable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Pydantic · QA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24FB87-BF44-42DD-9129-87512EA1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4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349A0742-3413-4289-9775-D97C6CE3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46D4B6-D49F-4A0E-968A-E4917E78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· SECURITY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66A7C2-7658-458E-A4FC-D76C9982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Security Team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Manager · Pen Tester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FF608-7B60-4915-AEE7-85E4908E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8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1B16BA9D-E077-46FF-A590-D95C9107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79CBFD-6BAD-47F1-B22A-11EB3261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· TYPED AUDIT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0130D4-AFCA-49A6-84A9-B0B65816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Typed security result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approval + findings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82B6FF-7832-40BA-B73B-34C81C1B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2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89045880-9AEA-448B-9D75-D1B52E7C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F04B2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ADD00D-DA9F-42E4-97FB-35FDC03A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 · RELEASE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5C47D6-1EB0-450F-ACFF-7665F327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Ship or escalate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to a human</a:t>
            </a:r>
          </a:p>
        </p:txBody>
      </p:sp>
      <p:sp>
        <p:nvSpPr>
          <p:cNvPr id="3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6E337584-D50D-42D4-9FF4-CE3855AA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14750"/>
            <a:ext cx="8305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08C320-DAA0-4CE7-A01B-A2892D47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00475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BOUNDED REPAIR + INTER-TEAM HANDOFF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2304A2-1618-4026-B5EA-84602C01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10025"/>
            <a:ext cx="805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QA or Security findings return to Development for up to 2 repairs; unresolved risk goes to a human.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01F0A4-87C4-494C-8B00-02449223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The Development Crew has Manager, Coder, and QA. Security &amp; Compliance has Security Manager and Pen Tester.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161F1D-0C41-4B9F-9038-3CFA24BD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The coordinator validates DevDeliverable before passing it to Security. pytest or a sound Paper ADR provides capstone evidence.</a:t>
            </a:r>
          </a:p>
        </p:txBody>
      </p:sp>
    </p:spTree>
    <p:extLst>
      <p:ext uri="{BB962C8B-B14F-4D97-AF65-F5344CB8AC3E}">
        <p14:creationId xmlns:p14="http://schemas.microsoft.com/office/powerpoint/2010/main" val="4081657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92211C-EDD6-4B3A-BB24-F8DCAD57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D7345-6312-4E84-B44B-020B7030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FFA1B-263D-4AC2-8976-7B5978A4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3EBB2-9651-48B7-A04F-60AF2005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3C172-D5CA-45B3-A781-F29D760E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A81EB-2A02-42F0-829E-F7EA2F16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64037-1D5B-4840-87AF-FCD6625C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notebook labs + mock adapter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0F6B1-E636-4AB9-8126-88EECA76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3ED6B-5B0A-445E-89BF-0A410FF5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Three-Layer Delivery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7567B-9833-4F9C-BC72-DDFA3ACD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Test the Workflow Before Live Models</a:t>
            </a:r>
          </a:p>
        </p:txBody>
      </p:sp>
      <p:sp>
        <p:nvSpPr>
          <p:cNvPr id="11" name="editable governance shell">
            <a:extLst xmlns:a="http://schemas.openxmlformats.org/drawingml/2006/main">
              <a:ext uri="{FF2B5EF4-FFF2-40B4-BE49-F238E27FC236}">
                <a16:creationId xmlns:a16="http://schemas.microsoft.com/office/drawing/2014/main" id="{B9FA65BC-45A9-4B50-92DE-1BE9E52D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5240">
            <a:solidFill>
              <a:srgbClr val="555F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69CEB-64EA-4B88-8C8F-B96D9C8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VALIDATION + EXECUTION</a:t>
            </a:r>
          </a:p>
        </p:txBody>
      </p:sp>
      <p:sp>
        <p:nvSpPr>
          <p:cNvPr id="13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6CF201B-C780-47BC-8901-F4FC72D3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32194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89955-C9DD-4A48-8E88-15A0E79E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TYPED DATA CONTRACTS</a:t>
            </a:r>
          </a:p>
        </p:txBody>
      </p:sp>
      <p:sp>
        <p:nvSpPr>
          <p:cNvPr id="1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17217D3B-4C63-470C-B533-BEFC9092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71675"/>
            <a:ext cx="32194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80487-632D-4B29-8878-14DF23C5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5740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TESTS + TOOL CHECKS</a:t>
            </a:r>
          </a:p>
        </p:txBody>
      </p:sp>
      <p:sp>
        <p:nvSpPr>
          <p:cNvPr id="17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5B01A119-527D-4001-A4F6-28B9281C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71675"/>
            <a:ext cx="32194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F9AF0-D3F3-49C0-BFB3-8ED48F45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5740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RETRY LIMIT + HUMAN REVIEW</a:t>
            </a:r>
          </a:p>
        </p:txBody>
      </p:sp>
      <p:sp>
        <p:nvSpPr>
          <p:cNvPr id="19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2FAF07FC-644C-4412-B11D-7037A01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17017-380F-4D95-9007-425950C6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LAYER 1 · DETERMINISTIC MOCKS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8A4C0-F146-4E30-B06E-704DF2FF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14700"/>
            <a:ext cx="3276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Deterministic Mocks (Intentional Failures)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→ We use local mocks that intentionally return bad data so you can test your security logic instantly, for free.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Required labs run without a model key.</a:t>
            </a:r>
          </a:p>
        </p:txBody>
      </p:sp>
      <p:sp>
        <p:nvSpPr>
          <p:cNvPr id="22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1CA9B9B8-2732-4E6A-AB02-C5AD2023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982EA-C213-43EE-BF20-2342D932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670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LAYER 2 · FAILURE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DF8AA4-160F-49CB-9BD7-CD42B2F4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3276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Inspect invalid output and unsafe requests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Use tests to locate and correct failures</a:t>
            </a:r>
          </a:p>
        </p:txBody>
      </p:sp>
      <p:sp>
        <p:nvSpPr>
          <p:cNvPr id="2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8F3F9650-A0C9-47CF-9066-1E05426A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A3E684-D3FE-4AAC-B403-139E1719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670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LAYER 3 · OPTIONAL LIVE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AF3AA3-AFB3-4F11-854C-8E5A57AF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14700"/>
            <a:ext cx="3276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Reuse the same task and result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63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After the local gate holds against the mock, set USE_LIVE_LLM = True to try the same check with a configured live model.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7D3B79-985C-48F4-A915-3DE47F79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70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Groq is optional; it is not needed for JupyterLab, required labs, or practical work.</a:t>
            </a:r>
          </a:p>
        </p:txBody>
      </p:sp>
    </p:spTree>
    <p:extLst>
      <p:ext uri="{BB962C8B-B14F-4D97-AF65-F5344CB8AC3E}">
        <p14:creationId xmlns:p14="http://schemas.microsoft.com/office/powerpoint/2010/main" val="1615197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10F2E-2A64-42D9-AFE0-DF75238E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6A2C7-9A12-4657-A4E3-B79253BF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1207C-B470-4332-83D3-8047DF73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E2605-DEE7-4D93-93B6-815A7C64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BF6EE-784C-4178-A85B-6B33E576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98AA5-49BC-4165-959A-DB8A45C7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9D3FD-6CF7-490F-BF44-287DB2C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Fugu research + vendor docs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EEE5B-B5AF-4006-8D20-A5525283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EFC54-99AE-47FF-AB45-17F8DAB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Research snapshot · October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5B450-C57B-4420-B19E-6E69EFA1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Fugu and Coding-Agent Coordination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379B8-46B5-4B3B-8F21-CB169375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Compare how systems route work, pass context, and expose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43C8E-8034-46EF-BBD2-9BA0BA17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37F53-4ACB-4558-825C-5A662997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Fugu-style: local Python route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A057A-4D9F-4FC9-AD90-40E855FA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050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Learners write routing code locally; no Fugu 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FAA7D-A366-4AB9-8E36-FDB96A34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D5087-6805-4AA0-A964-9AEE9EFE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TRINITY: Thinker / Worker / Verifier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4B363-25B7-4FB0-A490-15236DB8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57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A coordinator selects a role and worker each turn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09673-EF0A-4308-96F9-96FB09BB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78924-6584-4D6F-80EC-56C252FE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Conductor: task-specific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C7CBE-5100-4385-A97C-7EDA3EB8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09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Access lists select the earlier outputs each worker sees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6E746-9AD7-4326-8C4F-C4C74D38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3ACC5-34E7-4213-AB89-70B2BC87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Codex / Claude Code harnesses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6E4ED3-7EAD-4301-B51E-29D0DC67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62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Subagents can use separate contexts; configuration varies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A025B1-3D9D-4D6D-A2E7-44BC1FC5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777412-6CDA-4CED-A080-B123C3A3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Compare the complete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034DD-08D4-4DDC-8487-6963D984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14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Measure quality, latency, spend, and traceability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165F96-3CC9-4196-ABDC-902BD878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Lab uses its own Python router; no hosted Fugu API or endpoint.</a:t>
            </a:r>
          </a:p>
        </p:txBody>
      </p:sp>
    </p:spTree>
    <p:extLst>
      <p:ext uri="{BB962C8B-B14F-4D97-AF65-F5344CB8AC3E}">
        <p14:creationId xmlns:p14="http://schemas.microsoft.com/office/powerpoint/2010/main" val="7110413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EE241-3E72-4129-96B6-1F1E4D00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80E58-5FA7-4801-B458-2702565A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455A9-3D7E-4BE2-B3A9-9D1BF642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11D21-2944-4EBD-8CB9-CE92305C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7E90C-26EE-43C9-80BC-48F6720A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1ECD9-210B-4C20-A5B5-D519CE0A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3C847-8D4E-4C9D-9999-72F8B4A6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CrewAI bridge notebook + capstone 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5FCC4-D179-47F6-ACD9-E70D7E58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94049-2A21-460D-8279-DAEF5868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Capstone · Two-Team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64C91-FBD6-464E-9553-CBDCE2C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Development Team → Security Team</a:t>
            </a:r>
          </a:p>
        </p:txBody>
      </p:sp>
      <p:sp>
        <p:nvSpPr>
          <p:cNvPr id="11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4DDED083-A2D1-48DB-9B44-FE384A5D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562100"/>
            <a:ext cx="3886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77174-EA54-4132-960B-38C1F7F2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4782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HUMAN / PRODUCT 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2C714-F11A-4EF6-A229-D9439117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66900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Request, release authority, and escalation</a:t>
            </a:r>
          </a:p>
        </p:txBody>
      </p:sp>
      <p:sp>
        <p:nvSpPr>
          <p:cNvPr id="14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6CE81AF9-D597-4126-8575-18E337A8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523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F04B2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88E8C-47D8-482F-9C29-185C4872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62225"/>
            <a:ext cx="501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WORKFLOW COORDINATOR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BDFD4-149A-4D81-86A8-B19D49E9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47975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Runs Development Crew · validates DevDeliverable · starts Security Crew</a:t>
            </a:r>
          </a:p>
        </p:txBody>
      </p:sp>
      <p:sp>
        <p:nvSpPr>
          <p:cNvPr id="17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8F45D02-1802-4136-B63F-09C2C2A9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81425"/>
            <a:ext cx="3981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997D8-378A-4A23-B820-336D67E1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DEVELOPMENT TEAM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6B71E-FCE5-4DBE-84DC-21C98508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181475"/>
            <a:ext cx="3733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Manager · Senior Coder · QA
QA returns DevDeliverable</a:t>
            </a:r>
          </a:p>
        </p:txBody>
      </p:sp>
      <p:sp>
        <p:nvSpPr>
          <p:cNvPr id="20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FD04BB16-39B5-4FEB-A699-73D2B76B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81425"/>
            <a:ext cx="3981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A0E10-EF02-420D-9BAC-2F4BBB6F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67150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SECURITY &amp; COMPLIANCE TEAM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DBEA3-3A60-49B9-B759-590C8C23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181475"/>
            <a:ext cx="3733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Security Manager · Pen Tester
Returns SecurityAuditResult</a:t>
            </a:r>
          </a:p>
        </p:txBody>
      </p:sp>
      <p:cxnSp>
        <p:nvCxnSpPr>
          <p:cNvPr id="175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96000" y="21907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B25"/>
            </a:solidFill>
            <a:prstDash val="solid"/>
            <a:tailEnd type="arrow" w="med" len="med"/>
          </a:ln>
        </p:spPr>
      </p:cxnSp>
      <p:cxnSp>
        <p:nvCxnSpPr>
          <p:cNvPr id="176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3590925" y="3352800"/>
            <a:ext cx="25050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B25"/>
            </a:solidFill>
            <a:prstDash val="solid"/>
            <a:tailEnd type="arrow" w="med" len="med"/>
          </a:ln>
        </p:spPr>
      </p:cxnSp>
      <p:cxnSp>
        <p:nvCxnSpPr>
          <p:cNvPr id="177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096000" y="3352800"/>
            <a:ext cx="25050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B25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65F87-0799-4557-ACF9-98C02F47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062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The Capstone constructs two CrewAI Crews. Model calls are optional.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AE22A2-29F6-4491-9483-E29B9CA6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The coordinator validates DevDeliverable before Security; the workflow records SecurityAuditResult.</a:t>
            </a:r>
          </a:p>
        </p:txBody>
      </p:sp>
    </p:spTree>
    <p:extLst>
      <p:ext uri="{BB962C8B-B14F-4D97-AF65-F5344CB8AC3E}">
        <p14:creationId xmlns:p14="http://schemas.microsoft.com/office/powerpoint/2010/main" val="3416548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9562F-199A-405C-B0DB-DD422555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FCB5B-76AF-4768-91DC-212CFDC8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0DC4B-1A7A-4016-B091-E7DF8BF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165ED-FAE7-48A9-B3A7-61633162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FDCD1-0CD1-42F1-ACE9-B5DF7B5A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F919B-B4E0-455F-B7C0-4035C303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9A929-9113-4BC9-86AF-4AF09DEF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Karpathy AI Ascent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C7531-C353-419A-9986-6F59BFDE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0E8A9-F6FA-4CF3-985C-B0E0F121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FFFFFF"/>
                </a:solidFill>
              </a:defRPr>
            </a:pPr>
            <a:r>
              <a:rPr sz="2700">
                <a:solidFill>
                  <a:srgbClr val="FFFFFF"/>
                </a:solidFill>
              </a:rPr>
              <a:t>You can outsource your thinking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F4741-5A77-4102-858E-4B4038F7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FFFFFF"/>
                </a:solidFill>
              </a:defRPr>
            </a:pPr>
            <a:r>
              <a:rPr sz="2700">
                <a:solidFill>
                  <a:srgbClr val="FFFFFF"/>
                </a:solidFill>
              </a:rPr>
              <a:t>but you can't outsource your understanding.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D2F01-7C49-4777-864E-41C9E7F8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BFC2FF"/>
                </a:solidFill>
              </a:defRPr>
            </a:pPr>
            <a:r>
              <a:rPr sz="1275">
                <a:solidFill>
                  <a:srgbClr val="BFC2FF"/>
                </a:solidFill>
              </a:rPr>
              <a:t>— Andrej Karpathy, Sequoia AI Ascent 2026</a:t>
            </a:r>
          </a:p>
        </p:txBody>
      </p:sp>
    </p:spTree>
    <p:extLst>
      <p:ext uri="{BB962C8B-B14F-4D97-AF65-F5344CB8AC3E}">
        <p14:creationId xmlns:p14="http://schemas.microsoft.com/office/powerpoint/2010/main" val="2007971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2026-10-05T17:10:55.0880000Z</dcterms:created>
  <dcterms:modified xsi:type="dcterms:W3CDTF">2026-10-05T17:10:55.0880000Z</dcterms:modified>
</coreProperties>
</file>