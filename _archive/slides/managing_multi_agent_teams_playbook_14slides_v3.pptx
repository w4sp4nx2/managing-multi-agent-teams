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8ffa75171d4122" /><Relationship Type="http://schemas.openxmlformats.org/officeDocument/2006/relationships/extended-properties" Target="/docProps/app.xml" Id="R8a3947cab01146d2" /><Relationship Type="http://schemas.openxmlformats.org/officeDocument/2006/relationships/officeDocument" Target="/ppt/presentation.xml" Id="R56defc62e6a748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8f350aaf5348a7"/>
  </p:sldMasterIdLst>
  <p:notesMasterIdLst>
    <p:notesMasterId xmlns:r="http://schemas.openxmlformats.org/officeDocument/2006/relationships" r:id="R2a6e23ca9dae4755"/>
  </p:notesMasterIdLst>
  <p:sldIdLst>
    <p:sldId xmlns:r="http://schemas.openxmlformats.org/officeDocument/2006/relationships" id="256" r:id="R0768f35ffc0f4e6e"/>
    <p:sldId xmlns:r="http://schemas.openxmlformats.org/officeDocument/2006/relationships" id="257" r:id="Raeaecd5e71d14363"/>
    <p:sldId xmlns:r="http://schemas.openxmlformats.org/officeDocument/2006/relationships" id="258" r:id="R56fbae9c530e4927"/>
    <p:sldId xmlns:r="http://schemas.openxmlformats.org/officeDocument/2006/relationships" id="259" r:id="R184ebafbe5be4ff4"/>
    <p:sldId xmlns:r="http://schemas.openxmlformats.org/officeDocument/2006/relationships" id="260" r:id="R38005121ad464a8b"/>
    <p:sldId xmlns:r="http://schemas.openxmlformats.org/officeDocument/2006/relationships" id="261" r:id="R48fd02f2fd9d498b"/>
    <p:sldId xmlns:r="http://schemas.openxmlformats.org/officeDocument/2006/relationships" id="262" r:id="R576d758f3ad5472b"/>
    <p:sldId xmlns:r="http://schemas.openxmlformats.org/officeDocument/2006/relationships" id="263" r:id="Reb491a337a0c48e5"/>
    <p:sldId xmlns:r="http://schemas.openxmlformats.org/officeDocument/2006/relationships" id="264" r:id="R5fb52e1a54784c87"/>
    <p:sldId xmlns:r="http://schemas.openxmlformats.org/officeDocument/2006/relationships" id="265" r:id="Rd6c5564351534dc8"/>
    <p:sldId xmlns:r="http://schemas.openxmlformats.org/officeDocument/2006/relationships" id="266" r:id="R2a93500079524c12"/>
    <p:sldId xmlns:r="http://schemas.openxmlformats.org/officeDocument/2006/relationships" id="267" r:id="R4ad54a9ca8834723"/>
    <p:sldId xmlns:r="http://schemas.openxmlformats.org/officeDocument/2006/relationships" id="268" r:id="R6fa1cda5b3634909"/>
    <p:sldId xmlns:r="http://schemas.openxmlformats.org/officeDocument/2006/relationships" id="269" r:id="R8db9af9dde9444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bb9b578d0b43d6" /><Relationship Type="http://schemas.openxmlformats.org/officeDocument/2006/relationships/slideMaster" Target="/ppt/slideMasters/slideMaster1.xml" Id="R048f350aaf5348a7" /><Relationship Type="http://schemas.openxmlformats.org/officeDocument/2006/relationships/notesMaster" Target="/ppt/notesMasters/notesMaster1.xml" Id="R2a6e23ca9dae4755" /><Relationship Type="http://schemas.openxmlformats.org/officeDocument/2006/relationships/presProps" Target="/ppt/presProps.xml" Id="R7f4d5b93233e4ab9" /><Relationship Type="http://schemas.openxmlformats.org/officeDocument/2006/relationships/tableStyles" Target="/ppt/tableStyles.xml" Id="R1b6969fe4a2740ce" /><Relationship Type="http://schemas.openxmlformats.org/officeDocument/2006/relationships/slide" Target="/ppt/slides/slide1.xml" Id="R0768f35ffc0f4e6e" /><Relationship Type="http://schemas.openxmlformats.org/officeDocument/2006/relationships/slide" Target="/ppt/slides/slide2.xml" Id="Raeaecd5e71d14363" /><Relationship Type="http://schemas.openxmlformats.org/officeDocument/2006/relationships/slide" Target="/ppt/slides/slide3.xml" Id="R56fbae9c530e4927" /><Relationship Type="http://schemas.openxmlformats.org/officeDocument/2006/relationships/slide" Target="/ppt/slides/slide4.xml" Id="R184ebafbe5be4ff4" /><Relationship Type="http://schemas.openxmlformats.org/officeDocument/2006/relationships/slide" Target="/ppt/slides/slide5.xml" Id="R38005121ad464a8b" /><Relationship Type="http://schemas.openxmlformats.org/officeDocument/2006/relationships/slide" Target="/ppt/slides/slide6.xml" Id="R48fd02f2fd9d498b" /><Relationship Type="http://schemas.openxmlformats.org/officeDocument/2006/relationships/slide" Target="/ppt/slides/slide7.xml" Id="R576d758f3ad5472b" /><Relationship Type="http://schemas.openxmlformats.org/officeDocument/2006/relationships/slide" Target="/ppt/slides/slide8.xml" Id="Reb491a337a0c48e5" /><Relationship Type="http://schemas.openxmlformats.org/officeDocument/2006/relationships/slide" Target="/ppt/slides/slide9.xml" Id="R5fb52e1a54784c87" /><Relationship Type="http://schemas.openxmlformats.org/officeDocument/2006/relationships/slide" Target="/ppt/slides/slide10.xml" Id="Rd6c5564351534dc8" /><Relationship Type="http://schemas.openxmlformats.org/officeDocument/2006/relationships/slide" Target="/ppt/slides/slide11.xml" Id="R2a93500079524c12" /><Relationship Type="http://schemas.openxmlformats.org/officeDocument/2006/relationships/slide" Target="/ppt/slides/slide12.xml" Id="R4ad54a9ca8834723" /><Relationship Type="http://schemas.openxmlformats.org/officeDocument/2006/relationships/slide" Target="/ppt/slides/slide13.xml" Id="R6fa1cda5b3634909" /><Relationship Type="http://schemas.openxmlformats.org/officeDocument/2006/relationships/slide" Target="/ppt/slides/slide14.xml" Id="R8db9af9dde9444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d22906e8cf48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c2561e613c4ce2" /><Relationship Type="http://schemas.openxmlformats.org/officeDocument/2006/relationships/notesMaster" Target="/ppt/notesMasters/notesMaster1.xml" Id="R1a91cc20a0514b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faae2711344e60" /><Relationship Type="http://schemas.openxmlformats.org/officeDocument/2006/relationships/notesMaster" Target="/ppt/notesMasters/notesMaster1.xml" Id="R862ec1ab5fec45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bccbcce00564262" /><Relationship Type="http://schemas.openxmlformats.org/officeDocument/2006/relationships/notesMaster" Target="/ppt/notesMasters/notesMaster1.xml" Id="Rf95fed9fd34644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d73c1ea5614aea" /><Relationship Type="http://schemas.openxmlformats.org/officeDocument/2006/relationships/notesMaster" Target="/ppt/notesMasters/notesMaster1.xml" Id="Rea484014f9fe42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51db7df5b04766" /><Relationship Type="http://schemas.openxmlformats.org/officeDocument/2006/relationships/notesMaster" Target="/ppt/notesMasters/notesMaster1.xml" Id="R17140c9399754e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21e09c4f7b46db" /><Relationship Type="http://schemas.openxmlformats.org/officeDocument/2006/relationships/notesMaster" Target="/ppt/notesMasters/notesMaster1.xml" Id="R4f3befd8370d44f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4875e932dc41b1" /><Relationship Type="http://schemas.openxmlformats.org/officeDocument/2006/relationships/notesMaster" Target="/ppt/notesMasters/notesMaster1.xml" Id="Refcdf8d1dd0f46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2799a988554d1c" /><Relationship Type="http://schemas.openxmlformats.org/officeDocument/2006/relationships/notesMaster" Target="/ppt/notesMasters/notesMaster1.xml" Id="R8be8ca75791448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47708771c145fd" /><Relationship Type="http://schemas.openxmlformats.org/officeDocument/2006/relationships/notesMaster" Target="/ppt/notesMasters/notesMaster1.xml" Id="Raab4468363a241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e5dc92762a4d02" /><Relationship Type="http://schemas.openxmlformats.org/officeDocument/2006/relationships/notesMaster" Target="/ppt/notesMasters/notesMaster1.xml" Id="R22081838b0984d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c0b1c1cdb0a4acb" /><Relationship Type="http://schemas.openxmlformats.org/officeDocument/2006/relationships/notesMaster" Target="/ppt/notesMasters/notesMaster1.xml" Id="R40b409649cb744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68a087a7ffb4825" /><Relationship Type="http://schemas.openxmlformats.org/officeDocument/2006/relationships/notesMaster" Target="/ppt/notesMasters/notesMaster1.xml" Id="R776794d2b63e401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326ef780b2448b2" /><Relationship Type="http://schemas.openxmlformats.org/officeDocument/2006/relationships/notesMaster" Target="/ppt/notesMasters/notesMaster1.xml" Id="R84e67392e85f40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604b9a76f2d4497" /><Relationship Type="http://schemas.openxmlformats.org/officeDocument/2006/relationships/notesMaster" Target="/ppt/notesMasters/notesMaster1.xml" Id="R4bb5af962a794d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0b5a5c519a47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e67642b104447e" /><Relationship Type="http://schemas.openxmlformats.org/officeDocument/2006/relationships/slideLayout" Target="/ppt/slideLayouts/slideLayout1.xml" Id="Ra368fc397b6845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68fc397b6845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ca04179cc4c7a" /><Relationship Type="http://schemas.openxmlformats.org/officeDocument/2006/relationships/notesSlide" Target="/ppt/notesSlides/notesSlide1.xml" Id="Rf1b5f163a5db4c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bff63cd89488f" /><Relationship Type="http://schemas.openxmlformats.org/officeDocument/2006/relationships/notesSlide" Target="/ppt/notesSlides/notesSlide2.xml" Id="R584f7bb7e40d40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4b8d8d18146ee" /><Relationship Type="http://schemas.openxmlformats.org/officeDocument/2006/relationships/notesSlide" Target="/ppt/notesSlides/notesSlide3.xml" Id="R1a04ad2c0d164c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df94fd5884a07" /><Relationship Type="http://schemas.openxmlformats.org/officeDocument/2006/relationships/notesSlide" Target="/ppt/notesSlides/notesSlide4.xml" Id="R41507b8db3eb45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dc52b2c0a434b" /><Relationship Type="http://schemas.openxmlformats.org/officeDocument/2006/relationships/notesSlide" Target="/ppt/notesSlides/notesSlide5.xml" Id="R71982ff43ca149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060bb285b49e5" /><Relationship Type="http://schemas.openxmlformats.org/officeDocument/2006/relationships/notesSlide" Target="/ppt/notesSlides/notesSlide6.xml" Id="Rb744f3d0533349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0a079ea764f4d" /><Relationship Type="http://schemas.openxmlformats.org/officeDocument/2006/relationships/notesSlide" Target="/ppt/notesSlides/notesSlide7.xml" Id="Red0f6e6cf2d149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b73ec27f84136" /><Relationship Type="http://schemas.openxmlformats.org/officeDocument/2006/relationships/notesSlide" Target="/ppt/notesSlides/notesSlide8.xml" Id="R8f51763a2032445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26d9301d3490c" /><Relationship Type="http://schemas.openxmlformats.org/officeDocument/2006/relationships/notesSlide" Target="/ppt/notesSlides/notesSlide9.xml" Id="R93fd971f6ad745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57cd7b28c42c4" /><Relationship Type="http://schemas.openxmlformats.org/officeDocument/2006/relationships/notesSlide" Target="/ppt/notesSlides/notesSlide10.xml" Id="R4476b0119fcb4f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4a6e8d1ca4452e" /><Relationship Type="http://schemas.openxmlformats.org/officeDocument/2006/relationships/notesSlide" Target="/ppt/notesSlides/notesSlide11.xml" Id="Re235db50de054db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9cb6b650d47da" /><Relationship Type="http://schemas.openxmlformats.org/officeDocument/2006/relationships/notesSlide" Target="/ppt/notesSlides/notesSlide12.xml" Id="R18b1855a89f947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fe5ecf44c440f" /><Relationship Type="http://schemas.openxmlformats.org/officeDocument/2006/relationships/notesSlide" Target="/ppt/notesSlides/notesSlide13.xml" Id="R4bccd921bb1e4c8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5685d2e6b429f" /><Relationship Type="http://schemas.openxmlformats.org/officeDocument/2006/relationships/notesSlide" Target="/ppt/notesSlides/notesSlide14.xml" Id="Ra84c119bcdf34e3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1BE27-9E90-4E97-8E7A-95106EEE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4013B-ECBE-4359-ACC6-BAB8D4CD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7CB98-4EBE-4772-8DC3-8175F984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7AAA6-8DC7-4EA9-A7EA-94FEFBED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249E4-67F9-4EE9-9CBA-481B3610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A34C5-E2D2-44C0-90A1-8C855E23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Critical Assets — How They Fit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AD9E86-6BF4-4665-B4CB-F6817FC5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ChatDev + CrewAI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1FEBA-E4A7-4DBC-8E7E-F346B9AA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265314-03B3-4AB8-A713-580430BF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781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550">
                <a:solidFill>
                  <a:srgbClr val="FFFFFF"/>
                </a:solidFill>
              </a:defRPr>
            </a:pPr>
            <a:r>
              <a:rPr sz="5550">
                <a:solidFill>
                  <a:srgbClr val="FFFFFF"/>
                </a:solidFill>
              </a:rPr>
              <a:t>Managing</a:t>
            </a:r>
          </a:p>
          <a:p xmlns:a="http://schemas.openxmlformats.org/drawingml/2006/main">
            <a:pPr>
              <a:buNone/>
              <a:defRPr sz="5550">
                <a:solidFill>
                  <a:srgbClr val="FFFFFF"/>
                </a:solidFill>
              </a:defRPr>
            </a:pPr>
            <a:r>
              <a:rPr sz="5550">
                <a:solidFill>
                  <a:srgbClr val="FFFFFF"/>
                </a:solidFill>
              </a:rPr>
              <a:t>Multi-Agent Teams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42C68-4089-4681-9640-D3FA1A3E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BFC2FF"/>
                </a:solidFill>
              </a:defRPr>
            </a:pPr>
            <a:r>
              <a:rPr sz="1500">
                <a:solidFill>
                  <a:srgbClr val="BFC2FF"/>
                </a:solidFill>
              </a:rPr>
              <a:t>Agentic AI  ·  Vibe Coding  ·  System Governance  ·  Pydantic  ·  MCP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B8579-3B47-4458-BB7C-4E09F96B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BFC2FF"/>
                </a:solidFill>
              </a:defRPr>
            </a:pPr>
            <a:r>
              <a:rPr sz="1275">
                <a:solidFill>
                  <a:srgbClr val="BFC2FF"/>
                </a:solidFill>
              </a:rPr>
              <a:t>6 Modules  ·  Build. Break. Fix. Govern.</a:t>
            </a:r>
          </a:p>
        </p:txBody>
      </p:sp>
    </p:spTree>
    <p:extLst>
      <p:ext uri="{BB962C8B-B14F-4D97-AF65-F5344CB8AC3E}">
        <p14:creationId xmlns:p14="http://schemas.microsoft.com/office/powerpoint/2010/main" val="17790522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2E3449-A84E-4406-950A-3C849ED9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3F4A1-8C01-4E2B-BA4B-903B3F42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88622-FE2D-4F1A-AD05-EE511704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9414E-4CCE-4EF8-9CC8-8493C8FC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F7890-52AE-4C73-81F4-70C60102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F96C9-F749-4758-9DB9-510A6D44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B2039-1EBD-4717-B84F-0AE49429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Course philosophy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2050B-70A7-4E84-9B61-9D04E5E9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AF953-37B7-4F2B-AABD-6D60BB5B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90750"/>
            <a:ext cx="7239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>
                <a:solidFill>
                  <a:srgbClr val="FFFFFF"/>
                </a:solidFill>
              </a:defRPr>
            </a:pPr>
            <a:r>
              <a:rPr sz="2850">
                <a:solidFill>
                  <a:srgbClr val="FFFFFF"/>
                </a:solidFill>
              </a:rPr>
              <a:t>Build the governance shell first.</a:t>
            </a:r>
          </a:p>
          <a:p xmlns:a="http://schemas.openxmlformats.org/drawingml/2006/main">
            <a:pPr algn="ctr">
              <a:buNone/>
              <a:defRPr sz="2850">
                <a:solidFill>
                  <a:srgbClr val="FFFFFF"/>
                </a:solidFill>
              </a:defRPr>
            </a:pPr>
            <a:r>
              <a:rPr sz="2850">
                <a:solidFill>
                  <a:srgbClr val="FFFFFF"/>
                </a:solidFill>
              </a:rPr>
              <a:t>Then connect real agents and frameworks.</a:t>
            </a:r>
          </a:p>
          <a:p xmlns:a="http://schemas.openxmlformats.org/drawingml/2006/main">
            <a:pPr algn="ctr">
              <a:buNone/>
              <a:defRPr sz="2850">
                <a:solidFill>
                  <a:srgbClr val="FFFFFF"/>
                </a:solidFill>
              </a:defRPr>
            </a:pPr>
            <a:r>
              <a:rPr sz="2850">
                <a:solidFill>
                  <a:srgbClr val="FFFFFF"/>
                </a:solidFill>
              </a:rPr>
              <a:t>That is how production learning sticks.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7CE82-18E3-4DE8-990B-0DA9AC42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76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BFC2FF"/>
                </a:solidFill>
              </a:defRPr>
            </a:pPr>
            <a:r>
              <a:rPr sz="1350">
                <a:solidFill>
                  <a:srgbClr val="BFC2FF"/>
                </a:solidFill>
              </a:rPr>
              <a:t>Course principle</a:t>
            </a:r>
          </a:p>
        </p:txBody>
      </p:sp>
    </p:spTree>
    <p:extLst>
      <p:ext uri="{BB962C8B-B14F-4D97-AF65-F5344CB8AC3E}">
        <p14:creationId xmlns:p14="http://schemas.microsoft.com/office/powerpoint/2010/main" val="7520413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1F24DB-9456-43AF-8541-4B32F7F8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17982-41FD-4F27-9A73-50577A0D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7E318-7A0A-45C4-97B7-EAD9F3D5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2303D-A32D-402C-8790-A649242F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D97C9-140C-4011-9354-2C212CC8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A5F6B-6300-414B-91B8-C82CAE32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BB3B4A-CDAE-48CC-9A14-7E9E5B4B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repository setup + notebook manifest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1E6E8-024D-471C-8012-E3E76DC1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D81B6-7059-48CA-B25D-DED4E767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Day 1 · Learner Setup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85211-7F3E-457C-A18D-1AC20690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From GitHub to JupyterLab</a:t>
            </a:r>
          </a:p>
        </p:txBody>
      </p:sp>
      <p:sp>
        <p:nvSpPr>
          <p:cNvPr id="11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2D559B6B-49E0-4CF5-87AB-78F7835C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30956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FE6AED-615D-4E54-9A7A-1D94C557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2867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 · GET THE REPOSITORY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FB907D-D12F-4BAB-8576-3FFDE311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52650"/>
            <a:ext cx="28479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Git clone or download the ZIP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004284-56A4-4E73-95A8-BA7F9327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5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62A8F773-8F6C-4A70-AB4B-26E14DD4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14500"/>
            <a:ext cx="3714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20BAA-DC2C-43ED-8BD2-5F66B1DC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0225"/>
            <a:ext cx="3486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· SET UP LOCALLY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4A7D5A-5BCC-4727-85BA-5CDCEE09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124075"/>
            <a:ext cx="346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Create and activate a Python venv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Install requirements.txt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EC517E-DC17-43D7-B18E-B1942560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00025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9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98EDA754-6A1F-4C0E-93E6-36901234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714500"/>
            <a:ext cx="34194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BCB413-21A4-481C-A274-6DAC7512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800225"/>
            <a:ext cx="3190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· OPEN JUPYTERLAB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34DC23-2B63-449E-ACCA-8A73C63A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52650"/>
            <a:ext cx="31718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Start at 00_sandbox_preflight.ipynb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9F7BD1-9B92-4EB2-B618-3777F42F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19425"/>
            <a:ext cx="1120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CORE PRACTICE SEQUENCE</a:t>
            </a:r>
          </a:p>
        </p:txBody>
      </p:sp>
      <p:sp>
        <p:nvSpPr>
          <p:cNvPr id="23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3960B22D-759C-46B9-AC7C-76DCEB5F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90900"/>
            <a:ext cx="264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43A48C-9D89-4815-A6C7-428AD71C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2419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NB3 · TOOL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407FC9-9D47-48EB-AB99-A1ABB55F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00475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Block unsafe or unauthorized calls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6517D2-C14F-4CEF-80BF-9160E12C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70522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602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7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8D4B89E5-1596-4725-9FFA-291E6622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264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87DD2F-B403-4662-A82A-35C0E503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76625"/>
            <a:ext cx="2419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NB4 · CONTRACTS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3EA6DC-A867-4037-84C9-4E85A667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800475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Reject invalid agent handoffs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D18DA2-EA4A-4E97-947A-7D3EAAE2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70522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602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1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7F791B48-279D-43A9-891F-F37828F7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264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57A0ED-5938-45D2-A4D4-5C1F3121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76625"/>
            <a:ext cx="2419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NB5 · SELF-REPAIR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42D0A8-A982-47F1-AA28-3404CF25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800475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Limit retries; escalate unresolved work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6AEA52-9E46-4249-9377-63735DB0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70522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602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5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249C7F6A-835E-4D47-8D00-3FB9A7C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90900"/>
            <a:ext cx="24574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ECDF34-5314-4B1A-861B-7728D14A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76625"/>
            <a:ext cx="2228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CREWAI BRIDGE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4F2E16-2CBC-4BC6-870D-2CB87166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800475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Optional framework extension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5D4AB0-12DD-46B8-9343-B2CFF89C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required Jupyter labs do not need Groq or an API key. A first-time package install may need internet.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A8BAB3-0F62-4CC7-9789-6235B0F5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72075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BFC5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FC5FF"/>
                </a:solidFill>
                <a:latin typeface="Calibri"/>
                <a:ea typeface="Calibri"/>
                <a:cs typeface="Calibri"/>
              </a:rPr>
              <a:t>Live-model examples are optional; the current live cells use the OpenAI client, not a configured Groq client.</a:t>
            </a:r>
          </a:p>
        </p:txBody>
      </p:sp>
    </p:spTree>
    <p:extLst>
      <p:ext uri="{BB962C8B-B14F-4D97-AF65-F5344CB8AC3E}">
        <p14:creationId xmlns:p14="http://schemas.microsoft.com/office/powerpoint/2010/main" val="140710352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A67C6E-B29F-4D34-9E9C-07024706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6E768-3875-4BA3-8325-6F263BFB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9B056-44C9-4C27-8405-DED6418D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75647-0DD1-471B-BF1F-34CA3482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2CDED-8469-474C-8D11-EBBD7BEC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754E2-4A75-4C68-8B93-61E78C4A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B7A62-AD34-4C2F-BA94-8A1C30F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Module map + ChatDev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D132F-E211-47E0-B9B4-B24E3653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E7084-A780-4D0F-9FF9-919D68E9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Course Overview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FD916-D9C8-4C4E-8322-D4B6E3B9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Six modules, one production path.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7F107-4BC6-4FA8-BBEC-265BA9B8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34DCE-A122-43CB-88D6-E83BD986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Module 1   Foundations &amp; Vibe Coding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D0EF1-5951-494F-A3E3-38FE8F57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BA6EA9-8E06-488B-8C6E-F5913879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Module 2   TeamLog &amp; Theory of Mind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FD4B1B-38C5-43DE-9E44-6F17A862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522DCC-F613-43C3-BA8B-A1F2B026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Module 3   Agentic RAG &amp; MCP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D76759-D82C-4F14-837B-F4DA7D7E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A1DA34-13FC-4A27-B6E5-C32927C0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Module 4   Pydantic AI &amp; Type Safety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AF994-BFC9-4E55-A601-EDB95DC3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B3594B-9303-4880-8A9D-1DDF142A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052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Module 5   Fugu Routing &amp; ChatDev Self-Repair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C809F8-97D7-4C25-8EA0-E658CF4D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0C632C-1CDA-4711-84EE-BAAF23C6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433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Module 6   Internet of Agents &amp; Zero Trust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708542-F3A2-4A6B-82E7-243C7107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Governance before autonomy.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582D8C-7A9D-438A-BD6A-BA409ADF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10956412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4227B5-A06B-411C-8E59-C048C87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3D607-C325-4D25-86A8-F43B497F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EA56D-A2ED-49DA-B3FE-F6F40DA9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4E39A-DFBE-417C-86E0-C7777635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05266-9CFD-42CE-873E-3EBE09F0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CE272-1DBD-4ADD-B606-4AEAAFB8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7619C-E2E2-4379-8069-7104CE71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CrewAI processes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C8D7D-A46E-4C4C-93D4-9B4D97C2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5CF91-5E92-4AFE-BA22-B641014A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1 · Foundations &amp; Vibe Coding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AE38E-20F7-4355-A50D-5AFCDF25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CrewAI Processes: Sequential vs Hierarchical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4CA99-DBB4-4BD3-A5CA-9CE6A6C1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B8"/>
          </a:solidFill>
          <a:ln xmlns:a="http://schemas.openxmlformats.org/drawingml/2006/main" w="9525">
            <a:solidFill>
              <a:srgbClr val="444B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4926E-C6FF-4EC2-B5B1-F989D3FC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0495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B8"/>
          </a:solidFill>
          <a:ln xmlns:a="http://schemas.openxmlformats.org/drawingml/2006/main" w="9525">
            <a:solidFill>
              <a:srgbClr val="444B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3BA45-DB72-485E-A028-38F01B29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Sequential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66DB0-6F13-4B03-B0C7-6AA03C5F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478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Hierarchical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1D0B8-A6F4-4322-89E8-CBB06524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1E47CE-AAAC-4EE7-A246-FE08A38E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CrewAI: Process.sequential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7EB42D-E64C-4CBE-9662-E9841E86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CEEB2-A95B-43E9-AAC6-1BCBE931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146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Tasks run in order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1AAF28-1115-4F4A-9D38-99E91AE9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18D668-538F-4F7A-998E-FB7181E3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Best for fixed pipelines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C078BD-69D7-4D42-9423-F120CB9C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8F73B9-7F8A-477A-AAB9-5D8F032E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Transparent, easy to 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37E7D4-B795-4450-8321-1F77E0A6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57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981C01-1682-42AA-B65F-6D2E5266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574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CrewAI: Process.hierarchical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DDDDFF-F234-4DA2-B04C-BFAC2602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14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1C8A2C-5B45-46C6-824A-124680F8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146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Manager coordinates agents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379A8A-1D9C-4156-9589-AAFB8814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71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E33C73-31B6-40B8-A932-1AB8B7C9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718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Best for dynamic delegation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091DBE-3464-4443-802E-E8C984F0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29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F37731-B239-4A05-A21D-C1BF7976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290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Flexible, harder to debug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59BCAE-25E2-41A4-92AF-9E0FD0F6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CrewAI is used here as the production-framework comparison, not a replacement for governance.</a:t>
            </a:r>
          </a:p>
        </p:txBody>
      </p:sp>
    </p:spTree>
    <p:extLst>
      <p:ext uri="{BB962C8B-B14F-4D97-AF65-F5344CB8AC3E}">
        <p14:creationId xmlns:p14="http://schemas.microsoft.com/office/powerpoint/2010/main" val="108525569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4923C8-1E47-4826-B764-7DF00ABD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50067-B680-4F7D-BF4C-74E2CF07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44CDA-A547-4B73-B84D-5F1D6DF1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30DA7-69AA-4D9A-AACE-B15F0D82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30668-B6E6-43FA-B9F7-F777A1FE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4E297-E672-47CC-A4CE-D2530340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CCA33-5921-4929-9177-2C4ACCA3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TeamLog + ToM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8C4E34-1B41-4072-8097-4B01044C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2BC8D-2A27-421D-AED7-F5F20997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2 · TeamLog &amp; Theory of Mind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A6F8B-94CD-457A-ADE9-D37B9E02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Why Agent Teams Misalign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CC9CD-02CC-4142-B953-7BF1AC08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33EAD-CE78-4BED-A533-D3E416DC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Hidden constraints disappear between turns.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FF6D7-1370-4A24-A0E5-202E5FAE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DB5A2-60E7-40BB-B34D-B6A9E02B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A local agent satisfies its task while violating the global mission.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B1BE8-EBEC-4E6A-A563-3EF38B93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89CB8F-96EA-4EDA-892A-ACE132CD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Long workflows erase context: the coder forgets the PM's constraint.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7166F6-14EC-480F-8DBE-85CA5477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AF888A-AD1D-4F8B-AA52-0E051A05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Memory is governed data, not a prompt dump.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035253-993C-40EA-BC5B-F27F1A81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Alignment is a data architecture problem.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382FCE-3744-4D41-836E-E969237B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60535139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39CABB-A942-42C0-8F35-B69BDDBD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E8D83-EAA6-4455-91C1-0A074B03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9AC2B-AEA1-4A83-9E7A-4D35C970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EED25-CA36-434B-A8E9-F0B7AEC7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322AA-25E6-4BA5-9EF6-D13F3160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FA0A1-B58F-4926-8135-02FDBEF2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5357D-B354-452C-9D99-857D1862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MCP security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6D284-217A-4221-B2F7-0B2683FB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CE716-9B5D-4155-9574-F374E6AF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3 · Agentic RAG &amp; MCP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07297-4534-487E-99E7-FE061E7C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Zero-Trust Tool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B421D-BDCA-4F88-A43F-709B2ACA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348B22-1CE6-4D76-91AC-EC46DC93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Do not ask: does the model want this tool?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6AE07-37BA-4B8E-AE9D-E11B6CA6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6FD42-E57C-4870-AF2B-20459469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Ask: does policy allow this identity to use this tool for this data?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E5ABC-72A4-4F68-A619-98C24854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E4F111-1C40-4039-AF75-0469F68D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Flow: Agent → ToolRequest → Policy Gate → MCP Server → ToolResult.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467B1-E810-4DEE-B784-249E0F15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A52CC-72DF-4012-A132-3FA591B4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Threats: prompt injection, tool overreach, context leakage, stale permissions.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CF5669-0D12-4DC7-9010-CF6F3484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The tool gateway is the bouncer.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B85E72-E09C-49B5-B25B-A4012F3D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98813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E795D5-E65D-4D3B-8A13-D6CC3433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D3388-E700-4142-8764-366DD256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D282E-A88D-4E47-8672-EA3A111D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051CD-834B-4F1B-810B-D6EF1090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F855C-FC4B-49E9-AD0C-76E0022F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55D0B-3C68-44F1-8ACF-49E2FF9B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5223A-0FE2-4C77-B4E4-0F27C832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Pydantic validators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0150C-5692-4537-A610-B9D40303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BF40E-B3E5-4F1A-B513-7E1E67AD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4 · Pydantic AI &amp; Type Safety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A45D5-B707-4B28-9D87-BA0FAA3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Strict Schema Rules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3AD79-AB70-4153-AC8F-BD2E14AC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84D83-9043-4581-BDB4-0C7D7A89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Use extra='forbid' to reject hallucinated fields.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426944-F73F-4BDF-87A7-B10ABF83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C850C6-01FC-46AE-BAF4-D38A1484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Validate field lengths and constrain enums.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D95727-779B-4B52-8DBA-70AA2741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38801D-0ACD-4C07-BB60-E8736719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Reject unsafe file paths before they reach the filesystem.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DBB736-8FB1-4E83-81AF-1692647E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C19778-1C92-4A78-877F-11D26DFE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Test valid inputs, invalid inputs, empty lists, extra fields, unsafe paths.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D6EA94-598A-436A-A5EE-7DE4742C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Test contracts as rigorously as code.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E35836-23C5-46E3-84E9-6F486658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79873385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F68580-D47F-45CD-8497-39CAC827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F4CB4-90D8-46B9-8B00-1E1AA932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E5493-D35E-4E17-910C-5B4B98D4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47E4B-2D86-4CC9-819E-73351712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B4F25-452C-40B4-81E3-0BFAC0EE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49946-1605-4982-8773-71BE07B5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B2665-75BA-40A7-86A0-88FBFAA0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ChatDev self-repair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00B70-83F4-4497-8149-921BDBF6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AB8E6-1F73-4E1E-B1B5-9CB4AC79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5 · Fugu Routing &amp; ChatDev Self-Repair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8BDCE-8915-4F56-AF39-07F36E63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The Bounded Repair Loop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0DA14-FBDC-457C-AD9B-1C9B3750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1B69B-D4CB-44B7-84AB-86BD1172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Flow: Task → Router → Coder → QA → Reviewer → Repair Memory → Coder.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ACD489-7F46-4906-A4E8-407B5BBE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6F412E-BB51-4AD6-B96A-A28DC32B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Store failing test, error log, expected behavior, prior patch rationale.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72F3F6-4541-446E-A139-5C30F549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26AD67-5CB9-4D6E-BB5E-C201BA41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Budget: Research 2, Writing 2, Evaluation 1, Manager 0.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478B65-3C2D-4F90-A772-0EAF455C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386E46-C930-45AD-9181-614BFDAF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On exceed: ESCALATED_TO_HUMAN, never silent failure.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EC169C-7A4D-4CB1-B0A3-E9B7F075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The repair loop must have an exit.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62F2CB-C7DB-4A6C-A621-5FF26D4F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53188312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B82B48-82B6-407F-A754-C2C02481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04BCD-6947-49AF-B3CC-ED56C7E1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89467-F80A-425E-A5A1-FD4E46DE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85B84-BD7D-4F4A-97A4-7233D4A4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0E25C-55D2-4801-92C9-65223EE8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7B062-C223-42C2-B2A3-E43B416E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29FD9-5D9F-498A-9B5C-1E610EA9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Ex5 capstone specification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94733-D166-404C-84CC-B09929E5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34EE4-57FF-4E13-8BB2-72DFAAF4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Capstone · Target Architecture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C4A04-15D0-4028-AFDF-418C8099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Capstone Pipeline: Virtual Software Company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83521-F933-4C8A-A88A-977FA240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1116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RAW ISSUE / EXTERNAL REQUEST</a:t>
            </a:r>
          </a:p>
        </p:txBody>
      </p:sp>
      <p:sp>
        <p:nvSpPr>
          <p:cNvPr id="12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E61AE9C4-2159-4DF9-ABE2-B5871154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FD6CFC-579F-4969-8E9E-D53860AA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 · API GATEWAY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CB5965-CD90-467B-9594-DD837007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Validate request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Map identity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39360-D498-4838-AE3B-5FCFD758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71750"/>
            <a:ext cx="295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6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DF1D7EF8-BD1C-4244-8041-91E25BEB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6EF542-1DB5-46EB-AB91-D0B63576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· MANAGER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17AAFC-2922-4EF6-8BF5-4B1429DB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TaskSpec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SubTasks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10F14E-C5D7-40F7-88AE-B47EE414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71750"/>
            <a:ext cx="295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0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D4354889-B34A-4C1C-828C-2A0258DB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AEA97F-C850-4B7D-A56C-BF78D0B2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600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· SENIOR CODER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40F9F1-50FB-4A9C-B4FA-AA68152D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Create CodePatch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through tool gate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24FB87-BF44-42DD-9129-87512EA1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71750"/>
            <a:ext cx="295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4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349A0742-3413-4289-9775-D97C6CE3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46D4B6-D49F-4A0E-968A-E4917E78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 · QA AUDITOR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66A7C2-7658-458E-A4FC-D76C9982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EXECUTE_TESTS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Return TestResult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2FF608-7B60-4915-AEE7-85E4908E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71750"/>
            <a:ext cx="295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8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1B16BA9D-E077-46FF-A590-D95C9107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79CBFD-6BAD-47F1-B22A-11EB3261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377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· SECURITY GATE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0130D4-AFCA-49A6-84A9-B0B65816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Review tool use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and unsafe code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82B6FF-7832-40BA-B73B-34C81C1B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71750"/>
            <a:ext cx="295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2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89045880-9AEA-448B-9D75-D1B52E7C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F04B2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ADD00D-DA9F-42E4-97FB-35FDC03A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867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 · RELEASE GATE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5C47D6-1EB0-450F-ACFF-7665F327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SHIPPED or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ESCALATED</a:t>
            </a:r>
          </a:p>
        </p:txBody>
      </p:sp>
      <p:sp>
        <p:nvSpPr>
          <p:cNvPr id="35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6E337584-D50D-42D4-9FF4-CE3855AA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14750"/>
            <a:ext cx="8305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08C320-DAA0-4CE7-A01B-A2892D47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800475"/>
            <a:ext cx="807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BOUNDED REPAIR LOOP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2304A2-1618-4026-B5EA-84602C01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10025"/>
            <a:ext cx="805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QA failure → Coder for at most 2 repairs; unresolved risk → human escalation with an audit record.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01F0A4-87C4-494C-8B00-02449223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Router + role-filtered shared memory coordinate the handoffs across the pipeline.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161F1D-0C41-4B9F-9038-3CFA24BD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BFC5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FC5FF"/>
                </a:solidFill>
                <a:latin typeface="Calibri"/>
                <a:ea typeface="Calibri"/>
                <a:cs typeface="Calibri"/>
              </a:rPr>
              <a:t>This is the capstone target design: deterministic inputs and repository checks provide evidence; no live model or fixed test count is required.</a:t>
            </a:r>
          </a:p>
        </p:txBody>
      </p:sp>
    </p:spTree>
    <p:extLst>
      <p:ext uri="{BB962C8B-B14F-4D97-AF65-F5344CB8AC3E}">
        <p14:creationId xmlns:p14="http://schemas.microsoft.com/office/powerpoint/2010/main" val="40816572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92211C-EDD6-4B3A-BB24-F8DCAD57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D7345-6312-4E84-B44B-020B7030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FFA1B-263D-4AC2-8976-7B5978A4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3EBB2-9651-48B7-A04F-60AF2005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3C172-D5CA-45B3-A781-F29D760E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A81EB-2A02-42F0-829E-F7EA2F16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64037-1D5B-4840-87AF-FCD6625C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notebook labs + mock adapter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0F6B1-E636-4AB9-8126-88EECA76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3ED6B-5B0A-445E-89BF-0A410FF5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Course Architecture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07567B-9833-4F9C-BC72-DDFA3ACD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Three Layers, One Governance Shell</a:t>
            </a:r>
          </a:p>
        </p:txBody>
      </p:sp>
      <p:sp>
        <p:nvSpPr>
          <p:cNvPr id="11" name="editable governance shell">
            <a:extLst xmlns:a="http://schemas.openxmlformats.org/drawingml/2006/main">
              <a:ext uri="{FF2B5EF4-FFF2-40B4-BE49-F238E27FC236}">
                <a16:creationId xmlns:a16="http://schemas.microsoft.com/office/drawing/2014/main" id="{B9FA65BC-45A9-4B50-92DE-1BE9E52D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2014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5240">
            <a:solidFill>
              <a:srgbClr val="555F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69CEB-64EA-4B88-8C8F-B96D9C8E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1089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GOVERNANCE SHELL</a:t>
            </a:r>
          </a:p>
        </p:txBody>
      </p:sp>
      <p:sp>
        <p:nvSpPr>
          <p:cNvPr id="13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D6CF201B-C780-47BC-8901-F4FC72D3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32194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A89955-C9DD-4A48-8E88-15A0E79E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PYDANTIC CONTRACTS</a:t>
            </a:r>
          </a:p>
        </p:txBody>
      </p:sp>
      <p:sp>
        <p:nvSpPr>
          <p:cNvPr id="15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17217D3B-4C63-470C-B533-BEFC9092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971675"/>
            <a:ext cx="32194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D80487-632D-4B29-8878-14DF23C5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5740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MCP-STYLE TOOL GATE</a:t>
            </a:r>
          </a:p>
        </p:txBody>
      </p:sp>
      <p:sp>
        <p:nvSpPr>
          <p:cNvPr id="17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5B01A119-527D-4001-A4F6-28B9281C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71675"/>
            <a:ext cx="32194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CF9AF0-D3F3-49C0-BFB3-8ED48F45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5740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BOUNDED REPAIR + ESCALATION</a:t>
            </a:r>
          </a:p>
        </p:txBody>
      </p:sp>
      <p:sp>
        <p:nvSpPr>
          <p:cNvPr id="19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2FAF07FC-644C-4412-B11D-7037A017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3524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417017-380F-4D95-9007-425950C6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3295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LAYER 1 · DETERMINISTIC 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A8A4C0-F146-4E30-B06E-704DF2FF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14700"/>
            <a:ext cx="32766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Local inputs and predictable mocks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Free at runtime; no provider key</a:t>
            </a:r>
          </a:p>
        </p:txBody>
      </p:sp>
      <p:sp>
        <p:nvSpPr>
          <p:cNvPr id="22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1CA9B9B8-2732-4E6A-AB02-C5AD2023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81300"/>
            <a:ext cx="3524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6982EA-C213-43EE-BF20-2342D932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67025"/>
            <a:ext cx="3295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LAYER 2 · FAILURE PRACTICE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DF8AA4-160F-49CB-9BD7-CD42B2F4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14700"/>
            <a:ext cx="32766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Repeatable bad JSON, invalid fields, and unsafe tool attempts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Learners repair the gate</a:t>
            </a:r>
          </a:p>
        </p:txBody>
      </p:sp>
      <p:sp>
        <p:nvSpPr>
          <p:cNvPr id="25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8F3F9650-A0C9-47CF-9066-1E05426A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3524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A3E684-D3FE-4AAC-B403-139E1719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67025"/>
            <a:ext cx="3295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LAYER 3 · OPTIONAL LIVE MODEL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AF3AA3-AFB3-4F11-854C-8E5A57AF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314700"/>
            <a:ext cx="32766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Same contracts and tool policies surround live output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163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Current live cells use OpenAI; Groq is not wired by default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7D3B79-985C-48F4-A915-3DE47F79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070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Groq is a possible provider for a separately configured extension; it is not required for JupyterLab, labs, or practical work.</a:t>
            </a:r>
          </a:p>
        </p:txBody>
      </p:sp>
    </p:spTree>
    <p:extLst>
      <p:ext uri="{BB962C8B-B14F-4D97-AF65-F5344CB8AC3E}">
        <p14:creationId xmlns:p14="http://schemas.microsoft.com/office/powerpoint/2010/main" val="16151975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C10F2E-2A64-42D9-AFE0-DF75238E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6A2C7-9A12-4657-A4E3-B79253BF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1207C-B470-4332-83D3-8047DF73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E2605-DEE7-4D93-93B6-815A7C64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BF6EE-784C-4178-A85B-6B33E576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98AA5-49BC-4165-959A-DB8A45C7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9D3FD-6CF7-490F-BF44-287DB2CE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NB8-NB11 + Assignment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EEE5B-B5AF-4006-8D20-A5525283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EFC54-99AE-47FF-AB45-17F8DAB4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Alignment Bridge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5B450-C57B-4420-B19E-6E69EFA1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Optional labs extend the six core 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379B8-46B5-4B3B-8F21-CB169375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Bridge from classroom concepts to production operating surfaces: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E43C8E-8034-46EF-BBD2-9BA0BA17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3B30"/>
                </a:solidFill>
              </a:defRPr>
            </a:pPr>
            <a:r>
              <a:rPr sz="16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37F53-4ACB-4558-825C-5A662997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050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Classroom concepts → NB8 API Boundary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A057A-4D9F-4FC9-AD90-40E855FA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050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Goal: external events become governed TaskSpec 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EFAA7D-A366-4AB9-8E36-FDB96A34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3B30"/>
                </a:solidFill>
              </a:defRPr>
            </a:pPr>
            <a:r>
              <a:rPr sz="16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D5087-6805-4AA0-A964-9AEE9EFE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NB8 → NB9 Advanced Orchestration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14B363-25B7-4FB0-A490-15236DB8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575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Goal: typed delegation, scaffolds, debate, and routing decisions.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909673-EF0A-4308-96F9-96FB09BB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3B30"/>
                </a:solidFill>
              </a:defRPr>
            </a:pPr>
            <a:r>
              <a:rPr sz="16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678924-6584-4D6F-80EC-56C252FE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NB9 → NB10 Vibe Coding CEO Interface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6C7CBE-5100-4385-A97C-7EDA3EB8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099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Goal: human steering updates commitments without breaking contracts.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86E746-9AD7-4326-8C4F-C4C74D38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3B30"/>
                </a:solidFill>
              </a:defRPr>
            </a:pPr>
            <a:r>
              <a:rPr sz="16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63ACC5-34E7-4213-AB89-70B2BC87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624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NB10 → Assignment 12 From Whisper to Shipped Code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6E4ED3-7EAD-4301-B51E-29D0DC67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624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Goal: connect human intent, scaffold, debate, TeamLog, and release.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A025B1-3D9D-4D6D-A2E7-44BC1FC5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3B30"/>
                </a:solidFill>
              </a:defRPr>
            </a:pPr>
            <a:r>
              <a:rPr sz="16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777412-6CDA-4CED-A080-B123C3A3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NB11 → 3-Agent Bridge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C034DD-08D4-4DDC-8487-6963D984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148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Goal: apply Manager, Coder, and QA tool boundaries.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165F96-3CC9-4196-ABDC-902BD878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Each bridge lab turns one classroom pattern into one production operating surface.</a:t>
            </a:r>
          </a:p>
        </p:txBody>
      </p:sp>
    </p:spTree>
    <p:extLst>
      <p:ext uri="{BB962C8B-B14F-4D97-AF65-F5344CB8AC3E}">
        <p14:creationId xmlns:p14="http://schemas.microsoft.com/office/powerpoint/2010/main" val="71104138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0EE241-3E72-4129-96B6-1F1E4D00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80E58-5FA7-4801-B458-2702565A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455A9-3D7E-4BE2-B3A9-9D1BF642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11D21-2944-4EBD-8CB9-CE92305C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7E90C-26EE-43C9-80BC-48F6720A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1ECD9-210B-4C20-A5B5-D519CE0A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3C847-8D4E-4C9D-9999-72F8B4A6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CrewAI bridge notebook + capstone spec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5FCC4-D179-47F6-ACD9-E70D7E58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94049-2A21-460D-8279-DAEF5868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Core Team · Capstone 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64C91-FBD6-464E-9553-CBDCE2C9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Three-Agent Hierarchy: Manager, Coder, QA</a:t>
            </a:r>
          </a:p>
        </p:txBody>
      </p:sp>
      <p:sp>
        <p:nvSpPr>
          <p:cNvPr id="11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4DDED083-A2D1-48DB-9B44-FE384A5D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562100"/>
            <a:ext cx="3886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E77174-EA54-4132-960B-38C1F7F2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4782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HUMAN / PRODUCT OWNER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2C714-F11A-4EF6-A229-D9439117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866900"/>
            <a:ext cx="3638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Natural-language request and final authority</a:t>
            </a:r>
          </a:p>
        </p:txBody>
      </p:sp>
      <p:sp>
        <p:nvSpPr>
          <p:cNvPr id="14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6CE81AF9-D597-4126-8575-18E337A8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76500"/>
            <a:ext cx="523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F04B2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88E8C-47D8-482F-9C29-185C4872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62225"/>
            <a:ext cx="501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ENGINEERING MANAGER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EBDFD4-149A-4D81-86A8-B19D49E9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47975"/>
            <a:ext cx="499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Delegates typed work · approve or escalate · no code or test tools</a:t>
            </a:r>
          </a:p>
        </p:txBody>
      </p:sp>
      <p:sp>
        <p:nvSpPr>
          <p:cNvPr id="17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D8F45D02-1802-4136-B63F-09C2C2A9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81425"/>
            <a:ext cx="39814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D997D8-378A-4A23-B820-336D67E1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3752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SENIOR CODER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86B71E-FCE5-4DBE-84DC-21C98508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181475"/>
            <a:ext cx="3733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Implements assigned logic · write_code only</a:t>
            </a:r>
          </a:p>
        </p:txBody>
      </p:sp>
      <p:sp>
        <p:nvSpPr>
          <p:cNvPr id="20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FD04BB16-39B5-4FEB-A699-73D2B76B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81425"/>
            <a:ext cx="39814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7A0E10-EF02-420D-9BAC-2F4BBB6F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67150"/>
            <a:ext cx="3752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QA AUDITOR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EDBEA3-3A60-49B9-B759-590C8C23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181475"/>
            <a:ext cx="3733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Runs tests and returns evidence · run_tests only</a:t>
            </a:r>
          </a:p>
        </p:txBody>
      </p:sp>
      <p:cxnSp>
        <p:nvCxnSpPr>
          <p:cNvPr id="75" name=""/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6096000" y="219075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4B25"/>
            </a:solidFill>
            <a:prstDash val="solid"/>
            <a:tailEnd type="arrow" w="med" len="med"/>
          </a:ln>
        </p:spPr>
      </p:cxnSp>
      <p:cxnSp>
        <p:nvCxnSpPr>
          <p:cNvPr id="76" name=""/>
          <p:cNvCxnSpPr>
            <a:stCxn xmlns:a="http://schemas.openxmlformats.org/drawingml/2006/main" id="14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3590925" y="3352800"/>
            <a:ext cx="250507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4B25"/>
            </a:solidFill>
            <a:prstDash val="solid"/>
            <a:tailEnd type="arrow" w="med" len="med"/>
          </a:ln>
        </p:spPr>
      </p:cxnSp>
      <p:cxnSp>
        <p:nvCxnSpPr>
          <p:cNvPr id="77" name=""/>
          <p:cNvCxnSpPr>
            <a:stCxn xmlns:a="http://schemas.openxmlformats.org/drawingml/2006/main" id="14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6096000" y="3352800"/>
            <a:ext cx="250507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4B25"/>
            </a:solidFill>
            <a:prstDash val="soli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965F87-0799-4557-ACF9-98C02F47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9675"/>
            <a:ext cx="1062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BFC5FF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BFC5FF"/>
                </a:solidFill>
                <a:latin typeface="Calibri"/>
                <a:ea typeface="Calibri"/>
                <a:cs typeface="Calibri"/>
              </a:rPr>
              <a:t>The optional CrewAI bridge constructs the three-agent hierarchy; it does not call a live model.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AE22A2-29F6-4491-9483-E29B9CA6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BFC5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BFC5FF"/>
                </a:solidFill>
                <a:latin typeface="Calibri"/>
                <a:ea typeface="Calibri"/>
                <a:cs typeface="Calibri"/>
              </a:rPr>
              <a:t>Frameworks may orchestrate roles; governance keeps authority and tools bounded.</a:t>
            </a:r>
          </a:p>
        </p:txBody>
      </p:sp>
    </p:spTree>
    <p:extLst>
      <p:ext uri="{BB962C8B-B14F-4D97-AF65-F5344CB8AC3E}">
        <p14:creationId xmlns:p14="http://schemas.microsoft.com/office/powerpoint/2010/main" val="34165486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59562F-199A-405C-B0DB-DD422555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FCB5B-76AF-4768-91DC-212CFDC8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0DC4B-1A7A-4016-B091-E7DF8BF9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165ED-FAE7-48A9-B3A7-61633162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FDCD1-0CD1-42F1-ACE9-B5DF7B5A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F919B-B4E0-455F-B7C0-4035C303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9A929-9113-4BC9-86AF-4AF09DEF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Karpathy AI Ascent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C7531-C353-419A-9986-6F59BFDE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90E8A9-F6FA-4CF3-985C-B0E0F121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FFFFFF"/>
                </a:solidFill>
              </a:defRPr>
            </a:pPr>
            <a:r>
              <a:rPr sz="2700">
                <a:solidFill>
                  <a:srgbClr val="FFFFFF"/>
                </a:solidFill>
              </a:rPr>
              <a:t>You can outsource your thinking 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F4741-5A77-4102-858E-4B4038F7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765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FFFFFF"/>
                </a:solidFill>
              </a:defRPr>
            </a:pPr>
            <a:r>
              <a:rPr sz="2700">
                <a:solidFill>
                  <a:srgbClr val="FFFFFF"/>
                </a:solidFill>
              </a:rPr>
              <a:t>but you can't outsource your understanding.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D2F01-7C49-4777-864E-41C9E7F8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529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BFC2FF"/>
                </a:solidFill>
              </a:defRPr>
            </a:pPr>
            <a:r>
              <a:rPr sz="1275">
                <a:solidFill>
                  <a:srgbClr val="BFC2FF"/>
                </a:solidFill>
              </a:rPr>
              <a:t>— Andrej Karpathy, Sequoia AI Ascent 2026</a:t>
            </a:r>
          </a:p>
        </p:txBody>
      </p:sp>
    </p:spTree>
    <p:extLst>
      <p:ext uri="{BB962C8B-B14F-4D97-AF65-F5344CB8AC3E}">
        <p14:creationId xmlns:p14="http://schemas.microsoft.com/office/powerpoint/2010/main" val="20079719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2026-10-05T00:52:40.5330000Z</dcterms:created>
  <dcterms:modified xsi:type="dcterms:W3CDTF">2026-10-05T00:52:40.5330000Z</dcterms:modified>
</coreProperties>
</file>